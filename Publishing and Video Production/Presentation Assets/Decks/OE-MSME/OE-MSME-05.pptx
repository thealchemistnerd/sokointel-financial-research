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OE-MSME-05: Buying, selling and succession
ARTICLE: https://sokointel.com/read/oe-msme-05/
RESEARCH SNAPSHOT: 10 September 2026
OPENING NARRATION
A buyer tests which earnings, customer relationships and operating responsibilities will transfer when the owner leaves.
Diligence and succession exercise • no sale-price estimate
Introduce the decision before defining the technical terms.
ARTICLE SECTION: Opening
Revised practical article; source details and figures are dated to their cited filing or event, with current evidence reviewed through 24 September 2026.
A buyer asks, “What does the business earn?” The seller replies with what is left in the bank at the end of a good month. Both sides are asking the wrong version of the question.
To estimate what a buyer is acquiring, start with the work, assets, customer relationships, contracts, records, and obligations that transfer. Then ask what it would cost to keep the same operation running after the current owner steps away. A business that earns KSh 2 million before paying the founder for sales, purchasing, hiring, and customer service does not necessarily generate KSh 2 million for a buyer. Some of that amount pays for labor the buyer must replace.
This is why owner normalization and succession planning belong in the same conversation. The buyer needs a replacement-management cost to value the cash flow. The seller needs a succession plan so the business can continue producing that cash flow after the handover.
ARTICLE SECTION: Adjustments need evidence
A seller may propose “add-backs” for a family vehicle, a one-time legal bill, or an unusually large family salary. An add-back is not automatically valid because the owner labels it one-off. Ask four questions:
 Did the expense appear in the books or cash outflow?
 Was it truly unrelated to future operations?
 Would a new owner incur a replacement cost or a similar expense?
 Can the claimed amount be matched to invoices, payroll, bank records, or a contract?
A one-time store closure cost may be real, but the buyer still needs to assess whether more sites are at risk. A personal expense can be removed from a normalized earnings estimate only if the business will not incur it after sale and the accounting treatment is clear. Unpaid family labor must be priced at a plausible replacement level. An owner’s commercial relationships may also require a transition period rather than an instant earnings multiple.
A simple adjusted earnings schedule should show each change as a line with a description, period, source, proposed adjustment, buyer view, and evidence status. “Owner says” is attribution, not corroboration. The final value should show what happens if disputed adjustments are accepted, partly accepted, or rejected.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OE-MSME-05: Buying, selling and succession
ARTICLE: https://sokointel.com/read/oe-msme-05/
RESEARCH SNAPSHOT: 10 September 2026
Read the questions naturally and define terms in context.
Transferable earnings — earnings after replacing owner-dependent work
Add-back — proposed adjustment requiring documentary support
Normal NWC — operating balance needed at handover; KES
Cost to complete — cash required to satisfy inherited commitments
30/60/90 plan — staged transition milestones and named owners
Research question mapping: Why can a profitable business have little cash that its owner can safely withdraw?; How much reinvestment and operating working capital does the business need?; Which daily cash, customer, stock and supplier measures should trigger action?; How do owner pay, borrowing, growth and succession affect transferable earning power?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OE-MSME-05: Buying, selling and succession
ARTICLE: https://sokointel.com/read/oe-msme-05/
RESEARCH SNAPSHOT: 10 September 2026
Part 5; Buy Sell and Succession C5:H13. A headline profit or negotiated multiple does not establish what changes hands.
Narration: explain each step and its consequence for the opening decision.
ARTICLE SECTION: Build the same earnings picture for seller, buyer and lender
A seller usually wants the buyer to see the business at its best. A buyer needs a repeatable earnings estimate after the work, assets and cash cycle are properly funded. A lender needs a repayment bridge that survives a weaker year. Put three views side by side rather than arguing over one label.
Start with the filed or bookkeeping figure for operating profit, EBITDA or net income, and identify its period. Reconcile it to bank and tax records when available. List each proposed add-back separately with amount, account, invoice, beneficiary and reason. Accept an adjustment only if the expense is genuinely nonrecurring or personal, the business no longer needs it, and there is no replacement cost. A one-time legal fee may qualify if the dispute has closed; annual company-secretary fees do not. A family member’s salary is not fully an add-back if that person handles procurement or collections. An owner’s vehicle is not free if deliveries depend on it.
Next, calculate the cost of replacing founder duties. Write a task map: customer sales, operational supervision, hiring, quality approvals, bank relationships, regulatory work, procurement and accounting. Estimate hours and qualifications. Some tasks transfer to an existing employee, some require a new manager, and some may disappear if a corporate buyer already has shared services. Make separate owner-operator and corporate-buyer cases. A single generic replacement salary will not fit both.
Then deduct the cash required to keep the earnings level. Estimate maintenance capex from the asset plan; normalize working capital using monthly receivables, inventory and payables over a full seasonal cycle; deduct taxes and interest according to the valuation perspective; and include debt-like claims. Finally, translate enterprise value to equity value without double counting cash, debt, lease liabilities, customer deposits or working-capital adjustments.
ARTICLE SECTION: A buyer's practical diligence sequence
Diligence should follow the way cash moves through the business, not just the order in which folders arrive.
1. Establish the perimeter. Identify the seller, operating company, owners of land and equipment, trading names, subsidiaries, guarantees and related parties. Confirm which contracts, permits, employees, stock, intellectual property and customer data are actually transferable.
2. Tie sales to collections. Sample invoices from order to delivery note, customer statement, bank deposit and ledger. Investigate credit notes issued after year-end, cash sales without sequential receipts, related-party sales, disputed balances, and customers who pay only after the owner calls.
3. Tie costs to delivery. Trace a sample of supplier invoices through purchase order, goods received, stock record and payment. Check whether freight, duties, repairs, owner labour or warranty work is missing from the apparent margin.
4. Rebuild payroll and owner work. List the owner's weekly duties and the employee who can perform them. Use a realistic replacement wage plus employer obligations. A salary add-back without a named replacement plan overstates the buyer's cash.
5. Inspect inventory and equipment. Count stock by SKU, age, condition and last sale. Observe equipment running under normal load; inspect service history, safety certification, spare-parts availability and deferred repairs. Book value is not evidence of usable value.
6. Reconcile obligations. Confirm tax, employee, landlord, lender, supplier, customer-deposit and litigation balances directly where possible. A seller's spreadsheet is a starting schedule, not third-party confirmation.
7. Stress the first year. Build monthly cash needs around seasonality, customer retention, supplier deposits, debt repayment and the transition. A profitable annual forecast can still fail in a month where stock must be paid for before a large customer settles.
Use a materiality threshold to organize work, not to excuse a known control problem. A small unexplained cash difference can signal that the ledger is unreliable; a large balance can be immaterial if independently confirmed and not at risk. Record source, owner, date, test, result and unresolved consequence for each diligence item.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OE-MSME-05: Buying, selling and succession
ARTICLE: https://sokointel.com/read/oe-msme-05/
RESEARCH SNAPSHOT: 10 September 2026
Owner Earnings and Article Case; Appendix 03. Never merge the two workbook scenarios. Trace revenue to invoices and bank receipts.
Narration: explain each step and its consequence for the opening decision.
ARTICLE SECTION: Build the same earnings picture for seller, buyer and lender
A seller usually wants the buyer to see the business at its best. A buyer needs a repeatable earnings estimate after the work, assets and cash cycle are properly funded. A lender needs a repayment bridge that survives a weaker year. Put three views side by side rather than arguing over one label.
Start with the filed or bookkeeping figure for operating profit, EBITDA or net income, and identify its period. Reconcile it to bank and tax records when available. List each proposed add-back separately with amount, account, invoice, beneficiary and reason. Accept an adjustment only if the expense is genuinely nonrecurring or personal, the business no longer needs it, and there is no replacement cost. A one-time legal fee may qualify if the dispute has closed; annual company-secretary fees do not. A family member’s salary is not fully an add-back if that person handles procurement or collections. An owner’s vehicle is not free if deliveries depend on it.
Next, calculate the cost of replacing founder duties. Write a task map: customer sales, operational supervision, hiring, quality approvals, bank relationships, regulatory work, procurement and accounting. Estimate hours and qualifications. Some tasks transfer to an existing employee, some require a new manager, and some may disappear if a corporate buyer already has shared services. Make separate owner-operator and corporate-buyer cases. A single generic replacement salary will not fit both.
Then deduct the cash required to keep the earnings level. Estimate maintenance capex from the asset plan; normalize working capital using monthly receivables, inventory and payables over a full seasonal cycle; deduct taxes and interest according to the valuation perspective; and include debt-like claims. Finally, translate enterprise value to equity value without double counting cash, debt, lease liabilities, customer deposits or working-capital adjustments.
ARTICLE SECTION: Normalize working capital by month and by item
A closing balance can be manipulated by timing. The seller can delay supplier payments, accelerate collections, buy unusually large inventory or draw customer deposits just before completion. Compare month-end balances over at least one full operating cycle. If the business is seasonal, use the corresponding month in prior years or a documented monthly normalization rather than a simple year average. Check unusual sales promotions, stock purchases, supplier settlement holidays and one-off customer advances.
Define the working-capital peg in the sale agreement. Specify receivables net of impairment; inventory net of obsolete, damaged and consignment goods; trade payables based on received goods; and any agreed accruals. State whether payroll, tax, customer deposits, deferred revenue, lease liabilities and related-party balances are included or treated as debt-like. Different definitions can move the same KSh 1 million balance between the working-capital adjustment and the debt adjustment, so avoid counting it in both.
Illustration: normalized NWC has averaged KSh 1.4 million, but closing delivered NWC is KSh 1.1 million. The buyer may seek a KSh 300,000 completion adjustment under the agreed formula. But if the shortfall is caused by KSh 300,000 of old disputed invoices, that balance may be worth less than its face value. If it is due to a seasonal inventory dip immediately before peak sales, the buyer may need to fund replacement stock. Show the reason for the gap and the cash it actually takes to restore normal operations.
Supplier arrears require a separate schedule: supplier statement balance, amount due under terms, disputed amount, agreed extension, next delivery and any security or retention of title. A company can show strong working capital because overdue suppliers are large. That is not a benefit delivered to the buyer. The agreement should say who pays those arrears and how any later claim is handled.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OE-MSME-05: Buying, selling and succession
ARTICLE: https://sokointel.com/read/oe-msme-05/
RESEARCH SNAPSHOT: 10 September 2026
Buy Sell and Succession rows 6–13. Link succession measures to actual service commitments and counterparty approvals.
Narration: explain each step and its consequence for the opening decision.
ARTICLE SECTION: Continuity is part of value
A small company can have strong customer demand and still depend on one person’s phone, memory, password, signature, or supplier relationship. If the founder is unavailable for 30 days, can someone else approve payments, access accounting records, contact customers, or collect a receivable? The key-person-risk article already maps role dependency, access, authority, and continuity. A sale process should translate that map into diligence questions.
The transfer plan can be practical: identify who owns the customer relationship; record how orders are priced and approved; document recurring tasks; confirm account and domain access; list licences and contracts; identify who can sign; and set a handover period for the outgoing owner. Build a contact tree and a backup approver. Keep the principal access to company data in company-controlled accounts. These steps help an owner leave without making the whole firm’s operating knowledge leave with them.
Peer-reviewed family-business succession research treats succession as a process with a founder, successor, organization and timing, rather than one signature at closing [1], [2]. Evidence on Italian family firms also found that performance effects varied with successor type and competitive setting in the sample studied [3]. That does not mean family succession fails, or that an outside buyer is always superior. It means owners should evaluate management capability, governance and market conditions, not assume that family ties alone settle the question.
ARTICLE SECTION: A 90-day transition and continuity test
During the first two weeks, confirm bank access, payment approvals, customer and supplier contacts, employee payroll, tax accounts, licenses, leases, insurance, loan covenants, stock ownership and outstanding orders. Reconcile cash and all open invoices. Identify obligations due in the next 30 days and any customer money tied to incomplete delivery. Avoid a large distribution or nonroutine purchase before the first cash close.
From days 15 to 45, shadow the founder on sales quotations, procurement, quality approvals, customer complaints, collections, repairs and regulatory work. Record process steps and transfer credentials lawfully. Identify every duty with no backup. Check whether supplier credit, customer access or a technical permit depends on the founder personally. A company can have good normalized earnings and still be untransferable until those dependencies are addressed.
By day 90, compare actual receipts, contribution, stock ageing and service quality with the diligence model. Verify customer retention and staff continuity. An earn-out should reflect what was agreed and independently observable. Track the cash impact of duplicate staffing, transition support and integration. If the new owner wants to centralize finance or procurement, model the timing and one-time costs before removing staff who hold critical knowledge.
Family succession needs the same discipline. Document who owns shares, who draws salary, who receives distributions, who approves payments and who can sign contracts. Train a successor in the customer and supplier routines while the founder is still available. Agree an emergency transfer plan for illness or death, including bank mandates, key passwords, insurance and authority. Fairness among heirs and operational control may require separate legal and estate planning advice.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OE-MSME-05: Buying, selling and succession
ARTICLE: https://sokointel.com/read/oe-msme-05/
RESEARCH SNAPSHOT: 10 September 2026
Part 5 and Appendix 03. Review debt, surplus assets, contingent claims and deal structure separately before moving from enterprise value to equity consideration.
Equation: Transferable earnings = reported earnings ± supported adjustments
Substitution: Adjust replacement labour, maintenance and normal working-capital needs before considering a price.
Interpretation: A cash-capacity estimate is an input to diligence; it is not a negotiated enterprise or equity value.
ARTICLE SECTION: Decide with an evidence list
The buyer’s final note can show reported earnings, supported adjustments, replacement labor, normalized maintenance and working capital, financing required, downside debt coverage, equity price range and unresolved evidence. For each open item, state the requested document, custodian, due date and impact on price or contract terms. If the seller will not provide a key customer ledger or loan agreement, reflect that uncertainty in the offer instead of pretending the number is known.
The seller should prepare the same bridge before listing. Clean monthly accounts, reconcile personal expenses, document equipment and maintenance, resolve supplier balances, renew licenses, map customer concentration, train backups and define what cash and working capital will remain at closing. These steps can improve the business even if no sale occurs. A buyer is purchasing future transferable cash generation; clean evidence and reduced founder dependence make that claim more credible.
ARTICLE SECTION: Match the legal price to the economic bridge
Enterprise value is not the cash that reaches the seller. The bridge should state whether the agreed amount assumes cash-free, debt-free delivery, a normal level of working capital, and specified treatment of leases, shareholder loans, unpaid taxes, customer deposits and transaction expenses. Then reconcile that bridge to the completion accounts.
Working capital deserves a seasonal baseline. A business that carries more stock before its busy season may need a higher normal level than a simple twelve-month average suggests. Compare like months across several years, remove unusual one-offs only with evidence, and separately identify old or disputed receivables. A purchase-price adjustment for working capital should not reward the seller for overdue debtors or obsolete stock.
The parties should also write down the measurement rules before closing. Define included accounts, accounting standards, cut-off procedures, stock-count method, reserves for bad debts and obsolete inventory, and access to records. State who prepares the completion accounts, how objections work, and whether an independent accountant decides only the disputed items. Vague wording converts a spreadsheet disagreement into a legal dispute.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OE-MSME-05: Buying, selling and succession
ARTICLE: https://sokointel.com/read/oe-msme-05/
RESEARCH SNAPSHOT: 10 September 2026
ACTUAL WORKBOOK CAPTURE
Workbook: C:\Users\Nevo\Downloads\financial material\Owner's Earning\Project 1 - MSMEs and Small Businesses\Project 1 - MSME Owner Earnings and Operations.xlsx
Sheet/range: 'Buy Sell and Succession'!C5:H9
SHA-256: 43f243daa5fa87c914c73ec53b55652f96b8cbd8482d45327141c2383e47494e
Capture method: Microsoft Excel read-only PDF range export. Print headings retained. Source not saved.
Asset: Evidence/Workbooks/OE-MSME-05-01-p1.png
SCREEN RECORDING WALKTHROUGH
Read the row and column headings. Identify inputs, follow the dependent row and explain the units. Do not alter the source workbook while recording; use a copy for a new scenario.
Extracted evidence text:
5
6
7
8
9
C D E F G H
Workstream Evidence Decision / next step Status Owner Due date
Entity perimeter and title Company search, asset title, lease and guarantees Confirm seller, operating entity and transferable assets Open Buyer lead
Sales and collections Invoice, delivery, customer statement, bank receipt Trace sample transactions through collection Open Finance lead
Owner duties and pay Role list, payroll, calendar, customer contacts Cost realistic replacement management Open Buyer / seller
Stock and equipment Count, age, condition, repair log, supplier quote Adjust price and fund first renewal cycle Open Operations
Relevant article context:
ARTICLE SECTION: Build the same earnings picture for seller, buyer and lender
A seller usually wants the buyer to see the business at its best. A buyer needs a repeatable earnings estimate after the work, assets and cash cycle are properly funded. A lender needs a repayment bridge that survives a weaker year. Put three views side by side rather than arguing over one label.
Start with the filed or bookkeeping figure for operating profit, EBITDA or net income, and identify its period. Reconcile it to bank and tax records when available. List each proposed add-back separately with amount, account, invoice, beneficiary and reason. Accept an adjustment only if the expense is genuinely nonrecurring or personal, the business no longer needs it, and there is no replacement cost. A one-time legal fee may qualify if the dispute has closed; annual company-secretary fees do not. A family member’s salary is not fully an add-back if that person handles procurement or collections. An owner’s vehicle is not free if deliveries depend on it.
Next, calculate the cost of replacing founder duties. Write a task map: customer sales, operational supervision, hiring, quality approvals, bank relationships, regulatory work, procurement and accounting. Estimate hours and qualifications. Some tasks transfer to an existing employee, some require a new manager, and some may disappear if a corporate buyer already has shared services. Make separate owner-operator and corporate-buyer cases. A single generic replacement salary will not fit both.
Then deduct the cash required to keep the earnings level. Estimate maintenance capex from the asset plan; normalize working capital using monthly receivables, inventory and payables over a full seasonal cycle; deduct taxes and interest according to the valuation perspective; and include debt-like claims. Finally, translate enterprise value to equity value without double counting cash, debt, lease liabilities, customer deposits or working-capital adjustments.
ARTICLE SECTION: A seller's transition plan is part of the asset
A founder may personally remember prices, exceptions, supplier promises and customer preferences that never entered the system. That knowledge is valuable only if it can be transferred. During the diligence period, require the current owner to document recurring work, introduce key customers and suppliers, train successors, transfer passwords and records securely, and explain approvals or informal credit arrangements.
Transition should be measured through operating results, not attendance. Useful milestones include invoice error rate, on-time delivery, customer retention, rework, stock variance, collection days and the percentage of decisions completed without founder intervention. A business that remains dependent on the founder after six months has not completed the transition, even if the handover calendar says it has.
A family successor needs the same clarity. Le Breton-Miller, Miller and Steier describe effective succession as a process involving preparation, relationships, successor development and the transfer of leadership, rather than a single date [2]. In practical terms, let the successor own a real budget, supplier negotiation or customer portfolio before the founder leaves. Agree who can approve spending and hiring. Family harmony is not protected by leaving authority ambiguous.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OE-MSME-05: Buying, selling and succession
ARTICLE: https://sokointel.com/read/oe-msme-05/
RESEARCH SNAPSHOT: 10 September 2026
ACTUAL WORKBOOK CAPTURE
Workbook: C:\Users\Nevo\Downloads\financial material\Owner's Earning\Project 1 - MSMEs and Small Businesses\Project 1 - MSME Owner Earnings and Operations.xlsx
Sheet/range: 'Buy Sell and Succession'!C10:H13
SHA-256: 43f243daa5fa87c914c73ec53b55652f96b8cbd8482d45327141c2383e47494e
Capture method: Microsoft Excel read-only PDF range export. Print headings retained. Source not saved.
Asset: Evidence/Workbooks/OE-MSME-05-02-p1.png
SCREEN RECORDING WALKTHROUGH
Read the row and column headings. Identify inputs, follow the dependent row and explain the units. Do not alter the source workbook while recording; use a copy for a new scenario.
Extracted evidence text:
10
11
12
13
C D E F G H
Taxes, staff and creditor claims Tax status, payroll, lender and supplier confirmation Reconcile obligations and closing conditions Open Adviser
Working-capital baseline Monthly balances and seasonal record Define normal level and completion accounts Open Accountant
Customer and supplier transfer Consent clauses, renewal dates, concentration Identify approvals required before close Open Legal lead
Transition milestones Customer retention, error rate, delivery and collections Set 30/60/90-day handover measures Open Seller / successor
Relevant article context:
ARTICLE SECTION: Build the same earnings picture for seller, buyer and lender
A seller usually wants the buyer to see the business at its best. A buyer needs a repeatable earnings estimate after the work, assets and cash cycle are properly funded. A lender needs a repayment bridge that survives a weaker year. Put three views side by side rather than arguing over one label.
Start with the filed or bookkeeping figure for operating profit, EBITDA or net income, and identify its period. Reconcile it to bank and tax records when available. List each proposed add-back separately with amount, account, invoice, beneficiary and reason. Accept an adjustment only if the expense is genuinely nonrecurring or personal, the business no longer needs it, and there is no replacement cost. A one-time legal fee may qualify if the dispute has closed; annual company-secretary fees do not. A family member’s salary is not fully an add-back if that person handles procurement or collections. An owner’s vehicle is not free if deliveries depend on it.
Next, calculate the cost of replacing founder duties. Write a task map: customer sales, operational supervision, hiring, quality approvals, bank relationships, regulatory work, procurement and accounting. Estimate hours and qualifications. Some tasks transfer to an existing employee, some require a new manager, and some may disappear if a corporate buyer already has shared services. Make separate owner-operator and corporate-buyer cases. A single generic replacement salary will not fit both.
Then deduct the cash required to keep the earnings level. Estimate maintenance capex from the asset plan; normalize working capital using monthly receivables, inventory and payables over a full seasonal cycle; deduct taxes and interest according to the valuation perspective; and include debt-like claims. Finally, translate enterprise value to equity value without double counting cash, debt, lease liabilities, customer deposits or working-capital adjustments.
ARTICLE SECTION: A seller's transition plan is part of the asset
A founder may personally remember prices, exceptions, supplier promises and customer preferences that never entered the system. That knowledge is valuable only if it can be transferred. During the diligence period, require the current owner to document recurring work, introduce key customers and suppliers, train successors, transfer passwords and records securely, and explain approvals or informal credit arrangements.
Transition should be measured through operating results, not attendance. Useful milestones include invoice error rate, on-time delivery, customer retention, rework, stock variance, collection days and the percentage of decisions completed without founder intervention. A business that remains dependent on the founder after six months has not completed the transition, even if the handover calendar says it has.
A family successor needs the same clarity. Le Breton-Miller, Miller and Steier describe effective succession as a process involving preparation, relationships, successor development and the transfer of leadership, rather than a single date [2]. In practical terms, let the successor own a real budget, supplier negotiation or customer portfolio before the founder leaves. Agree who can approve spending and hiring. Family harmony is not protected by leaving authority ambiguous.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OE-MSME-05: Buying, selling and succession
ARTICLE: https://sokointel.com/read/oe-msme-05/
RESEARCH SNAPSHOT: 10 September 2026
Qualitative diligence scenario; do not invent a replacement salary or retention percentage. Obtain role-specific evidence and then update the cash bridge.
Base: The owner handles quotations, approvals and key-customer relationships.
Changed: Cost a successor and test contract consent and customer retention.
Consequence: Transferable earnings can fall and continuity risk can remain even when historical accounts are accurate.
ARTICLE SECTION: Opening
Revised practical article; source details and figures are dated to their cited filing or event, with current evidence reviewed through 24 September 2026.
A buyer asks, “What does the business earn?” The seller replies with what is left in the bank at the end of a good month. Both sides are asking the wrong version of the question.
To estimate what a buyer is acquiring, start with the work, assets, customer relationships, contracts, records, and obligations that transfer. Then ask what it would cost to keep the same operation running after the current owner steps away. A business that earns KSh 2 million before paying the founder for sales, purchasing, hiring, and customer service does not necessarily generate KSh 2 million for a buyer. Some of that amount pays for labor the buyer must replace.
This is why owner normalization and succession planning belong in the same conversation. The buyer needs a replacement-management cost to value the cash flow. The seller needs a succession plan so the business can continue producing that cash flow after the handover.
ARTICLE SECTION: Decide with an evidence list
The buyer’s final note can show reported earnings, supported adjustments, replacement labor, normalized maintenance and working capital, financing required, downside debt coverage, equity price range and unresolved evidence. For each open item, state the requested document, custodian, due date and impact on price or contract terms. If the seller will not provide a key customer ledger or loan agreement, reflect that uncertainty in the offer instead of pretending the number is known.
The seller should prepare the same bridge before listing. Clean monthly accounts, reconcile personal expenses, document equipment and maintenance, resolve supplier balances, renew licenses, map customer concentration, train backups and define what cash and working capital will remain at closing. These steps can improve the business even if no sale occurs. A buyer is purchasing future transferable cash generation; clean evidence and reduced founder dependence make that claim more credible.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OE-MSME-05: Buying, selling and succession
ARTICLE: https://sokointel.com/read/oe-msme-05/
RESEARCH SNAPSHOT: 10 September 2026
REAL WEB CAPTURE
{
  "key": "owner-earnings",
  "captured_at": "2026-09-25T13:21:50.190Z",
  "url": "http://127.0.0.1:8765/calculators/owner-earnings/#business-results",
  "definitions": [
    {
      "display": "block",
      "text": "OE is estimated annual owner earnings; N is annual normalized net income after replacing owner labour; D is depreciation/amortisation already expensed; A is other justified noncash adjustment; M is annual maintenance investment; ΔW is an increase in required operating working capital. All are KES/year. A release of working capital is negative."
    },
    {
      "display": "block",
      "text": "H is dated headroom, C stated available cash, R additional confirmed collections, U listed due uses, X restricted cash, B the retained reserve and Q the disputed/uncollected amount counted in C or R. All are KES over the stated cash horizon. Subtract the proposed draw from reviewed H."
    }
  ],
  "equations": 2,
  "inputs": [
    {
      "name": "period",
      "value": "Illustrative year"
    },
    {
      "name": "profit",
      "value": "1800000"
    },
    {
      "name": "owner_pay",
      "value": "900000"
    },
    {
      "name": "replacement_pay",
      "value": "1200000"
    },
    {
      "name": "adjustments",
      "value": "0"
    },
    {
      "name": "depreciation",
      "value": "240000"
    },
    {
      "name": "other_noncash",
      "value": "0"
    },
    {
      "name": "maintenance_low",
      "value": "300000"
    },
    {
      "name": "maintenance",
      "value": "380000"
    },
    {
      "name": "maintenance_high",
      "value": "500000"
    },
    {
      "name": "working_capital",
      "value": "370000"
    },
    {
      "name": "annual_principal",
      "value": "0"
    },
    {
      "name": "annual_growth",
      "value": "0"
    },
    {
      "name": "reserve_topup",
      "value": "0"
    },
    {
      "name": "decision_date",
      "value": "2026-09-25"
    },
    {
      "name": "through_date",
      "value": "2026-10-02"
    },
    {
      "name": "cash",
      "value": "1200000"
    },
    {
      "name": "receipts",
      "value": "0"
    },
    {
      "name": "disputed",
      "value": "200000"
    },
    {
      "name": "payroll",
      "value": "250000"
    },
    {
      "name": "suppliers",
      "value": "260000"
    },
    {
      "name": "rent",
      "value": "80000"
    },
    {
      "name": "taxes",
      "value": "90000"
    },
    {
      "name": "principal",
      "value": "100000"
    },
    {
      "name": "prepaid",
      "value": "130000"
    },
    {
      "name": "dated_investment",
      "value": "0"
    },
    {
      "name": "restricted",
      "value": "0"
    },
    {
      "name": "reserve",
      "value": "150000"
    },
    {
      "name": "withdrawal",
      "value": "0"
    }
  ],
  "title": "MSME owner earnings and cash headroom | Sokointel",
  "viewport": {
    "height": 720,
    "width": 1280
  },
  "files": [
    "owner-earnings-full.png",
    "owner-earnings-results.png",
    "owner-earnings-formulas.png"
  ],
  "slug": "owner-earnings",
  "screenshots": [
    "owner-earnings-full.png",
    "owner-earnings-results.png",
    "owner-earnings-formulas.png"
  ],
  "environment": "local preview; not proof of live deployment",
  "base": "Evidence/Web/20260925-formula-rendering"
}
DEMONSTRATION SCOPE
Trace the annual earnings bridge and the separate dated cash test. A proposed draw changes headroom without changing annual earning power.
Reconcile the selected article case; do not mix it with the larger general workbook example.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OE-MSME-05: Buying, selling and succession
ARTICLE: https://sokointel.com/read/oe-msme-05/
RESEARCH SNAPSHOT: 10 September 2026
Answer: Earnings become transferable only when the people, permissions, customers, assets and cash obligations needed to produce them survive the transaction. Unresolved transfer conditions belong in the diligence record.
Viewer task: Produce a diligence file and 30/60/90-day transition plan with a named successor for each critical duty.
Return to each opening research question and identify what remains conditional or unknown.
ARTICLE SECTION: Opening
Revised practical article; source details and figures are dated to their cited filing or event, with current evidence reviewed through 24 September 2026.
A buyer asks, “What does the business earn?” The seller replies with what is left in the bank at the end of a good month. Both sides are asking the wrong version of the question.
To estimate what a buyer is acquiring, start with the work, assets, customer relationships, contracts, records, and obligations that transfer. Then ask what it would cost to keep the same operation running after the current owner steps away. A business that earns KSh 2 million before paying the founder for sales, purchasing, hiring, and customer service does not necessarily generate KSh 2 million for a buyer. Some of that amount pays for labor the buyer must replace.
This is why owner normalization and succession planning belong in the same conversation. The buyer needs a replacement-management cost to value the cash flow. The seller needs a succession plan so the business can continue producing that cash flow after the handover.
ARTICLE SECTION: Continuity is part of value
A small company can have strong customer demand and still depend on one person’s phone, memory, password, signature, or supplier relationship. If the founder is unavailable for 30 days, can someone else approve payments, access accounting records, contact customers, or collect a receivable? The key-person-risk article already maps role dependency, access, authority, and continuity. A sale process should translate that map into diligence questions.
The transfer plan can be practical: identify who owns the customer relationship; record how orders are priced and approved; document recurring tasks; confirm account and domain access; list licences and contracts; identify who can sign; and set a handover period for the outgoing owner. Build a contact tree and a backup approver. Keep the principal access to company data in company-controlled accounts. These steps help an owner leave without making the whole firm’s operating knowledge leave with them.
Peer-reviewed family-business succession research treats succession as a process with a founder, successor, organization and timing, rather than one signature at closing [1], [2]. Evidence on Italian family firms also found that performance effects varied with successor type and competitive setting in the sample studied [3]. That does not mean family succession fails, or that an outside buyer is always superior. It means owners should evaluate management capability, governance and market conditions, not assume that family ties alone settle the question.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OE-MSME-05: Buying, selling and succession
ARTICLE: https://sokointel.com/read/oe-msme-05/
RESEARCH SNAPSHOT: 10 September 2026
SOURCE MATERIAL
[1] W. C. Handler, “Succession in Family Business: A Review of the Research,” Family Business Review, vol. 7, no. 2, pp. 133–157, 1994, https://doi.org/10.1111/j.1741-6248.1994.00133.x.
[2] I. Le Breton-Miller, D. Miller, and L. P. Steier, “Toward an Integrative Model of Effective FOB Succession,” Entrepreneurship Theory and Practice, vol. 28, no. 4, pp. 305–328, 2004, https://doi.org/10.1111/j.1540-6520.2004.00047.x.
[3] M. Cucculelli and G. Micucci, “Family Succession and Firm Performance: Evidence from Italian Family Firms,” Journal of Corporate Finance, vol. 14, no. 1, pp. 17–31, 2008, https://doi.org/10.1016/j.jcorpfin.2007.11.001.
[4] A. N. Berger and G. F. Udell, “The Economics of Small Business Finance: The Roles of Private Equity and Debt Markets in the Financial Growth Cycle,” Journal of Banking &amp; Finance, vol. 22, nos. 6–8, pp. 613–673, 1998, https://doi.org/10.1016/S0378-4266(98)00038-7.
All linked source URLs:
W. C. Handler, “Succession in Family Business: A Review of the Research,” Family Business Review, vol. 7, no. 2, pp. 133–157, 1994: https://doi.org/10.1111/j.1741-6248.1994.00133.x
I. Le Breton-Miller, D. Miller, and L. P. Steier, “Toward an Integrative Model of Effective FOB Succession,” Entrepreneurship Theory and Practice, vol: https://doi.org/10.1111/j.1540-6520.2004.00047.x
M. Cucculelli and G. Micucci, “Family Succession and Firm Performance: Evidence from Italian Family Firms,” Journal of Corporate Finance, vol. 14, no.: https://doi.org/10.1016/j.jcorpfin.2007.11.001
A. N. Berger and G. F. Udell, “The Economics of Small Business Finance: The Roles of Private Equity and Debt Markets in the Financial Growth Cycle,” J: https://doi.org/10.1016/S0378-4266(98)00038-7
Additional content sources:
[]
Workbook provenance:
C:\Users\Nevo\Downloads\financial material\Owner's Earning\Project 1 - MSMEs and Small Businesses\Project 1 - MSME Owner Earnings and Operations.xlsx
'Buy Sell and Succession'!C5:H9
43f243daa5fa87c914c73ec53b55652f96b8cbd8482d45327141c2383e47494e
C:\Users\Nevo\Downloads\financial material\Owner's Earning\Project 1 - MSMEs and Small Businesses\Project 1 - MSME Owner Earnings and Operations.xlsx
'Buy Sell and Succession'!C10:H13
43f243daa5fa87c914c73ec53b55652f96b8cbd8482d45327141c2383e47494e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oe-msme-05/" TargetMode="External"/><Relationship Id="rId2" Type="http://schemas.openxmlformats.org/officeDocument/2006/relationships/hyperlink" Target="https://doi.org/10.1111/j.1741-6248.1994.00133.x" TargetMode="External"/><Relationship Id="rId3" Type="http://schemas.openxmlformats.org/officeDocument/2006/relationships/hyperlink" Target="https://doi.org/10.1111/j.1540-6520.2004.00047.x" TargetMode="External"/><Relationship Id="rId4" Type="http://schemas.openxmlformats.org/officeDocument/2006/relationships/hyperlink" Target="https://doi.org/10.1016/j.jcorpfin.2007.11.001" TargetMode="External"/><Relationship Id="rId5" Type="http://schemas.openxmlformats.org/officeDocument/2006/relationships/hyperlink" Target="https://doi.org/10.1016/S0378-4266(98)00038-7" TargetMode="External"/><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Buying, selling and succession</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buyer tests which earnings, customer relationships and operating responsibilities will transfer when the owner leaves.</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OE-MSME-05   •   Diligence and succession exercise • no sale-price estimate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1. Why can a profitable business have little cash that its owner can safely withdraw?</a:t>
            </a:r>
            <a:endParaRPr lang="en-US" sz="2000" dirty="0"/>
          </a:p>
        </p:txBody>
      </p:sp>
      <p:sp>
        <p:nvSpPr>
          <p:cNvPr id="9" name="Text 7"/>
          <p:cNvSpPr/>
          <p:nvPr/>
        </p:nvSpPr>
        <p:spPr>
          <a:xfrm>
            <a:off x="594360" y="2880360"/>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2. How much reinvestment and operating working capital does the business need?</a:t>
            </a:r>
            <a:endParaRPr lang="en-US" sz="2000" dirty="0"/>
          </a:p>
        </p:txBody>
      </p:sp>
      <p:sp>
        <p:nvSpPr>
          <p:cNvPr id="10" name="Text 8"/>
          <p:cNvSpPr/>
          <p:nvPr/>
        </p:nvSpPr>
        <p:spPr>
          <a:xfrm>
            <a:off x="594360" y="3913632"/>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3. Which daily cash, customer, stock and supplier measures should trigger action?</a:t>
            </a:r>
            <a:endParaRPr lang="en-US" sz="2000" dirty="0"/>
          </a:p>
        </p:txBody>
      </p:sp>
      <p:sp>
        <p:nvSpPr>
          <p:cNvPr id="11" name="Text 9"/>
          <p:cNvSpPr/>
          <p:nvPr/>
        </p:nvSpPr>
        <p:spPr>
          <a:xfrm>
            <a:off x="594360" y="4946904"/>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4. How do owner pay, borrowing, growth and succession affect transferable earning power?</a:t>
            </a:r>
            <a:endParaRPr lang="en-US" sz="2000" dirty="0"/>
          </a:p>
        </p:txBody>
      </p:sp>
      <p:sp>
        <p:nvSpPr>
          <p:cNvPr id="12" name="Shape 10"/>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3" name="Text 11"/>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4" name="Text 12"/>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Transferable earnings — earnings after replacing owner-dependent work</a:t>
            </a:r>
            <a:endParaRPr lang="en-US" sz="1650" dirty="0"/>
          </a:p>
        </p:txBody>
      </p:sp>
      <p:sp>
        <p:nvSpPr>
          <p:cNvPr id="15" name="Text 13"/>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Add-back — proposed adjustment requiring documentary support</a:t>
            </a:r>
            <a:endParaRPr lang="en-US" sz="1650" dirty="0"/>
          </a:p>
        </p:txBody>
      </p:sp>
      <p:sp>
        <p:nvSpPr>
          <p:cNvPr id="16" name="Text 14"/>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Normal NWC — operating balance needed at handover; KES</a:t>
            </a:r>
            <a:endParaRPr lang="en-US" sz="1650" dirty="0"/>
          </a:p>
        </p:txBody>
      </p:sp>
      <p:sp>
        <p:nvSpPr>
          <p:cNvPr id="17" name="Text 15"/>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Cost to complete — cash required to satisfy inherited commitments</a:t>
            </a:r>
            <a:endParaRPr lang="en-US" sz="1650" dirty="0"/>
          </a:p>
        </p:txBody>
      </p:sp>
      <p:sp>
        <p:nvSpPr>
          <p:cNvPr id="18" name="Text 16"/>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30/60/90 plan — staged transition milestones and named owners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buyer acquires an operating system</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Identify assets, contracts and permissions that legally transfer.</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Name customer and supplier relationships dependent on the owner.</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Separate the business's obligations from the seller's personal arrangements.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Diligence and succession exercise • no sale-price estimate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Rebuild earnings after the owner leaves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Cost replacement labour for the duties that continue.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Include maintenance and normalized seasonal working capital.</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Keep unsupported add-backs visibly unresolved.</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Diligence and succession exercise • no sale-price estimate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Continuity becomes measurable at handover</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Confirm title, contracts, taxes, creditor claims and stock condition.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Assign a successor to each critical operating task.</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Review customer retention, delivery errors and collections at 30, 60 and 90 days.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Diligence and succession exercise • no sale-price estimate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Transferable cash is an evidence bridge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Transferable earnings = reported earnings ± supported adjustments</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Adjust replacement labour, maintenance and normal working-capital needs before considering a price.</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A cash-capacity estimate is an input to diligence; it is not a negotiated enterprise or equity value.</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Diligence and succession exercise • no sale-price estimate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Buy Sell and Succession: follow the saved workbook</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MSME-05-01-p1.png">    </p:cNvPr>
          <p:cNvPicPr>
            <a:picLocks noChangeAspect="1"/>
          </p:cNvPicPr>
          <p:nvPr/>
        </p:nvPicPr>
        <p:blipFill>
          <a:blip r:embed="rId1"/>
          <a:stretch>
            <a:fillRect/>
          </a:stretch>
        </p:blipFill>
        <p:spPr>
          <a:xfrm>
            <a:off x="612648" y="3127057"/>
            <a:ext cx="10972800" cy="1134238"/>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Buy Sell and Succession!C5:H9</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Diligence and succession exercise • no sale-price estimate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Buy Sell and Succession: follow the saved workbook</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MSME-05-02-p1.png">    </p:cNvPr>
          <p:cNvPicPr>
            <a:picLocks noChangeAspect="1"/>
          </p:cNvPicPr>
          <p:nvPr/>
        </p:nvPicPr>
        <p:blipFill>
          <a:blip r:embed="rId1"/>
          <a:stretch>
            <a:fillRect/>
          </a:stretch>
        </p:blipFill>
        <p:spPr>
          <a:xfrm>
            <a:off x="612648" y="3270430"/>
            <a:ext cx="10972800" cy="847493"/>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Buy Sell and Succession!C10:H13</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Diligence and succession exercise • no sale-price estimate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Replace the founder before trusting the margin</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owner handles quotations, approvals and key-customer relationships.</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Cost a successor and test contract consent and customer retention.</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Transferable earnings can fall and continuity risk can remain even when historical accounts are accurate.</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20260925-formula-rendering\owner-earnings-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Trace the annual earnings bridge and the separate dated cash test. A proposed draw changes headroom without changing annual earning power.</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Reconcile the selected article case; do not mix it with the larger general workbook example.</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/calculators/owner-earnings/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Earnings become transferable only when the people, permissions, customers, assets and cash obligations needed to produce them survive the transaction. Unresolved transfer conditions belong in the diligence record.</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Produce a diligence file and 30/60/90-day transition plan with a named successor for each critical duty.</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sokointel.com/read/oe-msme-05/</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W. C. Handler, “Succession in Family Business: A Review of the Research,” Family Business Review, vol. 7, no. 2, pp. 133–157, • 1994</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I. Le Breton-Miller, D. Miller, and L. P. Steier, “Toward an Integrative Model of Effective FOB Succession,” Entrepreneurship • 2004</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M. Cucculelli and G. Micucci, “Family Succession and Firm Performance: Evidence from Italian Family Firms,” Journal of Corpor • 2008</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A. N. Berger and G. F. Udell, “The Economics of Small Business Finance: The Roles of Private Equity and Debt Markets in the F • 1998</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Buying, selling and succession</dc:title>
  <dc:subject>Why can a profitable business have little cash that its owner can safely withdraw? | How much reinvestment and operating working capital does the business need? | Which daily cash, customer, stock and supplier measures should trigger action? | How do owner pay, borrowing, growth and succession affect transferable earning power?</dc:subject>
  <dc:creator>Sokointel</dc:creator>
  <cp:lastModifiedBy>Sokointel</cp:lastModifiedBy>
  <cp:revision>1</cp:revision>
  <dcterms:created xsi:type="dcterms:W3CDTF">2026-09-25T13:55:35Z</dcterms:created>
  <dcterms:modified xsi:type="dcterms:W3CDTF">2026-09-25T13:55:35Z</dcterms:modified>
</cp:coreProperties>
</file>