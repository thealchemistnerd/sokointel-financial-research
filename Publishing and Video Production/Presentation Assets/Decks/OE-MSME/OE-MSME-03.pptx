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OPENING NARRATION
A weekly operating meeting identifies the earliest cash shortfall, the invoice behind it and the person responsible for the next action.
Fictional weekly plan • 28 September–21 December 2026
Introduce the decision before defining the technical terms.
ARTICLE SECTION: Opening
Revised practical article; source details and figures are dated to their cited filing or event, with current evidence reviewed through 24 September 2026.
A cash forecast is most useful before there is a crisis. For a small business, the working version does not need to predict the whole year with false confidence. It needs to answer a simpler question: if the expected customers pay when promised, and the bills on the calendar are paid when due, when does the bank balance become uncomfortable?
A rolling 13-week cash forecast gives an owner a practical weekly view. Each week begins with the prior week’s closing cash. The business adds dated receipts and subtracts dated payments. The closing number becomes next week’s opening number. Repeat weekly and update actuals as they arrive.
Closing cash = opening cash + receipts − payments
This forecast is about timing. It does not say the business is profitable. A loan advance appears as a financing receipt and its repayments appear later as financing payments. It should never be mixed into customer collections. For each forecast line, record the source: invoice, purchase order, payroll calendar, rent clause, loan agreement, or an explicitly marked estimate.
ARTICLE SECTION: Make AR aging a collection plan
An invoice ledger should include customer, invoice ID, work or goods delivered, invoice amount, balance, invoice date, due date, dispute status, evidence of acceptance, last contact, promised payment date, collector and credit limit. Aging is based on days past the agreed due date, not days since invoice if terms allow 30 days. Divide balances into current, 1–30, 31–60, 61–90 and over 90 days, and put disputed or not-yet-accepted balances in their own categories.
A simple DSO is average trade receivables divided by credit sales for the matched period, multiplied by period days. If a retailer also makes cash sales, total revenue will understate DSO by inflating the denominator. If sales are seasonal, compare like periods and show opening and closing balances. DSO is an average and can hide one buyer with a large late amount, so show the top five customers, concentration and overdue balances relative to weekly payroll and critical supplier needs.
The collection ladder can be proportionate: confirm delivery and invoice receipt before the due date; send a statement on the due date; ask for a specific remittance date after a miss; agree a partial payment plan if the customer is viable; stop new exposure at the credit limit; escalate to the owner or insurer; and use formal collection remedies when appropriate. A discount should have an approval limit and be compared with financing cost, bad-debt probability, margin and customer precedent. Record whether the payment actually cleared.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Read the questions naturally and define terms in context.
Opening cash — available cash at the start of the week; KES
Receipts — expected collections, distinct from invoice revenue
Contribution — price less variable product and fulfilment costs
Reserve breach — closing cash below the chosen reserve
Shortfall — closing cash below zero; funding remains explicit
Research question mapping: Why can a profitable business have little cash that its owner can safely withdraw?; How much reinvestment and operating working capital does the business need?; Which daily cash, customer, stock and supplier measures should trigger action?; How do owner pay, borrowing, growth and succession affect transferable earning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Cash13W C5:N25 and Overview D4. Source cases are fictional. A weekly model does not prove that each payment clears within that week.
Narration: explain each step and its consequence for the opening decision.
ARTICLE SECTION: Worked example: a wholesaler with rising sales and falling cash
Imagine a small building-supplies wholesaler whose monthly sales rise from KSh 4.0 million to KSh 4.8 million. The owner celebrates 20% growth, but the bank balance falls. A practical review finds that average customer collection has lengthened from 30 to 45 days, stock has grown by KSh 450,000 because the team bought several slow-moving lines, and suppliers have been paid promptly despite agreed 30-day terms. The company may be earning a positive gross margin while financing customers and holding stock before the cash arrives.
Start with a 13-week forecast. List the ten largest receivables by invoice and expected date, not a single assumed collection ratio. Split stock into committed fast movers, seasonal items and lines with no movement. Call customers about disputed invoices and confirm delivery documents. For new credit sales, require a limit and a named approver. For slow items, decide whether to return, discount, bundle or stop replenishment. Speak to suppliers before changing payment timing; agreed terms are a relationship and contract constraint, not free financing.
Then compare two actions. A blanket credit freeze may preserve cash but lose reliable customers and sales. Continuing current terms may preserve volume but worsen the cash gap. A narrower policy could retain terms for customers with reliable payment history while requiring a deposit or shorter terms for new and overdue accounts. Measure both the cash effect and the contribution lost or protected. Working-capital evidence in SMEs links liquidity needs, financing constraints and investment decisions, so management should evaluate the effect on operations instead of treating a lower balance as automatically superior [1, 2, 4].
ARTICLE SECTION: 1. See the cash trough
List confirmed customer receipts by expected bank date, not invoice date. Separate confirmed orders from hoped-for new sales. For customers who regularly pay late, show an expected date that reflects the observed pattern, and keep the contractual due date beside it. A receipt becomes less dependable if delivery, acceptance, or a missing document can delay payment.
Payments should have the same specificity: payroll date, rent date, tax payment, supplier payment terms, loan instalment, delivery fuel, and committed stock purchases. Avoid a single “other costs” line so large that it hides an action.
The owner can compare the forecast low point with a minimum cash floor. That floor is not a universal number of weeks. It reflects payroll, cash volatility, supplier alternatives, customer concentration, seasonality and access to committed facilities. A facility counts as available only if the agreement is signed, the draw conditions can be met, and it is not already used.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Receivables C5:N27, Inventory C5:Q19, Payables C5:N19. The sample SKUs and counterparties are teaching records.
Narration: explain each step and its consequence for the opening decision.
ARTICLE SECTION: Turn the 13-week view into a weekly operating ritual
A cash forecast works when the people closest to each event update it. Finance owns the ledger; sales owns customer commitments; procurement owns supplier dates; operations owns stock and delivery; the owner resolves trade-offs. Ask each person to bring evidence: remittance advice, signed purchase order, supplier statement, payroll schedule, tax deadline or loan notice. A forecast entry should carry an amount, date, source and confidence status. This is often more valuable than adding more rows or formulas.
Use a rolling window. At the end of each week, archive the prior forecast, enter actual cash, move the horizon forward by one week and add newly known events in week 13. Never overwrite last week’s expected date because it was missed; retain the variance. This gives the owner a short record of forecast accuracy. If a customer is normally 10 days late, after several observed delays the forecast can use a later date and the credit policy can change. If one storm created a unique delay, keep it in the downside case instead of making every customer appear permanently unreliable.
Separate confirmed from conditional receipts. A cleared mobile-money settlement is confirmed. A customer promise by phone is conditional. An unsigned order is pipeline and belongs in a sales forecast, not a cash forecast. If management wants to include pipeline as a scenario, show probability and the week cash would realistically arrive after delivery, invoice and terms. Do not let the current sales target masquerade as a bank deposit.
Create two cash lines: unrestricted cash and restricted or committed cash. The latter can include tax collected for remittance, customer deposits due for fulfillment, security deposits, lender reserve accounts and grant funding with restrictions. The business may have the funds in its account but not have the right or practical ability to spend them on payroll. Likewise, show a committed overdraft separately from cash and record draw conditions, borrowing base, renewal date and required clean-down.
A useful weekly meeting ends with named actions, not a spreadsheet tour. Identify the next low-cash week, the three receipts or payments most likely to move it, what evidence will arrive before the next review, and who will respond. If the lowest projected balance remains above the reserve floor, the meeting can focus on margin and stock quality. If it falls below the floor, the owner decides now whether to collect, reduce orders, defer optional capex, negotiate a payment schedule or draw committed funding. The decision and expected cash impact are recorded, then tested against actuals next week.
ARTICLE SECTION: Stock control that protects service and cash
For each SKU, record quantity, unit cost, last sale, units sold per week, lead time, open orders, expiry or obsolescence, gross margin and supplier minimum. ABC analysis sorts by annual consumption value, but a high-value category should not automatically receive all managerial attention. A low-cost item that stops a repair or an essential service may deserve a minimum safety stock. Pair annual consumption value with criticality, uncertainty, substitution and lead time.
Turnover is cost of goods sold divided by average inventory; DIO is average inventory divided by matched-period cost of goods sold times period days. Calculate by category and compare similar seasons. Add ageing buckets and stockout days. An item that has not sold for 60 days may be normal for a seasonal product or a serious warning for fresh food; no universal dead-stock day applies. Estimate carrying costs from actual storage, insurance, spoilage, financing and markdown experience. The 20–30% holding-cost figure in the supplied notes remains an unverified lead, not a default assumption.
A reorder point can be estimated from average daily usage times supplier lead days plus safety stock for demand and lead-time variation. Validate with actual purchase-to-receipt dates. If lead time is uncertain, keep a low/base/high estimate and establish an emergency alternative. Before marking down or returning inventory, compare expected net recovery with carrying cost, expiry risk, supplier credit and the effect on customer availability. A markdown that releases cash but loses more contribution than it saves may be the wrong move.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Unit Economics C5:L7. Contribution is not net income. Explain the cost behaviour before interpreting a break-even quantity.
Narration: explain each step and its consequence for the opening decision.
ARTICLE SECTION: Unit economics need both contribution and cash
For each product, route or service, start with collected or collectible net revenue after discounts, refunds and indirect taxes where relevant. Subtract costs that change with delivery: stock, packaging, payment fee, delivery, commissions, spoilage, customer support and variable labor. The remainder is contribution. Add fixed costs at the level where the decision is made: route, store, branch or the whole company. Keep shared costs transparent rather than assigning all head-office expense to a new unit.
Consider an order sold for KSh 3,000 net. Direct product cost is KSh 1,600, packing KSh 120, payment costs KSh 60, delivery KSh 250 and expected returns or damage KSh 70. Contribution is KSh 900. If the channel spends KSh 180 per first order to acquire a new customer, initial contribution after acquisition is KSh 720 before fixed cost. If repeat orders arrive without the same acquisition cost, cohort contribution can improve. But if the customer does not repeat or pays after 45 days while suppliers require payment in 14, acquisition payback may be cash-negative. Show repeat frequency, retention and collection dates, not only lifetime-value estimates.
Calculate volume break-even as fixed cash cost divided by contribution per unit. Then calculate cash break-even by adding debt service, maintenance investment and any required tax or reserve. For example, fixed monthly operating cost of KSh 240,000, maintenance of KSh 40,000 and debt service of KSh 50,000 divided by KSh 800 contribution per delivery requires 413 deliveries per month. That threshold moves if price, discounts, delivery density or variable input costs change. Run an adverse case with lower average basket and fewer stops per route before assuming scale solves it.
When a unit has positive contribution but negative allocated profit, ask whether the contribution covers avoidable costs and whether it helps support shared capacity. When contribution is negative, additional sales generally deepen losses unless there is a clearly timed learning or launch investment with a stop rule. A new unit should have an investment gate: minimum contribution, utilization, service quality and cash payback date. Review those conditions after launch rather than letting the forecast continue unchanged.
ARTICLE SECTION: 2. Learn where contribution comes from
Sales are not all equally useful. Contribution margin estimates what remains from a sale after variable costs that move with that sale. For a product line:
Contribution per unit = selling price − variable cost per unit
Break-even units = fixed costs over the period ÷ contribution per unit
Include variable costs that belong to the sale: product cost, payment processing, delivery, commissions, consumables, and relevant returns or spoilage. If labor is fixed within a period but varies with output at a higher level, explain that boundary. The equation is a decision aid, not a substitute for checking capacity and cash timing.
A fictional bakery sells a loaf for KSh 100. Flour, packaging, and incremental fuel total KSh 62 per loaf. Contribution is KSh 38 before fixed costs. If weekly fixed costs are KSh 76,000, the simple break-even volume is 2,000 loaves a week. But if the oven can produce only 1,600, then the break-even result is physically impossible under the current setup. If supermarkets pay 45 days after delivery, a profitable order can also create a cash shortage.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Cash13W rows 6:18; free-calculator reconciliation map verifies all thirteen baseline closing balances. Financing receipts are separate from customer collections.
Equation: Closing cash = opening cash + receipts + financing − cash uses
Substitution: Base case: minimum cash KES 1.05m; final cash KES 1.95m
Interpretation: The lowest cash week is the action point. A positive final week can conceal an earlier reserve breach.
ARTICLE SECTION: 4. End each review with decisions
A weekly meeting should leave a small action log. For example: “Call customer A about invoice 184, due last Friday; confirm whether the delivery note is accepted by Tuesday; owner: Sam; expected receipt date: 4 October.” Or: “Hold the optional equipment order; check the repair quote and next two weeks’ receipts by Thursday.”
Separate facts from assumptions. “Invoice issued” is a fact. “The customer will pay on Friday” is an estimate unless the customer confirms it. The owner should compare forecasts with actuals each week, not to punish a forecast that was wrong, but to learn which customer or payment type is repeatedly mis-timed.
Research on SMEs supports treating cash and working capital as connected operating choices. García-Teruel and Martínez-Solano found relationships between shorter collection/inventory periods and profitability in their Spanish SME panel [1]. Afrifa’s study of UK SMEs found that incorporating cash flow changed the modeled relationship between working capital and performance [2]. These findings motivate monitoring; neither supplies an ideal DSO or cash reserve for a Nairobi wholesaler. Deloof studies a separate Belgian-firm sample, while Nicolas examines short-term financial constraints and SME investment through the working-capital channel [3], [4]. Different settings and research questions are a reason to use this literature as context for measurement, not as a universal operating threshold.
ARTICLE SECTION: Unit economics need both contribution and cash
For each product, route or service, start with collected or collectible net revenue after discounts, refunds and indirect taxes where relevant. Subtract costs that change with delivery: stock, packaging, payment fee, delivery, commissions, spoilage, customer support and variable labor. The remainder is contribution. Add fixed costs at the level where the decision is made: route, store, branch or the whole company. Keep shared costs transparent rather than assigning all head-office expense to a new unit.
Consider an order sold for KSh 3,000 net. Direct product cost is KSh 1,600, packing KSh 120, payment costs KSh 60, delivery KSh 250 and expected returns or damage KSh 70. Contribution is KSh 900. If the channel spends KSh 180 per first order to acquire a new customer, initial contribution after acquisition is KSh 720 before fixed cost. If repeat orders arrive without the same acquisition cost, cohort contribution can improve. But if the customer does not repeat or pays after 45 days while suppliers require payment in 14, acquisition payback may be cash-negative. Show repeat frequency, retention and collection dates, not only lifetime-value estimates.
Calculate volume break-even as fixed cash cost divided by contribution per unit. Then calculate cash break-even by adding debt service, maintenance investment and any required tax or reserve. For example, fixed monthly operating cost of KSh 240,000, maintenance of KSh 40,000 and debt service of KSh 50,000 divided by KSh 800 contribution per delivery requires 413 deliveries per month. That threshold moves if price, discounts, delivery density or variable input costs change. Run an adverse case with lower average basket and fewer stops per route before assuming scale solves it.
When a unit has positive contribution but negative allocated profit, ask whether the contribution covers avoidable costs and whether it helps support shared capacity. When contribution is negative, additional sales generally deepen losses unless there is a clearly timed learning or launch investment with a stop rule. A new unit should have an investment gate: minimum contribution, utilization, service quality and cash payback date. Review those conditions after launch rather than letting the forecast continue unchanged.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ACTUAL WORKBOOK CAPTURE
Workbook: C:\Users\Nevo\Downloads\financial material\Owner's Earning\Project 1 - MSMEs and Small Businesses\Project 1 - MSME Owner Earnings and Operations.xlsx
Sheet/range: 'Cash13W'!C5:J13
SHA-256: 43f243daa5fa87c914c73ec53b55652f96b8cbd8482d45327141c2383e47494e
Capture method: Microsoft Excel read-only PDF range export. Print headings retained. Source not saved.
Asset: Evidence/Workbooks/OE-MSME-03-01-p1.png
SCREEN RECORDING WALKTHROUGH
Read the row and column headings. Identify inputs, follow the dependent row and explain the units. Do not alter the source workbook while recording; use a copy for a new scenario.
Extracted evidence text:
5
6
7
8
9
10
11
12
13
C D E F G H I J
Week Week beginning Opening cash Base receipts Downside receipts Active receipts Base suppliers Downside suppliers
1 28-Sep-2026 1,200,000 1,450,000 1,100,000 1,450,000 800,000 900,000
2 05-Oct-2026 1,250,000 1,200,000 800,000 1,200,000 800,000 850,000
3 12-Oct-2026 1,050,000 1,900,000 1,200,000 1,900,000 1,100,000 1,200,000
4 19-Oct-2026 1,250,000 1,300,000 900,000 1,300,000 800,000 950,000
5 26-Oct-2026 1,150,000 2,500,000 1,600,000 2,500,000 1,300,000 1,450,000
6 02-Nov-2026 1,750,000 1,100,000 700,000 1,100,000 800,000 850,000
7 09-Nov-2026 1,450,000 1,400,000 900,000 1,400,000 800,000 950,000
8 16-Nov-2026 1,450,000 1,900,000 1,200,000 1,900,000 1,100,000 1,200,000
Relevant article context:
ARTICLE SECTION: 1. See the cash trough
List confirmed customer receipts by expected bank date, not invoice date. Separate confirmed orders from hoped-for new sales. For customers who regularly pay late, show an expected date that reflects the observed pattern, and keep the contractual due date beside it. A receipt becomes less dependable if delivery, acceptance, or a missing document can delay payment.
Payments should have the same specificity: payroll date, rent date, tax payment, supplier payment terms, loan instalment, delivery fuel, and committed stock purchases. Avoid a single “other costs” line so large that it hides an action.
The owner can compare the forecast low point with a minimum cash floor. That floor is not a universal number of weeks. It reflects payroll, cash volatility, supplier alternatives, customer concentration, seasonality and access to committed facilities. A facility counts as available only if the agreement is signed, the draw conditions can be met, and it is not already used.
ARTICLE SECTION: Unit economics need both contribution and cash
For each product, route or service, start with collected or collectible net revenue after discounts, refunds and indirect taxes where relevant. Subtract costs that change with delivery: stock, packaging, payment fee, delivery, commissions, spoilage, customer support and variable labor. The remainder is contribution. Add fixed costs at the level where the decision is made: route, store, branch or the whole company. Keep shared costs transparent rather than assigning all head-office expense to a new unit.
Consider an order sold for KSh 3,000 net. Direct product cost is KSh 1,600, packing KSh 120, payment costs KSh 60, delivery KSh 250 and expected returns or damage KSh 70. Contribution is KSh 900. If the channel spends KSh 180 per first order to acquire a new customer, initial contribution after acquisition is KSh 720 before fixed cost. If repeat orders arrive without the same acquisition cost, cohort contribution can improve. But if the customer does not repeat or pays after 45 days while suppliers require payment in 14, acquisition payback may be cash-negative. Show repeat frequency, retention and collection dates, not only lifetime-value estimates.
Calculate volume break-even as fixed cash cost divided by contribution per unit. Then calculate cash break-even by adding debt service, maintenance investment and any required tax or reserve. For example, fixed monthly operating cost of KSh 240,000, maintenance of KSh 40,000 and debt service of KSh 50,000 divided by KSh 800 contribution per delivery requires 413 deliveries per month. That threshold moves if price, discounts, delivery density or variable input costs change. Run an adverse case with lower average basket and fewer stops per route before assuming scale solves it.
When a unit has positive contribution but negative allocated profit, ask whether the contribution covers avoidable costs and whether it helps support shared capacity. When contribution is negative, additional sales generally deepen losses unless there is a clearly timed learning or launch investment with a stop rule. A new unit should have an investment gate: minimum contribution, utilization, service quality and cash payback date. Review those conditions after launch rather than letting the forecast continue unchanged.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ACTUAL WORKBOOK CAPTURE
Workbook: C:\Users\Nevo\Downloads\financial material\Owner's Earning\Project 1 - MSMEs and Small Businesses\Project 1 - MSME Owner Earnings and Operations.xlsx
Sheet/range: 'Unit Economics'!C5:L7
SHA-256: 43f243daa5fa87c914c73ec53b55652f96b8cbd8482d45327141c2383e47494e
Capture method: Microsoft Excel read-only PDF range export. Print headings retained. Source not saved.
Asset: Evidence/Workbooks/OE-MSME-03-02-p1.png
SCREEN RECORDING WALKTHROUGH
Read the row and column headings. Identify inputs, follow the dependent row and explain the units. Do not alter the source workbook while recording; use a copy for a new scenario.
Extracted evidence text:
5
6
7
C D E F G H I J K L
Offer / unit Monthly units Price per unit Product cost Fulfilment cost Contribution / unit Contribution % Monthly contribution Allocated fixed cost Break-even units
Standard delivery 900 4,500 3,060 540 900 20.0% 810,000 1,200,000 1,333
Express delivery 280 6,500 4,100 1,000 1,400 21.5% 392,000 700,000 500
Relevant article context:
ARTICLE SECTION: Unit economics need both contribution and cash
For each product, route or service, start with collected or collectible net revenue after discounts, refunds and indirect taxes where relevant. Subtract costs that change with delivery: stock, packaging, payment fee, delivery, commissions, spoilage, customer support and variable labor. The remainder is contribution. Add fixed costs at the level where the decision is made: route, store, branch or the whole company. Keep shared costs transparent rather than assigning all head-office expense to a new unit.
Consider an order sold for KSh 3,000 net. Direct product cost is KSh 1,600, packing KSh 120, payment costs KSh 60, delivery KSh 250 and expected returns or damage KSh 70. Contribution is KSh 900. If the channel spends KSh 180 per first order to acquire a new customer, initial contribution after acquisition is KSh 720 before fixed cost. If repeat orders arrive without the same acquisition cost, cohort contribution can improve. But if the customer does not repeat or pays after 45 days while suppliers require payment in 14, acquisition payback may be cash-negative. Show repeat frequency, retention and collection dates, not only lifetime-value estimates.
Calculate volume break-even as fixed cash cost divided by contribution per unit. Then calculate cash break-even by adding debt service, maintenance investment and any required tax or reserve. For example, fixed monthly operating cost of KSh 240,000, maintenance of KSh 40,000 and debt service of KSh 50,000 divided by KSh 800 contribution per delivery requires 413 deliveries per month. That threshold moves if price, discounts, delivery density or variable input costs change. Run an adverse case with lower average basket and fewer stops per route before assuming scale solves it.
When a unit has positive contribution but negative allocated profit, ask whether the contribution covers avoidable costs and whether it helps support shared capacity. When contribution is negative, additional sales generally deepen losses unless there is a clearly timed learning or launch investment with a stop rule. A new unit should have an investment gate: minimum contribution, utilization, service quality and cash payback date. Review those conditions after launch rather than letting the forecast continue unchanged.
ARTICLE SECTION: Workbook map
The Project 1 workbook puts the 13-week cash forecast, low-cash point, net burn and indicative runway together on Cash13W. In its fictional route case, KSh6.0m opening cash reaches a KSh5.58m low under Base but falls to a KSh3.49m deficit under the combined downside receipts and supplier schedule. That is a warning to change the forecast or financing plan, not a claim about a real business. Receivables and Payables calculate outstanding balances and ageing from due dates; Inventory calculates stock value, ABC share, days since sale and a lead-time reorder review; Unit Economics calculates contribution and break-even; Action Log records an owner, deadline, cash or margin effect and outcome. Evidence Vectors maps the 13 forecast periods and the invoice/SKU schedules to their cells and marks the case as fictional; the forecast has explicit week starts, while the other scenario dates are tied to their own schedules and as-of date. Replace sample ledgers with dated customer, stock and supplier records.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This is the workbook's multi-input downside, not a one-variable forecast. The web tool can separately delay receipts one week; amounts arriving after week 13 must be disclosed.
Base: Base minimum KES 1.05m; final cash KES 1.95m.
Changed: Select the source downside receipts and uses.
Consequence: Reserve breach starts in week 2; cash turns negative in week 3; final cash is KES −6.65m.
ARTICLE SECTION: A weekly operating meeting that connects the numbers to action
A small firm does not need a complicated dashboard to make better decisions. It needs a short meeting with the people who can change collections, purchasing, production and customer service. Keep one page and review the same measures each week: opening cash, lowest forecast cash, collections due and collected, overdue receivables, stock-outs, slow stock, supplier commitments, payroll and statutory payments, completed orders, gross margin and work not yet invoiced.
For each measure, show current value, recent direction, owner, next action and deadline. Avoid a red-yellow-green score with no underlying amount or customer. “Collections are behind” is not an action. “KSh 420,000 from three invoices is six days past the agreed date; Amina will call the customer finance lead by Tuesday and confirm the payment reference” is. If the customer disputes delivery, assign someone to provide proof of delivery and resolve the dispute; do not continue sending generic reminders.
The meeting should last 30 to 45 minutes. Begin with the cash forecast and critical obligations. Review exceptions rather than reading every line aloud. Agree which orders to accept, defer or renegotiate based on contribution after direct costs, collection risk and capacity. End by writing decisions into an action log. The next meeting opens by checking whether each action happened and whether it changed the underlying measure.
ARTICLE SECTION: Turn the 13-week view into a weekly operating ritual
A cash forecast works when the people closest to each event update it. Finance owns the ledger; sales owns customer commitments; procurement owns supplier dates; operations owns stock and delivery; the owner resolves trade-offs. Ask each person to bring evidence: remittance advice, signed purchase order, supplier statement, payroll schedule, tax deadline or loan notice. A forecast entry should carry an amount, date, source and confidence status. This is often more valuable than adding more rows or formulas.
Use a rolling window. At the end of each week, archive the prior forecast, enter actual cash, move the horizon forward by one week and add newly known events in week 13. Never overwrite last week’s expected date because it was missed; retain the variance. This gives the owner a short record of forecast accuracy. If a customer is normally 10 days late, after several observed delays the forecast can use a later date and the credit policy can change. If one storm created a unique delay, keep it in the downside case instead of making every customer appear permanently unreliable.
Separate confirmed from conditional receipts. A cleared mobile-money settlement is confirmed. A customer promise by phone is conditional. An unsigned order is pipeline and belongs in a sales forecast, not a cash forecast. If management wants to include pipeline as a scenario, show probability and the week cash would realistically arrive after delivery, invoice and terms. Do not let the current sales target masquerade as a bank deposit.
Create two cash lines: unrestricted cash and restricted or committed cash. The latter can include tax collected for remittance, customer deposits due for fulfillment, security deposits, lender reserve accounts and grant funding with restrictions. The business may have the funds in its account but not have the right or practical ability to spend them on payroll. Likewise, show a committed overdraft separately from cash and record draw conditions, borrowing base, renewal date and required clean-down.
A useful weekly meeting ends with named actions, not a spreadsheet tour. Identify the next low-cash week, the three receipts or payments most likely to move it, what evidence will arrive before the next review, and who will respond. If the lowest projected balance remains above the reserve floor, the meeting can focus on margin and stock quality. If it falls below the floor, the owner decides now whether to collect, reduce orders, defer optional capex, negotiate a payment schedule or draw committed funding. The decision and expected cash impact are recorded, then tested against actuals next week.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REAL WEB CAPTURE
{
  "key": "cash-13-weeks",
  "captured_at": "2026-09-25T13:23:26.219Z",
  "url": "http://127.0.0.1:8765/calculators/cash-13-weeks/#business-results",
  "definitions": [
    {
      "display": "block",
      "text": "Cₜ is week-end cash; Cₜ₋₁ is opening cash; Rₜ is operating cash received, Eₜ new owner funds, Fₜ new borrowing and Uₜ all scheduled cash uses. Values are KES in week t; t runs from 1 to 13."
    },
    {
      "display": "block",
      "text": "B is the chosen KES reserve floor and C₀ opening unrestricted cash. This is the initial buffer required to cover the deepest forecast gap, assuming the remaining cash flows are unchanged."
    }
  ],
  "equations": 2,
  "inputs": [
    {
      "name": "start",
      "value": "2026-09-28"
    },
    {
      "name": "opening",
      "value": "1200000"
    },
    {
      "name": "reserve",
      "value": "500000"
    },
    {
      "name": "receipt_delay",
      "value": "0"
    },
    {
      "name": "financing_delay",
      "value": "0"
    },
    {
      "checked": false,
      "name": "exclude_financing",
      "value": "on"
    },
    {
      "name": "source_note",
      "value": "Illustrative workbook case; replace with dated records"
    },
    {
      "name": "w1_receipts",
      "value": "1450000"
    },
    {
      "name": "w1_down_receipts",
      "value": "1100000"
    },
    {
      "name": "w1_suppliers",
      "value": "800000"
    },
    {
      "name": "w1_down_suppliers",
      "value": "900000"
    },
    {
      "name": "w1_fixed",
      "value": "350000"
    },
    {
      "name": "w1_other_due",
      "value": "250000"
    },
    {
      "name": "w2_receipts",
      "value": "1200000"
    },
    {
      "name": "w2_down_receipts",
      "value": "800000"
    },
    {
      "name": "w2_suppliers",
      "value": "800000"
    },
    {
      "name": "w2_down_suppliers",
      "value": "850000"
    },
    {
      "name": "w2_fixed",
      "value": "350000"
    },
    {
      "name": "w2_other_due",
      "value": "250000"
    },
    {
      "name": "w3_receipts",
      "value": "1900000"
    },
    {
      "name": "w3_down_receipts",
      "value": "1200000"
    },
    {
      "name": "w3_suppliers",
      "value": "1100000"
    },
    {
      "name": "w3_down_suppliers",
      "value": "1200000"
    },
    {
      "name": "w3_fixed",
      "value": "350000"
    },
    {
      "name": "w3_other_due",
      "value": "250000"
    },
    {
      "name": "w4_receipts",
      "value": "1300000"
    },
    {
      "name": "w4_down_receipts",
      "value": "900000"
    },
    {
      "name": "w4_suppliers",
      "value": "800000"
    },
    {
      "name": "w4_down_suppliers",
      "value": "950000"
    },
    {
      "name": "w4_fixed",
      "value": "350000"
    },
    {
      "name": "w4_other_due",
      "value": "250000"
    },
    {
      "name": "w5_receipts",
      "value": "2500000"
    },
    {
      "name": "w5_down_receipts",
      "value": "1600000"
    },
    {
      "name": "w5_suppliers",
      "value": "1300000"
    },
    {
      "name": "w5_down_suppliers",
      "value": "1450000"
    },
    {
      "name": "w5_fixed",
      "value": "350000"
    },
    {
      "name": "w5_other_due",
      "value": "250000"
    },
    {
      "name": "w6_receipts",
      "value": "1100000"
    },
    {
      "name": "w6_down_receipts",
      "value": "700000"
    },
    {
      "name": "w6_suppliers",
      "value": "800000"
    },
    {
      "name": "w6_down_suppliers",
      "value": "850000"
    },
    {
      "name": "w6_fixed",
      "value": "350000"
    },
    {
      "name": "w6_other_due",
      "value": "250000"
    },
    {
      "name": "w7_receipts",
      "value": "1400000"
    },
    {
      "name": "w7_down_receipts",
      "value": "900000"
    },
    {
      "name": "w7_suppliers",
      "value": "800000"
    },
    {
      "name": "w7_down_suppliers",
      "value": "950000"
    },
    {
      "name": "w7_fixed",
      "value": "350000"
    },
    {
      "name": "w7_other_due",
      "value": "250000"
    },
    {
      "name": "w8_receipts",
      "value": "1900000"
    },
    {
      "name": "w8_down_receipts",
      "value": "1200000"
    },
    {
      "name": "w8_suppliers",
      "value": "1100000"
    },
    {
      "name": "w8_down_suppliers",
      "value": "1200000"
    },
    {
      "name": "w8_fixed",
      "value": "350000"
    },
    {
      "name": "w8_other_due",
      "value": "250000"
    },
    {
      "name": "w9_receipts",
      "value": "1200000"
    },
    {
      "name": "w9_down_receipts",
      "value": "800000"
    },
    {
      "name": "w9_suppliers",
      "value": "800000"
    },
    {
      "name": "w9_down_suppliers",
      "value": "900000"
    },
    {
      "name": "w9_fixed",
      "value": "350000"
    },
    {
      "name": "w9_other_due",
      "value": "250000"
    },
    {
      "name": "w10_receipts",
      "value": "2300000"
    },
    {
      "name": "w10_down_receipts",
      "value": "1500000"
    },
    {
      "name": "w10_suppliers",
      "value": "1200000"
    },
    {
      "name": "w10_down_suppliers",
      "value": "1350000"
    },
    {
      "name": "w10_fixed",
      "value": "350000"
    },
    {
      "name": "w10_other_due",
      "value": "250000"
    },
    {
      "name": "w11_receipts",
      "value": "1000000"
    },
    {
      "name": "w11_down_receipts",
      "value": "650000"
    },
    {
      "name": "w11_suppliers",
      "value": "750000"
    },
    {
      "name": "w11_down_suppliers",
      "value": "800000"
    },
    {
      "name": "w11_fixed",
      "value": "350000"
    },
    {
      "name": "w11_other_due",
      "value": "250000"
    },
    {
      "name": "w12_receipts",
      "value": "1600000"
    },
    {
      "name": "w12_down_receipts",
      "value": "1050000"
    },
    {
      "name": "w12_suppliers",
      "value": "950000"
    },
    {
      "name": "w12_down_suppliers",
      "value": "1100000"
    },
    {
      "name": "w12_fixed",
      "value": "350000"
    },
    {
      "name": "w12_other_due",
      "value": "250000"
    },
    {
      "name": "w13_receipts",
      "value": "2000000"
    },
    {
      "name": "w13_down_receipts",
      "value": "1300000"
    },
    {
      "name": "w13_suppliers",
      "value": "1100000"
    },
    {
      "name": "w13_down_suppliers",
      "value": "1250000"
    },
    {
      "name": "w13_fixed",
      "value": "350000"
    },
    {
      "name": "w13_other_due",
      "value": "250000"
    },
    {
      "name": "w1_other_operating",
      "value": "0"
    },
    {
      "name": "w1_owner_funding",
      "value": "0"
    },
    {
      "name": "w1_financing",
      "value": "0"
    },
    {
      "name": "w1_tax",
      "value": "0"
    },
    {
      "name": "w1_maintenance",
      "value": "0"
    },
    {
      "name": "w1_growth",
      "value": "0"
    },
    {
      "name": "w1_interest",
      "value": "0"
    },
    {
      "name": "w1_principal",
      "value": "0"
    },
    {
      "name": "w1_draws",
      "value": "0"
    },
    {
      "name": "w2_other_operating",
      "value": "0"
    },
    {
      "name": "w2_owner_funding",
      "value": "0"
    },
    {
      "name": "w2_financing",
      "value": "0"
    },
    {
      "name": "w2_tax",
      "value": "0"
    },
    {
      "name": "w2_maintenance",
      "value": "0"
    },
    {
      "name": "w2_growth",
      "value": "0"
    },
    {
      "name": "w2_interest",
      "value": "0"
    },
    {
      "name": "w2_principal",
      "value": "0"
    },
    {
      "name": "w2_draws",
      "value": "0"
    },
    {
      "name": "w3_other_operating",
      "value": "0"
    },
    {
      "name": "w3_owner_funding",
      "value": "0"
    },
    {
      "name": "w3_financing",
      "value": "0"
    },
    {
      "name": "w3_tax",
      "value": "0"
    },
    {
      "name": "w3_maintenance",
      "value": "0"
    },
    {
      "name": "w3_growth",
      "value": "0"
    },
    {
      "name": "w3_interest",
      "value": "0"
    },
    {
      "name": "w3_principal",
      "value": "0"
    },
    {
      "name": "w3_draws",
      "value": "0"
    },
    {
      "name": "w4_other_operating",
      "value": "0"
    },
    {
      "name": "w4_owner_funding",
      "value": "0"
    },
    {
      "name": "w4_financing",
      "value": "0"
    },
    {
      "name": "w4_tax",
      "value": "0"
    },
    {
      "name": "w4_maintenance",
      "value": "0"
    },
    {
      "name": "w4_growth",
      "value": "0"
    },
    {
      "name": "w4_interest",
      "value": "0"
    },
    {
      "name": "w4_principal",
      "value": "0"
    },
    {
      "name": "w4_draws",
      "value": "0"
    },
    {
      "name": "w5_other_operating",
      "value": "0"
    },
    {
      "name": "w5_owner_funding",
      "value": "0"
    },
    {
      "name": "w5_financing",
      "value": "0"
    },
    {
      "name": "w5_tax",
      "value": "0"
    },
    {
      "name": "w5_maintenance",
      "value": "0"
    },
    {
      "name": "w5_growth",
      "value": "0"
    },
    {
      "name": "w5_interest",
      "value": "0"
    },
    {
      "name": "w5_principal",
      "value": "0"
    },
    {
      "name": "w5_draws",
      "value": "0"
    },
    {
      "name": "w6_other_operating",
      "value": "0"
    },
    {
      "name": "w6_owner_funding",
      "value": "0"
    },
    {
      "name": "w6_financing",
      "value": "0"
    },
    {
      "name": "w6_tax",
      "value": "0"
    },
    {
      "name": "w6_maintenance",
      "value": "0"
    },
    {
      "name": "w6_growth",
      "value": "0"
    },
    {
      "name": "w6_interest",
      "value": "0"
    },
    {
      "name": "w6_principal",
      "value": "0"
    },
    {
      "name": "w6_draws",
      "value": "0"
    },
    {
      "name": "w7_other_operating",
      "value": "0"
    },
    {
      "name": "w7_owner_funding",
      "value": "0"
    },
    {
      "name": "w7_financing",
      "value": "0"
    },
    {
      "name": "w7_tax",
      "value": "0"
    },
    {
      "name": "w7_maintenance",
      "value": "0"
    },
    {
      "name": "w7_growth",
      "value": "0"
    },
    {
      "name": "w7_interest",
      "value": "0"
    },
    {
      "name": "w7_principal",
      "value": "0"
    },
    {
      "name": "w7_draws",
      "value": "0"
    },
    {
      "name": "w8_other_operating",
      "value": "0"
    },
    {
      "name": "w8_owner_funding",
      "value": "0"
    },
    {
      "name": "w8_financing",
      "value": "0"
    },
    {
      "name": "w8_tax",
      "value": "0"
    },
    {
      "name": "w8_maintenance",
      "value": "0"
    },
    {
      "name": "w8_growth",
      "value": "0"
    },
    {
      "name": "w8_interest",
      "value": "0"
    },
    {
      "name": "w8_principal",
      "value": "0"
    },
    {
      "name": "w8_draws",
      "value": "0"
    },
    {
      "name": "w9_other_operating",
      "value": "0"
    },
    {
      "name": "w9_owner_funding",
      "value": "0"
    },
    {
      "name": "w9_financing",
      "value": "0"
    },
    {
      "name": "w9_tax",
      "value": "0"
    },
    {
      "name": "w9_maintenance",
      "value": "0"
    },
    {
      "name": "w9_growth",
      "value": "0"
    },
    {
      "name": "w9_interest",
      "value": "0"
    },
    {
      "name": "w9_principal",
      "value": "0"
    },
    {
      "name": "w9_draws",
      "value": "0"
    },
    {
      "name": "w10_other_operating",
      "value": "0"
    },
    {
      "name": "w10_owner_funding",
      "value": "0"
    },
    {
      "name": "w10_financing",
      "value": "0"
    },
    {
      "name": "w10_tax",
      "value": "0"
    },
    {
      "name": "w10_maintenance",
      "value": "0"
    },
    {
      "name": "w10_growth",
      "value": "0"
    },
    {
      "name": "w10_interest",
      "value": "0"
    },
    {
      "name": "w10_principal",
      "value": "0"
    },
    {
      "name": "w10_draws",
      "value": "0"
    },
    {
      "name": "w11_other_operating",
      "value": "0"
    },
    {
      "name": "w11_owner_funding",
      "value": "0"
    },
    {
      "name": "w11_financing",
      "value": "0"
    },
    {
      "name": "w11_tax",
      "value": "0"
    },
    {
      "name": "w11_maintenance",
      "value": "0"
    },
    {
      "name": "w11_growth",
      "value": "0"
    },
    {
      "name": "w11_interest",
      "value": "0"
    },
    {
      "name": "w11_principal",
      "value": "0"
    },
    {
      "name": "w11_draws",
      "value": "0"
    },
    {
      "name": "w12_other_operating",
      "value": "0"
    },
    {
      "name": "w12_owner_funding",
      "value": "0"
    },
    {
      "name": "w12_financing",
      "value": "0"
    },
    {
      "name": "w12_tax",
      "value": "0"
    },
    {
      "name": "w12_maintenance",
      "value": "0"
    },
    {
      "name": "w12_growth",
      "value": "0"
    },
    {
      "name": "w12_interest",
      "value": "0"
    },
    {
      "name": "w12_principal",
      "value": "0"
    },
    {
      "name": "w12_draws",
      "value": "0"
    },
    {
      "name": "w13_other_operating",
      "value": "0"
    },
    {
      "name": "w13_owner_funding",
      "value": "0"
    },
    {
      "name": "w13_financing",
      "value": "0"
    },
    {
      "name": "w13_tax",
      "value": "0"
    },
    {
      "name": "w13_maintenance",
      "value": "0"
    },
    {
      "name": "w13_growth",
      "value": "0"
    },
    {
      "name": "w13_interest",
      "value": "0"
    },
    {
      "name": "w13_principal",
      "value": "0"
    },
    {
      "name": "w13_draws",
      "value": "0"
    }
  ],
  "mathErrors": 0,
  "title": "Thirteen-week operating cash planner | Sokointel",
  "viewport": {
    "height": 720,
    "width": 1280
  },
  "files": [
    "cash-13-weeks-full.png",
    "cash-13-weeks-results.png"
  ],
  "slug": "cash-13-weeks",
  "screenshots": [
    "cash-13-weeks-full.png",
    "cash-13-weeks-results.png"
  ],
  "environment": "local preview; not proof of live deployment",
  "base": "Evidence/Web/20260925-formula-rendering"
}
DEMONSTRATION SCOPE
Follow the lowest cash week and final balance. Distinguish customer receipts from financing and disclose receipts delayed beyond week thirteen.
This is a fictional schedule. Weekly totals do not prove every payment clears within the week.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Answer: An operating dashboard is useful when a cash or service exception produces a named action before the trough. The invoice, stock or supplier record explains the mechanism behind the weekly total.
Viewer task: Write one action with an owner, due date, evidence trigger and expected cash or service effect.
Return to each opening research question and identify what remains conditional or unknown.
ARTICLE SECTION: 4. End each review with decisions
A weekly meeting should leave a small action log. For example: “Call customer A about invoice 184, due last Friday; confirm whether the delivery note is accepted by Tuesday; owner: Sam; expected receipt date: 4 October.” Or: “Hold the optional equipment order; check the repair quote and next two weeks’ receipts by Thursday.”
Separate facts from assumptions. “Invoice issued” is a fact. “The customer will pay on Friday” is an estimate unless the customer confirms it. The owner should compare forecasts with actuals each week, not to punish a forecast that was wrong, but to learn which customer or payment type is repeatedly mis-timed.
Research on SMEs supports treating cash and working capital as connected operating choices. García-Teruel and Martínez-Solano found relationships between shorter collection/inventory periods and profitability in their Spanish SME panel [1]. Afrifa’s study of UK SMEs found that incorporating cash flow changed the modeled relationship between working capital and performance [2]. These findings motivate monitoring; neither supplies an ideal DSO or cash reserve for a Nairobi wholesaler. Deloof studies a separate Belgian-firm sample, while Nicolas examines short-term financial constraints and SME investment through the working-capital channel [3], [4]. Different settings and research questions are a reason to use this literature as context for measurement, not as a universal operating threshold.
ARTICLE SECTION: Turn the 13-week view into a weekly operating ritual
A cash forecast works when the people closest to each event update it. Finance owns the ledger; sales owns customer commitments; procurement owns supplier dates; operations owns stock and delivery; the owner resolves trade-offs. Ask each person to bring evidence: remittance advice, signed purchase order, supplier statement, payroll schedule, tax deadline or loan notice. A forecast entry should carry an amount, date, source and confidence status. This is often more valuable than adding more rows or formulas.
Use a rolling window. At the end of each week, archive the prior forecast, enter actual cash, move the horizon forward by one week and add newly known events in week 13. Never overwrite last week’s expected date because it was missed; retain the variance. This gives the owner a short record of forecast accuracy. If a customer is normally 10 days late, after several observed delays the forecast can use a later date and the credit policy can change. If one storm created a unique delay, keep it in the downside case instead of making every customer appear permanently unreliable.
Separate confirmed from conditional receipts. A cleared mobile-money settlement is confirmed. A customer promise by phone is conditional. An unsigned order is pipeline and belongs in a sales forecast, not a cash forecast. If management wants to include pipeline as a scenario, show probability and the week cash would realistically arrive after delivery, invoice and terms. Do not let the current sales target masquerade as a bank deposit.
Create two cash lines: unrestricted cash and restricted or committed cash. The latter can include tax collected for remittance, customer deposits due for fulfillment, security deposits, lender reserve accounts and grant funding with restrictions. The business may have the funds in its account but not have the right or practical ability to spend them on payroll. Likewise, show a committed overdraft separately from cash and record draw conditions, borrowing base, renewal date and required clean-down.
A useful weekly meeting ends with named actions, not a spreadsheet tour. Identify the next low-cash week, the three receipts or payments most likely to move it, what evidence will arrive before the next review, and who will respond. If the lowest projected balance remains above the reserve floor, the meeting can focus on margin and stock quality. If it falls below the floor, the owner decides now whether to collect, reduce orders, defer optional capex, negotiate a payment schedule or draw committed funding. The decision and expected cash impact are recorded, then tested against actuals next week.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OE-MSME-03: The daily MSME operating toolkit
ARTICLE: https://sokointel.com/read/oe-msme-03/
RESEARCH SNAPSHOT: 10 September 2026
SOURCE MATERIAL
[1] P. J. García-Teruel and P. Martínez-Solano, “Effects of Working Capital Management on SME Profitability,” International Journal of Managerial Finance, vol. 3, no. 2, pp. 164–177, 2007, https://doi.org/10.1108/17439130710738718.
[2] G. A. Afrifa, “Net Working Capital, Cash Flow and Performance of UK SMEs,” Review of Accounting and Finance, vol. 15, no. 1, pp. 21–44, 2016, https://doi.org/10.1108/RAF-02-2015-0031.
[3] M. Deloof, “Does Working Capital Management Affect Profitability of Belgian Firms?” Journal of Business Finance &amp; Accounting, vol. 30, no. 3–4, pp. 573–588, 2003, https://doi.org/10.1111/1468-5957.00008.
[4] T. Nicolas, “Short-Term Financial Constraints and SMEs’ Investment Decision: Evidence from the Working Capital Channel,” Small Business Economics, vol. 58, pp. 1885–1914, 2022, https://doi.org/10.1007/s11187-021-00488-3.
All linked source URLs:
P. J. García-Teruel and P. Martínez-Solano, “Effects of Working Capital Management on SME Profitability,” International Journal of Managerial Finance,: https://doi.org/10.1108/17439130710738718
G. A. Afrifa, “Net Working Capital, Cash Flow and Performance of UK SMEs,” Review of Accounting and Finance, vol. 15, no. 1, pp. 21–44, 2016: https://doi.org/10.1108/RAF-02-2015-0031
M. Deloof, “Does Working Capital Management Affect Profitability of Belgian Firms?” Journal of Business Finance &amp; Accounting, vol. 30, no. 3–4, pp. 57: https://doi.org/10.1111/1468-5957.00008
T. Nicolas, “Short-Term Financial Constraints and SMEs’ Investment Decision: Evidence from the Working Capital Channel,” Small Business Economics, vol: https://doi.org/10.1007/s11187-021-00488-3
Additional content sources:
[]
Workbook provenance:
C:\Users\Nevo\Downloads\financial material\Owner's Earning\Project 1 - MSMEs and Small Businesses\Project 1 - MSME Owner Earnings and Operations.xlsx
'Cash13W'!C5:J13
43f243daa5fa87c914c73ec53b55652f96b8cbd8482d45327141c2383e47494e
C:\Users\Nevo\Downloads\financial material\Owner's Earning\Project 1 - MSMEs and Small Businesses\Project 1 - MSME Owner Earnings and Operations.xlsx
'Unit Economics'!C5:L7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msme-03/" TargetMode="External"/><Relationship Id="rId2" Type="http://schemas.openxmlformats.org/officeDocument/2006/relationships/hyperlink" Target="https://doi.org/10.1108/17439130710738718" TargetMode="External"/><Relationship Id="rId3" Type="http://schemas.openxmlformats.org/officeDocument/2006/relationships/hyperlink" Target="https://doi.org/10.1108/RAF-02-2015-0031" TargetMode="External"/><Relationship Id="rId4" Type="http://schemas.openxmlformats.org/officeDocument/2006/relationships/hyperlink" Target="https://doi.org/10.1111/1468-5957.00008" TargetMode="External"/><Relationship Id="rId5" Type="http://schemas.openxmlformats.org/officeDocument/2006/relationships/hyperlink" Target="https://doi.org/10.1007/s11187-021-00488-3"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The daily MSME operating toolkit</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weekly operating meeting identifies the earliest cash shortfall, the invoice behind it and the person responsible for the next action.</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OE-MSME-03   •   Fictional weekly plan • 28 September–21 December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Why can a profitable business have little cash that its owner can safely withdraw?</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How much reinvestment and operating working capital does the business need?</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Which daily cash, customer, stock and supplier measures should trigger action?</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How do owner pay, borrowing, growth and succession affect transferable earning power?</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Opening cash — available cash at the start of the week; KES</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Receipts — expected collections, distinct from invoice revenue</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Contribution — price less variable product and fulfilment costs</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Reserve breach — closing cash below the chosen reserve</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Shortfall — closing cash below zero; funding remains explicit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Read the week as a cash story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Start with opening cash and evidence-backed receipt dates.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 suppliers, payroll, fixed costs and other due claims.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Carry a negative balance forward; do not silently insert rescue borrowing.</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Turn exceptions into operating work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For receivables, distinguish due date, dispute status and expected collection.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For stock, use last-sale date, lead time and safety stock.</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For suppliers, record contractual due date and operational criticality.</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Contribution must fund more than the product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Price less product and fulfilment cost gives contribution per unit.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Volume turns unit contribution into monthly contribution.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Fixed costs, tax, finance and owner needs remain outside that unit margin.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Follow each closing cash balance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Closing cash = opening cash + receipts + financing − cash uses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Base case: minimum cash KES 1.05m; final cash KES 1.95m</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lowest cash week is the action point. A positive final week can conceal an earlier reserve breach.</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Cash13W: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3-01-p1.png">    </p:cNvPr>
          <p:cNvPicPr>
            <a:picLocks noChangeAspect="1"/>
          </p:cNvPicPr>
          <p:nvPr/>
        </p:nvPicPr>
        <p:blipFill>
          <a:blip r:embed="rId1"/>
          <a:stretch>
            <a:fillRect/>
          </a:stretch>
        </p:blipFill>
        <p:spPr>
          <a:xfrm>
            <a:off x="612648" y="2571525"/>
            <a:ext cx="10972800" cy="224530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Cash13W!C5:J13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Unit Economics: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3-02-p1.png">    </p:cNvPr>
          <p:cNvPicPr>
            <a:picLocks noChangeAspect="1"/>
          </p:cNvPicPr>
          <p:nvPr/>
        </p:nvPicPr>
        <p:blipFill>
          <a:blip r:embed="rId1"/>
          <a:stretch>
            <a:fillRect/>
          </a:stretch>
        </p:blipFill>
        <p:spPr>
          <a:xfrm>
            <a:off x="612648" y="3288604"/>
            <a:ext cx="10972800" cy="81114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Unit Economics!C5:L7</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weekly plan • 28 September–21 December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downside needs action before week 3</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Base minimum KES 1.05m; final cash KES 1.95m.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Select the source downside receipts and uses.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Reserve breach starts in week 2; cash turns negative in week 3; final cash is KES −6.65m.</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cash-13-weeks-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Follow the lowest cash week and final balance. Distinguish customer receipts from financing and disclose receipts delayed beyond week thirteen.</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is a fictional schedule. Weekly totals do not prove every payment clears within the week.</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/calculators/cash-13-weeks/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An operating dashboard is useful when a cash or service exception produces a named action before the trough. The invoice, stock or supplier record explains the mechanism behind the weekly total.</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Write one action with an owner, due date, evidence trigger and expected cash or service effect.</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sokointel.com/read/oe-msme-03/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P. J. García-Teruel and P. Martínez-Solano, “Effects of Working Capital Management on SME Profitability,” International Journ • 2007</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G. A. Afrifa, “Net Working Capital, Cash Flow and Performance of UK SMEs,” Review of Accounting and Finance, vol. 15, no. 1,  • 2016</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M. Deloof, “Does Working Capital Management Affect Profitability of Belgian Firms?” Journal of Business Finance &amp; Accounting, • 2003</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T. Nicolas, “Short-Term Financial Constraints and SMEs’ Investment Decision: Evidence from the Working Capital Channel,” Smal • 1914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daily MSME operating toolkit</dc:title>
  <dc:subject>Why can a profitable business have little cash that its owner can safely withdraw? | How much reinvestment and operating working capital does the business need? | Which daily cash, customer, stock and supplier measures should trigger action? | How do owner pay, borrowing, growth and succession affect transferable earning power?</dc:subject>
  <dc:creator>Sokointel</dc:creator>
  <cp:lastModifiedBy>Sokointel</cp:lastModifiedBy>
  <cp:revision>1</cp:revision>
  <dcterms:created xsi:type="dcterms:W3CDTF">2026-09-25T13:55:35Z</dcterms:created>
  <dcterms:modified xsi:type="dcterms:W3CDTF">2026-09-25T13:55:35Z</dcterms:modified>
</cp:coreProperties>
</file>