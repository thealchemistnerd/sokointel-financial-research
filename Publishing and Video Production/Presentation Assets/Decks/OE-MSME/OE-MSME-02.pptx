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OPENING NARRATION
A fictional small business tests whether asset replacement and seasonal working capital are consuming cash needed to maintain service.
Fictional maintenance register and October–December snapshots
Introduce the decision before defining the technical terms.
ARTICLE SECTION: Opening
Revised practical article; source details and figures are dated to their cited filing or event, with current evidence reviewed through 24 September 2026.
A business can look cash-rich because it has stopped replacing equipment. It can also look cash-poor because it is building the next stage of capacity. If we call all capital spending “maintenance,” we can understate what a growing business might earn. If we call all spending “growth,” we can overstate what an owner can safely take out.
The accounts usually tell us how much the business spent, but not how much it had to spend to keep its existing competitive position. The 1986 Berkshire letter defines owner earnings by subtracting the average capitalized expenditure needed to maintain long-term competitive position and unit volume, plus extra working capital required to sustain that position and volume [1]. The definition contains two separate judgments: fixed investment and working capital. Neither should be replaced automatically by depreciation or a percentage of sales.
ARTICLE SECTION: What the workbook should make visible
A future model should show, for each asset group, opening carrying value, cash additions, disposals, depreciation, and closing value. A separate analyst schedule should identify the basis for maintenance low/base/high cases. Working-capital inputs should show actual balances, period dates, and the formula used. The owner-earnings output should respond to both maintenance and working-capital assumptions. It should not quietly insert a universal capex-to-depreciation ratio.
The next article turns the same cash-cycle logic into a weekly operating routine: what to forecast, how to see a shortfall early, and how to avoid rules that sound precise but do not fit the business.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Read the questions naturally and define terms in context.
DSO — receivables ÷ matched credit sales × period days
DIO — inventory ÷ matched cost of sales × period days
DPO — payables ÷ matched credit purchases × period days
CCC — DIO + DSO − DPO; days
NWC — receivables + inventory − payables; KES
Research question mapping: Why can a profitable business have little cash that its owner can safely withdraw?; How much reinvestment and operating working capital does the business need?; Which daily cash, customer, stock and supplier measures should trigger action?; How do owner pay, borrowing, growth and succession affect transferable earning power?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Part 2; Maintenance C5:I12; Appendix 02. Accounting depreciation allocates historical cost and need not equal current renewal cash.
Narration: explain each step and its consequence for the opening decision.
ARTICLE SECTION: Reconcile the asset register before estimating replacement cost
A practical fixed-asset review begins with an inventory of what the business actually uses. Assign an asset ID, location, custodian, purchase date, original cost, current condition, downtime history, remaining useful life, repair history, replacement lead time, and whether the asset is owned, financed or leased. For a vehicle, add mileage, fuel consumption, tyre history and route capacity. For a cold room, add temperature failures, energy use, compressor service and spoilage events. The register should reconcile to the general ledger and a physical inspection; a book value alone does not confirm that an asset exists or still works.
Then link each asset to capacity. How many production hours, customer orders or deliveries depend on it? What is the fallback if it fails? An inexpensive point-of-sale system can be more critical than a costly spare machine if it controls every checkout. Rank replacement needs by business interruption and cash cost, not only replacement price. List a realistic replacement date and lead time, then spread the expected cost over the period the asset supports. This produces an annual planning reserve, while the payment schedule remains lumpy in the cash forecast.
A useful three-estimate method is: (1) recent maintenance and repair spend, excluding one-off accident or expansion costs; (2) a unit-level replacement plan based on supplier quotations and expected timing; and (3) a capacity-and-condition review by the person operating the asset. Compare the estimates. If the business has unusually low repairs but old equipment, deferred work may explain why historical capex understates the future need. If annual capex is high because the firm is adding capacity, do not label all of it maintenance. Preserve a low, base and high case with a reason for each.
Close the estimate with a cash bridge: opening asset cost plus additions minus disposals equals closing gross cost; opening accumulated depreciation plus depreciation less disposals equals closing accumulated depreciation; and opening net book value plus additions less depreciation and disposals reconciles to closing net book value. This does not calculate economic maintenance capex by itself, but it reveals where the filing or ledger fails to reconcile. For owner decisions, the next question is whether cash available after that replacement plan still covers working capital and scheduled debt.
ARTICLE SECTION: Estimate maintenance spending from the work the assets do
A useful maintenance estimate starts with an asset register that connects each asset to a required operating task. Include the asset ID, type, purchase date, installed cost, current condition, useful life, service capacity, repair history, replacement lead time and next planned work. Record whether the business owns it, leases it, or relies on a supplier’s equipment. A refrigerated van may be essential to preserve current customer service even if it is leased. A repair contract may already cover part of the cash cost. The register makes those facts visible before the owner chooses an estimate.
Classify spending into four work categories:
 Routine upkeep: repairs, service and consumables that keep equipment in safe working order.
 Replacement: spending that renews exhausted or obsolete capacity already required for current sales.
 Compliance: upgrades required by safety, environmental, tax, industry or customer rules to keep trading.
 Expansion or improvement: spending that adds capacity, opens a new location or materially changes the service.
A single invoice can contain more than one category. For a mixed project, record the component and its share, with the basis. A KSh 900,000 refrigeration upgrade might replace compressors worth KSh 500,000 and add a new cold room worth KSh 400,000. If invoices or contractor schedules establish that split, the model can allocate it. If not, carry a low/high allocation and state what document would narrow the range. Compliance spending may not increase output, but the business cannot sustain legal operations without it; include it in the cost of maintaining the existing ability to trade.
Use three independent lenses to estimate the range:
Asset-by-asset replacement plan. Estimate next-year repair and replacement dates and current supplier quotes. This is the most practical short-run cash budget. It can be lumpy, so a single year might not represent long-run earning power.
Multi-year normalized spending. Compare actual capital additions, repair bills, disposal proceeds and capacity changes across a full replacement cycle. Exclude clearly evidenced new capacity from the no-growth case. Include replacement spending even when it is irregular. This method helps smooth lumpy equipment years, but acquisitions, currency movements and inflation need separate treatment.
Capacity and service test. Ask what assets are necessary to produce current units at the promised quality, delivery time and compliance level. A company may have very old assets and low current capex because maintenance has been deferred. A low-spend history is not proof that current operations can continue without investment. Record breakdowns, lost orders, service delays and customer specifications as well as accounting amounts.
Compare the three results instead of averaging them automatically. A current supplier quote may exceed historical spend because replacement cost has risen. A capacity study may identify a major system that accounting depreciation understates. Show the low, base and high estimates with the item, evidence, owner and confidence. The base case is an assumption, not a fact. Change it when service records or new quotes arrive.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Working Capital C5:O8. The corrected sheet uses receivables/credit sales, inventory/cost of sales and payables/credit purchases.
Narration: explain each step and its consequence for the opening decision.
ARTICLE SECTION: Working capital is investment too
Working capital is the cash committed to receivables, inventory and other operating balances, net of supplier credit and operating liabilities. It is part of the operating system. A shop that adds inventory to reduce stock-outs may tie up cash while improving customer service. A distributor that gives a retailer another month to pay is financing that customer. A growing manufacturer may need to buy raw materials before collecting from its buyer.
The basic cash-conversion-cycle estimate is:
Days sales outstanding + days inventory outstanding − days payable outstanding
For a period with suitable average balances:
 DSO = average trade receivables ÷ credit sales × days in period
 DIO = average inventory ÷ cost of goods sold × days in period
 DPO = average trade payables ÷ purchases (or a disclosed cost proxy) × days in period
The denominator choice matters. Cost of sales is not always the same as purchases. An ending balance is not the same as an average balance. Seasonal businesses can make a year-end snapshot misleading. Write down the numerator, denominator, dates and source before interpreting the ratio.
Peer-reviewed studies find links between working-capital management and firm performance, including work on large Belgian firms and a large sample of Spanish SMEs [3], [4]. Later research on UK SMEs examines how cash flow changes the relation between net working capital and performance [5]. The message is not “push CCC as low as possible.” It is “measure how much cash the operating model absorbs and what the business receives in return.” Extending payable days may protect cash this month while damaging supply reliability next quarter. Cutting stock may improve reported working capital but cost sales if lead times are long.
ARTICLE SECTION: Reconcile the working-capital investment at the same activity level
For a repeatable analysis, split working capital into balance, cash change, days measure and reason. A useful table contains opening and closing receivables, inventory, operating payables, accrued operating costs and customer advances. The operating working-capital balance can be written as:
Trade receivables + inventory + other operating assets − trade payables − operating accruals − customer advances
The cash investment for a period is usually the increase in that balance, after separately checking noncash movements and acquisition effects. An increase uses cash. A release provides cash. A one-time release from collecting old invoices should not be counted as a recurring annual owner-earnings boost.
Separate current activity from growth. If unit sales grow 20%, the company may need more stock and receivables even with unchanged collection days. Model the cash required to support that growth in the growth case. If receivable days rise while revenue stays flat, that is a collection or customer-credit issue. If payable days rise because a supplier renegotiated and remains current, that is an agreed source of operating funding. If invoices pass their due dates with no agreement, report arrears and supplier concentration separately. Do not give a struggling company an artificial owner-earnings benefit because it stopped paying its suppliers on time.
Seasonality changes the right comparison. A fruit packer may buy, harvest and pay labour before receiving export cash. The year-end inventory balance can be close to zero just after shipment even though the peak seasonal funding need was large. A school supplier may collect deposits months before delivery and then carry an obligation to provide goods later. Use monthly or weekly balances around the busy period and align them to customer and supplier terms. Year-end snapshots answer what was on the balance sheet that day; they do not reveal the peak cash required to complete a normal trading cycle.
A working-capital assessment should finish with a funding decision. If an order increases contribution but adds a receivable and stock requirement, calculate the peak amount and days financed. Then compare customer deposits, supplier terms, a revolving facility and the owner’s own cash. The facility needs to remain available until collection occurs. Do not use a six-month asset loan as though it were automatically the right instrument for a 45-day invoice gap.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Receivables, Inventory and Payables sheets; Part 2 practical data request. A ratio is diagnostic and is not a target independent of service conditions.
Narration: explain each step and its consequence for the opening decision.
ARTICLE SECTION: A compact decision note for each proposed release
Before reducing stock, delaying a repair, renegotiating supplier timing or extending customer credit, write a short note with six fields: the current problem, the cash amount and date, the operational mechanism, the affected customer or supplier, the downside if the assumption is wrong, and the person who will check the outcome. This makes the cash effect comparable with the service effect.
For example, an owner may plan to cut safety stock by KSh 300,000. The decision note should name the SKUs, lead-time variability, recent stock-outs, substitute availability and expected order fill rate. If three fast-moving parts account for most downtime, reduce the slow tail first and leave the critical items protected. For a customer credit extension, estimate the incremental receivable from sales volume multiplied by the additional collection days, then compare it with contribution margin and the funding cost. Do not treat gross sales as cash benefit.
The evidence on working capital and performance helps frame the question but cannot decide it for a specific firm. Deloof and García-Teruel and Martínez-Solano study firm-level relationships in particular samples, while Afrifa examines cash flow and UK SME performance [3–5]. Differences in industry, financing access, customer power and operating cycle matter. The correct practical conclusion is to measure the company's own cash conversion and service outcomes over time, then test whether a change improves total economics.
ARTICLE SECTION: Reconcile the working-capital investment at the same activity level
For a repeatable analysis, split working capital into balance, cash change, days measure and reason. A useful table contains opening and closing receivables, inventory, operating payables, accrued operating costs and customer advances. The operating working-capital balance can be written as:
Trade receivables + inventory + other operating assets − trade payables − operating accruals − customer advances
The cash investment for a period is usually the increase in that balance, after separately checking noncash movements and acquisition effects. An increase uses cash. A release provides cash. A one-time release from collecting old invoices should not be counted as a recurring annual owner-earnings boost.
Separate current activity from growth. If unit sales grow 20%, the company may need more stock and receivables even with unchanged collection days. Model the cash required to support that growth in the growth case. If receivable days rise while revenue stays flat, that is a collection or customer-credit issue. If payable days rise because a supplier renegotiated and remains current, that is an agreed source of operating funding. If invoices pass their due dates with no agreement, report arrears and supplier concentration separately. Do not give a struggling company an artificial owner-earnings benefit because it stopped paying its suppliers on time.
Seasonality changes the right comparison. A fruit packer may buy, harvest and pay labour before receiving export cash. The year-end inventory balance can be close to zero just after shipment even though the peak seasonal funding need was large. A school supplier may collect deposits months before delivery and then carry an obligation to provide goods later. Use monthly or weekly balances around the busy period and align them to customer and supplier terms. Year-end snapshots answer what was on the balance sheet that day; they do not reveal the peak cash required to complete a normal trading cycle.
A working-capital assessment should finish with a funding decision. If an order increases contribution but adds a receivable and stock requirement, calculate the peak amount and days financed. Then compare customer deposits, supplier terms, a revolving facility and the owner’s own cash. The facility needs to remain available until collection occurs. Do not use a six-month asset loan as though it were automatically the right instrument for a 45-day invoice gap.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Fictional workbook Working Capital J6:N8. Ratios shown at the workbook's displayed precision.
Equation: CCC = DSO + DIO − DPO
Substitution: October: 20.0 + 33.1 − 22.1 = 31.0 days
Interpretation: The cycle describes a timing relationship. NWC separately measures the cash amount tied up in the matched operating balances.
ARTICLE SECTION: What the workbook should make visible
A future model should show, for each asset group, opening carrying value, cash additions, disposals, depreciation, and closing value. A separate analyst schedule should identify the basis for maintenance low/base/high cases. Working-capital inputs should show actual balances, period dates, and the formula used. The owner-earnings output should respond to both maintenance and working-capital assumptions. It should not quietly insert a universal capex-to-depreciation ratio.
The next article turns the same cash-cycle logic into a weekly operating routine: what to forecast, how to see a shortfall early, and how to avoid rules that sound precise but do not fit the business.
ARTICLE SECTION: Working capital is investment too
Working capital is the cash committed to receivables, inventory and other operating balances, net of supplier credit and operating liabilities. It is part of the operating system. A shop that adds inventory to reduce stock-outs may tie up cash while improving customer service. A distributor that gives a retailer another month to pay is financing that customer. A growing manufacturer may need to buy raw materials before collecting from its buyer.
The basic cash-conversion-cycle estimate is:
Days sales outstanding + days inventory outstanding − days payable outstanding
For a period with suitable average balances:
 DSO = average trade receivables ÷ credit sales × days in period
 DIO = average inventory ÷ cost of goods sold × days in period
 DPO = average trade payables ÷ purchases (or a disclosed cost proxy) × days in period
The denominator choice matters. Cost of sales is not always the same as purchases. An ending balance is not the same as an average balance. Seasonal businesses can make a year-end snapshot misleading. Write down the numerator, denominator, dates and source before interpreting the ratio.
Peer-reviewed studies find links between working-capital management and firm performance, including work on large Belgian firms and a large sample of Spanish SMEs [3], [4]. Later research on UK SMEs examines how cash flow changes the relation between net working capital and performance [5]. The message is not “push CCC as low as possible.” It is “measure how much cash the operating model absorbs and what the business receives in return.” Extending payable days may protect cash this month while damaging supply reliability next quarter. Cutting stock may improve reported working capital but cost sales if lead times are long.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ACTUAL WORKBOOK CAPTURE
Workbook: C:\Users\Nevo\Downloads\financial material\Owner's Earning\Project 1 - MSMEs and Small Businesses\Project 1 - MSME Owner Earnings and Operations.xlsx
Sheet/range: 'Maintenance'!C5:I10
SHA-256: 43f243daa5fa87c914c73ec53b55652f96b8cbd8482d45327141c2383e47494e
Capture method: Microsoft Excel read-only PDF range export. Print headings retained. Source not saved.
Asset: Evidence/Workbooks/OE-MSME-02-01-p1.png
SCREEN RECORDING WALKTHROUGH
Read the row and column headings. Identify inputs, follow the dependent row and explain the units. Do not alter the source workbook while recording; use a copy for a new scenario.
Extracted evidence text:
5
6
7
8
9
10
C D E F G H I
Asset / system Age (years) Replacement cost Months to plan Annual reserve Evidence to obtain Owner
Cold-room compressor 4 600,000 24 300,000 Supplier quote needed Operations
Delivery van renewal 6 2,100,000 36 700,000 Condition and replacement plan Fleet lead
Backup generator 7 850,000 30 340,000 Load test and service log Facilities
POS and network equipment 3 480,000 24 240,000 System age and support status IT
Shelving and store fittings 2 300,000 48 75,000 Inspection and repair history Store manager
Relevant article context:
ARTICLE SECTION: Growth and maintenance can coexist
Classifying an asset purchase as “growth” does not make it optional forever. A new delivery vehicle can add a route today and become part of ordinary fleet replacement later. Conversely, an asset labeled “replacement” may also add capacity or lower cost. This is why an analyst should describe what changed in the operating system rather than relying on management’s label alone.
For an owner deciding what to distribute, combine the question with the next year’s operating plan. Required maintenance spend may arrive in lumps. A motor replacement every four years does not mean the business can ignore it for three years and then be surprised by the invoice. A reserve can smooth known replacement cycles, but it should be tied to a list of assets, estimated timing, and cost range.
ARTICLE SECTION: Estimate maintenance spending from the work the assets do
A useful maintenance estimate starts with an asset register that connects each asset to a required operating task. Include the asset ID, type, purchase date, installed cost, current condition, useful life, service capacity, repair history, replacement lead time and next planned work. Record whether the business owns it, leases it, or relies on a supplier’s equipment. A refrigerated van may be essential to preserve current customer service even if it is leased. A repair contract may already cover part of the cash cost. The register makes those facts visible before the owner chooses an estimate.
Classify spending into four work categories:
 Routine upkeep: repairs, service and consumables that keep equipment in safe working order.
 Replacement: spending that renews exhausted or obsolete capacity already required for current sales.
 Compliance: upgrades required by safety, environmental, tax, industry or customer rules to keep trading.
 Expansion or improvement: spending that adds capacity, opens a new location or materially changes the service.
A single invoice can contain more than one category. For a mixed project, record the component and its share, with the basis. A KSh 900,000 refrigeration upgrade might replace compressors worth KSh 500,000 and add a new cold room worth KSh 400,000. If invoices or contractor schedules establish that split, the model can allocate it. If not, carry a low/high allocation and state what document would narrow the range. Compliance spending may not increase output, but the business cannot sustain legal operations without it; include it in the cost of maintaining the existing ability to trade.
Use three independent lenses to estimate the range:
Asset-by-asset replacement plan. Estimate next-year repair and replacement dates and current supplier quotes. This is the most practical short-run cash budget. It can be lumpy, so a single year might not represent long-run earning power.
Multi-year normalized spending. Compare actual capital additions, repair bills, disposal proceeds and capacity changes across a full replacement cycle. Exclude clearly evidenced new capacity from the no-growth case. Include replacement spending even when it is irregular. This method helps smooth lumpy equipment years, but acquisitions, currency movements and inflation need separate treatment.
Capacity and service test. Ask what assets are necessary to produce current units at the promised quality, delivery time and compliance level. A company may have very old assets and low current capex because maintenance has been deferred. A low-spend history is not proof that current operations can continue without investment. Record breakdowns, lost orders, service delays and customer specifications as well as accounting amounts.
Compare the three results instead of averaging them automatically. A current supplier quote may exceed historical spend because replacement cost has risen. A capacity study may identify a major system that accounting depreciation understates. Show the low, base and high estimates with the item, evidence, owner and confidence. The base case is an assumption, not a fact. Change it when service records or new quotes arrive.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ACTUAL WORKBOOK CAPTURE
Workbook: C:\Users\Nevo\Downloads\financial material\Owner's Earning\Project 1 - MSMEs and Small Businesses\Project 1 - MSME Owner Earnings and Operations.xlsx
Sheet/range: 'Working Capital'!C5:N8
SHA-256: 43f243daa5fa87c914c73ec53b55652f96b8cbd8482d45327141c2383e47494e
Capture method: Microsoft Excel read-only PDF range export. Print headings retained. Source not saved.
Asset: Evidence/Workbooks/OE-MSME-02-02-p1.png
SCREEN RECORDING WALKTHROUGH
Read the row and column headings. Identify inputs, follow the dependent row and explain the units. Do not alter the source workbook while recording; use a copy for a new scenario.
Extracted evidence text:
5
6
7
8
C D E F G H I J K L M N
Month Credit sales Cost of sales Credit purchases Receivables Inventory Trade payables DSO (days) DIO (days) DPO (days) Cash cycle Net working capital
Oct-26 1,500,000 2,720,000 2,720,000 1,000,000 3,000,000 2,000,000 20.0 33.1 22.1 31.0 2,000,000
Nov-26 1,600,000 2,800,000 2,800,000 1,200,000 3,100,000 2,100,000 22.5 33.2 22.5 33.2 2,200,000
Dec-26 1,700,000 2,900,000 2,900,000 1,500,000 3,600,000 2,200,000 26.5 37.2 22.8 41.0 2,900,000
Relevant article context:
ARTICLE SECTION: Working capital is investment too
Working capital is the cash committed to receivables, inventory and other operating balances, net of supplier credit and operating liabilities. It is part of the operating system. A shop that adds inventory to reduce stock-outs may tie up cash while improving customer service. A distributor that gives a retailer another month to pay is financing that customer. A growing manufacturer may need to buy raw materials before collecting from its buyer.
The basic cash-conversion-cycle estimate is:
Days sales outstanding + days inventory outstanding − days payable outstanding
For a period with suitable average balances:
 DSO = average trade receivables ÷ credit sales × days in period
 DIO = average inventory ÷ cost of goods sold × days in period
 DPO = average trade payables ÷ purchases (or a disclosed cost proxy) × days in period
The denominator choice matters. Cost of sales is not always the same as purchases. An ending balance is not the same as an average balance. Seasonal businesses can make a year-end snapshot misleading. Write down the numerator, denominator, dates and source before interpreting the ratio.
Peer-reviewed studies find links between working-capital management and firm performance, including work on large Belgian firms and a large sample of Spanish SMEs [3], [4]. Later research on UK SMEs examines how cash flow changes the relation between net working capital and performance [5]. The message is not “push CCC as low as possible.” It is “measure how much cash the operating model absorbs and what the business receives in return.” Extending payable days may protect cash this month while damaging supply reliability next quarter. Cutting stock may improve reported working capital but cost sales if lead times are long.
ARTICLE SECTION: The working-capital bridge depends on the scale
Suppose a wholesaler normally sells 1,000 cases a month and needs KSh 2 million of stock to support that volume. It begins a new contract requiring another 300 cases every month. If supplier credit and customer terms remain unchanged, the extra sales may require a one-time build in stock and receivables. That incremental amount funds growth. By contrast, a higher receivables balance caused by slower customer payment can increase required working capital even when monthly sales are flat.
For owner earnings at the existing volume, ask what working capital is needed to preserve service, not what happened to the entire balance this year. For an actual historical cash bridge, show the full change in operating balances. Then distinguish the portion associated with growth, payment timing, acquisition, currency or an unusual event. This prevents a growing business from being penalized as if all growth capital were a permanent maintenance charge, and it prevents a stagnating business from claiming that overdue invoices are harmless.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This is a comparison of fictional workbook months, not a controlled one-input sensitivity. Read the underlying balances and denominators before attributing causation.
Base: October: CCC 31.0 days; NWC KES 2.0m.
Changed: December: CCC 41.0 days; NWC KES 2.9m.
Consequence: The snapshots show KES 900,000 more working capital and a 10-day longer cycle. Investigate sales mix, stock and collections before choosing an action.
ARTICLE SECTION: Growth and maintenance can coexist
Classifying an asset purchase as “growth” does not make it optional forever. A new delivery vehicle can add a route today and become part of ordinary fleet replacement later. Conversely, an asset labeled “replacement” may also add capacity or lower cost. This is why an analyst should describe what changed in the operating system rather than relying on management’s label alone.
For an owner deciding what to distribute, combine the question with the next year’s operating plan. Required maintenance spend may arrive in lumps. A motor replacement every four years does not mean the business can ignore it for three years and then be surprised by the invoice. A reserve can smooth known replacement cycles, but it should be tied to a list of assets, estimated timing, and cost range.
ARTICLE SECTION: Working capital is investment too
Working capital is the cash committed to receivables, inventory and other operating balances, net of supplier credit and operating liabilities. It is part of the operating system. A shop that adds inventory to reduce stock-outs may tie up cash while improving customer service. A distributor that gives a retailer another month to pay is financing that customer. A growing manufacturer may need to buy raw materials before collecting from its buyer.
The basic cash-conversion-cycle estimate is:
Days sales outstanding + days inventory outstanding − days payable outstanding
For a period with suitable average balances:
 DSO = average trade receivables ÷ credit sales × days in period
 DIO = average inventory ÷ cost of goods sold × days in period
 DPO = average trade payables ÷ purchases (or a disclosed cost proxy) × days in period
The denominator choice matters. Cost of sales is not always the same as purchases. An ending balance is not the same as an average balance. Seasonal businesses can make a year-end snapshot misleading. Write down the numerator, denominator, dates and source before interpreting the ratio.
Peer-reviewed studies find links between working-capital management and firm performance, including work on large Belgian firms and a large sample of Spanish SMEs [3], [4]. Later research on UK SMEs examines how cash flow changes the relation between net working capital and performance [5]. The message is not “push CCC as low as possible.” It is “measure how much cash the operating model absorbs and what the business receives in return.” Extending payable days may protect cash this month while damaging supply reliability next quarter. Cutting stock may improve reported working capital but cost sales if lead times are long.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REAL WEB CAPTURE
{
  "key": "owner-earnings",
  "captured_at": "2026-09-25T13:21:50.190Z",
  "url": "http://127.0.0.1:8765/calculators/owner-earnings/#business-results",
  "definitions": [
    {
      "display": "block",
      "text": "OE is estimated annual owner earnings; N is annual normalized net income after replacing owner labour; D is depreciation/amortisation already expensed; A is other justified noncash adjustment; M is annual maintenance investment; ΔW is an increase in required operating working capital. All are KES/year. A release of working capital is negative."
    },
    {
      "display": "block",
      "text": "H is dated headroom, C stated available cash, R additional confirmed collections, U listed due uses, X restricted cash, B the retained reserve and Q the disputed/uncollected amount counted in C or R. All are KES over the stated cash horizon. Subtract the proposed draw from reviewed H."
    }
  ],
  "equations": 2,
  "inputs": [
    {
      "name": "period",
      "value": "Illustrative year"
    },
    {
      "name": "profit",
      "value": "1800000"
    },
    {
      "name": "owner_pay",
      "value": "900000"
    },
    {
      "name": "replacement_pay",
      "value": "1200000"
    },
    {
      "name": "adjustments",
      "value": "0"
    },
    {
      "name": "depreciation",
      "value": "240000"
    },
    {
      "name": "other_noncash",
      "value": "0"
    },
    {
      "name": "maintenance_low",
      "value": "300000"
    },
    {
      "name": "maintenance",
      "value": "380000"
    },
    {
      "name": "maintenance_high",
      "value": "500000"
    },
    {
      "name": "working_capital",
      "value": "370000"
    },
    {
      "name": "annual_principal",
      "value": "0"
    },
    {
      "name": "annual_growth",
      "value": "0"
    },
    {
      "name": "reserve_topup",
      "value": "0"
    },
    {
      "name": "decision_date",
      "value": "2026-09-25"
    },
    {
      "name": "through_date",
      "value": "2026-10-02"
    },
    {
      "name": "cash",
      "value": "1200000"
    },
    {
      "name": "receipts",
      "value": "0"
    },
    {
      "name": "disputed",
      "value": "200000"
    },
    {
      "name": "payroll",
      "value": "250000"
    },
    {
      "name": "suppliers",
      "value": "260000"
    },
    {
      "name": "rent",
      "value": "80000"
    },
    {
      "name": "taxes",
      "value": "90000"
    },
    {
      "name": "principal",
      "value": "100000"
    },
    {
      "name": "prepaid",
      "value": "130000"
    },
    {
      "name": "dated_investment",
      "value": "0"
    },
    {
      "name": "restricted",
      "value": "0"
    },
    {
      "name": "reserve",
      "value": "150000"
    },
    {
      "name": "withdrawal",
      "value": "0"
    }
  ],
  "title": "MSME owner earnings and cash headroom | Sokointel",
  "viewport": {
    "height": 720,
    "width": 1280
  },
  "files": [
    "owner-earnings-full.png",
    "owner-earnings-results.png",
    "owner-earnings-formulas.png"
  ],
  "slug": "owner-earnings",
  "screenshots": [
    "owner-earnings-full.png",
    "owner-earnings-results.png",
    "owner-earnings-formulas.png"
  ],
  "environment": "local preview; not proof of live deployment",
  "base": "Evidence/Web/20260925-formula-rendering"
}
DEMONSTRATION SCOPE
Trace the annual earnings bridge and the separate dated cash test. A proposed draw changes headroom without changing annual earning power.
Reconcile the selected article case; do not mix it with the larger general workbook example.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Answer: Cash required to preserve service includes replacement assets and operating-cycle investment. Matched balances and periods make those requirements visible; the cash schedule determines when they must be funded.
Viewer task: Create a replacement register and a seasonal working-capital record with source dates, quote owners and unresolved evidence.
Return to each opening research question and identify what remains conditional or unknown.
ARTICLE SECTION: A practical range that keeps the decision usable
Suppose a mill uses a motor, grinder and delivery vehicle for its current output. Its three-year normalized replacement schedule points to KSh 800,000 of annual upkeep. New supplier quotes show KSh 1.1 million at current prices. A larger mill costs KSh 1.8 million, of which KSh 700,000 replaces the current grinder and KSh 1.1 million adds a second line. The analyst might present maintenance of KSh 0.8–1.1 million, cite the three-year invoices and quotes, and classify the second line as growth. The total capex plan remains KSh 2.9 million. This lets an owner see that the base business needs replacement capital even though only a portion of the expansion improves volume.
If no asset condition report or purchase history is available, the result is a temporary range that can guide records collection, not a confident historical valuation. The next step is concrete: inspect the equipment, ask the supplier for written replacement terms, pull three years of invoices and tie each purchase to an asset ID and operating purpose. Then update the model. This produces a stronger business decision than substituting depreciation, total capex or a generic percentage for evidence.
ARTICLE SECTION: Review the estimate after the operating plan changes
A maintenance estimate is attached to a business plan, not frozen at last year's spending. Revisit it after a large customer is added or lost, equipment utilization changes, a product standard changes, a site is expanded, or a supplier discontinues parts. If volume rises materially, some working capital and maintenance needs may rise even when the business has not opened a new location. “Same assets” does not always mean “same cash requirement.”
A practical quarterly review asks the operations lead to explain every material difference between budget and actual: was a repair delayed, did an asset fail, did a replacement price change, was a project partly growth and partly renewal, did a new customer change stock or credit terms? Keep the original estimate beside the revised one. That creates a record of whether management systematically underestimates or overestimates the cost of preserving operations.
A cash estimate should include timing. If a replacement motor costs KSh 1.2 million and the supplier needs 50% on order with a 12-week lead time, the business needs a cash date as well as an annual amount. A reserve can be built over time, but it is still an earmark against future use. Show whether the company has cash, an approved facility or merely an intention to save later. Likewise, a working-capital release cannot be counted twice: once as cash already collected and again as a future source of financing.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OE-MSME-02: Maintenance capital and working capital
ARTICLE: https://sokointel.com/read/oe-msme-02/
RESEARCH SNAPSHOT: 10 September 2026
SOURCE MATERIAL
[1] Berkshire Hathaway, “Chairman’s Letter — 1986,” https://www.berkshirehathaway.com/letters/1986.html.
[2] D. Livdan and A. Nezlobin, “Investment, Capital Stock, and Replacement Cost of Assets When Economic Depreciation Is Non-Geometric,” Journal of Financial Economics, vol. 142, no. 3, pp. 1444–1469, 2021, https://doi.org/10.1016/j.jfineco.2021.05.021.
[3] M. Deloof, “Does Working Capital Management Affect Profitability of Belgian Firms?” Journal of Business Finance &amp; Accounting, vol. 30, no. 3–4, pp. 573–588, 2003, https://doi.org/10.1111/1468-5957.00008.
[4] P. J. García-Teruel and P. Martínez-Solano, “Effects of Working Capital Management on SME Profitability,” International Journal of Managerial Finance, vol. 3, no. 2, pp. 164–177, 2007, https://doi.org/10.1108/17439130710738718.
[5] G. A. Afrifa, “Net Working Capital, Cash Flow and Performance of UK SMEs,” Review of Accounting and Finance, vol. 15, no. 1, pp. 21–44, 2016, https://doi.org/10.1108/RAF-02-2015-0031.
All linked source URLs:
Berkshire Hathaway, “Chairman’s Letter — 1986,”: https://www.berkshirehathaway.com/letters/1986.html
D. Livdan and A. Nezlobin, “Investment, Capital Stock, and Replacement Cost of Assets When Economic Depreciation Is Non-Geometric,” Journal of Financi: https://doi.org/10.1016/j.jfineco.2021.05.021
M. Deloof, “Does Working Capital Management Affect Profitability of Belgian Firms?” Journal of Business Finance &amp; Accounting, vol. 30, no. 3–4, pp. 57: https://doi.org/10.1111/1468-5957.00008
P. J. García-Teruel and P. Martínez-Solano, “Effects of Working Capital Management on SME Profitability,” International Journal of Managerial Finance,: https://doi.org/10.1108/17439130710738718
G. A. Afrifa, “Net Working Capital, Cash Flow and Performance of UK SMEs,” Review of Accounting and Finance, vol. 15, no. 1, pp. 21–44, 2016: https://doi.org/10.1108/RAF-02-2015-0031
Additional content sources:
[]
Workbook provenance:
C:\Users\Nevo\Downloads\financial material\Owner's Earning\Project 1 - MSMEs and Small Businesses\Project 1 - MSME Owner Earnings and Operations.xlsx
'Maintenance'!C5:I10
43f243daa5fa87c914c73ec53b55652f96b8cbd8482d45327141c2383e47494e
C:\Users\Nevo\Downloads\financial material\Owner's Earning\Project 1 - MSMEs and Small Businesses\Project 1 - MSME Owner Earnings and Operations.xlsx
'Working Capital'!C5:N8
43f243daa5fa87c914c73ec53b55652f96b8cbd8482d45327141c2383e47494e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msme-02/" TargetMode="External"/><Relationship Id="rId2" Type="http://schemas.openxmlformats.org/officeDocument/2006/relationships/hyperlink" Target="https://www.berkshirehathaway.com/letters/1986.html" TargetMode="External"/><Relationship Id="rId3" Type="http://schemas.openxmlformats.org/officeDocument/2006/relationships/hyperlink" Target="https://doi.org/10.1016/j.jfineco.2021.05.021" TargetMode="External"/><Relationship Id="rId4" Type="http://schemas.openxmlformats.org/officeDocument/2006/relationships/hyperlink" Target="https://doi.org/10.1111/1468-5957.00008" TargetMode="External"/><Relationship Id="rId5" Type="http://schemas.openxmlformats.org/officeDocument/2006/relationships/hyperlink" Target="https://doi.org/10.1108/17439130710738718"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Maintenance capital and working capital</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fictional small business tests whether asset replacement and seasonal working capital are consuming cash needed to maintain service.</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OE-MSME-02   •   Fictional maintenance register and October–December snapshots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Why can a profitable business have little cash that its owner can safely withdraw?</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How much reinvestment and operating working capital does the business need?</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Which daily cash, customer, stock and supplier measures should trigger action?</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How do owner pay, borrowing, growth and succession affect transferable earning power?</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DSO — receivables ÷ matched credit sales × period days</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DIO — inventory ÷ matched cost of sales × period days</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DPO — payables ÷ matched credit purchases × period days</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CCC — DIO + DSO − DPO; days</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NWC — receivables + inventory − payables; KES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Depreciation is not a replacement quote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Start with the service an asset provides and the cost of failure.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Separate renewal that preserves capacity from a project that adds capacity.</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Replace placeholder compressor and van costs with dated quotes and inspections.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maintenance register and October–December snapshots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Match every operating-cycle denominator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Use credit sales for DSO and credit purchases for DPO.</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Keep balance dates and the denominator period explicit.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Discuss average balances and seasonality before generalising from a month-end snapshot.</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maintenance register and October–December snapshots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shorter cycle can hide weaker service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Reducing stock can release cash but cause stock-outs.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longer payable period may be overdue debt rather than negotiated credit.</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Track disputes, customer advances and aged items alongside the day ratios.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maintenance register and October–December snapshots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Make the cash-conversion cycle visible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CCC = DSO + DIO − DPO</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October: 20.0 + 33.1 − 22.1 = 31.0 days</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cycle describes a timing relationship. NWC separately measures the cash amount tied up in the matched operating balances.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maintenance register and October–December snapshots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Maintenance: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2-01-p1.png">    </p:cNvPr>
          <p:cNvPicPr>
            <a:picLocks noChangeAspect="1"/>
          </p:cNvPicPr>
          <p:nvPr/>
        </p:nvPicPr>
        <p:blipFill>
          <a:blip r:embed="rId1"/>
          <a:stretch>
            <a:fillRect/>
          </a:stretch>
        </p:blipFill>
        <p:spPr>
          <a:xfrm>
            <a:off x="612648" y="2990873"/>
            <a:ext cx="10972800" cy="1406606"/>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Maintenance!C5:I10</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maintenance register and October–December snapshots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Working Capital: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2-02-p1.png">    </p:cNvPr>
          <p:cNvPicPr>
            <a:picLocks noChangeAspect="1"/>
          </p:cNvPicPr>
          <p:nvPr/>
        </p:nvPicPr>
        <p:blipFill>
          <a:blip r:embed="rId1"/>
          <a:stretch>
            <a:fillRect/>
          </a:stretch>
        </p:blipFill>
        <p:spPr>
          <a:xfrm>
            <a:off x="612648" y="3240650"/>
            <a:ext cx="10972800" cy="907051"/>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Working Capital!C5:N8</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maintenance register and October–December snapshots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Seasonal growth ties up another KES 0.9m</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October: CCC 31.0 days; NWC KES 2.0m.</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December: CCC 41.0 days; NWC KES 2.9m.</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The snapshots show KES 900,000 more working capital and a 10-day longer cycle. Investigate sales mix, stock and collections before choosing an action.</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owner-earnings-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Trace the annual earnings bridge and the separate dated cash test. A proposed draw changes headroom without changing annual earning power.</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Reconcile the selected article case; do not mix it with the larger general workbook example.</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/calculators/owner-earnings/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Cash required to preserve service includes replacement assets and operating-cycle investment. Matched balances and periods make those requirements visible; the cash schedule determines when they must be funded.</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Create a replacement register and a seasonal working-capital record with source dates, quote owners and unresolved evidence.</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sokointel.com/read/oe-msme-02/</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Berkshire Hathaway, “Chairman’s Letter — 1986,” • 1986</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D. Livdan and A. Nezlobin, “Investment, Capital Stock, and Replacement Cost of Assets When Economic Depreciation Is Non-Geome • 2021</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M. Deloof, “Does Working Capital Management Affect Profitability of Belgian Firms?” Journal of Business Finance &amp; Accounting, • 2003</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P. J. García-Teruel and P. Martínez-Solano, “Effects of Working Capital Management on SME Profitability,” International Journ • 2007</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capital and working capital</dc:title>
  <dc:subject>Why can a profitable business have little cash that its owner can safely withdraw? | How much reinvestment and operating working capital does the business need? | Which daily cash, customer, stock and supplier measures should trigger action? | How do owner pay, borrowing, growth and succession affect transferable earning power?</dc:subject>
  <dc:creator>Sokointel</dc:creator>
  <cp:lastModifiedBy>Sokointel</cp:lastModifiedBy>
  <cp:revision>1</cp:revision>
  <dcterms:created xsi:type="dcterms:W3CDTF">2026-09-25T13:55:35Z</dcterms:created>
  <dcterms:modified xsi:type="dcterms:W3CDTF">2026-09-25T13:55:35Z</dcterms:modified>
</cp:coreProperties>
</file>