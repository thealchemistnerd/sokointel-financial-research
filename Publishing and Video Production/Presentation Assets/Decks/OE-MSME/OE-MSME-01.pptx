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OE-MSME-01: The cash an owner can actually claim
ARTICLE: https://sokointel.com/read/oe-msme-01/
RESEARCH SNAPSHOT: 10 September 2026
OPENING NARRATION
A fictional vehicle-repair workshop: profitable over the year, but deciding whether it can safely release cash today.
Fictional workshop • annual earnings and dated cash are separate tests
Introduce the decision before defining the technical terms.
ARTICLE SECTION: Opening
Revised practical article; source details and figures are dated to their cited filing or event, with current evidence reviewed through 24 September 2026.
An owner opens the mobile banking app and sees KSh 1.2 million. How much of it can they take home?
The tempting answer is “the cash balance.” The careful answer begins with a different question: what does that cash have to do before it belongs to the owner? Payroll is due. A customer has paid in advance for goods the business has not delivered. A tax instalment is scheduled. A loan repayment falls next week. The business needs stock before the next sales cycle. The account balance is real, but it has several claimants.
That is why this series treats “owner earnings” as a way of thinking about earning power, not as a synonym for cash, profit, or a dividend. Buffett’s 1986 shareholder letter described owner earnings as reported earnings plus certain non-cash charges, less the average capital expenditure needed to maintain long-term competitive position and unit volume, and less additional working capital needed for the same purpose. He also warned that the maintenance-capital estimate can be difficult [1]. That caveat belongs in the formula, not in a footnote.
ARTICLE SECTION: Rebuild the year before asking what can be drawn
Take the last twelve months and put the business cash story in one schedule. Reconcile sales to invoices, till receipts, mobile payments and merchant settlements. A KSh 2 million sale recorded on credit is not KSh 2 million in the bank. Reconcile purchases and payroll to invoices, payslips and payment runs. A bill received after year end may belong to the period even if it has not been paid. The point is to know which timing differences explain cash, not to force cash to equal profit.
Use a repeatable order:
1. Choose one legal entity and period. If the shop, warehouse and vehicle are owned by different companies or relatives, identify intercompany rent, loans, guarantees and assets before combining cash.
2. Tie opening and closing cash to statements. Include bank, mobile money and till cash separately. Remove restricted deposits and amounts held for tax or customers.
3. Tie revenue and costs to records. Identify VAT or other indirect tax, refunds, discounts, bad debt, stock adjustments and personal spending.
4. Reconcile operating cash. Add back noncash charges once, then reflect actual changes in receivables, stock, supplier balances and other operating items.
5. Classify investment. List cash asset additions and disposals; distinguish maintenance, compliance, replacement and growth using asset-level evidence.
6. Separate financing. Draws are receipts from financing; principal repayments are cash outflows. Interest treatment depends on the starting point and valuation question.
7. Normalize owner work and one-offs. Replace below-market or above-market compensation with supportable costs for necessary work.
8. State working-capital assumptions. Determine whether balances reflect normal trading, seasonality, overdue suppliers or one-time catch-up.
9. Calculate separate answers for earning power and liquidity. Owner earnings is not the same as cash available this week.
This is more demanding than “profit plus depreciation,” but it reveals missing books. If the owner cannot reconcile deposits to sales, improve transaction capture before building a more complicated valuation.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OE-MSME-01: The cash an owner can actually claim
ARTICLE: https://sokointel.com/read/oe-msme-01/
RESEARCH SNAPSHOT: 10 September 2026
Read the questions naturally and define terms in context.
NI — after-tax, after-interest net income; KES/year
D&amp;A — depreciation and amortisation; noncash expense
Maintenance — spending needed to preserve current service
ΔNWC — increase in required operating working capital
Headroom — dated available cash less obligations and reserve
Research question mapping: Why can a profitable business have little cash that its owner can safely withdraw?; How much reinvestment and operating working capital does the business need?; Which daily cash, customer, stock and supplier measures should trigger action?; How do owner pay, borrowing, growth and succession affect transferable earning power?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OE-MSME-01: The cash an owner can actually claim
ARTICLE: https://sokointel.com/read/oe-msme-01/
RESEARCH SNAPSHOT: 10 September 2026
Part 1 workshop and Appendix 01 A1.1–A1.2. Only the replacement-pay shortfall is adjusted; do not subtract the full replacement salary a second time.
Narration: explain each step and its consequence for the opening decision.
ARTICLE SECTION: Rebuild the year before asking what can be drawn
Take the last twelve months and put the business cash story in one schedule. Reconcile sales to invoices, till receipts, mobile payments and merchant settlements. A KSh 2 million sale recorded on credit is not KSh 2 million in the bank. Reconcile purchases and payroll to invoices, payslips and payment runs. A bill received after year end may belong to the period even if it has not been paid. The point is to know which timing differences explain cash, not to force cash to equal profit.
Use a repeatable order:
1. Choose one legal entity and period. If the shop, warehouse and vehicle are owned by different companies or relatives, identify intercompany rent, loans, guarantees and assets before combining cash.
2. Tie opening and closing cash to statements. Include bank, mobile money and till cash separately. Remove restricted deposits and amounts held for tax or customers.
3. Tie revenue and costs to records. Identify VAT or other indirect tax, refunds, discounts, bad debt, stock adjustments and personal spending.
4. Reconcile operating cash. Add back noncash charges once, then reflect actual changes in receivables, stock, supplier balances and other operating items.
5. Classify investment. List cash asset additions and disposals; distinguish maintenance, compliance, replacement and growth using asset-level evidence.
6. Separate financing. Draws are receipts from financing; principal repayments are cash outflows. Interest treatment depends on the starting point and valuation question.
7. Normalize owner work and one-offs. Replace below-market or above-market compensation with supportable costs for necessary work.
8. State working-capital assumptions. Determine whether balances reflect normal trading, seasonality, overdue suppliers or one-time catch-up.
9. Calculate separate answers for earning power and liquidity. Owner earnings is not the same as cash available this week.
This is more demanding than “profit plus depreciation,” but it reveals missing books. If the owner cannot reconcile deposits to sales, improve transaction capture before building a more complicated valuation.
ARTICLE SECTION: Use a monthly owner review
A monthly review can fit on one page: reported profit; profit-to-cash bridge; maintenance estimate and range; incremental working-capital use or release; market replacement pay; scheduled debt; reserve requirement; and distributions already taken. Beside each figure, record source and owner. Mark it tied, estimated or unresolved. If an unresolved line changes a drawing, loan or hiring decision, resolve it before acting.
Compare the forecast with actual dates and amounts. If collections repeatedly arrive ten days late, use observed timing instead of the sales team's best-case promise. If a repair was larger because replacement had been deferred, update the asset plan. If the owner withdrew money for a personal emergency, record the draw separately and restore the agreed reserve process. This prevents a one-off event from being misreported as ordinary performance.
The practical sequence is: close the books, reconcile cash, estimate sustainable earnings, protect the reserve, then approve a transfer. Use the earnings estimate to assess durable returns, the cash plan for today's payment decision, and a valuation method only after ownership and financing claims are reconciled.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OE-MSME-01: The cash an owner can actually claim
ARTICLE: https://sokointel.com/read/oe-msme-01/
RESEARCH SNAPSHOT: 10 September 2026
Article Case C5:F18. The historical cash-after-total-capex proxy also equals KES 990,000 in this case. Explain that this numerical equality is coincidental; the definitions differ.
Narration: explain each step and its consequence for the opening decision.
ARTICLE SECTION: A detailed fictional cash bridge
Suppose a workshop reports KSh 1.8 million net income after paying the proprietor KSh 900,000 for management and repair work. Depreciation is KSh 240,000. Receivables rise from KSh 800,000 to KSh 1.05 million, inventory from KSh 1.20 million to KSh 1.45 million, and trade payables from KSh 700,000 to KSh 830,000. On these simplified balances, incremental net working capital consumes KSh 370,000: 250,000 more receivables plus 250,000 more stock less 130,000 more payables. Cash from operations before other accruals is roughly KSh 1.67 million.
The shop spends KSh 680,000 on equipment. The asset list shows KSh 380,000 replaces two lifts and a diagnostic unit supporting current service; KSh 300,000 fits out a second bay. A simple historical cash figure after all capex is KSh 990,000. Yet that is not normalized earning power: actual capex includes growth, while future maintenance may not equal this year’s replacement spend.
For an owner-earnings view, the KSh 1.8 million profit already includes KSh 900,000 compensation. A qualified replacement manager and mechanic would cost KSh 1.2 million. Adjust down by only the KSh 300,000 shortfall; do not subtract the full replacement wage again. Using KSh 380,000 maintenance and KSh 370,000 additional working capital, normalized owner earnings are KSh 990,000, calculated as KSh 1.8 million profit + KSh 240,000 depreciation − KSh 380,000 maintenance − KSh 370,000 additional working capital − KSh 300,000 replacement-pay gap. The KSh 1.29 million figure is the intermediate estimate before the replacement-pay adjustment; it is not the final normalized owner-earnings figure. This bridge also happens to equal the KSh 990,000 historical cash-after-total-capex proxy because this example's KSh 300,000 growth-bay outlay and KSh 300,000 replacement-pay adjustment offset numerically. That coincidence will not generally hold. The KSh 300,000 growth bay remains a separate investment decision, not maintenance; test its expected incremental return separately and do not deduct it again from the no-growth owner-earnings estimate.
The distribution question uses actual dates. If the bank has KSh 1.2 million, upcoming payroll is KSh 250,000, critical suppliers KSh 260,000, rent and utilities KSh 80,000, taxes KSh 90,000, loan principal KSh 100,000, and a prepaid order requires KSh 130,000 to complete, those uses total KSh 910,000. With a KSh 150,000 reserve floor, only KSh 140,000 is provisionally above the listed needs. If a disputed KSh 200,000 customer receipt was mistakenly counted, even that headroom disappears. A business can earn KSh 1.29 million over a normalized year and still have little safe cash for an immediate draw.
Every line must be tested. Check maintenance with the technician and quotations; replacement cost with the actual job description; working capital across several seasons; and the forecast with dated receipts. Keep the bridge auditable enough that a lender, partner or buyer can challenge it.
ARTICLE SECTION: Keep a distribution ledger
A distribution ledger records date, amount, purpose, approving person, forecast headroom, remaining reserves and any tax or legal treatment. Separate wages for work, repayment of a documented shareholder loan, dividends or profit distributions, and personal expenses paid by the business. These categories have different accounting, tax, governance and solvency implications. The ledger prevents a strong month from obscuring repeated owner draws that were never compared with reinvestment needs.
At quarter-end, compare total distributions with normalized earnings and actual free cash over a rolling period. If cash paid out is persistently greater than cash produced after maintenance and normal working capital, the difference must come from borrowing, asset sales, a working-capital release, or delayed obligations. Name the source. This is the practical meaning of the owner-earnings question: not merely what could be withdrawn in theory, but what can be taken without weakening the operation that produces next year's earnings.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OE-MSME-01: The cash an owner can actually claim
ARTICLE: https://sokointel.com/read/oe-msme-01/
RESEARCH SNAPSHOT: 10 September 2026
Article Case C21:F33. The disputed amount was mistakenly counted in available cash; remove it once. This liquidity screen does not establish a legal distribution entitlement.
Narration: explain each step and its consequence for the opening decision.
ARTICLE SECTION: A detailed fictional cash bridge
Suppose a workshop reports KSh 1.8 million net income after paying the proprietor KSh 900,000 for management and repair work. Depreciation is KSh 240,000. Receivables rise from KSh 800,000 to KSh 1.05 million, inventory from KSh 1.20 million to KSh 1.45 million, and trade payables from KSh 700,000 to KSh 830,000. On these simplified balances, incremental net working capital consumes KSh 370,000: 250,000 more receivables plus 250,000 more stock less 130,000 more payables. Cash from operations before other accruals is roughly KSh 1.67 million.
The shop spends KSh 680,000 on equipment. The asset list shows KSh 380,000 replaces two lifts and a diagnostic unit supporting current service; KSh 300,000 fits out a second bay. A simple historical cash figure after all capex is KSh 990,000. Yet that is not normalized earning power: actual capex includes growth, while future maintenance may not equal this year’s replacement spend.
For an owner-earnings view, the KSh 1.8 million profit already includes KSh 900,000 compensation. A qualified replacement manager and mechanic would cost KSh 1.2 million. Adjust down by only the KSh 300,000 shortfall; do not subtract the full replacement wage again. Using KSh 380,000 maintenance and KSh 370,000 additional working capital, normalized owner earnings are KSh 990,000, calculated as KSh 1.8 million profit + KSh 240,000 depreciation − KSh 380,000 maintenance − KSh 370,000 additional working capital − KSh 300,000 replacement-pay gap. The KSh 1.29 million figure is the intermediate estimate before the replacement-pay adjustment; it is not the final normalized owner-earnings figure. This bridge also happens to equal the KSh 990,000 historical cash-after-total-capex proxy because this example's KSh 300,000 growth-bay outlay and KSh 300,000 replacement-pay adjustment offset numerically. That coincidence will not generally hold. The KSh 300,000 growth bay remains a separate investment decision, not maintenance; test its expected incremental return separately and do not deduct it again from the no-growth owner-earnings estimate.
The distribution question uses actual dates. If the bank has KSh 1.2 million, upcoming payroll is KSh 250,000, critical suppliers KSh 260,000, rent and utilities KSh 80,000, taxes KSh 90,000, loan principal KSh 100,000, and a prepaid order requires KSh 130,000 to complete, those uses total KSh 910,000. With a KSh 150,000 reserve floor, only KSh 140,000 is provisionally above the listed needs. If a disputed KSh 200,000 customer receipt was mistakenly counted, even that headroom disappears. A business can earn KSh 1.29 million over a normalized year and still have little safe cash for an immediate draw.
Every line must be tested. Check maintenance with the technician and quotations; replacement cost with the actual job description; working capital across several seasons; and the forecast with dated receipts. Keep the bridge auditable enough that a lender, partner or buyer can challenge it.
ARTICLE SECTION: Reconcile annual cash to the bank statement
For each month, use the identity: opening unrestricted cash plus operating, financing and asset-sale receipts, less operating payments, capex, financing payments and owner distributions equals closing unrestricted cash. Tie the result to bank and mobile-money reconciliations after transfers between accounts are removed. If it does not tie, list the difference and investigate instead of hiding it in “other.”
A facility draw is financing, not sales cash; principal repayment is not an operating expense. Reconcile tax payable, tax expense and tax paid rather than subtracting the same tax twice. Customer deposits are receipts with delivery or refund obligations. Supplier credit can increase cash temporarily but is not sustainable working capital if it reflects overdue balances. The cash schedule should show each item on its due date.
Separate cash control from profit measurement. A bank reconciliation shows that cash exists, not that profit recurs. A stocktake checks quantity, not saleability. An invoice confirms a ledger entry, not collection. A monthly close should test both the existence and economic quality of the asset or income.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OE-MSME-01: The cash an owner can actually claim
ARTICLE: https://sokointel.com/read/oe-msme-01/
RESEARCH SNAPSHOT: 10 September 2026
Fictional Article Case. Keep the separate general Owner Earnings worksheet's KES 2.2m scenario out of this calculation.
Equation: OE = NI + D&amp;A − maintenance − ΔNWC − pay shortfall
Substitution: KES 1.800m + 0.240m − 0.380m − 0.370m − 0.300m = KES 0.990m
Interpretation: The result estimates normalized annual earning power before separate growth spending, debt principal and reserve choices.
ARTICLE SECTION: Three ways the bridge can mislead
The first is double counting. If the starting figure is net income, tax expense and interest expense have already affected it. If the analysis adds back interest to estimate enterprise cash flow, debt service still belongs in the later financing bridge. If it starts from cash flow after interest and then subtracts interest again, it understates cash. Write the basis at the top of the schedule: equity earnings after interest, operating cash before financing, or cash available for distribution. Every add-back should have a clear reason and a matching treatment elsewhere.
The second is treating all noncash expense as disposable cash. Depreciation is not a current payment, but the assets that depreciate wear out. Adding back depreciation without a replacement estimate turns an income statement convention into a claim that equipment is free. Amortization may relate to software, licenses or acquired customer relationships with different replacement economics. Add back only where appropriate to the chosen measure, and then explicitly fund the renewal or replacement need.
The third is interpreting working-capital release as recurring earnings. A business that collects old receivables or reduces stock may generate cash this year. It cannot repeat the same release indefinitely. If the normalized closing balance is lower than the opening balance because the firm liquidated excess stock, separate that one-time release from the annual owner-earnings estimate. If supplier balances rose because invoices were unpaid, do not treat that as permanent free financing.
ARTICLE SECTION: Turn the bridge into a monthly decision
The annual owner-earnings bridge is useful only if the owner can reproduce it from the books and the bank. Build the same bridge monthly, then roll it forward over twelve months. For each month, show cash collected from customers, cash paid to suppliers and employees, tax paid, routine capital spending, principal and interest, and owner withdrawals. Reconcile the ending cash to the bank statement. This gives the owner two answers: what the business earned over a representative period and whether that earning has actually arrived as spendable cash.
Suppose a distributor reports KSh 900,000 of monthly accounting profit. Its owner performs purchasing and collections work worth KSh 160,000 a month at a realistic replacement cost. The business has KSh 140,000 of routine equipment and vehicle renewal, and receivables and stock have absorbed KSh 240,000 more cash than the prior month. Before debt principal, tax timing and reserve decisions, the month has not produced KSh 900,000 of owner cash. The example is not a universal formula or margin benchmark; it shows why each adjustment needs its own line and evidence.
The sequence matters. Deduct a replacement wage before treating owner labour as an add-back. Deduct normal maintenance investment after examining the actual assets and their service condition. Show working-capital movements as a cash timing item, not a permanent annual charge: a build-up consumes cash, while a release can temporarily inflate it. Then show taxes, interest and principal according to the purpose of the measure. A lender's cash-flow definition may use a different sequence from a shareholder's residual cash measure.
The monthly close should make timing visible. A December profit supported by invoices collected in February is profit, but it does not fund a December supplier payment unless credit is available. Keep the income statement, cash-flow movement and balance-sheet roll-forward side by side. The business owner can then distinguish an earnings problem from a collections problem and a temporary seasonal draw from a recurring structural deficit. Research on working capital and SME performance emphasizes that its cash requirements and its effect on performance are linked, but the relationship is not a one-direction rule that says less working capital is always better [2, 3].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OE-MSME-01: The cash an owner can actually claim
ARTICLE: https://sokointel.com/read/oe-msme-01/
RESEARCH SNAPSHOT: 10 September 2026
ACTUAL WORKBOOK CAPTURE
Workbook: C:\Users\Nevo\Downloads\financial material\Owner's Earning\Project 1 - MSMEs and Small Businesses\Project 1 - MSME Owner Earnings and Operations.xlsx
Sheet/range: 'Article Case'!C5:F18
SHA-256: 43f243daa5fa87c914c73ec53b55652f96b8cbd8482d45327141c2383e47494e
Capture method: Microsoft Excel read-only PDF range export. Print headings retained. Source not saved.
Asset: Evidence/Workbooks/OE-MSME-01-01-p1.png
SCREEN RECORDING WALKTHROUGH
Read the row and column headings. Identify inputs, follow the dependent row and explain the units. Do not alter the source workbook while recording; use a copy for a new scenario.
Extracted evidence text:
5
6
7
8
9
10
11
12
13
14
15
16
17
18
C D E F
Article bridge item Amount Unit Treatment / evidence
Reported net income after proprietor pay 1,800,000 KES Part 1 fictional workshop case
Proprietor compensation already included 900,000 KES Already included in reported net income
Market cost to replace manager and mechanic 1,200,000 KES Fictional market-cost estimate
Replacement-pay shortfall 300,000 KES Only the excess replacement cost is deducted
Depreciation and amortization 240,000 KES Noncash charge in the article case
Maintenance investment 380,000 KES Replacement assets supporting current service
Incremental operating working capital 370,000 KES Receivables + inventory - trade payables
Normalized owner earnings 990,000 KES After replacement-pay shortfall, maintenance and incremental working capital
Total equipment capex 680,000 KES Historical fictional case
Maintenance / replacement equipment 380,000 KES Two lifts and diagnostic unit
Second-bay growth fit-out 300,000 KES Separate growth investment, not maintenance
Cash from operations before other accruals 1,670,000 KES Partial bridge: profit + D&amp;A - incremental working capital
Historical cash after total capex proxy 990,000 KES Not normalized owner earnings
Relevant article context:
ARTICLE SECTION: Workbook map
The Project 1 workbook opens with the owner-earnings bridge and 13-week forecast, then links to maintenance, monthly working capital, receivable and payable ageing, inventory ABC, unit economics, debt and growth screening, a weekly action log and transaction checklist. The Article Case tab now reproduces the workshop example above: KSh990,000 normalized owner earnings, KSh140,000 provisional headroom after listed dated uses and the reserve floor, and negative KSh60,000 headroom if a disputed KSh200,000 receipt was counted. The separate Owner Earnings tab is a larger editable scenario: it starts with KSh48m revenue and KSh3.2m reported net income; after replacing KSh3m owner compensation with KSh2.2m market labour, adding KSh0.9m D&amp;A and deducting KSh1.2m maintenance and KSh1.5m incremental working capital, owner earnings are KSh2.2m. After KSh0.6m scheduled principal and a KSh0.4m reserve top-up, that model shows KSh1.2m indicative residual cash. Both cases are fictional; do not combine their inputs. Evidence Vectors records them separately and gives their workbook locators. The earlier African Markets and Business Credit workbook informed the dated cash and facility workflow; this model connects that workflow to owner labour, maintenance needs and sustainable distributions.
ARTICLE SECTION: Opening
Revised practical article; source details and figures are dated to their cited filing or event, with current evidence reviewed through 24 September 2026.
An owner opens the mobile banking app and sees KSh 1.2 million. How much of it can they take home?
The tempting answer is “the cash balance.” The careful answer begins with a different question: what does that cash have to do before it belongs to the owner? Payroll is due. A customer has paid in advance for goods the business has not delivered. A tax instalment is scheduled. A loan repayment falls next week. The business needs stock before the next sales cycle. The account balance is real, but it has several claimants.
That is why this series treats “owner earnings” as a way of thinking about earning power, not as a synonym for cash, profit, or a dividend. Buffett’s 1986 shareholder letter described owner earnings as reported earnings plus certain non-cash charges, less the average capital expenditure needed to maintain long-term competitive position and unit volume, and less additional working capital needed for the same purpose. He also warned that the maintenance-capital estimate can be difficult [1]. That caveat belongs in the formula, not in a footnote.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OE-MSME-01: The cash an owner can actually claim
ARTICLE: https://sokointel.com/read/oe-msme-01/
RESEARCH SNAPSHOT: 10 September 2026
ACTUAL WORKBOOK CAPTURE
Workbook: C:\Users\Nevo\Downloads\financial material\Owner's Earning\Project 1 - MSMEs and Small Businesses\Project 1 - MSME Owner Earnings and Operations.xlsx
Sheet/range: 'Article Case'!C21:F33
SHA-256: 43f243daa5fa87c914c73ec53b55652f96b8cbd8482d45327141c2383e47494e
Capture method: Microsoft Excel read-only PDF range export. Print headings retained. Source not saved.
Asset: Evidence/Workbooks/OE-MSME-01-02-p1.png
SCREEN RECORDING WALKTHROUGH
Read the row and column headings. Identify inputs, follow the dependent row and explain the units. Do not alter the source workbook while recording; use a copy for a new scenario.
Extracted evidence text:
21
22
23
24
25
26
27
28
29
30
31
32
33
C D E F
Dated cash item Amount Unit Treatment / evidence
Bank cash on the decision date 1,200,000 KES Fictional dated liquidity example
Upcoming payroll 250,000 KES Due use
Critical suppliers 260,000 KES Due use
Rent and utilities 80,000 KES Due use
Taxes 90,000 KES Due use
Loan principal 100,000 KES Due use
Prepaid order completion 130,000 KES Cash required to fulfil customer commitment
Total listed near-term uses 910,000 KES Sum of dated uses above
Reserve floor 150,000 KES Minimum retained cash in this example
Provisional headroom before disputed receipt 140,000 KES Cash less listed uses and reserve; not a legal distribution test
Disputed receipt mistakenly counted 200,000 KES Remove if it is not collected and reconciled
Headroom after removing disputed receipt (60,000) KES Negative result means no provisional draw
Relevant article context:
ARTICLE SECTION: Workbook map
The Project 1 workbook opens with the owner-earnings bridge and 13-week forecast, then links to maintenance, monthly working capital, receivable and payable ageing, inventory ABC, unit economics, debt and growth screening, a weekly action log and transaction checklist. The Article Case tab now reproduces the workshop example above: KSh990,000 normalized owner earnings, KSh140,000 provisional headroom after listed dated uses and the reserve floor, and negative KSh60,000 headroom if a disputed KSh200,000 receipt was counted. The separate Owner Earnings tab is a larger editable scenario: it starts with KSh48m revenue and KSh3.2m reported net income; after replacing KSh3m owner compensation with KSh2.2m market labour, adding KSh0.9m D&amp;A and deducting KSh1.2m maintenance and KSh1.5m incremental working capital, owner earnings are KSh2.2m. After KSh0.6m scheduled principal and a KSh0.4m reserve top-up, that model shows KSh1.2m indicative residual cash. Both cases are fictional; do not combine their inputs. Evidence Vectors records them separately and gives their workbook locators. The earlier African Markets and Business Credit workbook informed the dated cash and facility workflow; this model connects that workflow to owner labour, maintenance needs and sustainable distributions.
ARTICLE SECTION: Opening
Revised practical article; source details and figures are dated to their cited filing or event, with current evidence reviewed through 24 September 2026.
An owner opens the mobile banking app and sees KSh 1.2 million. How much of it can they take home?
The tempting answer is “the cash balance.” The careful answer begins with a different question: what does that cash have to do before it belongs to the owner? Payroll is due. A customer has paid in advance for goods the business has not delivered. A tax instalment is scheduled. A loan repayment falls next week. The business needs stock before the next sales cycle. The account balance is real, but it has several claimants.
That is why this series treats “owner earnings” as a way of thinking about earning power, not as a synonym for cash, profit, or a dividend. Buffett’s 1986 shareholder letter described owner earnings as reported earnings plus certain non-cash charges, less the average capital expenditure needed to maintain long-term competitive position and unit volume, and less additional working capital needed for the same purpose. He also warned that the maintenance-capital estimate can be difficult [1]. That caveat belongs in the formula, not in a footnote.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OE-MSME-01: The cash an owner can actually claim
ARTICLE: https://sokointel.com/read/oe-msme-01/
RESEARCH SNAPSHOT: 10 September 2026
Scenario from the free-calculator reconciliation map. Hold all other dated inputs fixed. A profitable year cannot fund a payment before cash arrives.
Base: Reviewed dated headroom: KES −60,000.
Changed: Deduct a proposed KES 30,000 owner withdrawal.
Consequence: Dated headroom becomes KES −90,000; annual owner earnings remains KES 990,000.
ARTICLE SECTION: Use a short forecast to test whether the cash is safe to take
A distribution decision should begin with a rolling 13-week cash forecast. Start with reconciled opening bank cash and show weekly collections by named customer or customer group, payroll, critical suppliers, tax, rent, debt service, capex and owner withdrawals. The base case should use expected payment dates grounded in collection history, not invoice due dates alone. A downside case can move the largest collections later, reduce sales where orders are not yet secured, and include known repairs or tax obligations.
The lowest projected weekly balance is more decision-useful than the year-end balance. If the forecast falls below the operating floor, owner withdrawals should wait or be funded through a documented financing plan. Set the floor from obligations and recovery time: payroll and statutory payments, the cash needed to continue essential deliveries, the likely delay before emergency funding, and the cost of restarting after a stock-out or service interruption. Do not copy a rule such as “three months of expenses” without checking seasonality and the actual commitments.
The forecast should be refreshed every week. At the review, compare forecast against actual cash and explain the three biggest differences. If collections repeatedly arrive later than forecast, change the assumptions and collection process. If a supplier asks for a deposit earlier than expected, confirm the purchase and delivery before moving the date. The forecast is an operating tool; it should change as evidence changes.
ARTICLE SECTION: A detailed fictional cash bridge
Suppose a workshop reports KSh 1.8 million net income after paying the proprietor KSh 900,000 for management and repair work. Depreciation is KSh 240,000. Receivables rise from KSh 800,000 to KSh 1.05 million, inventory from KSh 1.20 million to KSh 1.45 million, and trade payables from KSh 700,000 to KSh 830,000. On these simplified balances, incremental net working capital consumes KSh 370,000: 250,000 more receivables plus 250,000 more stock less 130,000 more payables. Cash from operations before other accruals is roughly KSh 1.67 million.
The shop spends KSh 680,000 on equipment. The asset list shows KSh 380,000 replaces two lifts and a diagnostic unit supporting current service; KSh 300,000 fits out a second bay. A simple historical cash figure after all capex is KSh 990,000. Yet that is not normalized earning power: actual capex includes growth, while future maintenance may not equal this year’s replacement spend.
For an owner-earnings view, the KSh 1.8 million profit already includes KSh 900,000 compensation. A qualified replacement manager and mechanic would cost KSh 1.2 million. Adjust down by only the KSh 300,000 shortfall; do not subtract the full replacement wage again. Using KSh 380,000 maintenance and KSh 370,000 additional working capital, normalized owner earnings are KSh 990,000, calculated as KSh 1.8 million profit + KSh 240,000 depreciation − KSh 380,000 maintenance − KSh 370,000 additional working capital − KSh 300,000 replacement-pay gap. The KSh 1.29 million figure is the intermediate estimate before the replacement-pay adjustment; it is not the final normalized owner-earnings figure. This bridge also happens to equal the KSh 990,000 historical cash-after-total-capex proxy because this example's KSh 300,000 growth-bay outlay and KSh 300,000 replacement-pay adjustment offset numerically. That coincidence will not generally hold. The KSh 300,000 growth bay remains a separate investment decision, not maintenance; test its expected incremental return separately and do not deduct it again from the no-growth owner-earnings estimate.
The distribution question uses actual dates. If the bank has KSh 1.2 million, upcoming payroll is KSh 250,000, critical suppliers KSh 260,000, rent and utilities KSh 80,000, taxes KSh 90,000, loan principal KSh 100,000, and a prepaid order requires KSh 130,000 to complete, those uses total KSh 910,000. With a KSh 150,000 reserve floor, only KSh 140,000 is provisionally above the listed needs. If a disputed KSh 200,000 customer receipt was mistakenly counted, even that headroom disappears. A business can earn KSh 1.29 million over a normalized year and still have little safe cash for an immediate draw.
Every line must be tested. Check maintenance with the technician and quotations; replacement cost with the actual job description; working capital across several seasons; and the forecast with dated receipts. Keep the bridge auditable enough that a lender, partner or buyer can challenge it.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OE-MSME-01: The cash an owner can actually claim
ARTICLE: https://sokointel.com/read/oe-msme-01/
RESEARCH SNAPSHOT: 10 September 2026
REAL WEB CAPTURE
{
  "key": "owner-earnings",
  "captured_at": "2026-09-25T13:21:50.190Z",
  "url": "http://127.0.0.1:8765/calculators/owner-earnings/#business-results",
  "definitions": [
    {
      "display": "block",
      "text": "OE is estimated annual owner earnings; N is annual normalized net income after replacing owner labour; D is depreciation/amortisation already expensed; A is other justified noncash adjustment; M is annual maintenance investment; ΔW is an increase in required operating working capital. All are KES/year. A release of working capital is negative."
    },
    {
      "display": "block",
      "text": "H is dated headroom, C stated available cash, R additional confirmed collections, U listed due uses, X restricted cash, B the retained reserve and Q the disputed/uncollected amount counted in C or R. All are KES over the stated cash horizon. Subtract the proposed draw from reviewed H."
    }
  ],
  "equations": 2,
  "inputs": [
    {
      "name": "period",
      "value": "Illustrative year"
    },
    {
      "name": "profit",
      "value": "1800000"
    },
    {
      "name": "owner_pay",
      "value": "900000"
    },
    {
      "name": "replacement_pay",
      "value": "1200000"
    },
    {
      "name": "adjustments",
      "value": "0"
    },
    {
      "name": "depreciation",
      "value": "240000"
    },
    {
      "name": "other_noncash",
      "value": "0"
    },
    {
      "name": "maintenance_low",
      "value": "300000"
    },
    {
      "name": "maintenance",
      "value": "380000"
    },
    {
      "name": "maintenance_high",
      "value": "500000"
    },
    {
      "name": "working_capital",
      "value": "370000"
    },
    {
      "name": "annual_principal",
      "value": "0"
    },
    {
      "name": "annual_growth",
      "value": "0"
    },
    {
      "name": "reserve_topup",
      "value": "0"
    },
    {
      "name": "decision_date",
      "value": "2026-09-25"
    },
    {
      "name": "through_date",
      "value": "2026-10-02"
    },
    {
      "name": "cash",
      "value": "1200000"
    },
    {
      "name": "receipts",
      "value": "0"
    },
    {
      "name": "disputed",
      "value": "200000"
    },
    {
      "name": "payroll",
      "value": "250000"
    },
    {
      "name": "suppliers",
      "value": "260000"
    },
    {
      "name": "rent",
      "value": "80000"
    },
    {
      "name": "taxes",
      "value": "90000"
    },
    {
      "name": "principal",
      "value": "100000"
    },
    {
      "name": "prepaid",
      "value": "130000"
    },
    {
      "name": "dated_investment",
      "value": "0"
    },
    {
      "name": "restricted",
      "value": "0"
    },
    {
      "name": "reserve",
      "value": "150000"
    },
    {
      "name": "withdrawal",
      "value": "0"
    }
  ],
  "title": "MSME owner earnings and cash headroom | Sokointel",
  "viewport": {
    "height": 720,
    "width": 1280
  },
  "files": [
    "owner-earnings-full.png",
    "owner-earnings-results.png",
    "owner-earnings-formulas.png"
  ],
  "slug": "owner-earnings",
  "screenshots": [
    "owner-earnings-full.png",
    "owner-earnings-results.png",
    "owner-earnings-formulas.png"
  ],
  "environment": "local preview; not proof of live deployment",
  "base": "Evidence/Web/20260925-formula-rendering"
}
DEMONSTRATION SCOPE
Trace the annual earnings bridge and the separate dated cash test. A proposed draw changes headroom without changing annual earning power.
Reconcile the selected article case; do not mix it with the larger general workbook example.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OE-MSME-01: The cash an owner can actually claim
ARTICLE: https://sokointel.com/read/oe-msme-01/
RESEARCH SNAPSHOT: 10 September 2026
Answer: Normalized owner earnings and cash available today answer different questions. The workshop earns KES 990,000 on the annual bridge, yet its reviewed dated cash test is already KES 60,000 short.
Viewer task: Prepare one matched earnings bridge and one dated obligations list. Reconcile disputed receipts before approving a draw.
Return to each opening research question and identify what remains conditional or unknown.
ARTICLE SECTION: Use a monthly owner review
A monthly review can fit on one page: reported profit; profit-to-cash bridge; maintenance estimate and range; incremental working-capital use or release; market replacement pay; scheduled debt; reserve requirement; and distributions already taken. Beside each figure, record source and owner. Mark it tied, estimated or unresolved. If an unresolved line changes a drawing, loan or hiring decision, resolve it before acting.
Compare the forecast with actual dates and amounts. If collections repeatedly arrive ten days late, use observed timing instead of the sales team's best-case promise. If a repair was larger because replacement had been deferred, update the asset plan. If the owner withdrew money for a personal emergency, record the draw separately and restore the agreed reserve process. This prevents a one-off event from being misreported as ordinary performance.
The practical sequence is: close the books, reconcile cash, estimate sustainable earnings, protect the reserve, then approve a transfer. Use the earnings estimate to assess durable returns, the cash plan for today's payment decision, and a valuation method only after ownership and financing claims are reconciled.
ARTICLE SECTION: Turn the bridge into a monthly decision
The annual owner-earnings bridge is useful only if the owner can reproduce it from the books and the bank. Build the same bridge monthly, then roll it forward over twelve months. For each month, show cash collected from customers, cash paid to suppliers and employees, tax paid, routine capital spending, principal and interest, and owner withdrawals. Reconcile the ending cash to the bank statement. This gives the owner two answers: what the business earned over a representative period and whether that earning has actually arrived as spendable cash.
Suppose a distributor reports KSh 900,000 of monthly accounting profit. Its owner performs purchasing and collections work worth KSh 160,000 a month at a realistic replacement cost. The business has KSh 140,000 of routine equipment and vehicle renewal, and receivables and stock have absorbed KSh 240,000 more cash than the prior month. Before debt principal, tax timing and reserve decisions, the month has not produced KSh 900,000 of owner cash. The example is not a universal formula or margin benchmark; it shows why each adjustment needs its own line and evidence.
The sequence matters. Deduct a replacement wage before treating owner labour as an add-back. Deduct normal maintenance investment after examining the actual assets and their service condition. Show working-capital movements as a cash timing item, not a permanent annual charge: a build-up consumes cash, while a release can temporarily inflate it. Then show taxes, interest and principal according to the purpose of the measure. A lender's cash-flow definition may use a different sequence from a shareholder's residual cash measure.
The monthly close should make timing visible. A December profit supported by invoices collected in February is profit, but it does not fund a December supplier payment unless credit is available. Keep the income statement, cash-flow movement and balance-sheet roll-forward side by side. The business owner can then distinguish an earnings problem from a collections problem and a temporary seasonal draw from a recurring structural deficit. Research on working capital and SME performance emphasizes that its cash requirements and its effect on performance are linked, but the relationship is not a one-direction rule that says less working capital is always better [2, 3].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OE-MSME-01: The cash an owner can actually claim
ARTICLE: https://sokointel.com/read/oe-msme-01/
RESEARCH SNAPSHOT: 10 September 2026
SOURCE MATERIAL
[1] Berkshire Hathaway, “Chairman’s Letter — 1986,” section “Sources of Reported Earnings,” https://www.berkshirehathaway.com/letters/1986.html.
[2] M. Deloof, “Does Working Capital Management Affect Profitability of Belgian Firms?” Journal of Business Finance &amp; Accounting, vol. 30, no. 3–4, pp. 573–588, 2003, https://doi.org/10.1111/1468-5957.00008.
[3] P. J. García-Teruel and P. Martínez-Solano, “Effects of Working Capital Management on SME Profitability,” International Journal of Managerial Finance, vol. 3, no. 2, pp. 164–177, 2007, https://doi.org/10.1108/17439130710738718.
[4] R. A. C. Merton, “On the Pricing of Corporate Debt: The Risk Structure of Interest Rates,” The Journal of Finance, vol. 29, no. 2, pp. 449–470, 1974, https://doi.org/10.1111/j.1540-6261.1974.tb03058.x.
All linked source URLs:
Berkshire Hathaway, “Chairman’s Letter — 1986,” section “Sources of Reported Earnings,”: https://www.berkshirehathaway.com/letters/1986.html
M. Deloof, “Does Working Capital Management Affect Profitability of Belgian Firms?” Journal of Business Finance &amp; Accounting, vol. 30, no. 3–4, pp. 57: https://doi.org/10.1111/1468-5957.00008
P. J. García-Teruel and P. Martínez-Solano, “Effects of Working Capital Management on SME Profitability,” International Journal of Managerial Finance,: https://doi.org/10.1108/17439130710738718
R. A. C. Merton, “On the Pricing of Corporate Debt: The Risk Structure of Interest Rates,” The Journal of Finance, vol. 29, no. 2, pp. 449–470, 1974: https://doi.org/10.1111/j.1540-6261.1974.tb03058.x
Additional content sources:
[]
Workbook provenance:
C:\Users\Nevo\Downloads\financial material\Owner's Earning\Project 1 - MSMEs and Small Businesses\Project 1 - MSME Owner Earnings and Operations.xlsx
'Article Case'!C5:F18
43f243daa5fa87c914c73ec53b55652f96b8cbd8482d45327141c2383e47494e
C:\Users\Nevo\Downloads\financial material\Owner's Earning\Project 1 - MSMEs and Small Businesses\Project 1 - MSME Owner Earnings and Operations.xlsx
'Article Case'!C21:F33
43f243daa5fa87c914c73ec53b55652f96b8cbd8482d45327141c2383e47494e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sokointel.com/read/oe-msme-01/" TargetMode="External"/><Relationship Id="rId2" Type="http://schemas.openxmlformats.org/officeDocument/2006/relationships/hyperlink" Target="https://www.berkshirehathaway.com/letters/1986.html" TargetMode="External"/><Relationship Id="rId3" Type="http://schemas.openxmlformats.org/officeDocument/2006/relationships/hyperlink" Target="https://doi.org/10.1111/1468-5957.00008" TargetMode="External"/><Relationship Id="rId4" Type="http://schemas.openxmlformats.org/officeDocument/2006/relationships/hyperlink" Target="https://doi.org/10.1108/17439130710738718" TargetMode="External"/><Relationship Id="rId5" Type="http://schemas.openxmlformats.org/officeDocument/2006/relationships/hyperlink" Target="https://doi.org/10.1111/j.1540-6261.1974.tb03058.x" TargetMode="External"/><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The cash an owner can actually claim</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 fictional vehicle-repair workshop: profitable over the year, but deciding whether it can safely release cash today.</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OE-MSME-01   •   Fictional workshop • annual earnings and dated cash are separate tests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1. Why can a profitable business have little cash that its owner can safely withdraw?</a:t>
            </a:r>
            <a:endParaRPr lang="en-US" sz="2000" dirty="0"/>
          </a:p>
        </p:txBody>
      </p:sp>
      <p:sp>
        <p:nvSpPr>
          <p:cNvPr id="9" name="Text 7"/>
          <p:cNvSpPr/>
          <p:nvPr/>
        </p:nvSpPr>
        <p:spPr>
          <a:xfrm>
            <a:off x="594360" y="2880360"/>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2. How much reinvestment and operating working capital does the business need?</a:t>
            </a:r>
            <a:endParaRPr lang="en-US" sz="2000" dirty="0"/>
          </a:p>
        </p:txBody>
      </p:sp>
      <p:sp>
        <p:nvSpPr>
          <p:cNvPr id="10" name="Text 8"/>
          <p:cNvSpPr/>
          <p:nvPr/>
        </p:nvSpPr>
        <p:spPr>
          <a:xfrm>
            <a:off x="594360" y="3913632"/>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3. Which daily cash, customer, stock and supplier measures should trigger action?</a:t>
            </a:r>
            <a:endParaRPr lang="en-US" sz="2000" dirty="0"/>
          </a:p>
        </p:txBody>
      </p:sp>
      <p:sp>
        <p:nvSpPr>
          <p:cNvPr id="11" name="Text 9"/>
          <p:cNvSpPr/>
          <p:nvPr/>
        </p:nvSpPr>
        <p:spPr>
          <a:xfrm>
            <a:off x="594360" y="4946904"/>
            <a:ext cx="5897880" cy="941832"/>
          </a:xfrm>
          <a:prstGeom prst="rect">
            <a:avLst/>
          </a:prstGeom>
          <a:noFill/>
          <a:ln/>
        </p:spPr>
        <p:txBody>
          <a:bodyPr wrap="square" lIns="0" tIns="0" rIns="0" bIns="0" rtlCol="0" anchor="t"/>
          <a:lstStyle/>
          <a:p>
            <a:pPr indent="0" marL="0">
              <a:buNone/>
            </a:pPr>
            <a:r>
              <a:rPr lang="en-US" sz="2000" dirty="0">
                <a:solidFill>
                  <a:srgbClr val="163047"/>
                </a:solidFill>
                <a:latin typeface="Aptos" pitchFamily="34" charset="0"/>
                <a:ea typeface="Aptos" pitchFamily="34" charset="-122"/>
                <a:cs typeface="Aptos" pitchFamily="34" charset="-120"/>
              </a:rPr>
              <a:t>4. How do owner pay, borrowing, growth and succession affect transferable earning power?</a:t>
            </a:r>
            <a:endParaRPr lang="en-US" sz="2000" dirty="0"/>
          </a:p>
        </p:txBody>
      </p:sp>
      <p:sp>
        <p:nvSpPr>
          <p:cNvPr id="12" name="Shape 10"/>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3" name="Text 11"/>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4" name="Text 12"/>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NI — after-tax, after-interest net income; KES/year</a:t>
            </a:r>
            <a:endParaRPr lang="en-US" sz="1650" dirty="0"/>
          </a:p>
        </p:txBody>
      </p:sp>
      <p:sp>
        <p:nvSpPr>
          <p:cNvPr id="15" name="Text 13"/>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D&amp;A — depreciation and amortisation; noncash expense</a:t>
            </a:r>
            <a:endParaRPr lang="en-US" sz="1650" dirty="0"/>
          </a:p>
        </p:txBody>
      </p:sp>
      <p:sp>
        <p:nvSpPr>
          <p:cNvPr id="16" name="Text 14"/>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Maintenance — spending needed to preserve current service</a:t>
            </a:r>
            <a:endParaRPr lang="en-US" sz="1650" dirty="0"/>
          </a:p>
        </p:txBody>
      </p:sp>
      <p:sp>
        <p:nvSpPr>
          <p:cNvPr id="17" name="Text 15"/>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ΔNWC — increase in required operating working capital</a:t>
            </a:r>
            <a:endParaRPr lang="en-US" sz="1650" dirty="0"/>
          </a:p>
        </p:txBody>
      </p:sp>
      <p:sp>
        <p:nvSpPr>
          <p:cNvPr id="18" name="Text 16"/>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Headroom — dated available cash less obligations and reserve</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Profit is the starting point</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KES 1.8m net income describes a reported period.</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Add back KES 240,000 of supported noncash charges.</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Deduct the KES 300,000 shortfall between current owner pay and replacement labour.</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workshop • annual earnings and dated cash are separate tests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Keep today’s service intact</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Deduct KES 380,000 maintenance investment.</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Deduct KES 370,000 increased required working capital.</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KES 300,000 second-bay expansion is a separate growth use.</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workshop • annual earnings and dated cash are separate tests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cash draw must meet dated claims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Bank cash of KES 1.2m faces KES 910,000 listed uses.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KES 150,000 reserve leaves KES 140,000 provisional headroom.</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Removing a disputed KES 200,000 receipt leaves a KES 60,000 deficit.</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workshop • annual earnings and dated cash are separate tests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annual owner-earnings bridge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800" dirty="0">
                <a:solidFill>
                  <a:srgbClr val="176F73"/>
                </a:solidFill>
                <a:latin typeface="Cambria Math" pitchFamily="34" charset="0"/>
                <a:ea typeface="Cambria Math" pitchFamily="34" charset="-122"/>
                <a:cs typeface="Cambria Math" pitchFamily="34" charset="-120"/>
              </a:rPr>
              <a:t>OE = NI + D&amp;A − maintenance − ΔNWC − pay shortfall</a:t>
            </a:r>
            <a:endParaRPr lang="en-US" sz="28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KES 1.800m + 0.240m − 0.380m − 0.370m − 0.300m = KES 0.990m</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The result estimates normalized annual earning power before separate growth spending, debt principal and reserve choices.</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workshop • annual earnings and dated cash are separate tests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Article Case: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MSME-01-01-p1.png">    </p:cNvPr>
          <p:cNvPicPr>
            <a:picLocks noChangeAspect="1"/>
          </p:cNvPicPr>
          <p:nvPr/>
        </p:nvPicPr>
        <p:blipFill>
          <a:blip r:embed="rId1"/>
          <a:stretch>
            <a:fillRect/>
          </a:stretch>
        </p:blipFill>
        <p:spPr>
          <a:xfrm>
            <a:off x="612648" y="2383518"/>
            <a:ext cx="10972800" cy="2621315"/>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Article Case!C5:F18</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workshop • annual earnings and dated cash are separate tests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Article Case: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OE-MSME-01-02-p1.png">    </p:cNvPr>
          <p:cNvPicPr>
            <a:picLocks noChangeAspect="1"/>
          </p:cNvPicPr>
          <p:nvPr/>
        </p:nvPicPr>
        <p:blipFill>
          <a:blip r:embed="rId1"/>
          <a:stretch>
            <a:fillRect/>
          </a:stretch>
        </p:blipFill>
        <p:spPr>
          <a:xfrm>
            <a:off x="612648" y="2459499"/>
            <a:ext cx="10972800" cy="2469355"/>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Article Case!C21:F33</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Fictional workshop • annual earnings and dated cash are separate tests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Test the proposed KES 30,000 withdrawal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Reviewed dated headroom: KES −60,000.</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Deduct a proposed KES 30,000 owner withdrawal.</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Dated headroom becomes KES −90,000; annual owner earnings remains KES 990,000.</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LOCAL PREVIEW CAPTURE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pic>
        <p:nvPicPr>
          <p:cNvPr id="8" name="Image 0" descr="C:\Users\Nevo\Downloads\financial material\Publishing and Video Production\Presentation Assets\Evidence\Web\20260925-formula-rendering\owner-earnings-results.png">    </p:cNvPr>
          <p:cNvPicPr>
            <a:picLocks noChangeAspect="1"/>
          </p:cNvPicPr>
          <p:nvPr/>
        </p:nvPicPr>
        <p:blipFill>
          <a:blip r:embed="rId1"/>
          <a:stretch>
            <a:fillRect/>
          </a:stretch>
        </p:blipFill>
        <p:spPr>
          <a:xfrm>
            <a:off x="594360" y="1900962"/>
            <a:ext cx="7379208" cy="4153357"/>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Trace the annual earnings bridge and the separate dated cash test. A proposed draw changes headroom without changing annual earning power.</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Reconcile the selected article case; do not mix it with the larger general workbook example.</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Local preview • /calculators/owner-earnings/ • captured 2026-09-25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Normalized owner earnings and cash available today answer different questions. The workshop earns KES 990,000 on the annual bridge, yet its reviewed dated cash test is already KES 60,000 short.</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Prepare one matched earnings bridge and one dated obligations list. Reconcile disputed receipts before approving a draw.</a:t>
            </a:r>
            <a:endParaRPr lang="en-US" sz="2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OE-MSME-01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12</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sokointel.com/read/oe-msme-01/</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Berkshire Hathaway, “Chairman’s Letter — 1986,” section “Sources of Reported Earnings,” • 1986</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M. Deloof, “Does Working Capital Management Affect Profitability of Belgian Firms?” Journal of Business Finance &amp; Accounting, • 2003</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P. J. García-Teruel and P. Martínez-Solano, “Effects of Working Capital Management on SME Profitability,” International Journ • 2007</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R. A. C. Merton, “On the Pricing of Corporate Debt: The Risk Structure of Interest Rates,” The Journal of Finance, vol. 29, n • 1974</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cash an owner can actually claim</dc:title>
  <dc:subject>Why can a profitable business have little cash that its owner can safely withdraw? | How much reinvestment and operating working capital does the business need? | Which daily cash, customer, stock and supplier measures should trigger action? | How do owner pay, borrowing, growth and succession affect transferable earning power?</dc:subject>
  <dc:creator>Sokointel</dc:creator>
  <cp:lastModifiedBy>Sokointel</cp:lastModifiedBy>
  <cp:revision>1</cp:revision>
  <dcterms:created xsi:type="dcterms:W3CDTF">2026-09-25T13:55:35Z</dcterms:created>
  <dcterms:modified xsi:type="dcterms:W3CDTF">2026-09-25T13:55:35Z</dcterms:modified>
</cp:coreProperties>
</file>