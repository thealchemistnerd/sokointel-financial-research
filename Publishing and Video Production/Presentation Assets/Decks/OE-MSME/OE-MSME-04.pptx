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OPENING NARRATION
An owner considers a draw, a reserve, new capacity and a loan while protecting payroll and supplier payments.
Fictional financing options • terms are not lender offers or APRs
Introduce the decision before defining the technical terms.
ARTICLE SECTION: Opening
Revised practical article; source details and figures are dated to their cited filing or event, with current evidence reviewed through 24 September 2026.
Owners often fund two very different things from one bank account: the work they do and the capital they put at risk. If the owner manages staff every day, their pay for that job is an operating cost. A dividend or draw is a return on ownership. Mixing the two can make a business appear more profitable than it is and can make the owner think a draw is “salary” when it is actually draining working capital.
The first step is to set a reasonable replacement cost for the owner’s work. Ask what duties are performed, how many hours they take, which credentials are required, and what it would cost to hire someone capable of doing them. There may be more than one role: founder sales, purchasing, bookkeeping, repair work, and general management. Do not invent a precise salary from a single online job listing. Document the role and use a range. For a sole proprietor, the bookkeeping or tax treatment may differ from a company’s payroll, so keep tax classification separate from the economic normalization used for analysis.
ARTICLE SECTION: A board-ready growth case
A growth case needs a no-growth reference. Forecast the existing operation first, including replacement capex and normal working capital. Then add only the incremental project: price, unit volume, contribution, new payroll, equipment, lease, launch costs, working-capital build, tax and funding. Do not apply the company’s historic average margin blindly if the new product, buyer or route has different economics.
Use three scenarios. In the base, state expected time to ramp and evidence such as signed orders or repeat customer demand. In the downside, delay opening, reduce volume and assume a customer pays later while the supplier withdraws terms. In the upside, avoid relying on immediate full capacity unless demand is contracted. Show cumulative cash invested, payback date, return on incremental capital and the minimum liquidity point. A project with positive total profit can still fail if cash is needed before the first collection.
Set a stop rule tied to observable milestones: minimum weekly orders, contribution per order, utilization or customer retention by a specific date. Release the next tranche only when evidence arrives. If the test fails, options might include reduce opening hours, change price, renegotiate a lease or stop the next equipment purchase. A stop rule protects the owner from continuing to spend solely because earlier spend is sunk.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Read the questions naturally and define terms in context.
Tenor — time until the facility must be repaid
Principal — borrowed balance before interest and fees
Reserve — cash assigned to a named risk
Growth investment — cash to add capacity or capability
Repayment source — dated operating receipt or other documented source
Research question mapping: Why can a profitable business have little cash that its owner can safely withdraw?; How much reinvestment and operating working capital does the business need?; Which daily cash, customer, stock and supplier measures should trigger action?; How do owner pay, borrowing, growth and succession affect transferable earning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Part 4 reserve framework and Debt and Growth C5:J14. Start with the cash use, rather than selecting a loan from its rate alone.
Narration: explain each step and its consequence for the opening decision.
ARTICLE SECTION: A reserve belongs to a named risk
“Keep three months of expenses” is a common shortcut. It may be too little for a seasonal importer with long lead times, and too much for a service firm paid in advance with low fixed costs. A reserve should be linked to what could go wrong and how quickly the owner can respond.
List obligations by date: payroll, rent, taxes, key suppliers, loan payments, insurance, and customer deposits that must be refunded if delivery fails. Then identify the risks that could delay receipts: one large buyer, a public-sector payment cycle, FX exposure, weather, a supplier outage, a licensing renewal, or an owner’s illness. The reserve question is not “how many months sounds prudent?” It is “what cash shortfall could the business face before it can change course?”
A useful reserve schedule shows a base case and at least one plausible downside. For example, move a major customer’s expected payment from week 3 to week 7, keep payroll on its actual date, and show the trough. If the business has a committed overdraft, show its limit, conditions, amount already used, expiry date, price, and collateral. Do not count an unapproved facility as cash.
ARTICLE SECTION: What lenders and owners each need to know
A lender asks whether the borrower can repay under the contract and what recovery exists if it cannot. The owner asks whether capital invested produces enough risk-adjusted value and what can be withdrawn without impairing the business. Those questions overlap but are not identical.
Small-business finance research describes how financing sources change as firms grow and accumulate information, track records, and assets that support lending [1]. Classic credit-market research also shows why interest rates alone do not always clear credit demand when lenders have less information about borrower risk [2]. This helps explain why a well-intentioned owner may face documentation requests or a smaller credit limit than expected. The study does not prove that a particular lender has acted fairly or unfairly. The owner’s response is to make the business legible: reconcile bank inflows to invoices, keep statements and tax filings consistent, identify the legal borrower, and maintain an aged receivable schedule. Afrifa’s UK SME study also finds that cash flow changes how the working-capital/performance relationship is modeled, which supports keeping the reserve decision tied to dated cash needs rather than a balance-sheet ratio alone [3].
The owner can plan three different buckets:
 Operating cash: payments needed to deliver contracted work and trade normally.
 Resilience reserve: cash assigned to a stated risk and kept in a liquid, accessible account.
 Potential distribution: the remaining amount after due obligations, scheduled debt payments, and approved reinvestment.
If an owner wants to invest in growth, label it as an investment decision. Show the cash cost, when it might earn a return, what evidence supports demand, and what would make the decision wrong. Then test whether the business survives if the return arrives later or is smaller.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Debt and Growth C5:J9. Different tenors and fee conventions prevent these headline rates from being an all-in APR ranking.
Narration: explain each step and its consequence for the opening decision.
ARTICLE SECTION: Read a loan request as a transaction, not a slogan
When a lender asks “how much do you need?”, answer with the cash bridge. List the invoice or asset being funded, own contribution, supplier advance, delivery date, customer acceptance date, invoice terms, expected receipt and fallback. If the funding need is general, divide it by use: inventory, payroll, tax arrears, equipment, refinancing or expansion. Some uses may be appropriate for a revolving facility, others for a term loan, and some may indicate a need for equity or restructuring.
A lender can test whether the borrower has a repayment source. The borrower should test whether the repayment schedule matches actual collections and asset life. Compare the debt draw and repayment dates to the 13-week cash forecast, then extend the forecast through the final maturity. Stress a rate reset, fee, delayed customer and shorter supplier terms. Show cash after debt service and after maintenance, not just EBITDA divided by annual interest. If the facility is secured by a vehicle or property, show whether losing that asset would interrupt the very sales forecast used to repay the debt.
Do not borrow solely because a limit is available. A facility with an unused fee may still provide useful resilience, but the owner should know how quickly it can be drawn and what conditions must be met. Conversely, avoiding all debt can cause the business to miss a profitable order even when collections are well supported. Compare expected incremental return with total financing cost and downside loss. The decision note should identify what evidence would cause the owner to cancel the draw.
ARTICLE SECTION: Work the debt decision from use to repayment
Before the business borrows, the owner should be able to point to the purchase, expected benefit and repayment source. For a working-capital line, map the cash cycle: when stock is paid, when it is sold, when the invoice is issued, and when the customer pays. For an asset loan, connect the loan term to the asset’s useful life and the cash it enables. If the use is “general support,” list the actual underlying obligations and decide whether they are temporary timing needs or recurring operating losses.
A borrower-to-lender bridge should define its starting measure. If starting from normalized EBITDA, deduct cash tax, maintenance investment, incremental operating working capital and other senior obligations to estimate pre-financing cash available for debt service. If starting from net income, interest and tax may already be included; do not subtract them again without explaining the adjustment. Add scheduled principal and interest using the signed facility terms. The bank may define DSCR differently, include or exclude certain add-backs, test quarterly or annually, and require minimum cash. Put the covenant definition and test date beside the illustrative ratio before using the model for a real loan.
For the fictional KSh 900,000 order, compare the same customer, supplier and delivery dates under a term loan and a revolver. Assume stock costs KSh 620,000 and delivery plus other variable costs KSh 90,000. The customer pays KSh 1,050,000 sixty days after delivery. Contribution before overhead and financing is KSh 340,000. Suppose a term loan carries 18% annual interest, 2% arrangement fee and six equal monthly principal repayments; the revolver carries 20% interest, a 1% draw fee and a 1% annual fee on undrawn commitment. These are hypothetical terms. The model should calculate draw date, interest days, fees, principal due, cash received and closing debt under each option. Then move customer acceptance or payment by 30 days. If the term loan amortizes before collection, cash may fall below reserve; if the revolver must clean down, the buyer's delay can prevent compliance. Do not compare headline rates alone.
The financing schedule should include required security, personal guarantees, floating or fixed rate, rate resets, unused-line fees, legal charges, covenant tests, borrowing base, clean-down days, renewal date, early repayment fee and default margin where applicable. A quote should be tied to a written offer. The actual contract governs. The workbook can indicate a model breach under selected assumptions; it cannot determine the lender's legal interpretation or waive a covenant.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Debt and Growth C11:E14, Cash13W and Unit Economics. A profit forecast alone is not a dated repayment source.
Narration: explain each step and its consequence for the opening decision.
ARTICLE SECTION: A board-ready growth case
A growth case needs a no-growth reference. Forecast the existing operation first, including replacement capex and normal working capital. Then add only the incremental project: price, unit volume, contribution, new payroll, equipment, lease, launch costs, working-capital build, tax and funding. Do not apply the company’s historic average margin blindly if the new product, buyer or route has different economics.
Use three scenarios. In the base, state expected time to ramp and evidence such as signed orders or repeat customer demand. In the downside, delay opening, reduce volume and assume a customer pays later while the supplier withdraws terms. In the upside, avoid relying on immediate full capacity unless demand is contracted. Show cumulative cash invested, payback date, return on incremental capital and the minimum liquidity point. A project with positive total profit can still fail if cash is needed before the first collection.
Set a stop rule tied to observable milestones: minimum weekly orders, contribution per order, utilization or customer retention by a specific date. Release the next tranche only when evidence arrives. If the test fails, options might include reduce opening hours, change price, renegotiate a lease or stop the next equipment purchase. A stop rule protects the owner from continuing to spend solely because earlier spend is sunk.
ARTICLE SECTION: Compare growth projects with a common test
An attractive growth idea is not self-funding just because the projected margin is positive. Estimate the initial equipment and setup cost, working capital, hiring and training, launch period, ongoing maintenance, taxes, customer-acquisition cost and time to collect. Identify the minimum volume needed to cover incremental fixed cost and the downside point at which the project consumes cash without a realistic recovery path.
A simple investment page might show three cases:
 Base case: demand supported by signed orders, repeat purchases or a documented pipeline; realistic collection days; full staff and service costs.
 Downside case: slower launch, lower utilization, a price concession, late customer payment, or a longer equipment installation.
 Stop case: the condition that prevents further spending, such as a missed permit, customer cancellation, cost overrun, or failure to reach a milestone by an agreed date.
Ask what the business will stop doing if this project receives cash. Capital has an opportunity cost even when the owner uses retained profits rather than a bank loan. A project that is strategically appealing can still be sequenced later if it would leave no money for current maintenance or payroll.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Use Cash13W for timing. The general Owner Earnings bridge and Article Case are distinct scenarios and are not combined here.
Equation: Available cash = opening cash + collected receipts − dated uses
Substitution: A loan adds cash at draw and creates later interest, fees and principal obligations.
Interpretation: Match the facility to the trough and show the repayment source before its contractual due date.
ARTICLE SECTION: Work the debt decision from use to repayment
Before the business borrows, the owner should be able to point to the purchase, expected benefit and repayment source. For a working-capital line, map the cash cycle: when stock is paid, when it is sold, when the invoice is issued, and when the customer pays. For an asset loan, connect the loan term to the asset’s useful life and the cash it enables. If the use is “general support,” list the actual underlying obligations and decide whether they are temporary timing needs or recurring operating losses.
A borrower-to-lender bridge should define its starting measure. If starting from normalized EBITDA, deduct cash tax, maintenance investment, incremental operating working capital and other senior obligations to estimate pre-financing cash available for debt service. If starting from net income, interest and tax may already be included; do not subtract them again without explaining the adjustment. Add scheduled principal and interest using the signed facility terms. The bank may define DSCR differently, include or exclude certain add-backs, test quarterly or annually, and require minimum cash. Put the covenant definition and test date beside the illustrative ratio before using the model for a real loan.
For the fictional KSh 900,000 order, compare the same customer, supplier and delivery dates under a term loan and a revolver. Assume stock costs KSh 620,000 and delivery plus other variable costs KSh 90,000. The customer pays KSh 1,050,000 sixty days after delivery. Contribution before overhead and financing is KSh 340,000. Suppose a term loan carries 18% annual interest, 2% arrangement fee and six equal monthly principal repayments; the revolver carries 20% interest, a 1% draw fee and a 1% annual fee on undrawn commitment. These are hypothetical terms. The model should calculate draw date, interest days, fees, principal due, cash received and closing debt under each option. Then move customer acceptance or payment by 30 days. If the term loan amortizes before collection, cash may fall below reserve; if the revolver must clean down, the buyer's delay can prevent compliance. Do not compare headline rates alone.
The financing schedule should include required security, personal guarantees, floating or fixed rate, rate resets, unused-line fees, legal charges, covenant tests, borrowing base, clean-down days, renewal date, early repayment fee and default margin where applicable. A quote should be tied to a written offer. The actual contract governs. The workbook can indicate a model breach under selected assumptions; it cannot determine the lender's legal interpretation or waive a covenant.
ARTICLE SECTION: Decide what each shilling of cash is for
A business owner should separate four decisions that are often mixed together: pay for work performed, repayment of money previously lent by the owner, distribution of accumulated profit, and reinvestment in the company. Use distinct ledger descriptions, approvals and tax treatment. A cash withdrawal is not automatically a dividend, and a dividend is not a substitute for a reasonable salary where the owner works in the business.
Set a distribution calendar, but make the payment conditional on the cash forecast and legal requirements. At each review, ask whether the company has paid or reserved for payroll, taxes, debt service, critical suppliers, committed maintenance and the next working-capital peak. Only then consider discretionary owner distributions. This avoids promising a fixed amount in a month when cash is tied up in a large customer order or seasonal stock build.
A reserve policy should identify the risk it covers, how much cash is assigned, where it is held, who can release it and when the policy is reviewed. Separate an operating buffer for timing mismatches from a specific repair reserve, tax reserve or debt-service reserve. Do not count the same bank balance as backing multiple purposes. For a business with seasonal inflows, show the low point over the full operating cycle; the annual average can hide the month when the company runs short.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ACTUAL WORKBOOK CAPTURE
Workbook: C:\Users\Nevo\Downloads\financial material\Owner's Earning\Project 1 - MSMEs and Small Businesses\Project 1 - MSME Owner Earnings and Operations.xlsx
Sheet/range: 'Debt and Growth'!C5:J9
SHA-256: 43f243daa5fa87c914c73ec53b55652f96b8cbd8482d45327141c2383e47494e
Capture method: Microsoft Excel read-only PDF range export. Print headings retained. Source not saved.
Asset: Evidence/Workbooks/OE-MSME-04-01-p1.png
SCREEN RECORDING WALKTHROUGH
Read the row and column headings. Identify inputs, follow the dependent row and explain the units. Do not alter the source workbook while recording; use a copy for a new scenario.
Extracted evidence text:
5
6
7
8
9
C D E F G H I J
Funding option Amount Annual rate Upfront fee Tenor (years) Year-one interest Year-one fee Cash-use / matching test
Term loan 5000000 0 2.0% 300.0% 800,000 100,000 Asset with multi-year life
Revolving facility 3000000 0 1.5% 100.0% 570,000 45,000 Short-cycle verified cash gap
Supplier credit 1500000 0 - 25.0% 120,000 - Only if terms are agreed in writing
Relevant article context:
ARTICLE SECTION: Growth is not always self-funding
A new order can increase profit and worsen cash at the same time. Suppose a fictional wholesaler wins a KSh 900,000 order. The buyer pays after delivery and acceptance in 45 days. The wholesaler must pay KSh 520,000 for stock in two weeks and KSh 80,000 for transport and handling before delivery. The order appears to have a KSh 300,000 gross spread before overhead. But the business needs KSh 600,000 of cash for more than a month before it collects. A deposit, supplier credit, or working-capital facility changes the funding need. None changes the customer’s gross margin by itself.
Before borrowing, write the order’s dates and identify what a lender will actually fund: purchase invoices, a receivable, inventory, or general cash flow. Then check if the facility matures before the buyer is likely to pay. Make a downside case for delayed acceptance, a short delivery, disputed invoice, FX movement, or partial buyer payment. Ask whether the facility is a term loan, revolving credit, overdraft, invoice discounting, or a different contract. Names do not control; the agreement does.
Cash available for debt service should be defined from the actual financing documents. Lenders differ on EBITDA adjustments, taxes, maintenance spend, leases, and one-off items. “DSCR” can mean different things in different contracts. In an article or model, show the chosen formula and source. Do not call a generic ratio the borrower’s covenant without reading the agreement.
ARTICLE SECTION: Work the debt decision from use to repayment
Before the business borrows, the owner should be able to point to the purchase, expected benefit and repayment source. For a working-capital line, map the cash cycle: when stock is paid, when it is sold, when the invoice is issued, and when the customer pays. For an asset loan, connect the loan term to the asset’s useful life and the cash it enables. If the use is “general support,” list the actual underlying obligations and decide whether they are temporary timing needs or recurring operating losses.
A borrower-to-lender bridge should define its starting measure. If starting from normalized EBITDA, deduct cash tax, maintenance investment, incremental operating working capital and other senior obligations to estimate pre-financing cash available for debt service. If starting from net income, interest and tax may already be included; do not subtract them again without explaining the adjustment. Add scheduled principal and interest using the signed facility terms. The bank may define DSCR differently, include or exclude certain add-backs, test quarterly or annually, and require minimum cash. Put the covenant definition and test date beside the illustrative ratio before using the model for a real loan.
For the fictional KSh 900,000 order, compare the same customer, supplier and delivery dates under a term loan and a revolver. Assume stock costs KSh 620,000 and delivery plus other variable costs KSh 90,000. The customer pays KSh 1,050,000 sixty days after delivery. Contribution before overhead and financing is KSh 340,000. Suppose a term loan carries 18% annual interest, 2% arrangement fee and six equal monthly principal repayments; the revolver carries 20% interest, a 1% draw fee and a 1% annual fee on undrawn commitment. These are hypothetical terms. The model should calculate draw date, interest days, fees, principal due, cash received and closing debt under each option. Then move customer acceptance or payment by 30 days. If the term loan amortizes before collection, cash may fall below reserve; if the revolver must clean down, the buyer's delay can prevent compliance. Do not compare headline rates alone.
The financing schedule should include required security, personal guarantees, floating or fixed rate, rate resets, unused-line fees, legal charges, covenant tests, borrowing base, clean-down days, renewal date, early repayment fee and default margin where applicable. A quote should be tied to a written offer. The actual contract governs. The workbook can indicate a model breach under selected assumptions; it cannot determine the lender's legal interpretation or waive a covenant.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ACTUAL WORKBOOK CAPTURE
Workbook: C:\Users\Nevo\Downloads\financial material\Owner's Earning\Project 1 - MSMEs and Small Businesses\Project 1 - MSME Owner Earnings and Operations.xlsx
Sheet/range: 'Debt and Growth'!C11:F14
SHA-256: 43f243daa5fa87c914c73ec53b55652f96b8cbd8482d45327141c2383e47494e
Capture method: Microsoft Excel read-only PDF range export. Print headings retained. Source not saved.
Asset: Evidence/Workbooks/OE-MSME-04-02-p1.png
SCREEN RECORDING WALKTHROUGH
Read the row and column headings. Identify inputs, follow the dependent row and explain the units. Do not alter the source workbook while recording; use a copy for a new scenario.
Extracted evidence text:
11
12
13
14
C D E F
Borrowing decision Required source Owner action
Named cash gap
13-week forecast and 
dated obligation
Enter amount, due 
date and repayment 
source
Facility cost
Facility letter and fee 
schedule
Compare fees, 
reserve, collateral 
and renewal terms
Growth case
Customer demand and 
contribution evidence
Show base, 
delayed collection 
and stop condition
Relevant article context:
ARTICLE SECTION: Growth is not always self-funding
A new order can increase profit and worsen cash at the same time. Suppose a fictional wholesaler wins a KSh 900,000 order. The buyer pays after delivery and acceptance in 45 days. The wholesaler must pay KSh 520,000 for stock in two weeks and KSh 80,000 for transport and handling before delivery. The order appears to have a KSh 300,000 gross spread before overhead. But the business needs KSh 600,000 of cash for more than a month before it collects. A deposit, supplier credit, or working-capital facility changes the funding need. None changes the customer’s gross margin by itself.
Before borrowing, write the order’s dates and identify what a lender will actually fund: purchase invoices, a receivable, inventory, or general cash flow. Then check if the facility matures before the buyer is likely to pay. Make a downside case for delayed acceptance, a short delivery, disputed invoice, FX movement, or partial buyer payment. Ask whether the facility is a term loan, revolving credit, overdraft, invoice discounting, or a different contract. Names do not control; the agreement does.
Cash available for debt service should be defined from the actual financing documents. Lenders differ on EBITDA adjustments, taxes, maintenance spend, leases, and one-off items. “DSCR” can mean different things in different contracts. In an article or model, show the chosen formula and source. Do not call a generic ratio the borrower’s covenant without reading the agreement.
ARTICLE SECTION: Work the debt decision from use to repayment
Before the business borrows, the owner should be able to point to the purchase, expected benefit and repayment source. For a working-capital line, map the cash cycle: when stock is paid, when it is sold, when the invoice is issued, and when the customer pays. For an asset loan, connect the loan term to the asset’s useful life and the cash it enables. If the use is “general support,” list the actual underlying obligations and decide whether they are temporary timing needs or recurring operating losses.
A borrower-to-lender bridge should define its starting measure. If starting from normalized EBITDA, deduct cash tax, maintenance investment, incremental operating working capital and other senior obligations to estimate pre-financing cash available for debt service. If starting from net income, interest and tax may already be included; do not subtract them again without explaining the adjustment. Add scheduled principal and interest using the signed facility terms. The bank may define DSCR differently, include or exclude certain add-backs, test quarterly or annually, and require minimum cash. Put the covenant definition and test date beside the illustrative ratio before using the model for a real loan.
For the fictional KSh 900,000 order, compare the same customer, supplier and delivery dates under a term loan and a revolver. Assume stock costs KSh 620,000 and delivery plus other variable costs KSh 90,000. The customer pays KSh 1,050,000 sixty days after delivery. Contribution before overhead and financing is KSh 340,000. Suppose a term loan carries 18% annual interest, 2% arrangement fee and six equal monthly principal repayments; the revolver carries 20% interest, a 1% draw fee and a 1% annual fee on undrawn commitment. These are hypothetical terms. The model should calculate draw date, interest days, fees, principal due, cash received and closing debt under each option. Then move customer acceptance or payment by 30 days. If the term loan amortizes before collection, cash may fall below reserve; if the revolver must clean down, the buyer's delay can prevent compliance. Do not compare headline rates alone.
The financing schedule should include required security, personal guarantees, floating or fixed rate, rate resets, unused-line fees, legal charges, covenant tests, borrowing base, clean-down days, renewal date, early repayment fee and default margin where applicable. A quote should be tied to a written offer. The actual contract governs. The workbook can indicate a model breach under selected assumptions; it cannot determine the lender's legal interpretation or waive a covenant.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Conceptual timing sensitivity from Part 4; quantify using the viewer's dated facility and receipt. Do not assume automatic rollover or invent late-payment charges.
Base: Plan repayment against the documented collection date.
Changed: Move that receipt beyond the debt due date; hold the contract unchanged.
Consequence: The cash gap grows even if annual profit is unchanged. Revise the operating plan or obtain an explicit financing amendment.
ARTICLE SECTION: Work the debt decision from use to repayment
Before the business borrows, the owner should be able to point to the purchase, expected benefit and repayment source. For a working-capital line, map the cash cycle: when stock is paid, when it is sold, when the invoice is issued, and when the customer pays. For an asset loan, connect the loan term to the asset’s useful life and the cash it enables. If the use is “general support,” list the actual underlying obligations and decide whether they are temporary timing needs or recurring operating losses.
A borrower-to-lender bridge should define its starting measure. If starting from normalized EBITDA, deduct cash tax, maintenance investment, incremental operating working capital and other senior obligations to estimate pre-financing cash available for debt service. If starting from net income, interest and tax may already be included; do not subtract them again without explaining the adjustment. Add scheduled principal and interest using the signed facility terms. The bank may define DSCR differently, include or exclude certain add-backs, test quarterly or annually, and require minimum cash. Put the covenant definition and test date beside the illustrative ratio before using the model for a real loan.
For the fictional KSh 900,000 order, compare the same customer, supplier and delivery dates under a term loan and a revolver. Assume stock costs KSh 620,000 and delivery plus other variable costs KSh 90,000. The customer pays KSh 1,050,000 sixty days after delivery. Contribution before overhead and financing is KSh 340,000. Suppose a term loan carries 18% annual interest, 2% arrangement fee and six equal monthly principal repayments; the revolver carries 20% interest, a 1% draw fee and a 1% annual fee on undrawn commitment. These are hypothetical terms. The model should calculate draw date, interest days, fees, principal due, cash received and closing debt under each option. Then move customer acceptance or payment by 30 days. If the term loan amortizes before collection, cash may fall below reserve; if the revolver must clean down, the buyer's delay can prevent compliance. Do not compare headline rates alone.
The financing schedule should include required security, personal guarantees, floating or fixed rate, rate resets, unused-line fees, legal charges, covenant tests, borrowing base, clean-down days, renewal date, early repayment fee and default margin where applicable. A quote should be tied to a written offer. The actual contract governs. The workbook can indicate a model breach under selected assumptions; it cannot determine the lender's legal interpretation or waive a covenant.
ARTICLE SECTION: A board-ready growth case
A growth case needs a no-growth reference. Forecast the existing operation first, including replacement capex and normal working capital. Then add only the incremental project: price, unit volume, contribution, new payroll, equipment, lease, launch costs, working-capital build, tax and funding. Do not apply the company’s historic average margin blindly if the new product, buyer or route has different economics.
Use three scenarios. In the base, state expected time to ramp and evidence such as signed orders or repeat customer demand. In the downside, delay opening, reduce volume and assume a customer pays later while the supplier withdraws terms. In the upside, avoid relying on immediate full capacity unless demand is contracted. Show cumulative cash invested, payback date, return on incremental capital and the minimum liquidity point. A project with positive total profit can still fail if cash is needed before the first collection.
Set a stop rule tied to observable milestones: minimum weekly orders, contribution per order, utilization or customer retention by a specific date. Release the next tranche only when evidence arrives. If the test fails, options might include reduce opening hours, change price, renegotiate a lease or stop the next equipment purchase. A stop rule protects the owner from continuing to spend solely because earlier spend is sunk.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REAL WEB CAPTURE
{
  "key": "cash-13-weeks",
  "captured_at": "2026-09-25T13:23:26.219Z",
  "url": "http://127.0.0.1:8765/calculators/cash-13-weeks/#business-results",
  "definitions": [
    {
      "display": "block",
      "text": "Cₜ is week-end cash; Cₜ₋₁ is opening cash; Rₜ is operating cash received, Eₜ new owner funds, Fₜ new borrowing and Uₜ all scheduled cash uses. Values are KES in week t; t runs from 1 to 13."
    },
    {
      "display": "block",
      "text": "B is the chosen KES reserve floor and C₀ opening unrestricted cash. This is the initial buffer required to cover the deepest forecast gap, assuming the remaining cash flows are unchanged."
    }
  ],
  "equations": 2,
  "inputs": [
    {
      "name": "start",
      "value": "2026-09-28"
    },
    {
      "name": "opening",
      "value": "1200000"
    },
    {
      "name": "reserve",
      "value": "500000"
    },
    {
      "name": "receipt_delay",
      "value": "0"
    },
    {
      "name": "financing_delay",
      "value": "0"
    },
    {
      "checked": false,
      "name": "exclude_financing",
      "value": "on"
    },
    {
      "name": "source_note",
      "value": "Illustrative workbook case; replace with dated records"
    },
    {
      "name": "w1_receipts",
      "value": "1450000"
    },
    {
      "name": "w1_down_receipts",
      "value": "1100000"
    },
    {
      "name": "w1_suppliers",
      "value": "800000"
    },
    {
      "name": "w1_down_suppliers",
      "value": "900000"
    },
    {
      "name": "w1_fixed",
      "value": "350000"
    },
    {
      "name": "w1_other_due",
      "value": "250000"
    },
    {
      "name": "w2_receipts",
      "value": "1200000"
    },
    {
      "name": "w2_down_receipts",
      "value": "800000"
    },
    {
      "name": "w2_suppliers",
      "value": "800000"
    },
    {
      "name": "w2_down_suppliers",
      "value": "850000"
    },
    {
      "name": "w2_fixed",
      "value": "350000"
    },
    {
      "name": "w2_other_due",
      "value": "250000"
    },
    {
      "name": "w3_receipts",
      "value": "1900000"
    },
    {
      "name": "w3_down_receipts",
      "value": "1200000"
    },
    {
      "name": "w3_suppliers",
      "value": "1100000"
    },
    {
      "name": "w3_down_suppliers",
      "value": "1200000"
    },
    {
      "name": "w3_fixed",
      "value": "350000"
    },
    {
      "name": "w3_other_due",
      "value": "250000"
    },
    {
      "name": "w4_receipts",
      "value": "1300000"
    },
    {
      "name": "w4_down_receipts",
      "value": "900000"
    },
    {
      "name": "w4_suppliers",
      "value": "800000"
    },
    {
      "name": "w4_down_suppliers",
      "value": "950000"
    },
    {
      "name": "w4_fixed",
      "value": "350000"
    },
    {
      "name": "w4_other_due",
      "value": "250000"
    },
    {
      "name": "w5_receipts",
      "value": "2500000"
    },
    {
      "name": "w5_down_receipts",
      "value": "1600000"
    },
    {
      "name": "w5_suppliers",
      "value": "1300000"
    },
    {
      "name": "w5_down_suppliers",
      "value": "1450000"
    },
    {
      "name": "w5_fixed",
      "value": "350000"
    },
    {
      "name": "w5_other_due",
      "value": "250000"
    },
    {
      "name": "w6_receipts",
      "value": "1100000"
    },
    {
      "name": "w6_down_receipts",
      "value": "700000"
    },
    {
      "name": "w6_suppliers",
      "value": "800000"
    },
    {
      "name": "w6_down_suppliers",
      "value": "850000"
    },
    {
      "name": "w6_fixed",
      "value": "350000"
    },
    {
      "name": "w6_other_due",
      "value": "250000"
    },
    {
      "name": "w7_receipts",
      "value": "1400000"
    },
    {
      "name": "w7_down_receipts",
      "value": "900000"
    },
    {
      "name": "w7_suppliers",
      "value": "800000"
    },
    {
      "name": "w7_down_suppliers",
      "value": "950000"
    },
    {
      "name": "w7_fixed",
      "value": "350000"
    },
    {
      "name": "w7_other_due",
      "value": "250000"
    },
    {
      "name": "w8_receipts",
      "value": "1900000"
    },
    {
      "name": "w8_down_receipts",
      "value": "1200000"
    },
    {
      "name": "w8_suppliers",
      "value": "1100000"
    },
    {
      "name": "w8_down_suppliers",
      "value": "1200000"
    },
    {
      "name": "w8_fixed",
      "value": "350000"
    },
    {
      "name": "w8_other_due",
      "value": "250000"
    },
    {
      "name": "w9_receipts",
      "value": "1200000"
    },
    {
      "name": "w9_down_receipts",
      "value": "800000"
    },
    {
      "name": "w9_suppliers",
      "value": "800000"
    },
    {
      "name": "w9_down_suppliers",
      "value": "900000"
    },
    {
      "name": "w9_fixed",
      "value": "350000"
    },
    {
      "name": "w9_other_due",
      "value": "250000"
    },
    {
      "name": "w10_receipts",
      "value": "2300000"
    },
    {
      "name": "w10_down_receipts",
      "value": "1500000"
    },
    {
      "name": "w10_suppliers",
      "value": "1200000"
    },
    {
      "name": "w10_down_suppliers",
      "value": "1350000"
    },
    {
      "name": "w10_fixed",
      "value": "350000"
    },
    {
      "name": "w10_other_due",
      "value": "250000"
    },
    {
      "name": "w11_receipts",
      "value": "1000000"
    },
    {
      "name": "w11_down_receipts",
      "value": "650000"
    },
    {
      "name": "w11_suppliers",
      "value": "750000"
    },
    {
      "name": "w11_down_suppliers",
      "value": "800000"
    },
    {
      "name": "w11_fixed",
      "value": "350000"
    },
    {
      "name": "w11_other_due",
      "value": "250000"
    },
    {
      "name": "w12_receipts",
      "value": "1600000"
    },
    {
      "name": "w12_down_receipts",
      "value": "1050000"
    },
    {
      "name": "w12_suppliers",
      "value": "950000"
    },
    {
      "name": "w12_down_suppliers",
      "value": "1100000"
    },
    {
      "name": "w12_fixed",
      "value": "350000"
    },
    {
      "name": "w12_other_due",
      "value": "250000"
    },
    {
      "name": "w13_receipts",
      "value": "2000000"
    },
    {
      "name": "w13_down_receipts",
      "value": "1300000"
    },
    {
      "name": "w13_suppliers",
      "value": "1100000"
    },
    {
      "name": "w13_down_suppliers",
      "value": "1250000"
    },
    {
      "name": "w13_fixed",
      "value": "350000"
    },
    {
      "name": "w13_other_due",
      "value": "250000"
    },
    {
      "name": "w1_other_operating",
      "value": "0"
    },
    {
      "name": "w1_owner_funding",
      "value": "0"
    },
    {
      "name": "w1_financing",
      "value": "0"
    },
    {
      "name": "w1_tax",
      "value": "0"
    },
    {
      "name": "w1_maintenance",
      "value": "0"
    },
    {
      "name": "w1_growth",
      "value": "0"
    },
    {
      "name": "w1_interest",
      "value": "0"
    },
    {
      "name": "w1_principal",
      "value": "0"
    },
    {
      "name": "w1_draws",
      "value": "0"
    },
    {
      "name": "w2_other_operating",
      "value": "0"
    },
    {
      "name": "w2_owner_funding",
      "value": "0"
    },
    {
      "name": "w2_financing",
      "value": "0"
    },
    {
      "name": "w2_tax",
      "value": "0"
    },
    {
      "name": "w2_maintenance",
      "value": "0"
    },
    {
      "name": "w2_growth",
      "value": "0"
    },
    {
      "name": "w2_interest",
      "value": "0"
    },
    {
      "name": "w2_principal",
      "value": "0"
    },
    {
      "name": "w2_draws",
      "value": "0"
    },
    {
      "name": "w3_other_operating",
      "value": "0"
    },
    {
      "name": "w3_owner_funding",
      "value": "0"
    },
    {
      "name": "w3_financing",
      "value": "0"
    },
    {
      "name": "w3_tax",
      "value": "0"
    },
    {
      "name": "w3_maintenance",
      "value": "0"
    },
    {
      "name": "w3_growth",
      "value": "0"
    },
    {
      "name": "w3_interest",
      "value": "0"
    },
    {
      "name": "w3_principal",
      "value": "0"
    },
    {
      "name": "w3_draws",
      "value": "0"
    },
    {
      "name": "w4_other_operating",
      "value": "0"
    },
    {
      "name": "w4_owner_funding",
      "value": "0"
    },
    {
      "name": "w4_financing",
      "value": "0"
    },
    {
      "name": "w4_tax",
      "value": "0"
    },
    {
      "name": "w4_maintenance",
      "value": "0"
    },
    {
      "name": "w4_growth",
      "value": "0"
    },
    {
      "name": "w4_interest",
      "value": "0"
    },
    {
      "name": "w4_principal",
      "value": "0"
    },
    {
      "name": "w4_draws",
      "value": "0"
    },
    {
      "name": "w5_other_operating",
      "value": "0"
    },
    {
      "name": "w5_owner_funding",
      "value": "0"
    },
    {
      "name": "w5_financing",
      "value": "0"
    },
    {
      "name": "w5_tax",
      "value": "0"
    },
    {
      "name": "w5_maintenance",
      "value": "0"
    },
    {
      "name": "w5_growth",
      "value": "0"
    },
    {
      "name": "w5_interest",
      "value": "0"
    },
    {
      "name": "w5_principal",
      "value": "0"
    },
    {
      "name": "w5_draws",
      "value": "0"
    },
    {
      "name": "w6_other_operating",
      "value": "0"
    },
    {
      "name": "w6_owner_funding",
      "value": "0"
    },
    {
      "name": "w6_financing",
      "value": "0"
    },
    {
      "name": "w6_tax",
      "value": "0"
    },
    {
      "name": "w6_maintenance",
      "value": "0"
    },
    {
      "name": "w6_growth",
      "value": "0"
    },
    {
      "name": "w6_interest",
      "value": "0"
    },
    {
      "name": "w6_principal",
      "value": "0"
    },
    {
      "name": "w6_draws",
      "value": "0"
    },
    {
      "name": "w7_other_operating",
      "value": "0"
    },
    {
      "name": "w7_owner_funding",
      "value": "0"
    },
    {
      "name": "w7_financing",
      "value": "0"
    },
    {
      "name": "w7_tax",
      "value": "0"
    },
    {
      "name": "w7_maintenance",
      "value": "0"
    },
    {
      "name": "w7_growth",
      "value": "0"
    },
    {
      "name": "w7_interest",
      "value": "0"
    },
    {
      "name": "w7_principal",
      "value": "0"
    },
    {
      "name": "w7_draws",
      "value": "0"
    },
    {
      "name": "w8_other_operating",
      "value": "0"
    },
    {
      "name": "w8_owner_funding",
      "value": "0"
    },
    {
      "name": "w8_financing",
      "value": "0"
    },
    {
      "name": "w8_tax",
      "value": "0"
    },
    {
      "name": "w8_maintenance",
      "value": "0"
    },
    {
      "name": "w8_growth",
      "value": "0"
    },
    {
      "name": "w8_interest",
      "value": "0"
    },
    {
      "name": "w8_principal",
      "value": "0"
    },
    {
      "name": "w8_draws",
      "value": "0"
    },
    {
      "name": "w9_other_operating",
      "value": "0"
    },
    {
      "name": "w9_owner_funding",
      "value": "0"
    },
    {
      "name": "w9_financing",
      "value": "0"
    },
    {
      "name": "w9_tax",
      "value": "0"
    },
    {
      "name": "w9_maintenance",
      "value": "0"
    },
    {
      "name": "w9_growth",
      "value": "0"
    },
    {
      "name": "w9_interest",
      "value": "0"
    },
    {
      "name": "w9_principal",
      "value": "0"
    },
    {
      "name": "w9_draws",
      "value": "0"
    },
    {
      "name": "w10_other_operating",
      "value": "0"
    },
    {
      "name": "w10_owner_funding",
      "value": "0"
    },
    {
      "name": "w10_financing",
      "value": "0"
    },
    {
      "name": "w10_tax",
      "value": "0"
    },
    {
      "name": "w10_maintenance",
      "value": "0"
    },
    {
      "name": "w10_growth",
      "value": "0"
    },
    {
      "name": "w10_interest",
      "value": "0"
    },
    {
      "name": "w10_principal",
      "value": "0"
    },
    {
      "name": "w10_draws",
      "value": "0"
    },
    {
      "name": "w11_other_operating",
      "value": "0"
    },
    {
      "name": "w11_owner_funding",
      "value": "0"
    },
    {
      "name": "w11_financing",
      "value": "0"
    },
    {
      "name": "w11_tax",
      "value": "0"
    },
    {
      "name": "w11_maintenance",
      "value": "0"
    },
    {
      "name": "w11_growth",
      "value": "0"
    },
    {
      "name": "w11_interest",
      "value": "0"
    },
    {
      "name": "w11_principal",
      "value": "0"
    },
    {
      "name": "w11_draws",
      "value": "0"
    },
    {
      "name": "w12_other_operating",
      "value": "0"
    },
    {
      "name": "w12_owner_funding",
      "value": "0"
    },
    {
      "name": "w12_financing",
      "value": "0"
    },
    {
      "name": "w12_tax",
      "value": "0"
    },
    {
      "name": "w12_maintenance",
      "value": "0"
    },
    {
      "name": "w12_growth",
      "value": "0"
    },
    {
      "name": "w12_interest",
      "value": "0"
    },
    {
      "name": "w12_principal",
      "value": "0"
    },
    {
      "name": "w12_draws",
      "value": "0"
    },
    {
      "name": "w13_other_operating",
      "value": "0"
    },
    {
      "name": "w13_owner_funding",
      "value": "0"
    },
    {
      "name": "w13_financing",
      "value": "0"
    },
    {
      "name": "w13_tax",
      "value": "0"
    },
    {
      "name": "w13_maintenance",
      "value": "0"
    },
    {
      "name": "w13_growth",
      "value": "0"
    },
    {
      "name": "w13_interest",
      "value": "0"
    },
    {
      "name": "w13_principal",
      "value": "0"
    },
    {
      "name": "w13_draws",
      "value": "0"
    }
  ],
  "mathErrors": 0,
  "title": "Thirteen-week operating cash planner | Sokointel",
  "viewport": {
    "height": 720,
    "width": 1280
  },
  "files": [
    "cash-13-weeks-full.png",
    "cash-13-weeks-results.png"
  ],
  "slug": "cash-13-weeks",
  "screenshots": [
    "cash-13-weeks-full.png",
    "cash-13-weeks-results.png"
  ],
  "environment": "local preview; not proof of live deployment",
  "base": "Evidence/Web/20260925-formula-rendering"
}
DEMONSTRATION SCOPE
Follow the lowest cash week and final balance. Distinguish customer receipts from financing and disclose receipts delayed beyond week thirteen.
This is a fictional schedule. Weekly totals do not prove every payment clears within the week.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Answer: Draws, reserves, growth and debt compete for dated cash. A sound decision makes the use, timing, repayment source and downside response explicit.
Viewer task: Complete a financing decision record: cash use, source of repayment, downside action, decision owner and review date.
Return to each opening research question and identify what remains conditional or unknown.
ARTICLE SECTION: Review whether the decision worked
For every material distribution, loan or growth decision, record the forecast at approval and compare it with actual results after 30, 90 and 180 days. Track cash generated, margin, collection time, service failures, covenant headroom and the assumptions that were wrong. If the owner repeatedly draws more than normalized free cash, decide whether that reflects a temporary investment phase, a weak cash conversion cycle, an underpriced product, or a business that cannot support the owner's required income. The answer changes whether the next step is improved collections, repricing, cost redesign, a smaller distribution or a planned exit.
ARTICLE SECTION: A decision rule that can be explained
Before an owner distribution, ask:
1. Is the business’s historical cash bridge reconciled to statements and invoices?
2. Have we paid or set aside cash for obligations due before the next dependable receipts?
3. Have we funded the replacement and working capital needs of the existing operation?
4. Have we considered signed contracts and the exact loan covenants?
5. Does a plausible delay leave the business above its agreed cash floor?
If the last answer is no, the right decision may be to distribute less even when reported profit is positive. That does not mean the owner’s equity has no value. It means the value and distribution decision have different dates and liquidity tests.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OE-MSME-04: Owner pay, reserves, growth and debt
ARTICLE: https://sokointel.com/read/oe-msme-04/
RESEARCH SNAPSHOT: 10 September 2026
SOURCE MATERIAL
[1] A. N. Berger and G. F. Udell, “The Economics of Small Business Finance: The Roles of Private Equity and Debt Markets in the Financial Growth Cycle,” Journal of Banking &amp; Finance, vol. 22, nos. 6–8, pp. 613–673, 1998, https://doi.org/10.1016/S0378-4266(98)00038-7.
[2] J. E. Stiglitz and A. Weiss, “Credit Rationing in Markets with Imperfect Information,” American Economic Review, vol. 71, no. 3, pp. 393–410, 1981, https://doi.org/10.2307/1802787.
[3] G. A. Afrifa, “Net Working Capital, Cash Flow and Performance of UK SMEs,” Review of Accounting and Finance, vol. 15, no. 1, pp. 21–44, 2016, https://doi.org/10.1108/RAF-02-2015-0031.
All linked source URLs:
A. N. Berger and G. F. Udell, “The Economics of Small Business Finance: The Roles of Private Equity and Debt Markets in the Financial Growth Cycle,” J: https://doi.org/10.1016/S0378-4266(98)00038-7
J. E. Stiglitz and A. Weiss, “Credit Rationing in Markets with Imperfect Information,” American Economic Review, vol. 71, no. 3, pp. 393–410, 1981: https://doi.org/10.2307/1802787
G. A. Afrifa, “Net Working Capital, Cash Flow and Performance of UK SMEs,” Review of Accounting and Finance, vol. 15, no. 1, pp. 21–44, 2016: https://doi.org/10.1108/RAF-02-2015-0031
Additional content sources:
[]
Workbook provenance:
C:\Users\Nevo\Downloads\financial material\Owner's Earning\Project 1 - MSMEs and Small Businesses\Project 1 - MSME Owner Earnings and Operations.xlsx
'Debt and Growth'!C5:J9
43f243daa5fa87c914c73ec53b55652f96b8cbd8482d45327141c2383e47494e
C:\Users\Nevo\Downloads\financial material\Owner's Earning\Project 1 - MSMEs and Small Businesses\Project 1 - MSME Owner Earnings and Operations.xlsx
'Debt and Growth'!C11:F14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msme-04/" TargetMode="External"/><Relationship Id="rId2" Type="http://schemas.openxmlformats.org/officeDocument/2006/relationships/hyperlink" Target="https://doi.org/10.1016/S0378-4266(98)00038-7" TargetMode="External"/><Relationship Id="rId3" Type="http://schemas.openxmlformats.org/officeDocument/2006/relationships/hyperlink" Target="https://doi.org/10.2307/1802787" TargetMode="External"/><Relationship Id="rId4" Type="http://schemas.openxmlformats.org/officeDocument/2006/relationships/hyperlink" Target="https://doi.org/10.1108/RAF-02-2015-0031" TargetMode="Externa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Owner pay, reserves, growth and debt</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owner considers a draw, a reserve, new capacity and a loan while protecting payroll and supplier payments.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OE-MSME-04   •   Fictional financing options • terms are not lender offers or APRs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Why can a profitable business have little cash that its owner can safely withdraw?</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How much reinvestment and operating working capital does the business need?</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Which daily cash, customer, stock and supplier measures should trigger action?</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How do owner pay, borrowing, growth and succession affect transferable earning power?</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Tenor — time until the facility must be repaid</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Principal — borrowed balance before interest and fees</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Reserve — cash assigned to a named risk</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Growth investment — cash to add capacity or capability</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Repayment source — dated operating receipt or other documented source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Assign each use a funding horizon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multi-year asset and a short receivable gap need different facilities.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Supplier credit needs written terms and a payment date.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reserve should name the risk and conditions for release or replenishment.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Read the three illustrative offers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Term facility: KES 5m, 16% annual rate and 2% fee.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Revolver: KES 3m, 19% annual rate and 1.5% fee.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Supplier credit: KES 1.5m at 8% for a quarter.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Growth must produce a collection path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Trace verified demand into contribution and operating cash.</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Include extra stock, receivables and delayed collections.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Set a stop condition before committing the next tranche.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Separate earning power from available cash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Available cash = opening cash + collected receipts − dated uses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A loan adds cash at draw and creates later interest, fees and principal obligations.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Match the facility to the trough and show the repayment source before its contractual due date.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Debt and Growth: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4-01-p1.png">    </p:cNvPr>
          <p:cNvPicPr>
            <a:picLocks noChangeAspect="1"/>
          </p:cNvPicPr>
          <p:nvPr/>
        </p:nvPicPr>
        <p:blipFill>
          <a:blip r:embed="rId1"/>
          <a:stretch>
            <a:fillRect/>
          </a:stretch>
        </p:blipFill>
        <p:spPr>
          <a:xfrm>
            <a:off x="612648" y="3101052"/>
            <a:ext cx="10972800" cy="1186249"/>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Debt and Growth!C5:J9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Debt and Growth: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4-02-p1.png">    </p:cNvPr>
          <p:cNvPicPr>
            <a:picLocks noChangeAspect="1"/>
          </p:cNvPicPr>
          <p:nvPr/>
        </p:nvPicPr>
        <p:blipFill>
          <a:blip r:embed="rId1"/>
          <a:stretch>
            <a:fillRect/>
          </a:stretch>
        </p:blipFill>
        <p:spPr>
          <a:xfrm>
            <a:off x="612648" y="1916582"/>
            <a:ext cx="10972800" cy="3555187"/>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Debt and Growth!C11:F14</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options • terms are not lender offers or APRs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collection delay can break the repayment case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Plan repayment against the documented collection date.</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Move that receipt beyond the debt due date; hold the contract unchanged.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cash gap grows even if annual profit is unchanged. Revise the operating plan or obtain an explicit financing amendment.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cash-13-weeks-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Follow the lowest cash week and final balance. Distinguish customer receipts from financing and disclose receipts delayed beyond week thirteen.</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is a fictional schedule. Weekly totals do not prove every payment clears within the week.</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/calculators/cash-13-weeks/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Draws, reserves, growth and debt compete for dated cash. A sound decision makes the use, timing, repayment source and downside response explicit.</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Complete a financing decision record: cash use, source of repayment, downside action, decision owner and review date.</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sokointel.com/read/oe-msme-04/</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A. N. Berger and G. F. Udell, “The Economics of Small Business Finance: The Roles of Private Equity and Debt Markets in the F • 1998</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J. E. Stiglitz and A. Weiss, “Credit Rationing in Markets with Imperfect Information,” American Economic Review, vol. 71, no. • 1981</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G. A. Afrifa, “Net Working Capital, Cash Flow and Performance of UK SMEs,” Review of Accounting and Finance, vol. 15, no. 1,  • 2016</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Owner pay, reserves, growth and debt</dc:title>
  <dc:subject>Why can a profitable business have little cash that its owner can safely withdraw? | How much reinvestment and operating working capital does the business need? | Which daily cash, customer, stock and supplier measures should trigger action? | How do owner pay, borrowing, growth and succession affect transferable earning power?</dc:subject>
  <dc:creator>Sokointel</dc:creator>
  <cp:lastModifiedBy>Sokointel</cp:lastModifiedBy>
  <cp:revision>1</cp:revision>
  <dcterms:created xsi:type="dcterms:W3CDTF">2026-09-25T13:55:35Z</dcterms:created>
  <dcterms:modified xsi:type="dcterms:W3CDTF">2026-09-25T13:55:35Z</dcterms:modified>
</cp:coreProperties>
</file>