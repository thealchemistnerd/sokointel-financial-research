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OPENING NARRATION
A Nairobi packaging business considering a larger order from Uganda.
Dated source record • fictional calculations are labelled as illustrations
Introduce the decision before defining the technical terms.
ARTICLE SECTION: Opening
Part 2: Following an order through the loan decision, the cash cycle, and repayment. Research cutoff: 7 September 2026.
The order is there. The customer wants more stock, the supplier has materials available, and the business owner knows how to deliver. The remaining task is to find the money to get production moving. This is where we left the hypothetical packaging business in Part 1. Better infrastructure and regional banking connections make expansion easier to imagine. Now the owner has to decide whether the financing available makes it worthwhile. One lender offers a lower annual rate but needs time to process the application. Another can disburse immediately, with a fee and a repayment date only a few weeks away. The customer expects to pay after delivery. The owner's job is to fit these dates and amounts together without leaving the business short of cash. That is a useful starting point for exploring business credit in Kenya. It brings a large policy discussion into an ordinary commercial decision. What looks like a question about access is also a question about timing, margin, information, and the ability to recover when something goes wrong. Let's follow the decision from the first financing need to the final repayment. Along the way, we can see where banks, fintech companies, and policymakers have room to make finance more useful.
ARTICLE SECTION: Know who is on the other side of the agreement
Digital distribution makes borrowing feel immediate. The legal relationship still matters, especially when the customer needs help or disputes a charge. Kenya's 2022 Digital Credit Providers Regulations address repayment-capacity assessment, disclosures, customer information, collections, and pricing changes. The framework also identifies exclusions, including institutions regulated under the Banking Act and certain other laws. The product's legal lender determines which framework applies, even when the customer reaches it through a familiar application. [11] CBK's 2026 impact assessment describes the development of a broader framework for non-deposit-taking credit providers following the 2024 statutory amendments. The document concerns proposed regulations; their commencement needs to be established from the final legal instruments. [12] For a business owner, the immediate practical task is to read the agreement's opening details. Identify the lender, the repayment recipient, and the complaints contact. Keep a copy of the accepted offer, the disbursement record, the schedule, and any subsequent changes.
That record becomes especially useful when something unexpected happens. A payment may be allocated incorrectly. An application may display a balance the customer does not recognize. A notice may arrive after a repayment has already been made. Clear records make it easier to establish the facts and request a correction. The World Bank's digital-credit guidance follows these experiences through the customer journey, including unclear costs, debt stress, unfair treatment, privacy, and fraud. It encourages attention to what happens after access has been granted, when the customer must use and repay the product. [13] Providers can turn this into better service. Show the amount the customer receives and the amount due. Make the due date easy to find. Give customers a working route to a human review when the automated process cannot resolve the issue. Explain changes before they affect the relationship. These details influence whether a business owner returns willingly. Trust develops through a series of ordinary interactions: the money arrives as agreed, the repayment is recorded accurately, and a problem receives a useful response. That is part of building a financial business capable of keeping customers over time.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Read the questions naturally and define terms in context.
Principal — amount advanced before fees; KES
Tenor — days from draw to repayment
Actual/365 — annual rate applied to actual elapsed days
Annual cash-flow yield — rate based on net advance and dated repayments
Research question mapping: AMBC-Q3,AMBC-Q4,AMBC-Q5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Explain the mechanism with the cited article section, then relate it to the opening decision.
Narration: explain each step and its consequence for the opening decision.
ARTICLE SECTION: The sustainable-credit operating checklist
Sustainable credit is not a single document at application. It is a loop from order selection to facility use, repayment, and review. The checklist brings the requirements spread through this article into one working sequence. It is useful for an SME owner preparing a request and for a lender explaining what each record contributes to the decision.
| Stage | Owner's evidence and action | What a sound facility should show |
| --- | --- | --- |
| Before applying | Describe the business, order, buyer, supplier, costs, cash dates, existing obligations, owners, and business accounts. Reconcile receipts, receivables, and stock. | The purpose, amount, date required, and repayment source are specific rather than generic. |
| Choose the commercial terms | Seek deposits, supplier credit, staged delivery, or a smaller first order where these reduce the cash gap. | Finance supports a viable order instead of compensating for an avoidable commercial weakness. |
| Compare offers | Put usable cash, interest, fees, collateral, guarantees, currency, instalment dates, renewal, and early or late conditions in one dated schedule. | The borrower can compare the same usable amount over the same period and identify the true repayment obligation. |
| Before drawing | Confirm the lender, repayment recipient, complaints route, accepted agreement, disbursement amount, and use of funds. | The legal counterparty and the borrower's records match the offer that was accepted. |
| During use | Keep invoices, delivery evidence, receipts, account reconciliations, inventory and receivables updates separate from personal or related-party transfers where possible. | The lender can observe whether cash is following the expected operating cycle. |
| Test a difficult month | Move the largest collection later, reduce sales, raise an imported-input cost, and identify the cash buffer or management response. | The business knows the cash point at which it needs action before a missed payment. |
| After repayment and at review | Compare actual collections, costs, fees, and repayment timing with the original plan. Correct errors in records and update the next request. | Repeated borrowing becomes better informed, and the provider can learn whether the product is helping or causing stress. |
The workbook contains the same checklist, a cash-cycle calculation, a facility scenario table, and an entity-review ledger. Its formulas illustrate the relationships in this article. They do not determine creditworthiness, replace contractual disclosures, or prove fraud.
ARTICLE SECTION: The evidence file behind a sensible credit request
A lender does not need an owner to predict the future perfectly. It needs enough consistent evidence to understand what is being financed and what happens if the plan changes. The owner gains from the same discipline because it exposes an order that is too thinly priced, too slow to collect, or too demanding of the business's ordinary cash.
| Record or decision | What the business should keep | What it lets the lender assess |
| --- | --- | --- |
| Customer and order | Accepted order, invoice or contract, delivery requirement, payment term | Whether the proposed receipt is identifiable and when it is expected. |
| Price and cost build | Selling price, supplier quotes, production, transport, and other incremental costs | Whether there is enough contribution after finance and a reasonable adverse case. |
| Cash calendar | Dates for deposit, supplier payment, wages, rent, delivery, collection, and loan instalments | The cash gap, the facility amount, and the repayment date that fit the activity. |
| Receipt and account record | Reconciled bank or mobile-money receipts, aged receivables, stock records | Whether reported activity converts into cash and which customers regularly pay late. |
| Existing obligations | Current loans, guarantees, collateral, supplier credit, and recurring operating commitments | Whether a new repayment competes with costs that cannot be postponed. |
| Business control and relationships | Registration details, authorized signatories, business accounts, and material related-party disclosures | Who can bind the business and whether apparent counterparties need to be assessed together. |
| Specific request | Usable amount, date required, purpose, repayment source, and requested term | Whether a revolving, receivables, asset, or one-off facility fits the stated need. |
The companion workbook turns this table into an editable checklist and a dated scenario. It should be used as a preparation tool, not as a substitute for a lender's own underwriting or the business's records.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Explain the mechanism with the cited article section, then relate it to the opening decision.
Narration: explain each step and its consequence for the opening decision.
ARTICLE SECTION: An account opens the door to several different needs
Kenya's 2024 FinAccess Household Survey reported formal financial access of 84.8%, up from 83.7% in 2021. That is a substantial foundation on which to build financial services. The next challenge is matching those services to what people and businesses need to do. [1] Our packaging supplier already has accounts and payment channels. Its financing requirement begins when it agrees to pay for materials and ends when the customer settles the invoice. The business needs enough cash to bridge that period at a cost the order can support. A machine purchase would create a different requirement. The equipment might take time to install, then contribute to production for several years. Financing it with a loan due in a month would leave the owner arranging repayment long before the machine had earned its keep.
An emergency is different again. If a breakdown interrupts production, a short loan might help restore operations quickly. Its value would include avoiding a lost order or a prolonged stoppage. The owner still needs a credible source of repayment once the immediate problem is resolved. CBK's 2024 MSME bank-credit survey examines the details that help distinguish these needs: loan amounts, pricing, terms, products, sectors, and portfolio performance as of December 31, 2024. It complements the household access picture by looking at the financing supplied to enterprises. [2] For a business owner, the practical lesson is to describe the job before choosing the product. Write down what the money will pay for, when it is needed, and which receipt will repay it. This quickly exposes an offer that provides a useful amount on an unworkable schedule. For a lender, those same details create an opportunity. A product designed around an identifiable business cycle can be more useful than a generic loan with an attractive headline. The relationship becomes valuable when the owner can return for a suitable facility as the business develops.
ARTICLE SECTION: Put two offers on the same piece of paper
Loan comparisons become much clearer when we write down the money received and every payment required. CBK and the Kenya Bankers Association launched the Total Cost of Credit website in 2017 to support this kind of transparency. In July 2025, CBK invited feedback on updating the platform. A comparison tool can help begin the search; the current offer and repayment schedule provide the figures for the decision. [6] Let's work through two invented offers for a 30-day need. These examples illustrate the calculation rather than quote any lender's product. Offer A disburses KES 100,000 today and requires KES 107,000 after 30 days. The business pays KES 7,000 for the period, or 7% of the cash received. That is the immediate cost to compare with the contribution expected from the financed order. To understand repeated use, simple annualization gives 7% multiplied by 365 divided by 30, approximately 85.2%. Compounding the same periodic cost through successive 30-day periods gives a mathematical effective annual rate of about 127.8%. The second figure describes the stated repeat-borrowing assumption; one 30-day loan still requires the agreed KES 107,000 repayment.
Offer B quotes 18% simple annual interest for the same period and deducts a KES 2,000 fee from the KES 100,000 principal at disbursement. Thirty days of interest is approximately KES 1,479. The owner receives KES 98,000 and repays approximately KES 101,479. The period financing cost is about 3.55% of the cash actually received, before any additional charges. The owner immediately spots another issue: Offer B leaves the business KES 2,000 short if the materials supplier requires KES 100,000. The shortfall needs funding too. Borrowing a larger principal could change both interest and fees, so the final comparison should provide the same usable amount on the same date. These annualized calculations are explanatory, while a lender's official APR disclosure follows its applicable methodology. For the business decision, keep the dated cash flows visible. They show both the price and the amount the owner must find when repayment falls due. Speed belongs on the paper as well. An affordable offer arriving after the supplier's deadline cannot fund this order. A faster offer needs enough room in the transaction's margin to justify its cost. Seeing the alternatives together makes that trade-off much easier to discuss.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Explain the mechanism with the cited article section, then relate it to the opening decision.
Narration: explain each step and its consequence for the opening decision.
ARTICLE SECTION: Why the mobile-money evidence is encouraging
Kenya's experience with mobile money helps explain why better financial services can matter so much in ordinary life. Money arriving quickly can prevent a shortfall from becoming a larger disruption. Jack and Suri's 2014 study in the American Economic Review found that mobile-money access helped households share risk through transfers and cushioned consumption when shocks occurred. A wider network of senders and lower transaction costs helped money reach households when they needed it. [7] Their later Science article estimated that access to M-PESA lifted approximately 194,000 Kenyan households, or 2% of households, out of poverty in the study setting. The effects were stronger for female-headed households. These historical findings show how a change in financial infrastructure can influence resilience and economic choices over time. [8] The mechanism is worth keeping in view. A transfer from a relative adds cash without necessarily creating a debt. Savings provide money accumulated earlier. Credit brings future repayment into the decision. Each can help at a difficult moment, but the obligations differ.
Research on M-Shwari looks directly at the credit channel. Suri, Bharadwaj, and Jack's 2021 Journal of Development Economics study used the product's credit-score threshold to investigate access and found improvements in household resilience to shocks. It gives us evidence that timely digital borrowing can serve a useful liquidity function. [9] For an entrepreneur, the next step is to connect the product to a particular problem. An emergency facility might keep the household stable while a customer payment is delayed. A savings buffer might cover a small repair. A working-capital loan might make an additional order possible. The value of each service depends on what it helps the user accomplish. This is a productive way to discuss fintech: follow the mechanism, then measure the result. Household resilience, business profit, and investment in equipment are different outcomes. A product can succeed at one without being designed to deliver the others. For providers, that opens a more useful design conversation. Understand the financial interruption customers face, decide which service fits it, and test whether customers are better able to manage their lives or businesses afterward. The research gives us reasons to explore these opportunities carefully and with ambition.
ARTICLE SECTION: The evidence file behind a sensible credit request
A lender does not need an owner to predict the future perfectly. It needs enough consistent evidence to understand what is being financed and what happens if the plan changes. The owner gains from the same discipline because it exposes an order that is too thinly priced, too slow to collect, or too demanding of the business's ordinary cash.
| Record or decision | What the business should keep | What it lets the lender assess |
| --- | --- | --- |
| Customer and order | Accepted order, invoice or contract, delivery requirement, payment term | Whether the proposed receipt is identifiable and when it is expected. |
| Price and cost build | Selling price, supplier quotes, production, transport, and other incremental costs | Whether there is enough contribution after finance and a reasonable adverse case. |
| Cash calendar | Dates for deposit, supplier payment, wages, rent, delivery, collection, and loan instalments | The cash gap, the facility amount, and the repayment date that fit the activity. |
| Receipt and account record | Reconciled bank or mobile-money receipts, aged receivables, stock records | Whether reported activity converts into cash and which customers regularly pay late. |
| Existing obligations | Current loans, guarantees, collateral, supplier credit, and recurring operating commitments | Whether a new repayment competes with costs that cannot be postponed. |
| Business control and relationships | Registration details, authorized signatories, business accounts, and material related-party disclosures | Who can bind the business and whether apparent counterparties need to be assessed together. |
| Specific request | Usable amount, date required, purpose, repayment source, and requested term | Whether a revolving, receivables, asset, or one-off facility fits the stated need. |
The companion workbook turns this table into an editable checklist and a dated scenario. It should be used as a preparation tool, not as a substitute for a lender's own underwriting or the business's records.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P2 Facility B7:E14. Fees are 2% of original principal. The web draw date translates workbook day 15 to day zero.
Equation: Finance cost = principal × annual rate × days/365 + fees
Substitution: KES 520,000 × 18% × 30/365 + KES 10,400 = KES 18,093.15
Interpretation: Order contribution after finance is KES 261,906.85 under the source assumptions.
ARTICLE SECTION: Build the facility around the problem
Having followed the cash cycle, we can explore a wider set of financing arrangements. The most promising option depends on what is holding the business back. If the packaging supplier has delivered goods and holds an accepted invoice, a receivables-based facility brings the customer's payment obligation into the assessment. The lender needs to understand whether the invoice is valid, when payment is due, whether it is disputed, and whether another financier already has a claim over it. If the firm needs a machine, asset finance or leasing may allow payments to extend over a period related to its productive use. Installation time, maintenance, expected utilization, and the owner's other obligations belong in the calculation. The equipment should improve operations enough to justify the commitment. For a farmer, the design begins with the production cycle. Planting, harvesting, delivery, and payment occur at different times. A buyer contract can improve visibility over sales, while weather, quality, and production risks require their own treatment. A useful repayment schedule recognizes when the activity is expected to generate cash.
Guarantees offer another way to address a lender's concern. The World Bank and FIRST Initiative's principles for public SME credit guarantees describe arrangements that absorb part of a lender's loss, with emphasis on governance, eligibility, partial coverage, sustainability, and evaluation. The purpose is to help finance reach viable activity that would otherwise face a constraint. [14] To assess a guarantee, follow what changes for the borrower. Perhaps a facility becomes available, its term lengthens, or the required security falls. Those changes provide evidence of additional value. They also show whether public support is reaching the problem it was intended to address. The same practical thinking applies before any loan is drawn. A customer paying promptly or agreeing to a deposit can reduce the need for finance. Better stock management can release cash. A smaller first order can establish the relationship without stretching the supplier too far. Exploring these options is part of financial management. It helps the owner choose a combination of commercial terms and finance that the business can sustain.
ARTICLE SECTION: Finding the starting point of the interest rate
Once the owner has defined the need, the conversation turns to price. Kenya's benchmark reform gives that conversation a more visible starting point. KESONIA, the Kenya Shilling Overnight Interbank Average, reflects unsecured overnight shilling borrowing between banks. CBK began publishing the benchmark and its compounded index on September 1, 2025. The transition framework applied to new variable-rate loans from that date and existing variable-rate loans from February 28, 2026. [3] CBK's April 2026 Monetary Policy Committee Report describes the lending rate as KESONIA plus a premium, K. The premium covers lending costs, the shareholder return, and the borrower's risk profile. Fees and charges add to the total cost. Foreign-currency and fixed-rate loans are outside the KESONIA benchmark's application, and CBR can serve as an alternative where KESONIA is impractical. [4] For the owner, this breaks the quote into parts that can be discussed. The reference rate provides the base. The premium reflects the lender's pricing of the business and the facility. The charges complete the picture of what obtaining and using the money will cost.
Suppose an illustrative offer uses a 9% annual reference rate and a 7% premium. The interest rate is 16% before other costs. If the base drops to 8% and the premium stays at 7%, the rate becomes 15% when the contract's repricing mechanism takes effect. The next step is to read that mechanism. Does the agreement reset monthly or at another interval? Which observation or average determines the reference rate? How can the premium change? Does a fee apply every time the facility is drawn? These are productive questions to bring to a lender. They allow the borrower to understand a change in the monthly payment and compare the offer with alternatives. A common benchmark helps make the discussion more transparent; the agreement explains how that benchmark reaches the customer's cash flow. A good explanation from the bank should leave the owner able to reproduce the basic calculation. That is a useful standard for financial transparency: the borrower can see what they are paying for and how the amount changes.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ACTUAL WORKBOOK CAPTURE
Workbook: C:\Users\Nevo\Downloads\financial material\African Markets and Business Credit\Workbook\African Markets and Business Credit - Credit Readiness and Cash Cycle Workbook.xlsx
Sheet/range: 'Entity Review'!A4:C10
SHA-256: 0daf2a874e6e7834bc8ad0342c87b1f82492ac68619bcbbb589ee742f1bf9b36
Capture method: Microsoft Excel read-only PDF range export. Print headings retained. Source not saved.
Asset: Evidence/Workbooks/AMBC-02-01-p1.png
SCREEN RECORDING WALKTHROUGH
Read the row and column headings. Identify inputs, follow the dependent row and explain the units. Do not alter the source workbook while recording; use a copy for a new scenario.
Extracted evidence text:
4
5
6
7
8
9
10
A B C
Summary metric Amount or ratio Formula or interpretation
All observed account credits 580,000 Sum of the fictional ledger.
Less clearly non-operating credits 140,000 Own-account transfers, refunds, and loan drawdowns.
Less amounts awaiting corroboration 60,000 Potential related-party amount held outside automatic sales.
Reviewed customer receipts 380,000 Only entries classified as Include.
Largest economic customer group 155,000 Largest included group after normalization.
Economic-group concentration 40.8% Largest group divided by reviewed customer receipts.
Relevant article context:
ARTICLE SECTION: Resolve the economic entity before measuring turnover
Before a lender measures turnover, both parties need to know who is in the cash story. A payment record is not yet an income statement. The same economic actor can appear through a director's account, a related company, several spellings of a customer name, or a transfer chain. Conversely, a shared surname or similar account label can be coincidental. The task is therefore to resolve relationships with evidence, then classify the transaction, rather than to assume that every incoming credit is a sale.
A practical review begins with an entity and relationship record: the borrowing business, its authorized persons, its declared accounts, major customers and suppliers, and material relationships between them. Exact legal or account identifiers are stronger evidence than a name resemblance. Address, phone, device, or payment-reference information may add context where it is lawfully obtained and necessary, but one weak match should not decide a credit outcome. The reviewer can mark links as confirmed, plausible and unresolved, invite an explanation, and retain the evidence used. International credit-risk guidance similarly treats control and economic interdependence as reasons to consider counterparties together, rather than treating every legal label as independent. [15]
The next step is a time-ordered transaction graph: who paid whom, through which account, on what date, and what evidence explains the purpose. A payment that leaves the borrower, passes through linked parties, and returns close to a review date deserves a question before it becomes operating cash flow. It may have an ordinary explanation. The point is to test it against invoices, delivery evidence, customer confirmations, and the stated cash cycle. FATF's beneficial-ownership guidance also emphasizes combining information from several sources instead of relying on one record. [16] The output is not a verdict on wrongdoing. It is a more reliable distinction between sales receipts, own-account movements, finance proceeds, refunds, related-party movements, and amounts still awaiting corroboration.
| Review stage | Practical evidence or test | What changes in the analysis |
| --- | --- | --- |
| Create the entity map | Business registration, authorized persons, declared accounts, material related parties, customer and supplier records | Separates the applicant from the people and entities connected to it. |
| Normalize counterparties | Compare legal name, trading name, account identifier, invoice reference, and payment narrative | Avoids counting the same customer as several unrelated names. |
| Identify connected groups | Test common control and material economic dependence, then record the evidence tier | Measures customer or supplier concentration at the economic-group level. |
| Trace the path and timing | Review the origin, destination, sequence, and proximity to the review date | Flags transfers, circular paths, and short-term cash introductions for explanation. |
| Classify the cash flow | Match amounts to invoices, delivery, refund, loan, transfer, or other supporting records | Calculates operating receipts only from flows supported as operating activity. |
| Correct and document | Record the explanation, evidence, reviewer decision, and correction route | Gives the borrower a fair way to resolve an incorrect or incomplete inference. |
The following illustration uses the companion workbook's sample ledger. It is deliberately fictional. A related-party flag does not
ARTICLE SECTION: The sustainable-credit operating checklist
Sustainable credit is not a single document at application. It is a loop from order selection to facility use, repayment, and review. The checklist brings the requirements spread through this article into one working sequence. It is useful for an SME owner preparing a request and for a lender explaining what each record contributes to the decision.
| Stage | Owner's evidence and action | What a sound facility should show |
| --- | --- | --- |
| Before applying | Describe the business, order, buyer, supplier, costs, cash dates, existing obligations, owners, and business accounts. Reconcile receipts, receivables, and stock. | The purpose, amount, date required, and repayment source are specific rather than generic. |
| Choose the commercial terms | Seek deposits, supplier credit, staged delivery, or a smaller first order where these reduce the cash gap. | Finance supports a viable order instead of compensating for an avoidable commercial weakness. |
| Compare offers | Put usable cash, interest, fees, collateral, guarantees, currency, instalment dates, renewal, and early or late conditions in one dated schedule. | The borrower can compare the same usable amount over the same period and identify the true repayment obligation. |
| Before drawing | Confirm the lender, repayment recipient, complaints route, accepted agreement, disbursement amount, and use of funds. | The legal counterparty and the borrower's records match the offer that was accepted. |
| During use | Keep invoices, delivery evidence, receipts, account reconciliations, inventory and receivables updates separate from personal or related-party transfers where possible. | The lender can observe whether cash is following the expected operating cycle. |
| Test a difficult month | Move the largest collection later, reduce sales, raise an imported-input cost, and identify the cash buffer or management response. | The business knows the cash point at which it needs action before a missed payment. |
| After repayment and at review | Compare actual collections, costs, fees, and repayment timing with the original plan. Correct errors in records and update the next request. | Repeated borrowing becomes better informed, and the provider can learn whether the product is helping or causing stress. |
The workbook contains the same checklist, a cash-cycle calculation, a facility scenario table, and an entity-review ledger. Its formulas illustrate the relationships in this article. They do not determine creditworthiness, replace contractual disclosures, or prove fraud.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ACTUAL WORKBOOK CAPTURE
Workbook: C:\Users\Nevo\Downloads\financial material\African Markets and Business Credit\Workbook\African Markets and Business Credit - Credit Readiness and Cash Cycle Workbook.xlsx
Sheet/range: 'P2 Facility'!A16:H21
SHA-256: 0daf2a874e6e7834bc8ad0342c87b1f82492ac68619bcbbb589ee742f1bf9b36
Capture method: Microsoft Excel read-only PDF range export. Print headings retained. Source not saved.
Asset: Evidence/Workbooks/AMBC-02-02-p1.png
SCREEN RECORDING WALKTHROUGH
Read the row and column headings. Identify inputs, follow the dependent row and explain the units. Do not alter the source workbook while recording; use a copy for a new scenario.
Extracted evidence text:
16
17
18
19
20
21
A B C D E F G H
Scenario Collection days Input-cost multiplier Deposit percentage Working-capital draw Cash gap days Finance cost Cash after collection
Base 45 100.0% 20.0% 520,000 30 18,093 261,907
Collection 14 days late 59 100.0% 20.0% 520,000 44 21,683 258,317
Input cost 10% higher 45 110.0% 20.0% 580,000 30 20,181 199,819
Late collection and higher input cost 59 110.0% 20.0% 580,000 44 24,185 195,815
Relevant article context:
ARTICLE SECTION: Build the facility around the problem
Having followed the cash cycle, we can explore a wider set of financing arrangements. The most promising option depends on what is holding the business back. If the packaging supplier has delivered goods and holds an accepted invoice, a receivables-based facility brings the customer's payment obligation into the assessment. The lender needs to understand whether the invoice is valid, when payment is due, whether it is disputed, and whether another financier already has a claim over it. If the firm needs a machine, asset finance or leasing may allow payments to extend over a period related to its productive use. Installation time, maintenance, expected utilization, and the owner's other obligations belong in the calculation. The equipment should improve operations enough to justify the commitment. For a farmer, the design begins with the production cycle. Planting, harvesting, delivery, and payment occur at different times. A buyer contract can improve visibility over sales, while weather, quality, and production risks require their own treatment. A useful repayment schedule recognizes when the activity is expected to generate cash.
Guarantees offer another way to address a lender's concern. The World Bank and FIRST Initiative's principles for public SME credit guarantees describe arrangements that absorb part of a lender's loss, with emphasis on governance, eligibility, partial coverage, sustainability, and evaluation. The purpose is to help finance reach viable activity that would otherwise face a constraint. [14] To assess a guarantee, follow what changes for the borrower. Perhaps a facility becomes available, its term lengthens, or the required security falls. Those changes provide evidence of additional value. They also show whether public support is reaching the problem it was intended to address. The same practical thinking applies before any loan is drawn. A customer paying promptly or agreeing to a deposit can reduce the need for finance. Better stock management can release cash. A smaller first order can establish the relationship without stretching the supplier too far. Exploring these options is part of financial management. It helps the owner choose a combination of commercial terms and finance that the business can sustain.
ARTICLE SECTION: An account opens the door to several different needs
Kenya's 2024 FinAccess Household Survey reported formal financial access of 84.8%, up from 83.7% in 2021. That is a substantial foundation on which to build financial services. The next challenge is matching those services to what people and businesses need to do. [1] Our packaging supplier already has accounts and payment channels. Its financing requirement begins when it agrees to pay for materials and ends when the customer settles the invoice. The business needs enough cash to bridge that period at a cost the order can support. A machine purchase would create a different requirement. The equipment might take time to install, then contribute to production for several years. Financing it with a loan due in a month would leave the owner arranging repayment long before the machine had earned its keep.
An emergency is different again. If a breakdown interrupts production, a short loan might help restore operations quickly. Its value would include avoiding a lost order or a prolonged stoppage. The owner still needs a credible source of repayment once the immediate problem is resolved. CBK's 2024 MSME bank-credit survey examines the details that help distinguish these needs: loan amounts, pricing, terms, products, sectors, and portfolio performance as of December 31, 2024. It complements the household access picture by looking at the financing supplied to enterprises. [2] For a business owner, the practical lesson is to describe the job before choosing the product. Write down what the money will pay for, when it is needed, and which receipt will repay it. This quickly exposes an offer that provides a useful amount on an unworkable schedule. For a lender, those same details create an opportunity. A product designed around an identifiable business cycle can be more useful than a generic loan with an attractive headline. The relationship becomes valuable when the owner can return for a suitable facility as the business develops.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The workbook late row extends finance to 44 days. The web delayed-receipt case holds the contract fixed. Explain the different assumptions; do not conflate the two.
Base: 30-day contract; customer pays on the expected collection date.
Changed: Delay collection by 14 days while retaining the original repayment date.
Consequence: Web repayment-date gap: KES 538,093.15. An explicitly revised 44-day loan instead costs KES 21,683.29.
ARTICLE SECTION: The evidence file behind a sensible credit request
A lender does not need an owner to predict the future perfectly. It needs enough consistent evidence to understand what is being financed and what happens if the plan changes. The owner gains from the same discipline because it exposes an order that is too thinly priced, too slow to collect, or too demanding of the business's ordinary cash.
| Record or decision | What the business should keep | What it lets the lender assess |
| --- | --- | --- |
| Customer and order | Accepted order, invoice or contract, delivery requirement, payment term | Whether the proposed receipt is identifiable and when it is expected. |
| Price and cost build | Selling price, supplier quotes, production, transport, and other incremental costs | Whether there is enough contribution after finance and a reasonable adverse case. |
| Cash calendar | Dates for deposit, supplier payment, wages, rent, delivery, collection, and loan instalments | The cash gap, the facility amount, and the repayment date that fit the activity. |
| Receipt and account record | Reconciled bank or mobile-money receipts, aged receivables, stock records | Whether reported activity converts into cash and which customers regularly pay late. |
| Existing obligations | Current loans, guarantees, collateral, supplier credit, and recurring operating commitments | Whether a new repayment competes with costs that cannot be postponed. |
| Business control and relationships | Registration details, authorized signatories, business accounts, and material related-party disclosures | Who can bind the business and whether apparent counterparties need to be assessed together. |
| Specific request | Usable amount, date required, purpose, repayment source, and requested term | Whether a revolving, receivables, asset, or one-off facility fits the stated need. |
The companion workbook turns this table into an editable checklist and a dated scenario. It should be used as a preparation tool, not as a substitute for a lender's own underwriting or the business's records.
ARTICLE SECTION: Resolve the economic entity before measuring turnover
Before a lender measures turnover, both parties need to know who is in the cash story. A payment record is not yet an income statement. The same economic actor can appear through a director's account, a related company, several spellings of a customer name, or a transfer chain. Conversely, a shared surname or similar account label can be coincidental. The task is therefore to resolve relationships with evidence, then classify the transaction, rather than to assume that every incoming credit is a sale.
A practical review begins with an entity and relationship record: the borrowing business, its authorized persons, its declared accounts, major customers and suppliers, and material relationships between them. Exact legal or account identifiers are stronger evidence than a name resemblance. Address, phone, device, or payment-reference information may add context where it is lawfully obtained and necessary, but one weak match should not decide a credit outcome. The reviewer can mark links as confirmed, plausible and unresolved, invite an explanation, and retain the evidence used. International credit-risk guidance similarly treats control and economic interdependence as reasons to consider counterparties together, rather than treating every legal label as independent. [15]
The next step is a time-ordered transaction graph: who paid whom, through which account, on what date, and what evidence explains the purpose. A payment that leaves the borrower, passes through linked parties, and returns close to a review date deserves a question before it becomes operating cash flow. It may have an ordinary explanation. The point is to test it against invoices, delivery evidence, customer confirmations, and the stated cash cycle. FATF's beneficial-ownership guidance also emphasizes combining information from several sources instead of relying on one record. [16] The output is not a verdict on wrongdoing. It is a more reliable distinction between sales receipts, own-account movements, finance proceeds, refunds, related-party movements, and amounts still awaiting corroboration.
| Review stage | Practical evidence or test | What changes in the analysis |
| --- | --- | --- |
| Create the entity map | Business registration, authorized persons, declared accounts, material related parties, customer and supplier records | Separates the applicant from the people and entities connected to it. |
| Normalize counterparties | Compare legal name, trading name, account identifier, invoice reference, and payment narrative | Avoids counting the same customer as several unrelated names. |
| Identify connected groups | Test common control and material economic dependence, then record the evidence tier | Measures customer or supplier concentration at the economic-group level. |
| Trace the path and timing | Review the origin, destination, sequence, and proximity to the review date | Flags transfers, circular paths, and short-term cash introductions for explanation. |
| Classify the cash flow | Match amounts to invoices, delivery, refund, loan, transfer, or other supporting records | Calculates operating receipts only from flows supported as operating activity. |
| Correct and document | Record the explanation, evidence, reviewer decision, and correction route | Gives the borrower a fair way to resolve an incorrect or incomplete inference. |
The following illustration uses the companion workbook's sample ledger. It is deliberately fictional. A related-party flag does not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REAL WEB CAPTURE
{
  "key": "credit-detailed",
  "captured_at": "2026-09-25T13:23:39.063Z",
  "url": "http://127.0.0.1:8765/calculators/business-credit/detailed/#business-results",
  "definitions": [
    {
      "display": "block",
      "text": "Iⱼ is interest for interval j (KES), Bⱼ its opening principal (KES), r annual nominal rate as a decimal, Δdⱼ actual whole days in that interval and Y the chosen 360/365 day basis. Fees are percentage-of-original-principal plus fixed KES fees."
    },
    {
      "display": "block",
      "text": "N is net day-zero advance and P actual original principal, both KES. Rⱼ is the KES repayment at day dⱼ after draw. y is the effective annual cash-flow yield, solved from the displayed dated repayments; a 365-day year is used for this yield."
    },
    {
      "display": "block",
      "text": "P is original principal and d the facility tenor in days. This simple principal-based comparison differs from the cash-flow yield and is not a regulatory APR."
    }
  ],
  "equations": 3,
  "inputs": [
    {
      "name": "draw_date",
      "value": "2026-09-25"
    },
    {
      "name": "invoice",
      "value": "1000000"
    },
    {
      "name": "deposit_rate",
      "value": "20"
    },
    {
      "name": "materials",
      "value": "600000"
    },
    {
      "name": "operating",
      "value": "120000"
    },
    {
      "name": "principal",
      "value": "520000"
    },
    {
      "name": "credit_days",
      "value": "30"
    },
    {
      "name": "day_basis",
      "value": "365"
    },
    {
      "name": "rate",
      "value": "18"
    },
    {
      "name": "fee_rate",
      "value": "2"
    },
    {
      "name": "fixed_fee",
      "value": "0"
    },
    {
      "name": "fees_when",
      "value": "maturity"
    },
    {
      "name": "interest_when",
      "value": "periodic"
    },
    {
      "name": "repayments",
      "value": "1"
    },
    {
      "name": "collection_day",
      "value": "30"
    },
    {
      "name": "collection_delay",
      "value": "14"
    },
    {
      "name": "uncertain_collection",
      "value": "0"
    },
    {
      "name": "opening",
      "value": "0"
    },
    {
      "name": "reserve",
      "value": "0"
    },
    {
      "name": "other_debt",
      "value": "0"
    },
    {
      "name": "inventory_days",
      "value": "30"
    },
    {
      "name": "receivable_days",
      "value": "45"
    },
    {
      "name": "payable_days",
      "value": "15"
    },
    {
      "name": "reviewed_receipts",
      "value": "380000"
    },
    {
      "name": "owner_funds",
      "value": "0"
    },
    {
      "name": "borrowing",
      "value": "40000"
    },
    {
      "name": "own_transfers",
      "value": "90000"
    },
    {
      "name": "refunds",
      "value": "10000"
    },
    {
      "name": "unresolved",
      "value": "60000"
    }
  ],
  "mathErrors": 0,
  "title": "Detailed business credit and repayment planner | Sokointel",
  "viewport": {
    "height": 720,
    "width": 1280
  },
  "files": [
    "credit-detailed-full.png",
    "credit-detailed-results.png",
    "credit-detailed-formulas.png"
  ],
  "slug": "business-credit",
  "screenshots": [
    "credit-detailed-full.png",
    "credit-detailed-results.png",
    "credit-detailed-formulas.png"
  ],
  "environment": "local preview; not proof of live deployment",
  "base": "Evidence/Web/20260925-formula-rendering"
}
DEMONSTRATION SCOPE
Follow net advance, interest, fees and dated repayment. Delay the customer collection while retaining the contractual due date.
An explicitly extended facility is a separate contract scenario; no automatic rollover is assumed.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Answer: Credit helps when total cost and repayment dates fit a verified operating cycle. Clear borrower records, collection evidence and disciplined follow-up matter alongside the lender’s ownership and funding.
Viewer task: Reconcile account credits into trading receipts, financing, transfers and unresolved items before using them as repayment evidence.
Return to each opening research question and identify what remains conditional or unknown.
ARTICLE SECTION: Why the mobile-money evidence is encouraging
Kenya's experience with mobile money helps explain why better financial services can matter so much in ordinary life. Money arriving quickly can prevent a shortfall from becoming a larger disruption. Jack and Suri's 2014 study in the American Economic Review found that mobile-money access helped households share risk through transfers and cushioned consumption when shocks occurred. A wider network of senders and lower transaction costs helped money reach households when they needed it. [7] Their later Science article estimated that access to M-PESA lifted approximately 194,000 Kenyan households, or 2% of households, out of poverty in the study setting. The effects were stronger for female-headed households. These historical findings show how a change in financial infrastructure can influence resilience and economic choices over time. [8] The mechanism is worth keeping in view. A transfer from a relative adds cash without necessarily creating a debt. Savings provide money accumulated earlier. Credit brings future repayment into the decision. Each can help at a difficult moment, but the obligations differ.
Research on M-Shwari looks directly at the credit channel. Suri, Bharadwaj, and Jack's 2021 Journal of Development Economics study used the product's credit-score threshold to investigate access and found improvements in household resilience to shocks. It gives us evidence that timely digital borrowing can serve a useful liquidity function. [9] For an entrepreneur, the next step is to connect the product to a particular problem. An emergency facility might keep the household stable while a customer payment is delayed. A savings buffer might cover a small repair. A working-capital loan might make an additional order possible. The value of each service depends on what it helps the user accomplish. This is a productive way to discuss fintech: follow the mechanism, then measure the result. Household resilience, business profit, and investment in equipment are different outcomes. A product can succeed at one without being designed to deliver the others. For providers, that opens a more useful design conversation. Understand the financial interruption customers face, decide which service fits it, and test whether customers are better able to manage their lives or businesses afterward. The research gives us reasons to explore these opportunities carefully and with ambition.
ARTICLE SECTION: What the lender can learn from a digital sales record
Our supplier's payment history gives a lender a view into the business. Regular receipts may show an established customer base. Seasonal changes may correspond to production cycles. A sudden interruption may prompt a closer look at what has changed. The next task is to interpret the activity. An account can receive sales proceeds, transfers between the owner's accounts, refunds, or borrowed funds. Cash available for repayment emerges after expenses and other commitments. Understanding those movements is what turns a payment record into useful credit information. Consider two merchants with the same monthly digital receipts. One sells high-margin products and collects promptly. The other operates on a thin margin, pays for costly transport, and supports several outstanding obligations. Their turnover looks similar, but their capacity to carry another loan may differ substantially.
Technology can help a lender make these distinctions across many customers. It also needs to be evaluated for the people it serves. Fuster and colleagues' peer-reviewed research on US mortgage lending found that the benefits of machine-learning-based prediction were distributed unevenly across borrower groups. The useful question for Kenyan lenders is how their own models perform across their own customers. [10] That means checking approval, pricing, errors, and repayment alongside overall predictive accuracy. It also means understanding businesses with a short digital history. Some may be new; others may have operated successfully through channels the model does not observe. A review process gives those customers a way to supply additional evidence. A lender might learn something important from an accepted order, a supplier relationship, or corrected transaction information. The process should make clear what the customer can provide and when to expect an answer. There is a commercial opportunity here. A bank or fintech that identifies viable businesses overlooked by competitors can develop valuable relationships. Achieving that requires data quality, sound interpretation, and an effective way to learn when the model gets something wrong. The goal is a lending decision that works for both parties through repayment.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AMBC-02: Making Business Credit Work in Kenya
ARTICLE: https://sokointel.com/read/ambc-02/
RESEARCH SNAPSHOT: 10 September 2026
SOURCE MATERIAL
[1] Kenya National Bureau of Statistics, Central Bank of Kenya, and FSD Kenya, 2024 FinAccess Household Survey Report, 2024. [Online]. Available: KNBS report page. Accessed: Sep. 7, 2026.
[2] Central Bank of Kenya, 2024 Survey Report on MSME Access to Bank Credit. [Online]. Available: survey report. Accessed: Sep. 7, 2026.
[3] Central Bank of Kenya, “KESONIA interest rate benchmark.” [Online]. Available: benchmark and FAQs. Accessed: Sep. 7, 2026.
[4] Central Bank of Kenya, 36th Monetary Policy Committee Report, Apr. 2026, p. 20. [Online]. Available: MPC report. Accessed: Sep. 7, 2026.
[5] J. E. Stiglitz and A. Weiss, “Credit rationing in markets with imperfect information,” American Economic Review, vol. 71, no. 3, pp. 393–410, Jun. 1981. [Online]. Available: university-hosted article. Peer-reviewed.
[6] Central Bank of Kenya, “Survey on customer experience on the Total Cost of Credit (TCC) website,” Jul. 7, 2025. [Online]. Available: CBK release. Accessed: Sep. 7, 2026.
[7] W. Jack and T. Suri, “Risk sharing and transactions costs: Evidence from Kenya's mobile money revolution,” American Economic Review, vol. 104, no. 1, pp. 183–223, Jan. 2014, doi: 10.1257/aer.104.1.183. Peer-reviewed.
[8] T. Suri and W. Jack, “The long-run poverty and gender impacts of mobile money,” Science, vol. 354, no. 6317, pp. 1288–1292, Dec. 2016, doi: 10.1126/science.aah5309. Peer-reviewed.
[9] T. Suri, P. Bharadwaj, and W. Jack, “Fintech and household resilience to shocks: Evidence from digital loans in Kenya,” Journal of Development Economics, vol. 153, Art. no. 102697, 2021, doi: 10.1016/j.jdeveco.2021.102697. [Online]. Available: publisher page. Peer-reviewed.
[10] A. Fuster, P. Goldsmith-Pinkham, T. Ramadorai, and A. Walther, “Predictably unequal? The effects of machine learning on credit markets,” The Journal of Finance, vol. 77, no. 1, pp. 5–47, 2022, doi: 10.1111/jofi.13090. Peer-reviewed.
[11] Central Bank of Kenya, The Central Bank of Kenya (Digital Credit Providers) Regulations, 2022, Legal Notice no. 46, regs. 2, 13, 18, 20, 27, and 29. [Online]. Available: regulations. Accessed: Sep. 7, 2026.
[12] Central Bank of Kenya, Regulatory Impact Assessment: The Central Bank of Kenya (Non-Deposit Taking Credit Providers) Regulations, 2026, 2026. [Online]. Available: impact assessment. Accessed: Sep. 7, 2026. The URL retains “2025”; the document's heading identifies the 2026 proposals.
[13] World Bank, “Digital credit,” Digital Financial Services Reference Guide. [Online]. Available: digital-credit guidance. Accessed: Sep. 7, 2026.
[14] World Bank and FIRST Initiative, Principles for Public Credit Guarantee Schemes for SMEs. Washington, DC, USA: World Bank, 2015. [Online]. Available: principles. Accessed: Sep. 7, 2026.
[15] Basel Committee on Banking Supervision, Principles for the Management of Credit Risk, 2025, paras. 10.26-10.27 and 10.34-10.36. [Online]. Available: credit-risk principles. Accessed: Sep. 15, 2026.
[16] Financial Action Task Force, Guidance on Beneficial Ownership of Legal Persons, Mar. 2023. [Online]. Available: beneficial-ownership guidance. Accessed: Sep. 15, 2026.
[17] Republic of Kenya, Data Protection Act, 2019, No. 24, sec. 35. [Online]. Available: Data Protection Act. Accessed: Sep. 15, 2026.
All linked source URLs:
KNBS report page: https://www.knbs.or.ke/reports/2024-finacess-household-survey-report/
survey report: https://www.centralbank.go.ke/uploads/banking_sector_reports/1809756600_2024%20Survey%20Report%20on%20MSME%20Access%20to%20Bank%20Credit.pdf
benchmark and FAQs: https://www.centralbank.go.ke/kesonia/
MPC report: https://www.centralbank.go.ke/uploads/monetary_policy_reports/131378250_36th%20Monetary%20Policy%20Committee%20Report%2C%20April%202026.pdf
university-hosted article: https://www.econ.puc-rio.br/mgarcia/Macro%20II%20-%20Mestrado/StiglitzWeiss1981.pdf
CBK release: https://www.centralbank.go.ke/uploads/press_releases/1075331935_Press%20Release%20-%20Survey%20on%20Customer%20Experience%20on%20the%20Total%20Cost%20of%20Credit%20%28TCC%29%20Website.pdf
10.1257/aer.104.1.183: https://doi.org/10.1257/aer.104.1.183
10.1126/science.aah5309: https://doi.org/10.1126/science.aah5309
10.1016/j.jdeveco.2021.102697: https://doi.org/10.1016/j.jdeveco.2021.102697
publisher page: https://www.sciencedirect.com/science/article/pii/S0304387821000742
10.1111/jofi.13090: https://doi.org/10.1111/jofi.13090
regulations: https://www.centralbank.go.ke/wp-content/uploads/2022/03/L-.N.-No.-46-Central-Bank-of-Kenya-Digital-Credit-Providers-Regulations-2022.pdf
impact assessment: https://www.centralbank.go.ke/wp-content/uploads/2026/06/Regulatory-Impact-Assessment-Central-Bank-of-Kenya-Non-Deposit-Taking-Credit-Providers-Regulations-2025.pdf
digital-credit guidance: https://digitalfinance.worldbank.org/topics/digital-credit
principles: https://www.worldbank.org/en/topic/financialsector/publication/principles-for-public-credit-guarantee-schemes-cgss-for-smes
credit-risk principles: https://www.bis.org/committees/bcbs/basel-consolidated-guidelines/module/cri/10
beneficial-ownership guidance: https://www.fatf-gafi.org/en/publications/Fatfrecommendations/Guidance-Beneficial-Ownership-Legal-Persons.html
Data Protection Act: https://www.odpc.go.ke/wp-content/uploads/2024/02/TheDataProtectionAct__No24of2019.pdf
Additional content sources:
[]
Workbook provenance:
C:\Users\Nevo\Downloads\financial material\African Markets and Business Credit\Workbook\African Markets and Business Credit - Credit Readiness and Cash Cycle Workbook.xlsx
'Entity Review'!A4:C10
0daf2a874e6e7834bc8ad0342c87b1f82492ac68619bcbbb589ee742f1bf9b36
C:\Users\Nevo\Downloads\financial material\African Markets and Business Credit\Workbook\African Markets and Business Credit - Credit Readiness and Cash Cycle Workbook.xlsx
'P2 Facility'!A16:H21
0daf2a874e6e7834bc8ad0342c87b1f82492ac68619bcbbb589ee742f1bf9b36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ambc-02/" TargetMode="External"/><Relationship Id="rId2" Type="http://schemas.openxmlformats.org/officeDocument/2006/relationships/hyperlink" Target="https://www.knbs.or.ke/reports/2024-finacess-household-survey-report/" TargetMode="External"/><Relationship Id="rId3" Type="http://schemas.openxmlformats.org/officeDocument/2006/relationships/hyperlink" Target="https://www.centralbank.go.ke/uploads/banking_sector_reports/1809756600_2024%20Survey%20Report%20on%20MSME%20Access%20to%20Bank%20Credit.pdf" TargetMode="External"/><Relationship Id="rId4" Type="http://schemas.openxmlformats.org/officeDocument/2006/relationships/hyperlink" Target="https://www.centralbank.go.ke/kesonia/" TargetMode="External"/><Relationship Id="rId5" Type="http://schemas.openxmlformats.org/officeDocument/2006/relationships/hyperlink" Target="https://www.centralbank.go.ke/uploads/monetary_policy_reports/131378250_36th%20Monetary%20Policy%20Committee%20Report%2C%20April%202026.pdf"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Making Business Credit Work in Kenya</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Nairobi packaging business considering a larger order from Uganda.</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AMBC-02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do bank ownership, funding, credit quality, and Kenya’s loan-pricing reforms affect SME access to finance?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When does fintech credit help businesses grow, and how do its costs and repayment terms affect financial stress?</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What should investors, business owners, and policymakers measure to determine whether financial expansion produces broader economic benefits?</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Principal — amount advanced before fees; KES</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Tenor — days from draw to repayment</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Actual/365 — annual rate applied to actual elapsed days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Annual cash-flow yield — rate based on net advance and dated repayments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Benchmark and borrowing cost / Repayment and collections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benchmark, credit premium and fees together determine the financing cost.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repayment schedule works better when it reflects the timing of customer receipts.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Comparing credit offers / Fintech and working capital</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Cash received and the timing of repayments make different fee structures comparable.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convenient payment service and a suitable investment loan solve different needs.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Evidence on business outcomes / A repeatable credit conversation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Study populations and measured outcomes explain where research findings are useful.</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 owner can bring order records, cash timing and proposed repayments into a financing discussion.</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Price the complete facility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Finance cost = principal × annual rate × days/365 + fees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520,000 × 18% × 30/365 + KES 10,400 = KES 18,093.15</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Order contribution after finance is KES 261,906.85 under the source assumptions.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Entity Review: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AMBC-02-01-p1.png">    </p:cNvPr>
          <p:cNvPicPr>
            <a:picLocks noChangeAspect="1"/>
          </p:cNvPicPr>
          <p:nvPr/>
        </p:nvPicPr>
        <p:blipFill>
          <a:blip r:embed="rId1"/>
          <a:stretch>
            <a:fillRect/>
          </a:stretch>
        </p:blipFill>
        <p:spPr>
          <a:xfrm>
            <a:off x="612648" y="1984551"/>
            <a:ext cx="10972800" cy="3419249"/>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Entity Review!A4:C10</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P2 Facility: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AMBC-02-02-p1.png">    </p:cNvPr>
          <p:cNvPicPr>
            <a:picLocks noChangeAspect="1"/>
          </p:cNvPicPr>
          <p:nvPr/>
        </p:nvPicPr>
        <p:blipFill>
          <a:blip r:embed="rId1"/>
          <a:stretch>
            <a:fillRect/>
          </a:stretch>
        </p:blipFill>
        <p:spPr>
          <a:xfrm>
            <a:off x="612648" y="3095430"/>
            <a:ext cx="10972800" cy="1197491"/>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P2 Facility!A16:H21</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Late collection is not an automatic loan extension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30-day contract; customer pays on the expected collection date.</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Delay collection by 14 days while retaining the original repayment date.</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Web repayment-date gap: KES 538,093.15. An explicitly revised 44-day loan instead costs KES 21,683.29.</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credit-detailed-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Follow net advance, interest, fees and dated repayment. Delay the customer collection while retaining the contractual due date.</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An explicitly extended facility is a separate contract scenario; no automatic rollover is assumed.</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/calculators/business-credit/detailed/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Credit helps when total cost and repayment dates fit a verified operating cycle. Clear borrower records, collection evidence and disciplined follow-up matter alongside the lender’s ownership and funding.</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Reconcile account credits into trading receipts, financing, transfers and unresolved items before using them as repayment evidence.</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sokointel.com/read/ambc-02/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KNBS report page</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survey report</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benchmark and FAQs</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MPC report</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Business Credit Work in Kenya</dc:title>
  <dc:subject>How do bank ownership, funding, credit quality, and Kenya’s loan-pricing reforms affect SME access to finance? | When does fintech credit help businesses grow, and how do its costs and repayment terms affect financial stress? | What should investors, business owners, and policymakers measure to determine whether financial expansion produces broader economic benefits?</dc:subject>
  <dc:creator>Sokointel</dc:creator>
  <cp:lastModifiedBy>Sokointel</cp:lastModifiedBy>
  <cp:revision>1</cp:revision>
  <dcterms:created xsi:type="dcterms:W3CDTF">2026-09-25T13:49:38Z</dcterms:created>
  <dcterms:modified xsi:type="dcterms:W3CDTF">2026-09-25T13:49:38Z</dcterms:modified>
</cp:coreProperties>
</file>