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KECA-04: Keeping a Kenyan Portfolio Useful as Life and Markets Change
ARTICLE: https://sokointel.com/read/keca-04/
RESEARCH SNAPSHOT: 10 September 2026
OPENING NARRATION
Seven dated dividend examples, fictional company models and three educational allocation policies.
Dated source record • fictional calculations are labelled as illustrations
Introduce the decision before defining the technical terms.
ARTICLE SECTION: Part 4 of 4: Compounding, scenarios, simulation, and portfolio management
A portfolio begins as a set of weights and becomes a sequence of decisions. Income arrives at different dates, companies change their distributions, markets move, and the household's ability to contribute can vary. A plan that looks attractive at the beginning needs a process for navigating those developments. This final article follows the educational portfolios through time using deterministic projections, scenario tests, and Monte Carlo simulations. The simulations create many possible paths from explicit assumptions, allowing the investor to examine a range of outcomes. The accompanying workbook also shows the annual cash-flow sequence in ordinary rows and columns. Together, these tools help connect the portfolio to its purpose: what the money might become, how much saving effort contributes, when spending could become difficult, and which adjustments make the plan more resilient.
Start by defining what success means at a particular date. A target of KES 3 million can refer to nominal shillings at that date or to the purchasing power of KES 3 million today. Those definitions lead to different required outcomes as prices change. The examples use a twenty-year horizon, KES 1 million of opening wealth, and KES 120,000 contributed at each year-end. The primary goal is KES 3 million in today's purchasing power. Contributions are held constant in nominal terms initially, so their real value declines when inflation is positive. These choices are editable and form the foundation of every comparison. Once they are visible, the investor can ask whether a different contribution path, longer horizon, lower spending target, or revised allocation offers the most practical improvement.
The annual order of events matters because money can earn a return only while it is invested. Equation (4.1), closing wealth = opening wealth grown by the net return plus contributions minus withdrawals, describes the teaching model's year-end sequence. A contribution made at the end of the year begins earning the following year's return. A withdrawal follows the year's investment result and contribution. The workbook records any amount that the available funds cannot meet, then floors invested wealth at zero. This makes the spending shortfall observable rather than allowing a negative account balance to imply unspecified borrowing. A monthly implementation can extend the same sequence to actual dates, but the annual version provides a clear starting point for understanding how return, saving, and spending interact over a long horizon.
ARTICLE SECTION: Separate saving effort from investment performance
Compounding is the repeated application of returns to the capital that remains invested. With a constant return and no external cash flows, the calculation is simple. Adding contributions or withdrawals makes their timing part of the result. Equation (4.2), future value of opening capital = opening capital multiplied by the growth factor raised to the number of periods, describes the first component. The appendix adds the contribution series and works through the manual calculation. This is useful because the final account value combines both investment performance and the investor's saving effort. A larger ending balance can come from higher contributions even during mediocre markets. Separating those sources makes progress easier to evaluate and gives the household practical choices when the original investment assumptions turn out to be too optimistic or the saving capacity changes.
In the deterministic Balanced example, the assumed annual total return is 10.455% before equity-dividend withholding and implementation drag. The model subtracts a 0.3% annual implementation allowance and the withholding associated with the assumed recurring equity dividend yield. This gives a net annual return of approximately 9.8606% under the starting inputs. With KES 120,000 added at each year-end, the twenty-year result is approximately KES 13.324 million in nominal wealth. At constant 5% inflation, that is approximately KES 5.022 million in starting purchasing power. These calculations provide a transparent reference path. The investor can inspect every year and identify the contribution, investment gain, and inflation adjustment. The simulation then explores how varied returns and adverse episodes change the range around this smooth projection and the chance of reaching the chosen goal.
Dividend treatment needs consistency throughout that projection. A total-return assumption already includes the economic contribution of distributions, so reinvested dividends should remain within that return rather than being added again as a separate gain. Withholding reduces the portion retained by the investor, while implementation costs create a further deduction. If dividends fund household spending, the withdrawal schedule should record that cash leaving the portfolio. If they accumulate temporarily before reinvestment, the model can represent the delay and cash return separately. This treatment gives the investor a clear way to compare accumulation with income use. It also connects the first article's dividend analysis to the long-term projection: a lower ordinary payment can alter current cash availability and may accompany a different total-return outlook, depending on why the company has changed its distribution.
Inflation is applied through a cumulative price index. Equation (4.3), real wealth = nominal wealth divided by the cumulative price index, expresses the conversion into starting purchasing power. With constant 5% inflation over twenty years, the index is approximately 2.6533. A nominal balance must therefore be divided by that factor to describe what it can buy relative to the starting date. The workbook also allows separate inflation assumptions by year. This is useful when testing a period of elevated prices followed by a return to a lower rate. The investor can relate the general price assumption to the actual goal, since education, housing, health care, and other expenses may change differently. A goal-specific budget provides an additiona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KECA-04: Keeping a Kenyan Portfolio Useful as Life and Markets Change
ARTICLE: https://sokointel.com/read/keca-04/
RESEARCH SNAPSHOT: 10 September 2026
Read the questions naturally and define terms in context.
Nominal wealth — amount in future currency units
Real wealth — amount in today’s purchasing power
Price index — cumulative inflation multiplier
Simulation — conditional paths generated by stated assumptions
Research question mapping: KECA-Q5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KECA-04: Keeping a Kenyan Portfolio Useful as Life and Markets Change
ARTICLE: https://sokointel.com/read/keca-04/
RESEARCH SNAPSHOT: 10 September 2026
Explain the mechanism with the cited article section, then relate it to the opening decision.
Narration: explain each step and its consequence for the opening decision.
ARTICLE SECTION: Separate saving effort from investment performance
Compounding is the repeated application of returns to the capital that remains invested. With a constant return and no external cash flows, the calculation is simple. Adding contributions or withdrawals makes their timing part of the result. Equation (4.2), future value of opening capital = opening capital multiplied by the growth factor raised to the number of periods, describes the first component. The appendix adds the contribution series and works through the manual calculation. This is useful because the final account value combines both investment performance and the investor's saving effort. A larger ending balance can come from higher contributions even during mediocre markets. Separating those sources makes progress easier to evaluate and gives the household practical choices when the original investment assumptions turn out to be too optimistic or the saving capacity changes.
In the deterministic Balanced example, the assumed annual total return is 10.455% before equity-dividend withholding and implementation drag. The model subtracts a 0.3% annual implementation allowance and the withholding associated with the assumed recurring equity dividend yield. This gives a net annual return of approximately 9.8606% under the starting inputs. With KES 120,000 added at each year-end, the twenty-year result is approximately KES 13.324 million in nominal wealth. At constant 5% inflation, that is approximately KES 5.022 million in starting purchasing power. These calculations provide a transparent reference path. The investor can inspect every year and identify the contribution, investment gain, and inflation adjustment. The simulation then explores how varied returns and adverse episodes change the range around this smooth projection and the chance of reaching the chosen goal.
Dividend treatment needs consistency throughout that projection. A total-return assumption already includes the economic contribution of distributions, so reinvested dividends should remain within that return rather than being added again as a separate gain. Withholding reduces the portion retained by the investor, while implementation costs create a further deduction. If dividends fund household spending, the withdrawal schedule should record that cash leaving the portfolio. If they accumulate temporarily before reinvestment, the model can represent the delay and cash return separately. This treatment gives the investor a clear way to compare accumulation with income use. It also connects the first article's dividend analysis to the long-term projection: a lower ordinary payment can alter current cash availability and may accompany a different total-return outlook, depending on why the company has changed its distribution.
Inflation is applied through a cumulative price index. Equation (4.3), real wealth = nominal wealth divided by the cumulative price index, expresses the conversion into starting purchasing power. With constant 5% inflation over twenty years, the index is approximately 2.6533. A nominal balance must therefore be divided by that factor to describe what it can buy relative to the starting date. The workbook also allows separate inflation assumptions by year. This is useful when testing a period of elevated prices followed by a return to a lower rate. The investor can relate the general price assumption to the actual goal, since education, housing, health care, and other expenses may change differently. A goal-specific budget provides an additiona
ARTICLE SECTION: Part 4 of 4: Compounding, scenarios, simulation, and portfolio management
A portfolio begins as a set of weights and becomes a sequence of decisions. Income arrives at different dates, companies change their distributions, markets move, and the household's ability to contribute can vary. A plan that looks attractive at the beginning needs a process for navigating those developments. This final article follows the educational portfolios through time using deterministic projections, scenario tests, and Monte Carlo simulations. The simulations create many possible paths from explicit assumptions, allowing the investor to examine a range of outcomes. The accompanying workbook also shows the annual cash-flow sequence in ordinary rows and columns. Together, these tools help connect the portfolio to its purpose: what the money might become, how much saving effort contributes, when spending could become difficult, and which adjustments make the plan more resilient.
Start by defining what success means at a particular date. A target of KES 3 million can refer to nominal shillings at that date or to the purchasing power of KES 3 million today. Those definitions lead to different required outcomes as prices change. The examples use a twenty-year horizon, KES 1 million of opening wealth, and KES 120,000 contributed at each year-end. The primary goal is KES 3 million in today's purchasing power. Contributions are held constant in nominal terms initially, so their real value declines when inflation is positive. These choices are editable and form the foundation of every comparison. Once they are visible, the investor can ask whether a different contribution path, longer horizon, lower spending target, or revised allocation offers the most practical improvement.
The annual order of events matters because money can earn a return only while it is invested. Equation (4.1), closing wealth = opening wealth grown by the net return plus contributions minus withdrawals, describes the teaching model's year-end sequence. A contribution made at the end of the year begins earning the following year's return. A withdrawal follows the year's investment result and contribution. The workbook records any amount that the available funds cannot meet, then floors invested wealth at zero. This makes the spending shortfall observable rather than allowing a negative account balance to imply unspecified borrowing. A monthly implementation can extend the same sequence to actual dates, but the annual version provides a clear starting point for understanding how return, saving, and spending interact over a long horizon.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KECA-04: Keeping a Kenyan Portfolio Useful as Life and Markets Change
ARTICLE: https://sokointel.com/read/keca-04/
RESEARCH SNAPSHOT: 10 September 2026
Explain the mechanism with the cited article section, then relate it to the opening decision.
Narration: explain each step and its consequence for the opening decision.
ARTICLE SECTION: Use simulation to explore a range of paths
Monte Carlo simulation extends scenario analysis by generating many possible sequences from specified distributions and relationships. Glasserman's academic treatment provides the methodological foundation for simulation, reproducibility, and the distinction between numerical sampling error and uncertainty in the model itself [1]. In this series, the larger experiment runs 10,000 paths over twenty years for each allocation. It uses the asset return and variability assumptions from the construction exercise, with a shared market component that creates joint movements. Each path applies annual rebalancing, contribution timing, dividend-tax drag, and the implementation allowance. The results provide distributions of wealth and other outcomes rather than a single forecast. The investor can therefore examine the middle of the distribution, weaker outcomes, stronger outcomes, and the proportion of paths meeting the stated purchasing-power goal.
The return engine generates positive gross asset-return factors, which become ordinary returns after subtracting one. Its parameters are chosen to match the assumed arithmetic mean and volatility before the additional crisis regime. The technical appendix shows the transformation and the relationship between the shared normal shocks and asset returns. These are modelling choices with identifiable consequences. The engine does not use a fitted historical NSE return series, so its probabilities describe the stated educational assumptions. That makes it well suited to exploring how allocation, contributions, and adverse episodes interact. An investor developing a company-specific forecast can replace the assumptions and compare results. An investor building a historical model would first prepare a consistent total-return dataset and evaluate whether the chosen distribution and dependence structure adequately describe the risks relevant to the intended use.
The crisis experiment adds an assumed 8% annual chance of a shared adverse episode. When it occurs, the equity gross-return factors receive additional proportional reductions, with losses varying by asset in the stated scenario. The bill sleeve receives no additional crisis haircut in this experiment, while its ordinary return remains variable. This creates a clear stress on equity-heavy allocations and changes the unconditional return distribution. The event probability is independent from year to year, making the mechanism simple to inspect. A more persistent crisis process could produce different results, and the appendix identifies that extension. The immediate value is practical: the investor can compare the same portfolio under a smooth return model and a model with explicit joint setbacks, then examine whether the plan remains useful when those setbacks arrive at inconvenient times.
The spreadsheet contains a separate 500-path aggregate-portfolio experiment whose formulas recalculate directly when its annual inputs change. It uses the Balanced portfolio's assumed mean and volatility and applies an additional 25% portfolio-level crisis reduction. The larger research engine models the eight assets separately and applies the asset-specific crisis assumptions. These two experiments answer related questions at different levels of detail, so their results are labelled separately. The spreadsheet is convenient for tracing individual years and testing a changed contribution or inflation path immediately. The larger engine supports comparisons across a
ARTICLE SECTION: Part 4 of 4: Compounding, scenarios, simulation, and portfolio management
A portfolio begins as a set of weights and becomes a sequence of decisions. Income arrives at different dates, companies change their distributions, markets move, and the household's ability to contribute can vary. A plan that looks attractive at the beginning needs a process for navigating those developments. This final article follows the educational portfolios through time using deterministic projections, scenario tests, and Monte Carlo simulations. The simulations create many possible paths from explicit assumptions, allowing the investor to examine a range of outcomes. The accompanying workbook also shows the annual cash-flow sequence in ordinary rows and columns. Together, these tools help connect the portfolio to its purpose: what the money might become, how much saving effort contributes, when spending could become difficult, and which adjustments make the plan more resilient.
Start by defining what success means at a particular date. A target of KES 3 million can refer to nominal shillings at that date or to the purchasing power of KES 3 million today. Those definitions lead to different required outcomes as prices change. The examples use a twenty-year horizon, KES 1 million of opening wealth, and KES 120,000 contributed at each year-end. The primary goal is KES 3 million in today's purchasing power. Contributions are held constant in nominal terms initially, so their real value declines when inflation is positive. These choices are editable and form the foundation of every comparison. Once they are visible, the investor can ask whether a different contribution path, longer horizon, lower spending target, or revised allocation offers the most practical improvement.
The annual order of events matters because money can earn a return only while it is invested. Equation (4.1), closing wealth = opening wealth grown by the net return plus contributions minus withdrawals, describes the teaching model's year-end sequence. A contribution made at the end of the year begins earning the following year's return. A withdrawal follows the year's investment result and contribution. The workbook records any amount that the available funds cannot meet, then floors invested wealth at zero. This makes the spending shortfall observable rather than allowing a negative account balance to imply unspecified borrowing. A monthly implementation can extend the same sequence to actual dates, but the annual version provides a clear starting point for understanding how return, saving, and spending interact over a long horizon.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KECA-04: Keeping a Kenyan Portfolio Useful as Life and Markets Change
ARTICLE: https://sokointel.com/read/keca-04/
RESEARCH SNAPSHOT: 10 September 2026
Explain the mechanism with the cited article section, then relate it to the opening decision.
Narration: explain each step and its consequence for the opening decision.
ARTICLE SECTION: Separate saving effort from investment performance
Compounding is the repeated application of returns to the capital that remains invested. With a constant return and no external cash flows, the calculation is simple. Adding contributions or withdrawals makes their timing part of the result. Equation (4.2), future value of opening capital = opening capital multiplied by the growth factor raised to the number of periods, describes the first component. The appendix adds the contribution series and works through the manual calculation. This is useful because the final account value combines both investment performance and the investor's saving effort. A larger ending balance can come from higher contributions even during mediocre markets. Separating those sources makes progress easier to evaluate and gives the household practical choices when the original investment assumptions turn out to be too optimistic or the saving capacity changes.
In the deterministic Balanced example, the assumed annual total return is 10.455% before equity-dividend withholding and implementation drag. The model subtracts a 0.3% annual implementation allowance and the withholding associated with the assumed recurring equity dividend yield. This gives a net annual return of approximately 9.8606% under the starting inputs. With KES 120,000 added at each year-end, the twenty-year result is approximately KES 13.324 million in nominal wealth. At constant 5% inflation, that is approximately KES 5.022 million in starting purchasing power. These calculations provide a transparent reference path. The investor can inspect every year and identify the contribution, investment gain, and inflation adjustment. The simulation then explores how varied returns and adverse episodes change the range around this smooth projection and the chance of reaching the chosen goal.
Dividend treatment needs consistency throughout that projection. A total-return assumption already includes the economic contribution of distributions, so reinvested dividends should remain within that return rather than being added again as a separate gain. Withholding reduces the portion retained by the investor, while implementation costs create a further deduction. If dividends fund household spending, the withdrawal schedule should record that cash leaving the portfolio. If they accumulate temporarily before reinvestment, the model can represent the delay and cash return separately. This treatment gives the investor a clear way to compare accumulation with income use. It also connects the first article's dividend analysis to the long-term projection: a lower ordinary payment can alter current cash availability and may accompany a different total-return outlook, depending on why the company has changed its distribution.
Inflation is applied through a cumulative price index. Equation (4.3), real wealth = nominal wealth divided by the cumulative price index, expresses the conversion into starting purchasing power. With constant 5% inflation over twenty years, the index is approximately 2.6533. A nominal balance must therefore be divided by that factor to describe what it can buy relative to the starting date. The workbook also allows separate inflation assumptions by year. This is useful when testing a period of elevated prices followed by a return to a lower rate. The investor can relate the general price assumption to the actual goal, since education, housing, health care, and other expenses may change differently. A goal-specific budget provides an additiona
ARTICLE SECTION: Read the results as conditional planning evidence
Under the larger engine's baseline assumptions, the Balanced allocation has a median twenty-year outcome of approximately KES 4.541 million in starting purchasing power. Its fifth-percentile outcome is approximately KES 2.236 million, and its ninety-fifth-percentile outcome is approximately KES 9.502 million. About 83.23% of paths reach the KES 3 million real goal. The spread is useful because it shows how different the experience can be despite a common allocation and saving schedule. The investor can compare the weaker outcomes with the minimum acceptable goal and the stronger outcomes with optional ambitions. This creates a more informative planning conversation than treating the median as the only meaningful result. It also highlights the role of flexibility: a plan with adjustable timing or spending can respond differently from one with a fixed amount required on a fixed date.
Adding the crisis regime changes the Balanced allocation's median real outcome to approximately KES 3.396 million. The fifth and ninety-fifth percentiles become approximately KES 1.602 million and KES 7.549 million, while the goal-success fraction becomes 60.64%. The mean real outcome is higher than the median because stronger paths pull the average upwards. These differences make the distribution shape relevant to the decision. A household focused on a minimum goal may place more weight on lower outcomes and shortfall probability than on the average wealth across all paths. The investor can now examine a concrete adjustment: contribute more, lower the goal, extend the horizon, or change the risk allocation. Each option can be tested against the same crisis assumptions, allowing its effect to be evaluated before a policy change is adopted.
The other allocations provide useful context for that result. In the crisis experiment, Income Reserve reaches the real goal in approximately 70.81% of paths, with median real wealth of approximately KES 3.498 million. Growth reaches it in approximately 58.22% of paths, with median real wealth of approximately KES 3.356 million. Growth also offers a wider upper range. Under these assumptions, the smaller equity allocation improves the chance of meeting this particular goal because the crisis losses affect the larger equity exposures more strongly. This is an informative result to investigate rather than a permanent ranking of investment styles. A different goal, return assumption, crisis structure, bill rate, or horizon can change the comparison. The value lies in seeing how the allocation serves a stated objective across the modelled distribution.
The contribution tests show another practical influence. In the Balanced crisis experiment, reducing annual contributions from KES 120,000 to KES 60,000 lowers the goal-success fraction to approximately 34.26%. Increasing them to KES 180,000 raises it to approximately 79.53%. The return paths are held consistent across these comparisons, so the change reflects saving effort under the same market conditions. This makes the result useful for household planning because contributions may be more directly influenced than market returns. The investor can explore a staged increase, occasional additional contributions, or a period of reduced saving followed by recovery. The annual-plan worksheet supports different amounts by year. The larger question is how to design a contribution routine that the household can sustain, especially when income and investment markets are under pressure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KECA-04: Keeping a Kenyan Portfolio Useful as Life and Markets Change
ARTICLE: https://sokointel.com/read/keca-04/
RESEARCH SNAPSHOT: 10 September 2026
Simulation summary A4:G14. Source illustrative inflation 5% for the displayed first-year relationship.
Equation: Real wealth = nominal wealth ÷ cumulative price index
Substitution: Year 1 median: KES 1,197,979.16 ÷ 1.05 = KES 1,140,932.54.
Interpretation: Nominal growth is only part of progress toward a spending goal.
ARTICLE SECTION: Separate saving effort from investment performance
Compounding is the repeated application of returns to the capital that remains invested. With a constant return and no external cash flows, the calculation is simple. Adding contributions or withdrawals makes their timing part of the result. Equation (4.2), future value of opening capital = opening capital multiplied by the growth factor raised to the number of periods, describes the first component. The appendix adds the contribution series and works through the manual calculation. This is useful because the final account value combines both investment performance and the investor's saving effort. A larger ending balance can come from higher contributions even during mediocre markets. Separating those sources makes progress easier to evaluate and gives the household practical choices when the original investment assumptions turn out to be too optimistic or the saving capacity changes.
In the deterministic Balanced example, the assumed annual total return is 10.455% before equity-dividend withholding and implementation drag. The model subtracts a 0.3% annual implementation allowance and the withholding associated with the assumed recurring equity dividend yield. This gives a net annual return of approximately 9.8606% under the starting inputs. With KES 120,000 added at each year-end, the twenty-year result is approximately KES 13.324 million in nominal wealth. At constant 5% inflation, that is approximately KES 5.022 million in starting purchasing power. These calculations provide a transparent reference path. The investor can inspect every year and identify the contribution, investment gain, and inflation adjustment. The simulation then explores how varied returns and adverse episodes change the range around this smooth projection and the chance of reaching the chosen goal.
Dividend treatment needs consistency throughout that projection. A total-return assumption already includes the economic contribution of distributions, so reinvested dividends should remain within that return rather than being added again as a separate gain. Withholding reduces the portion retained by the investor, while implementation costs create a further deduction. If dividends fund household spending, the withdrawal schedule should record that cash leaving the portfolio. If they accumulate temporarily before reinvestment, the model can represent the delay and cash return separately. This treatment gives the investor a clear way to compare accumulation with income use. It also connects the first article's dividend analysis to the long-term projection: a lower ordinary payment can alter current cash availability and may accompany a different total-return outlook, depending on why the company has changed its distribution.
Inflation is applied through a cumulative price index. Equation (4.3), real wealth = nominal wealth divided by the cumulative price index, expresses the conversion into starting purchasing power. With constant 5% inflation over twenty years, the index is approximately 2.6533. A nominal balance must therefore be divided by that factor to describe what it can buy relative to the starting date. The workbook also allows separate inflation assumptions by year. This is useful when testing a period of elevated prices followed by a return to a lower rate. The investor can relate the general price assumption to the actual goal, since education, housing, health care, and other expenses may change differently. A goal-specific budget provides an additiona
ARTICLE SECTION: Part 4 of 4: Compounding, scenarios, simulation, and portfolio management
A portfolio begins as a set of weights and becomes a sequence of decisions. Income arrives at different dates, companies change their distributions, markets move, and the household's ability to contribute can vary. A plan that looks attractive at the beginning needs a process for navigating those developments. This final article follows the educational portfolios through time using deterministic projections, scenario tests, and Monte Carlo simulations. The simulations create many possible paths from explicit assumptions, allowing the investor to examine a range of outcomes. The accompanying workbook also shows the annual cash-flow sequence in ordinary rows and columns. Together, these tools help connect the portfolio to its purpose: what the money might become, how much saving effort contributes, when spending could become difficult, and which adjustments make the plan more resilient.
Start by defining what success means at a particular date. A target of KES 3 million can refer to nominal shillings at that date or to the purchasing power of KES 3 million today. Those definitions lead to different required outcomes as prices change. The examples use a twenty-year horizon, KES 1 million of opening wealth, and KES 120,000 contributed at each year-end. The primary goal is KES 3 million in today's purchasing power. Contributions are held constant in nominal terms initially, so their real value declines when inflation is positive. These choices are editable and form the foundation of every comparison. Once they are visible, the investor can ask whether a different contribution path, longer horizon, lower spending target, or revised allocation offers the most practical improvement.
The annual order of events matters because money can earn a return only while it is invested. Equation (4.1), closing wealth = opening wealth grown by the net return plus contributions minus withdrawals, describes the teaching model's year-end sequence. A contribution made at the end of the year begins earning the following year's return. A withdrawal follows the year's investment result and contribution. The workbook records any amount that the available funds cannot meet, then floors invested wealth at zero. This makes the spending shortfall observable rather than allowing a negative account balance to imply unspecified borrowing. A monthly implementation can extend the same sequence to actual dates, but the annual version provides a clear starting point for understanding how return, saving, and spending interact over a long horizon.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KECA-04: Keeping a Kenyan Portfolio Useful as Life and Markets Change
ARTICLE: https://sokointel.com/read/keca-04/
RESEARCH SNAPSHOT: 10 September 2026
ACTUAL WORKBOOK CAPTURE
Workbook: C:\Users\Nevo\Downloads\financial material\outputs\01a0789a-5035-7453-ad64-a71cc94b3211\kenyan-equities\04-Compounding-and-Simulation.xlsx
Sheet/range: 'Simulation summary'!A4:G14
SHA-256: ac0f13ee806be1ffe5ebcc277cdeb4a33fa6b15b02e76ea65a113131819d431d
Capture method: Microsoft Excel read-only PDF range export. Print headings retained. Source not saved.
Asset: Evidence/Workbooks/KECA-04-01-p1.png
SCREEN RECORDING WALKTHROUGH
Read the row and column headings. Identify inputs, follow the dependent row and explain the units. Do not alter the source workbook while recording; use a copy for a new scenario.
Extracted evidence text:
4
5
6
7
8
9
10
11
12
13
14
A B C D E F G
Year P05 nominal Median nominal P95 nominal Mean nominal P05 real Median real
1 947,168.21 1,197,979.16 1,470,359.45 1,198,851.56 902,064.96 1,140,932.54
2 1,000,697.74 1,395,361.72 1,828,463.50 1,409,616.34 907,662.35 1,265,634.21
3 1,049,678.28 1,630,869.95 2,230,995.84 1,644,420.39 906,751.56 1,408,806.78
4 1,202,714.77 1,849,516.14 2,693,749.97 1,881,305.63 989,476.42 1,521,601.50
5 1,291,981.10 2,119,556.51 3,047,555.12 2,136,430.30 1,012,301.00 1,660,727.99
6 1,433,620.44 2,334,740.44 3,645,076.27 2,424,691.43 1,069,789.64 1,742,219.27
7 1,575,516.06 2,595,215.17 4,291,085.94 2,735,189.38 1,119,689.85 1,844,370.97
8 1,732,313.21 2,928,034.53 5,042,839.96 3,067,852.37 1,172,497.77 1,981,809.02
Relevant article context:
ARTICLE SECTION: Part 4 of 4: Compounding, scenarios, simulation, and portfolio management
A portfolio begins as a set of weights and becomes a sequence of decisions. Income arrives at different dates, companies change their distributions, markets move, and the household's ability to contribute can vary. A plan that looks attractive at the beginning needs a process for navigating those developments. This final article follows the educational portfolios through time using deterministic projections, scenario tests, and Monte Carlo simulations. The simulations create many possible paths from explicit assumptions, allowing the investor to examine a range of outcomes. The accompanying workbook also shows the annual cash-flow sequence in ordinary rows and columns. Together, these tools help connect the portfolio to its purpose: what the money might become, how much saving effort contributes, when spending could become difficult, and which adjustments make the plan more resilient.
Start by defining what success means at a particular date. A target of KES 3 million can refer to nominal shillings at that date or to the purchasing power of KES 3 million today. Those definitions lead to different required outcomes as prices change. The examples use a twenty-year horizon, KES 1 million of opening wealth, and KES 120,000 contributed at each year-end. The primary goal is KES 3 million in today's purchasing power. Contributions are held constant in nominal terms initially, so their real value declines when inflation is positive. These choices are editable and form the foundation of every comparison. Once they are visible, the investor can ask whether a different contribution path, longer horizon, lower spending target, or revised allocation offers the most practical improvement.
The annual order of events matters because money can earn a return only while it is invested. Equation (4.1), closing wealth = opening wealth grown by the net return plus contributions minus withdrawals, describes the teaching model's year-end sequence. A contribution made at the end of the year begins earning the following year's return. A withdrawal follows the year's investment result and contribution. The workbook records any amount that the available funds cannot meet, then floors invested wealth at zero. This makes the spending shortfall observable rather than allowing a negative account balance to imply unspecified borrowing. A monthly implementation can extend the same sequence to actual dates, but the annual version provides a clear starting point for understanding how return, saving, and spending interact over a long horizon.
ARTICLE SECTION: Use simulation to explore a range of paths
Monte Carlo simulation extends scenario analysis by generating many possible sequences from specified distributions and relationships. Glasserman's academic treatment provides the methodological foundation for simulation, reproducibility, and the distinction between numerical sampling error and uncertainty in the model itself [1]. In this series, the larger experiment runs 10,000 paths over twenty years for each allocation. It uses the asset return and variability assumptions from the construction exercise, with a shared market component that creates joint movements. Each path applies annual rebalancing, contribution timing, dividend-tax drag, and the implementation allowance. The results provide distributions of wealth and other outcomes rather than a single forecast. The investor can therefore examine the middle of the distribution, weaker outcomes, stronger outcomes, and the proportion of paths meeting the stated purchasing-power goal.
The return engine generates positive gross asset-return factors, which become ordinary returns after subtracting one. Its parameters are chosen to match the assumed arithmetic mean and volatility before the additional crisis regime. The technical appendix shows the transformation and the relationship between the shared normal shocks and asset returns. These are modelling choices with identifiable consequences. The engine does not use a fitted historical NSE return series, so its probabilities describe the stated educational assumptions. That makes it well suited to exploring how allocation, contributions, and adverse episodes interact. An investor developing a company-specific forecast can replace the assumptions and compare results. An investor building a historical model would first prepare a consistent total-return dataset and evaluate whether the chosen distribution and dependence structure adequately describe the risks relevant to the intended use.
The crisis experiment adds an assumed 8% annual chance of a shared adverse episode. When it occurs, the equity gross-return factors receive additional proportional reductions, with losses varying by asset in the stated scenario. The bill sleeve receives no additional crisis haircut in this experiment, while its ordinary return remains variable. This creates a clear stress on equity-heavy allocations and changes the unconditional return distribution. The event probability is independent from year to year, making the mechanism simple to inspect. A more persistent crisis process could produce different results, and the appendix identifies that extension. The immediate value is practical: the investor can compare the same portfolio under a smooth return model and a model with explicit joint setbacks, then examine whether the plan remains useful when those setbacks arrive at inconvenient times.
The spreadsheet contains a separate 500-path aggregate-portfolio experiment whose formulas recalculate directly when its annual inputs change. It uses the Balanced portfolio's assumed mean and volatility and applies an additional 25% portfolio-level crisis reduction. The larger research engine models the eight assets separately and applies the asset-specific crisis assumptions. These two experiments answer related questions at different levels of detail, so their results are labelled separately. The spreadsheet is convenient for tracing individual years and testing a changed contribution or inflation path immediately. The larger engine supports comparisons across a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KECA-04: Keeping a Kenyan Portfolio Useful as Life and Markets Change
ARTICLE: https://sokointel.com/read/keca-04/
RESEARCH SNAPSHOT: 10 September 2026
Teaching sensitivity; hold other assumptions fixed unless a multi-input case is explicitly named.
Base: Same nominal balance and horizon.
Changed: Increase the assumed cumulative inflation factor.
Consequence: Real purchasing power falls; higher contributions can offset some loss but require household cash today.
ARTICLE SECTION: # Keeping a Kenyan Portfolio Useful as Life and Markets Change
ARTICLE SECTION: Keep the research and portfolio records connected
A regular portfolio review begins with information that can change the business case. New results, a distribution decision, a large acquisition, a change in financing, or a material operating development can alter the valuation and expected return. Update the relevant company fields, then examine the consequences for portfolio weight, income, and shared risk. Price changes also matter because they affect the valuation opportunity and current concentration. A useful review records both what changed and why the action follows. This keeps the process grounded in evidence rather than in the direction of the last price move. The monitoring worksheet provides space for the original thesis, new information, valuation changes, and resulting decision, allowing the investor to learn from the relationship between earlier expectations and the business outcomes that subsequently became observable.
Performance measurement then separates the quality of the investment result from the timing of contributions and withdrawals. A simple reconciliation compares ending wealth with opening wealth and net external flows to identify the currency amount of investment gain. A time-weighted return links subperiod results to evaluate the portfolio independently of the size of external flows. A money-weighted return incorporates the timing and amount of those flows to describe the investor's experience. The appendix explains the mathematical distinction and provides a dated example. The practical requirement is a reliable record of deposits, withdrawals, costs, distributions, and valuations. Once those records are consistent, the investor can compare with an appropriate benchmark and investigate whether company selection, allocation, fees, timing, or an accounting difference explains the gap between expectation and outcome.
Rebalancing and research updates work best as connected decisions. A holding can become overweight because its price has risen, because another holding has fallen, or because a contribution was allocated unevenly. The investor can first use available cash and new contributions to restore the intended structure where that remains attractive on valuation. A sale may be appropriate when concentration has become excessive or the business case has weakened. The transaction should then be evaluated using current liquidity and costs. The policy can specify review dates and allocation bands while retaining a record of justified exceptions. This makes the process both repeatable and adaptable. Over time, the investor gains a clearer understanding of which decisions improved the portfolio and which reflected assumptions that should be revised in the next round of research.
The research engine and workbook have different refresh boundaries, and the guide identifies them. Formula-driven spreadsheet outputs update when their linked inputs change. Seeded search candidates and the larger simulation report are reproducible snapshots that require rerunning the supplied research script after their assumptions are changed. The workbook includes a smaller live simulation for immediate exploration, while the full experiment preserves its seed, horizon, distributions, crisis assumptions, and cash-flow convention. This organisation gives the reader a practical way to maintain accuracy. Save the input version and resulting report together, then compare like with like when evaluating a revised policy. It also makes the analysis portable: another reader can follow the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KECA-04: Keeping a Kenyan Portfolio Useful as Life and Markets Change
ARTICLE: https://sokointel.com/read/keca-04/
RESEARCH SNAPSHOT: 10 September 2026
REAL WEB CAPTURE
{
  "slug": "lab",
  "url": "https://sokointel.com/lab/",
  "captured_at": "2026-09-25T05:01:00.765Z",
  "inputs": [
    {
      "name": "opening_balance",
      "value": "100000"
    },
    {
      "name": "regular_payment",
      "value": "10000"
    },
    {
      "name": "goal_amount",
      "value": "2000000"
    },
    {
      "name": "annual_rate",
      "value": "8"
    },
    {
      "name": "payments_per_year",
      "value": "12"
    },
    {
      "name": "annual_inflation",
      "value": "5"
    },
    {
      "name": "years",
      "value": "10"
    },
    {
      "name": "perpetuity_cash_flow",
      "value": "120000"
    },
    {
      "name": "perpetuity_growth",
      "value": "0"
    }
  ],
  "screenshots": [
    "lab-inputs.png",
    "lab-full.png",
    "lab-results.png",
    "lab-summary.png"
  ],
  "get_status": 200,
  "title": "Compounding and cash-flow explorer | Sokointel",
  "post_status": 200,
  "results_text": "120 PAYMENT PERIODS / 10 YEARS\n\nFuture value, end-of-period contributions\nKES 2,017,135\nFuture value, beginning-of-period contributions\nKES 2,028,724\nPresent value of the stated target\nKES 926,387\nRequired end-of-period sinking-fund contribution\nKES 9,905\nChoose the relationship that fits the decision.\nRelationship\tResult\tPractical use\nFuture value of a lump sum\tKES 215,892\tWhat an amount already invested could become.\nFuture value, ordinary annuity\tKES 1,801,243\tSavings paid at the end of each month, quarter or year.\nFuture value, annuity due\tKES 1,812,832\tContributions made at the beginning of each period, such as rent or a pre-funded savings instruction.\nPresent value, ordinary annuity\tKES 834,324\tToday’s value of a known stream paid at each period-end.\nPresent value, annuity due\tKES 839,692\tToday’s value when the first cash flow arrives immediately.\nRequired annuity-due sinking-fund contribution\tKES 9,842\tHow much to set aside at each period-start to meet the stated future goal.\nPerpetuity view\nLevel perpetuity value\nKES 1,500,000\nGrowing perpetuity value\nKES 1,500,000\n\nThe level value assumes the stated annual cash flow continues indefinitely without growth. Perpetuity outputs are useful for understanding long-lived income streams and terminal-value logic, but they are especially sensitive to the discount-rate and growth assumptions.\n\nFollow the calculation.\nFormulae used\n𝑖\n=\n(\n1\n+\n𝑟\n)\n1\n/\n𝑚\n−\n1\n,\n𝑛\n=\n𝑚\n×\n𝑡\n𝐹\n𝑉\nordinary\n=\n𝑃\n𝑀\n𝑇\n×\n(\n1\n+\n𝑖\n)\n𝑛\n−\n1\n𝑖\n,\n𝐹\n𝑉\ndue\n=\n𝐹\n𝑉\nordinary\n(\n1\n+\n𝑖\n)\n𝑃\n𝑉\nordinary\n=\n𝑃\n𝑀\n𝑇\n×\n1\n−\n(\n1\n+\n𝑖\n)\n−\n𝑛\n𝑖\n,\n𝑃\n𝑉\ndue\n=\n𝑃\n𝑉\nordinary\n(\n1\n+\n𝑖\n)\n𝑃\n𝑀\n𝑇\nsinking\n=\n𝐺\n−\n𝑃\n𝑉\n(\n1\n+\n𝑖\n)\n𝑛\n(\n1\n+\n𝑖\n)\n𝑛\n−\n1\n𝑖\n,\n𝑃\n𝑉\nperpetuity\n=\n𝐶\n1\n𝑟\n−\n𝑔\n\nWhen the periodic rate is zero, the annuity factors become the number of payment periods. The calculator handles that case directly rather than dividing by zero.\n\nChange the rate, not the story.\n\nOnly the effective annual return changes in these three scenarios. Regular contribution, target, inflation and time stay the same.\n\nEffective annual return\tFuture value, ordinary contributions\tIn today’s purchasing power\n6.00%\tKES 1,803,819\tKES 1,107,389\n8.00%\tKES 2,017,135\tKES 1,238,346\n10.00%\tKES 2,258,013\tKES 1,386,224\nInspect each year\nUse a schedule when the obligation is a loan.\n\nThe mortgage planner models a repayment schedule, interest split, final balance, and the effect of an extra monthly payment. Use the companion workbooks for variable rates, irregular cash flows, tax, and full scenario analysis.\n\nOpen the loan repayment planner →",
  "alerts": [],
  "base": "Evidence/Web"
}
DEMONSTRATION SCOPE
Compare a lump sum and scheduled contributions under a constant annual return. Inspect beginning versus end-of-period payment timing.
Return sequences, withdrawals and stochastic pension paths require the workbook.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KECA-04: Keeping a Kenyan Portfolio Useful as Life and Markets Change
ARTICLE: https://sokointel.com/read/keca-04/
RESEARCH SNAPSHOT: 10 September 2026
Answer: Contributions, inflation and return order affect purchasing power and goal attainment. A conditional simulation helps compare choices; it does not promise a future outcome.
Viewer task: Review contributions, inflation, spending needs and drawdowns together; preserve the simulation assumptions and random-path context.
Return to each opening research question and identify what remains conditional or unknown.
ARTICLE SECTION: Part 4 of 4: Compounding, scenarios, simulation, and portfolio management
A portfolio begins as a set of weights and becomes a sequence of decisions. Income arrives at different dates, companies change their distributions, markets move, and the household's ability to contribute can vary. A plan that looks attractive at the beginning needs a process for navigating those developments. This final article follows the educational portfolios through time using deterministic projections, scenario tests, and Monte Carlo simulations. The simulations create many possible paths from explicit assumptions, allowing the investor to examine a range of outcomes. The accompanying workbook also shows the annual cash-flow sequence in ordinary rows and columns. Together, these tools help connect the portfolio to its purpose: what the money might become, how much saving effort contributes, when spending could become difficult, and which adjustments make the plan more resilient.
Start by defining what success means at a particular date. A target of KES 3 million can refer to nominal shillings at that date or to the purchasing power of KES 3 million today. Those definitions lead to different required outcomes as prices change. The examples use a twenty-year horizon, KES 1 million of opening wealth, and KES 120,000 contributed at each year-end. The primary goal is KES 3 million in today's purchasing power. Contributions are held constant in nominal terms initially, so their real value declines when inflation is positive. These choices are editable and form the foundation of every comparison. Once they are visible, the investor can ask whether a different contribution path, longer horizon, lower spending target, or revised allocation offers the most practical improvement.
The annual order of events matters because money can earn a return only while it is invested. Equation (4.1), closing wealth = opening wealth grown by the net return plus contributions minus withdrawals, describes the teaching model's year-end sequence. A contribution made at the end of the year begins earning the following year's return. A withdrawal follows the year's investment result and contribution. The workbook records any amount that the available funds cannot meet, then floors invested wealth at zero. This makes the spending shortfall observable rather than allowing a negative account balance to imply unspecified borrowing. A monthly implementation can extend the same sequence to actual dates, but the annual version provides a clear starting point for understanding how return, saving, and spending interact over a long horizon.
ARTICLE SECTION: Keep the research and portfolio records connected
A regular portfolio review begins with information that can change the business case. New results, a distribution decision, a large acquisition, a change in financing, or a material operating development can alter the valuation and expected return. Update the relevant company fields, then examine the consequences for portfolio weight, income, and shared risk. Price changes also matter because they affect the valuation opportunity and current concentration. A useful review records both what changed and why the action follows. This keeps the process grounded in evidence rather than in the direction of the last price move. The monitoring worksheet provides space for the original thesis, new information, valuation changes, and resulting decision, allowing the investor to learn from the relationship between earlier expectations and the business outcomes that subsequently became observable.
Performance measurement then separates the quality of the investment result from the timing of contributions and withdrawals. A simple reconciliation compares ending wealth with opening wealth and net external flows to identify the currency amount of investment gain. A time-weighted return links subperiod results to evaluate the portfolio independently of the size of external flows. A money-weighted return incorporates the timing and amount of those flows to describe the investor's experience. The appendix explains the mathematical distinction and provides a dated example. The practical requirement is a reliable record of deposits, withdrawals, costs, distributions, and valuations. Once those records are consistent, the investor can compare with an appropriate benchmark and investigate whether company selection, allocation, fees, timing, or an accounting difference explains the gap between expectation and outcome.
Rebalancing and research updates work best as connected decisions. A holding can become overweight because its price has risen, because another holding has fallen, or because a contribution was allocated unevenly. The investor can first use available cash and new contributions to restore the intended structure where that remains attractive on valuation. A sale may be appropriate when concentration has become excessive or the business case has weakened. The transaction should then be evaluated using current liquidity and costs. The policy can specify review dates and allocation bands while retaining a record of justified exceptions. This makes the process both repeatable and adaptable. Over time, the investor gains a clearer understanding of which decisions improved the portfolio and which reflected assumptions that should be revised in the next round of research.
The research engine and workbook have different refresh boundaries, and the guide identifies them. Formula-driven spreadsheet outputs update when their linked inputs change. Seeded search candidates and the larger simulation report are reproducible snapshots that require rerunning the supplied research script after their assumptions are changed. The workbook includes a smaller live simulation for immediate exploration, while the full experiment preserves its seed, horizon, distributions, crisis assumptions, and cash-flow convention. This organisation gives the reader a practical way to maintain accuracy. Save the input version and resulting report together, then compare like with like when evaluating a revised policy. It also makes the analysis portable: another reader can follow the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KECA-04: Keeping a Kenyan Portfolio Useful as Life and Markets Change
ARTICLE: https://sokointel.com/read/keca-04/
RESEARCH SNAPSHOT: 10 September 2026
SOURCE MATERIAL
[1] P. Glasserman, Monte Carlo Methods in Financial Engineering. New York, NY, USA: Springer, 2004, doi: 10.1007/978-0-387-21617-1. [Online]. Available: Publisher.
[2] R. T. Rockafellar and S. Uryasev, “Conditional value-at-risk for general loss distributions”, Journal of Banking &amp; Finance, vol. 26, no. 7, pp. 1443–1471, 2002, doi: 10.1016/S0378-4266(02)00271-6. [Online]. Available: Source. Accessed: Sep. 7, 2026.
All linked source URLs:
Publisher: https://doi.org/10.1007/978-0-387-21617-1
Source: https://www.sciencedirect.com/science/article/pii/S0378426602002716
Additional content sources:
[]
Workbook provenance:
C:\Users\Nevo\Downloads\financial material\outputs\01a0789a-5035-7453-ad64-a71cc94b3211\kenyan-equities\04-Compounding-and-Simulation.xlsx
'Simulation summary'!A4:G14
ac0f13ee806be1ffe5ebcc277cdeb4a33fa6b15b02e76ea65a113131819d431d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keca-04/" TargetMode="External"/><Relationship Id="rId2" Type="http://schemas.openxmlformats.org/officeDocument/2006/relationships/hyperlink" Target="https://doi.org/10.1007/978-0-387-21617-1" TargetMode="External"/><Relationship Id="rId3" Type="http://schemas.openxmlformats.org/officeDocument/2006/relationships/hyperlink" Target="https://www.sciencedirect.com/science/article/pii/S0378426602002716" TargetMode="Externa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Keeping a Kenyan Portfolio Useful as Life and Markets Change</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Seven dated dividend examples, fictional company models and three educational allocation policies.</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KECA-04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How do contributions, inflation, return sequences, crisis assumptions and withdrawals affect long-term purchasing power and the ability to meet a household goal?</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Nominal wealth — amount in future currency units</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Real wealth — amount in today’s purchasing power</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Price index — cumulative inflation multiplier</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Simulation — conditional paths generated by stated assumptions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Savings and investment gains / Purchasing power</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Contributions and investment performance each contribute to wealth.</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nominal balance needs an inflation adjustment to describe today’s purchasing power.</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The simulation mechanism / Allocation outcomes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Return distributions, shared movements and crisis assumptions define the experiment.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crisis experiment produces overlapping outcome ranges for the three policies.</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Contributions and inflation / Spending and performance</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Saving effort and the assumed inflation path materially change the result.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Withdrawal timing, drawdowns and investor cash flows answer different performance questions.</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Translate nominal wealth into purchasing power</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Real wealth = nominal wealth ÷ cumulative price index</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Year 1 median: KES 1,197,979.16 ÷ 1.05 = KES 1,140,932.54.</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Nominal growth is only part of progress toward a spending goal.</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Simulation summary: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KECA-04-01-p1.png">    </p:cNvPr>
          <p:cNvPicPr>
            <a:picLocks noChangeAspect="1"/>
          </p:cNvPicPr>
          <p:nvPr/>
        </p:nvPicPr>
        <p:blipFill>
          <a:blip r:embed="rId1"/>
          <a:stretch>
            <a:fillRect/>
          </a:stretch>
        </p:blipFill>
        <p:spPr>
          <a:xfrm>
            <a:off x="886304" y="1874520"/>
            <a:ext cx="10425488" cy="3639312"/>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Simulation summary!A4:G14</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Keep nominal cash; change the purchasing-power assumption</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Same nominal balance and horizon.</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Increase the assumed cumulative inflation factor.</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Real purchasing power falls; higher contributions can offset some loss but require household cash today.</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lab-summary.png">    </p:cNvPr>
          <p:cNvPicPr>
            <a:picLocks noChangeAspect="1"/>
          </p:cNvPicPr>
          <p:nvPr/>
        </p:nvPicPr>
        <p:blipFill>
          <a:blip r:embed="rId1"/>
          <a:stretch>
            <a:fillRect/>
          </a:stretch>
        </p:blipFill>
        <p:spPr>
          <a:xfrm>
            <a:off x="2091340" y="1810512"/>
            <a:ext cx="4385247"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Compare a lump sum and scheduled contributions under a constant annual return. Inspect beginning versus end-of-period payment timing.</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Return sequences, withdrawals and stochastic pension paths require the workbook.</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/lab/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Contributions, inflation and return order affect purchasing power and goal attainment. A conditional simulation helps compare choices; it does not promise a future outcome.</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Review contributions, inflation, spending needs and drawdowns together; preserve the simulation assumptions and random-path context.</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sokointel.com/read/keca-04/</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Publisher</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Source</a:t>
            </a:r>
            <a:endParaRPr lang="en-US" sz="1700" dirty="0"/>
          </a:p>
        </p:txBody>
      </p:sp>
      <p:sp>
        <p:nvSpPr>
          <p:cNvPr id="11" name="Text 9"/>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Keeping a Kenyan Portfolio Useful as Life and Markets Change</dc:title>
  <dc:subject>How do contributions, inflation, return sequences, crisis assumptions and withdrawals affect long-term purchasing power and the ability to meet a household goal?</dc:subject>
  <dc:creator>Sokointel</dc:creator>
  <cp:lastModifiedBy>Sokointel</cp:lastModifiedBy>
  <cp:revision>1</cp:revision>
  <dcterms:created xsi:type="dcterms:W3CDTF">2026-09-25T13:49:39Z</dcterms:created>
  <dcterms:modified xsi:type="dcterms:W3CDTF">2026-09-25T13:49:39Z</dcterms:modified>
</cp:coreProperties>
</file>