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OPENING NARRATION
Seven dated dividend examples, fictional company models and three educational allocation policies.
Dated source record • fictional calculations are labelled as illustrations
Introduce the decision before defining the technical terms.
ARTICLE SECTION: Part 2 of 4: Financial statements, sector economics, and valuation
A company becomes easier to analyse when the investor can describe how it earns a shilling and what happens before that shilling reaches shareholders. A brewer buys inputs, produces stock, sells through a distribution network, collects payment, and funds the next production cycle. A bank gathers funding, allocates credit, earns interest and fees, absorbs losses, and maintains capital. An insurer accepts uncertain future obligations in exchange for premiums and invests funds while claims develop. These operating differences shape the financial statements and the valuation method. This article follows them through a practical research process. The accompanying workbook provides connected calculations, while the appendix explains the technical formulas and their assumptions. The objective is a valuation range whose business logic you can understand, question, and update when new evidence arrives.
Begin with a short business description before opening the ratio table. Identify the main products, customers, regions, revenue drivers, and recurring obligations. Then ask what allows the company to earn attractive returns: price, volume, distribution, scale, convenience, specialised assets, or a combination. A useful answer links the competitive advantage to an observable measure. Pricing power may appear in margins and customer retention. Efficient distribution may appear in turnover and working capital. A strong funding franchise may appear in deposit stability and funding costs. This gives the investor a way to test the business story against the statements. It also helps select comparable companies because businesses with similar labels can have very different revenue sources, capital needs, geographical exposures, and sensitivity to changes in demand or financing conditions.
The annual report can then be read as a connected account of operations and ownership. The income statement explains earnings over a period, the balance sheet records resources and obligations at a date, and the cash-flow statement follows movements in cash. Changes in equity connect profits, distributions, new capital, and other adjustments to the shareholders' position. The SEC's introductory guide offers a useful explanation of these relationships [1]. For Kenyan issuers, the investor then works with the accounting framework and policies used in the actual report. Read the auditor's opinion, key audit matters, accounting policies, and supporting notes alongside the primary statements. These sections identify where estimates, classifications, or uncertainty are important enough to affect the interpretation of an apparently simple growth rate or valuation multiple.
ARTICLE SECTION: Follow profit into cash and capital
Operating cash flow explains how the accounting result connects to cash generated by activity. IAS 7 classifies cash flows into operating, investing, and financing categories, with the relevant accounting policies affecting the presentation [2]. For a nonfinancial company, changes in receivables, inventory, and payables are often central to the bridge. A profitable expansion may initially consume cash as stock and customer credit grow. A decline in activity may temporarily release cash by reducing those balances. The investor can therefore compare cash conversion across several years and examine the underlying operating movements. This turns a cash-flow ratio into a business explanation. It also provides useful forecast drivers because future growth will often require additional working capital before the new sales have been fully collected.
Equation (2.1), operating working capital = trade receivables plus inventory minus trade payables, creates a manageable starting point for a manufacturer. The next step is to connect each balance to activity. Receivable days estimate how long sales remain unpaid, inventory days estimate how long stock is held, and payable days estimate how long suppliers finance purchases. When purchases are unavailable, cost of sales can serve as an explicitly labelled proxy for payable days. Average balances improve the comparison where opening and closing values are available. Seasonal businesses may require more frequent observations because a year-end balance can be unrepresentative. The appendix explains the exact formulas and manual calculations. In the body of the analysis, the useful question is how much additional cash the company needs when sales or payment behaviour change.
A negative cash-conversion cycle can be commercially attractive because customers pay before the company settles the associated supplier obligations. Understanding its cause is essential to assessing durability. Prepaid sales and reliable supplier terms can support a stable pattern, while overdue payments or temporary inventory reductions can produce a similar numerical result through a different process. Supplier-finance arrangements also deserve separate attention because they can change the interpretation of payables and cash flows. The sector-screen sheet lets you compare an efficient cycle, slower collections, and longer supplier credit using the same formulas. You can then ask which changes reflect a repeatable operating advantage and which represent financing pressure. The conclusion feeds directly into the cash forecast, dividend capacity, and the amount of financial flexibility available during a difficult trading period.
Capital expenditure links today's cash to tomorrow's productive capacity. Maintenance spending preserves existing operations, while expansion spending aims to create additional earnings. Companies may provide useful information about projects, capacity, network investment, or replacement programmes, although the split between maintenance and growth is often an analytical estimate. Record that estimate and test alternatives. Depreciation offers context about past capital consumption, but future replacement costs and technology can change the cash required. Equation (2.2), cash after capital expenditure = operating cash flow minus capital expenditure, provides a simple cash measure for the initial review. The valuation model then develops an unlevered cash-flow measure with consistent tax and financing trea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Read the questions naturally and define terms in context.
FCFF — free cash flow to the firm before debt payments
WACC — discount rate matching the enterprise cash flows
g — sustainable terminal growth; must be below WACC
ROIC — return on incremental invested capital
Equity bridge — enterprise value adjusted for cash, debt and other claims
Research question mapping: KECA-Q2,KECA-Q3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Explain the mechanism with the cited article section, then relate it to the opening decision.
Narration: explain each step and its consequence for the opening decision.
ARTICLE SECTION: Follow profit into cash and capital
Operating cash flow explains how the accounting result connects to cash generated by activity. IAS 7 classifies cash flows into operating, investing, and financing categories, with the relevant accounting policies affecting the presentation [2]. For a nonfinancial company, changes in receivables, inventory, and payables are often central to the bridge. A profitable expansion may initially consume cash as stock and customer credit grow. A decline in activity may temporarily release cash by reducing those balances. The investor can therefore compare cash conversion across several years and examine the underlying operating movements. This turns a cash-flow ratio into a business explanation. It also provides useful forecast drivers because future growth will often require additional working capital before the new sales have been fully collected.
Equation (2.1), operating working capital = trade receivables plus inventory minus trade payables, creates a manageable starting point for a manufacturer. The next step is to connect each balance to activity. Receivable days estimate how long sales remain unpaid, inventory days estimate how long stock is held, and payable days estimate how long suppliers finance purchases. When purchases are unavailable, cost of sales can serve as an explicitly labelled proxy for payable days. Average balances improve the comparison where opening and closing values are available. Seasonal businesses may require more frequent observations because a year-end balance can be unrepresentative. The appendix explains the exact formulas and manual calculations. In the body of the analysis, the useful question is how much additional cash the company needs when sales or payment behaviour change.
A negative cash-conversion cycle can be commercially attractive because customers pay before the company settles the associated supplier obligations. Understanding its cause is essential to assessing durability. Prepaid sales and reliable supplier terms can support a stable pattern, while overdue payments or temporary inventory reductions can produce a similar numerical result through a different process. Supplier-finance arrangements also deserve separate attention because they can change the interpretation of payables and cash flows. The sector-screen sheet lets you compare an efficient cycle, slower collections, and longer supplier credit using the same formulas. You can then ask which changes reflect a repeatable operating advantage and which represent financing pressure. The conclusion feeds directly into the cash forecast, dividend capacity, and the amount of financial flexibility available during a difficult trading period.
Capital expenditure links today's cash to tomorrow's productive capacity. Maintenance spending preserves existing operations, while expansion spending aims to create additional earnings. Companies may provide useful information about projects, capacity, network investment, or replacement programmes, although the split between maintenance and growth is often an analytical estimate. Record that estimate and test alternatives. Depreciation offers context about past capital consumption, but future replacement costs and technology can change the cash required. Equation (2.2), cash after capital expenditure = operating cash flow minus capital expenditure, provides a simple cash measure for the initial review. The valuation model then develops an unlevered cash-flow measure with consistent tax and financing trea
ARTICLE SECTION: Estimate value from cash generation and required returns
Valuation begins by asking what the investor expects to receive and what return compensates for committing money to that opportunity. BAT Kenya supplies a dated nonfinancial case rather than a fictional manufacturer. Its FY2025 annual report recorded revenue of KES 23,191.945 million, EBIT of KES 7,474.835 million, operating cash flow of KES 6,633.154 million, capital expenditure of KES 301.833 million and earnings per share of KES 52.46 [10]. The NSE daily price list recorded a KES 560 volume-weighted average price on 11 September 2026 [11]. These reported values establish the operating scale and the price observation. They do not establish a target price.
| BAT Kenya FY2025 evidence | Reported value | Use in the case |
| --- | ---: | --- |
| Revenue | KES 23,191.945 million | Starting scale for the explicit operating scenario |
| EBIT | KES 7,474.835 million | Margin and after-tax operating-profit bridge |
| Operating cash flow | KES 6,633.154 million | Cash-conversion cross-check |
| Capital expenditure | KES 301.833 million | Reinvestment starting point |
| Fiscal dividend per share | KES 70.00 | Distribution-quality and payout discussion |
| Earnings per share | KES 52.46 | Payout and ownership-claim cross-check |
| NSE VWAP, 11 September 2026 | KES 560.00 | Dated price observation, not a guaranteed execution price |
The workbook forecasts operating cash available to all capital providers after tax and reinvestment, then discounts those cash flows at a matching required return. Its five forward years use stated assumptions for revenue growth, EBIT margin, working-capital days, capital expenditure, tax, required return and terminal return on invested capital. They are teaching scenarios calibrated from the FY2025 evidence, not BAT guidance, forecasts, or a recommendation. A terminal calculation represents the business beyond the explicit forecast. Cash and nonoperating assets are added where appropriate, debt and other claims are deducted, and the result is divided by shares. The appendix contains the detailed discounted-cash-flow formulas and every step of the worked case. The practical focus is the set of business assumptions behind them: sales, margins, tax, working capital, productive investment, financing, and the returns the company can earn as it moves towards a more mature operating pattern.
The terminal period deserves particular care because growth requires resources. Damodaran's valuation material connects stable growth to the reinvestment needed at the assumed return on capital [7]. In the BAT Kenya case workbook, the base scenario uses a 3% perpetual growth assumption and an 18% return on new capital, implying that approximately 16.67% of after-tax operating profit is retained for reinvestment in the terminal period. The remaining portion supports the terminal cash-flow calculation. Raising growth therefore changes both the future profit level and the resources required to sustain it. This is economically more informative than increasing growth while leaving investment unchanged. The sensitivity grid recalculates the full relationship across required returns and growth rates. It gives the investor a range to interpret and makes the assumptions behind a high terminal value visible, including how much of the total valuation depends on events beyond the explicit forecast.
Banks and insurers often benefit from valuation methods centred on equity, distributions, and returns on equity, as developed in Damodaran's treatmen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Explain the mechanism with the cited article section, then relate it to the opening decision.
Narration: explain each step and its consequence for the opening decision.
ARTICLE SECTION: Analyse banks through losses, funding, and capital
For a bank, asset quality is a central link between current earnings and future distributions. Read the gross loan book, nonperforming loans, impairment allowances, write-offs, recoveries, and movement between credit-quality categories. IFRS 9 provides the expected-credit-loss framework used in the accounting analysis [3]. The practical question is how changes in borrower performance and economic expectations affect the profit available to shareholders. A falling nonperforming-loan ratio can reflect collections, write-offs, loan growth, or changes in classification. Each route has different implications. The workbook's banking analysis therefore uses several measures together and records their definitions. This helps the investor connect the stock of troubled assets with the current impairment charge and the remaining exposure, producing a clearer view of the bank's capacity to absorb further deterioration while supporting its business.
Coverage ratios are most useful when the numerator and denominator are precisely matched. An investor might compare impairment allowances with nonperforming loans, but published definitions can include or exclude collateral, interest in suspense, regulatory reserves, and different categories of exposure. Record the chosen basis and use it consistently across periods and peers. The current credit-loss charge is a flow, while the allowance is a balance-sheet stock, so the two answer related but separate questions. A practical review follows the allowance from opening balance through new charges, recoveries, write-offs, currency effects, and closing balance where disclosed. This can reveal why a lower charge coexists with a significant remaining problem book. It also makes stress testing more useful because an additional loss assumption can be connected to earnings and capital rather than applied as an isolated percentage.
Funding and efficiency determine how much income is available before credit losses. Net interest income reflects asset yields, funding costs, and the balance-sheet mix. Fee income can diversify revenue but may have its own volume and regulatory sensitivities. The cost-to-income ratio then shows how operating expenses relate to the selected income measure. A useful bank forecast separates revenue growth, operating costs, and impairment rather than collapsing them into one profit-growth assumption. It can test lower lending yields alongside sticky deposit costs, slower fees, or a rise in collection expenditure. The investor should also examine deposit concentration and maturity information because funding stability affects the bank's room to respond. These operating relationships explain how a bank can remain profitable while its distributable capacity changes materially between otherwise similar reporting periods.
Capital connects the bank's balance sheet with its ability to grow and distribute. The relevant ratio compares eligible regulatory capital with risk-weighted assets, using the rules applicable to the regulated entity. CBK's supervision reports provide regulatory context, while the issuer's disclosures establish the actual entity-level position [4]. A regional group may have subsidiaries governed by different requirements, so group equity and a single headline ratio need an appropriate bridge. The teaching model makes its simplifying assumption explicit: opening equity is used as a proxy for eligible capital. It then calculates the retention needed to support assumed growth in 
ARTICLE SECTION: Estimate value from cash generation and required returns
Valuation begins by asking what the investor expects to receive and what return compensates for committing money to that opportunity. BAT Kenya supplies a dated nonfinancial case rather than a fictional manufacturer. Its FY2025 annual report recorded revenue of KES 23,191.945 million, EBIT of KES 7,474.835 million, operating cash flow of KES 6,633.154 million, capital expenditure of KES 301.833 million and earnings per share of KES 52.46 [10]. The NSE daily price list recorded a KES 560 volume-weighted average price on 11 September 2026 [11]. These reported values establish the operating scale and the price observation. They do not establish a target price.
| BAT Kenya FY2025 evidence | Reported value | Use in the case |
| --- | ---: | --- |
| Revenue | KES 23,191.945 million | Starting scale for the explicit operating scenario |
| EBIT | KES 7,474.835 million | Margin and after-tax operating-profit bridge |
| Operating cash flow | KES 6,633.154 million | Cash-conversion cross-check |
| Capital expenditure | KES 301.833 million | Reinvestment starting point |
| Fiscal dividend per share | KES 70.00 | Distribution-quality and payout discussion |
| Earnings per share | KES 52.46 | Payout and ownership-claim cross-check |
| NSE VWAP, 11 September 2026 | KES 560.00 | Dated price observation, not a guaranteed execution price |
The workbook forecasts operating cash available to all capital providers after tax and reinvestment, then discounts those cash flows at a matching required return. Its five forward years use stated assumptions for revenue growth, EBIT margin, working-capital days, capital expenditure, tax, required return and terminal return on invested capital. They are teaching scenarios calibrated from the FY2025 evidence, not BAT guidance, forecasts, or a recommendation. A terminal calculation represents the business beyond the explicit forecast. Cash and nonoperating assets are added where appropriate, debt and other claims are deducted, and the result is divided by shares. The appendix contains the detailed discounted-cash-flow formulas and every step of the worked case. The practical focus is the set of business assumptions behind them: sales, margins, tax, working capital, productive investment, financing, and the returns the company can earn as it moves towards a more mature operating pattern.
The terminal period deserves particular care because growth requires resources. Damodaran's valuation material connects stable growth to the reinvestment needed at the assumed return on capital [7]. In the BAT Kenya case workbook, the base scenario uses a 3% perpetual growth assumption and an 18% return on new capital, implying that approximately 16.67% of after-tax operating profit is retained for reinvestment in the terminal period. The remaining portion supports the terminal cash-flow calculation. Raising growth therefore changes both the future profit level and the resources required to sustain it. This is economically more informative than increasing growth while leaving investment unchanged. The sensitivity grid recalculates the full relationship across required returns and growth rates. It gives the investor a range to interpret and makes the assumptions behind a high terminal value visible, including how much of the total valuation depends on events beyond the explicit forecast.
Banks and insurers often benefit from valuation methods centred on equity, distributions, and returns on equity, as developed in Damodaran's treatmen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Explain the mechanism with the cited article section, then relate it to the opening decision.
Narration: explain each step and its consequence for the opening decision.
ARTICLE SECTION: Estimate value from cash generation and required returns
Valuation begins by asking what the investor expects to receive and what return compensates for committing money to that opportunity. BAT Kenya supplies a dated nonfinancial case rather than a fictional manufacturer. Its FY2025 annual report recorded revenue of KES 23,191.945 million, EBIT of KES 7,474.835 million, operating cash flow of KES 6,633.154 million, capital expenditure of KES 301.833 million and earnings per share of KES 52.46 [10]. The NSE daily price list recorded a KES 560 volume-weighted average price on 11 September 2026 [11]. These reported values establish the operating scale and the price observation. They do not establish a target price.
| BAT Kenya FY2025 evidence | Reported value | Use in the case |
| --- | ---: | --- |
| Revenue | KES 23,191.945 million | Starting scale for the explicit operating scenario |
| EBIT | KES 7,474.835 million | Margin and after-tax operating-profit bridge |
| Operating cash flow | KES 6,633.154 million | Cash-conversion cross-check |
| Capital expenditure | KES 301.833 million | Reinvestment starting point |
| Fiscal dividend per share | KES 70.00 | Distribution-quality and payout discussion |
| Earnings per share | KES 52.46 | Payout and ownership-claim cross-check |
| NSE VWAP, 11 September 2026 | KES 560.00 | Dated price observation, not a guaranteed execution price |
The workbook forecasts operating cash available to all capital providers after tax and reinvestment, then discounts those cash flows at a matching required return. Its five forward years use stated assumptions for revenue growth, EBIT margin, working-capital days, capital expenditure, tax, required return and terminal return on invested capital. They are teaching scenarios calibrated from the FY2025 evidence, not BAT guidance, forecasts, or a recommendation. A terminal calculation represents the business beyond the explicit forecast. Cash and nonoperating assets are added where appropriate, debt and other claims are deducted, and the result is divided by shares. The appendix contains the detailed discounted-cash-flow formulas and every step of the worked case. The practical focus is the set of business assumptions behind them: sales, margins, tax, working capital, productive investment, financing, and the returns the company can earn as it moves towards a more mature operating pattern.
The terminal period deserves particular care because growth requires resources. Damodaran's valuation material connects stable growth to the reinvestment needed at the assumed return on capital [7]. In the BAT Kenya case workbook, the base scenario uses a 3% perpetual growth assumption and an 18% return on new capital, implying that approximately 16.67% of after-tax operating profit is retained for reinvestment in the terminal period. The remaining portion supports the terminal cash-flow calculation. Raising growth therefore changes both the future profit level and the resources required to sustain it. This is economically more informative than increasing growth while leaving investment unchanged. The sensitivity grid recalculates the full relationship across required returns and growth rates. It gives the investor a range to interpret and makes the assumptions behind a high terminal value visible, including how much of the total valuation depends on events beyond the explicit forecast.
Banks and insurers often benefit from valuation methods centred on equity, distributions, and returns on equity, as developed in Damodaran's treatmen
ARTICLE SECTION: Follow profit into cash and capital
Operating cash flow explains how the accounting result connects to cash generated by activity. IAS 7 classifies cash flows into operating, investing, and financing categories, with the relevant accounting policies affecting the presentation [2]. For a nonfinancial company, changes in receivables, inventory, and payables are often central to the bridge. A profitable expansion may initially consume cash as stock and customer credit grow. A decline in activity may temporarily release cash by reducing those balances. The investor can therefore compare cash conversion across several years and examine the underlying operating movements. This turns a cash-flow ratio into a business explanation. It also provides useful forecast drivers because future growth will often require additional working capital before the new sales have been fully collected.
Equation (2.1), operating working capital = trade receivables plus inventory minus trade payables, creates a manageable starting point for a manufacturer. The next step is to connect each balance to activity. Receivable days estimate how long sales remain unpaid, inventory days estimate how long stock is held, and payable days estimate how long suppliers finance purchases. When purchases are unavailable, cost of sales can serve as an explicitly labelled proxy for payable days. Average balances improve the comparison where opening and closing values are available. Seasonal businesses may require more frequent observations because a year-end balance can be unrepresentative. The appendix explains the exact formulas and manual calculations. In the body of the analysis, the useful question is how much additional cash the company needs when sales or payment behaviour change.
A negative cash-conversion cycle can be commercially attractive because customers pay before the company settles the associated supplier obligations. Understanding its cause is essential to assessing durability. Prepaid sales and reliable supplier terms can support a stable pattern, while overdue payments or temporary inventory reductions can produce a similar numerical result through a different process. Supplier-finance arrangements also deserve separate attention because they can change the interpretation of payables and cash flows. The sector-screen sheet lets you compare an efficient cycle, slower collections, and longer supplier credit using the same formulas. You can then ask which changes reflect a repeatable operating advantage and which represent financing pressure. The conclusion feeds directly into the cash forecast, dividend capacity, and the amount of financial flexibility available during a difficult trading period.
Capital expenditure links today's cash to tomorrow's productive capacity. Maintenance spending preserves existing operations, while expansion spending aims to create additional earnings. Companies may provide useful information about projects, capacity, network investment, or replacement programmes, although the split between maintenance and growth is often an analytical estimate. Record that estimate and test alternatives. Depreciation offers context about past capital consumption, but future replacement costs and technology can change the cash required. Equation (2.2), cash after capital expenditure = operating cash flow minus capital expenditure, provides a simple cash measure for the initial review. The valuation model then develops an unlevered cash-flow measure with consistent tax and financing trea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DCF A4:H14. The source workbook model, the BAT filed facts and the web DCF defaults are three distinct cases.
Equation: Terminal FCFF = terminal NOPAT × (1 − g/ROIC)
Substitution: Source terminal NOPAT 1,626.33 × (1 − 25%) = 1,219.75.
Interpretation: The model then discounts forecast and terminal cash flows; source enterprise value is 9,693.04 in its stated model units.
ARTICLE SECTION: Estimate value from cash generation and required returns
Valuation begins by asking what the investor expects to receive and what return compensates for committing money to that opportunity. BAT Kenya supplies a dated nonfinancial case rather than a fictional manufacturer. Its FY2025 annual report recorded revenue of KES 23,191.945 million, EBIT of KES 7,474.835 million, operating cash flow of KES 6,633.154 million, capital expenditure of KES 301.833 million and earnings per share of KES 52.46 [10]. The NSE daily price list recorded a KES 560 volume-weighted average price on 11 September 2026 [11]. These reported values establish the operating scale and the price observation. They do not establish a target price.
| BAT Kenya FY2025 evidence | Reported value | Use in the case |
| --- | ---: | --- |
| Revenue | KES 23,191.945 million | Starting scale for the explicit operating scenario |
| EBIT | KES 7,474.835 million | Margin and after-tax operating-profit bridge |
| Operating cash flow | KES 6,633.154 million | Cash-conversion cross-check |
| Capital expenditure | KES 301.833 million | Reinvestment starting point |
| Fiscal dividend per share | KES 70.00 | Distribution-quality and payout discussion |
| Earnings per share | KES 52.46 | Payout and ownership-claim cross-check |
| NSE VWAP, 11 September 2026 | KES 560.00 | Dated price observation, not a guaranteed execution price |
The workbook forecasts operating cash available to all capital providers after tax and reinvestment, then discounts those cash flows at a matching required return. Its five forward years use stated assumptions for revenue growth, EBIT margin, working-capital days, capital expenditure, tax, required return and terminal return on invested capital. They are teaching scenarios calibrated from the FY2025 evidence, not BAT guidance, forecasts, or a recommendation. A terminal calculation represents the business beyond the explicit forecast. Cash and nonoperating assets are added where appropriate, debt and other claims are deducted, and the result is divided by shares. The appendix contains the detailed discounted-cash-flow formulas and every step of the worked case. The practical focus is the set of business assumptions behind them: sales, margins, tax, working capital, productive investment, financing, and the returns the company can earn as it moves towards a more mature operating pattern.
The terminal period deserves particular care because growth requires resources. Damodaran's valuation material connects stable growth to the reinvestment needed at the assumed return on capital [7]. In the BAT Kenya case workbook, the base scenario uses a 3% perpetual growth assumption and an 18% return on new capital, implying that approximately 16.67% of after-tax operating profit is retained for reinvestment in the terminal period. The remaining portion supports the terminal cash-flow calculation. Raising growth therefore changes both the future profit level and the resources required to sustain it. This is economically more informative than increasing growth while leaving investment unchanged. The sensitivity grid recalculates the full relationship across required returns and growth rates. It gives the investor a range to interpret and makes the assumptions behind a high terminal value visible, including how much of the total valuation depends on events beyond the explicit forecast.
Banks and insurers often benefit from valuation methods centred on equity, distributions, and returns on equity, as developed in Damodaran's treatmen
ARTICLE SECTION: Match the valuation method to the distributable claim
A discounted cash-flow model is normally useful for a nonfinancial company when operating cash generation, reinvestment and financing can be distinguished with reasonable evidence. Banks, insurers and mature distribution businesses can require an equity-focused method because regulatory capital, policyholder obligations or necessary investment affect the cash that may safely be distributed. The method should follow the economics of the issuer, not a rule based only on its sector label.
For a mature business whose dividends are supported by sustainable earnings and capital capacity, a dividend-discount cross-check can make the assumptions visible:
\[
V_0 = \frac{D_1}{k_e - g}.
\]
Here, \(D_1\) is the next-period dividend consistent with the forecast, \(k_e\) is the shareholder's required return, and \(g\) is a long-run growth rate. The relationship becomes unreliable if \(g\) approaches or exceeds \(k_e\), if dividends do not reflect sustainable distributable capacity, or if the issuer must retain material capital to fund growth or absorb losses. For a bank, the separate capital-capacity analysis remains essential. For a telecommunications or industrial business, the DDM should be reconciled with the reinvestment and free-cash-flow story rather than used as an alternative to understanding it.
Required returns should be calibrated from a dated local-currency opportunity cost, business risk, leverage, currency mismatch and the liquidity actually available to the holder. When the investor's future spending is in a different currency, include that exposure in the scenario analysis instead of quietly lowering the shilling discount rate or the required return. This approach avoids importing a foreign-market hurdle rate or treating a single government-security yield as a complete cost of equity.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ACTUAL WORKBOOK CAPTURE
Workbook: C:\Users\Nevo\Downloads\financial material\outputs\01a0789a-5035-7453-ad64-a71cc94b3211\kenyan-equities\02-Statements-and-Valuation.xlsx
Sheet/range: 'DCF'!A4:H14
SHA-256: f1465694d6ee2cba0cf2f3ef2ea1f2b4179a7677de88d087a092e2301a3a4fcb
Capture method: Microsoft Excel read-only PDF range export. Print headings retained. Source not saved.
Asset: Evidence/Workbooks/KECA-02-01-p1.png
SCREEN RECORDING WALKTHROUGH
Read the row and column headings. Identify inputs, follow the dependent row and explain the units. Do not alter the source workbook while recording; use a copy for a new scenario.
Extracted evidence text:
4
5
6
7
8
9
10
11
12
13
14
A B C D E F G H
Measure Value Explanation
PV forecast cash flow 3,358.05 PV_FCFF=Σ FCFF_t/(1+WACC)^t
Terminal NOPAT 1,626.33 NOPAT_6=NOPAT_5(1+g)
Terminal reinvestment fraction 25.00% RR=g/ROIC
Terminal cash flow 1,219.75 FCFF_6=NOPAT_6(1−g/ROIC)
Terminal enterprise value 12,197.49 TV_5=FCFF_6/(WACC−g)
PV terminal 6,334.99 PV_TV=TV_5/(1+WACC)^5
Enterprise value 9,693.04 EV=PV_FCFF+PV_TV
Equity value 8,393.04 Equity=EV+cash−debt+investments−minority interests
Relevant article context:
ARTICLE SECTION: # Reading the Business Behind a Kenyan Share Price
ARTICLE SECTION: Part 2 of 4: Financial statements, sector economics, and valuation
A company becomes easier to analyse when the investor can describe how it earns a shilling and what happens before that shilling reaches shareholders. A brewer buys inputs, produces stock, sells through a distribution network, collects payment, and funds the next production cycle. A bank gathers funding, allocates credit, earns interest and fees, absorbs losses, and maintains capital. An insurer accepts uncertain future obligations in exchange for premiums and invests funds while claims develop. These operating differences shape the financial statements and the valuation method. This article follows them through a practical research process. The accompanying workbook provides connected calculations, while the appendix explains the technical formulas and their assumptions. The objective is a valuation range whose business logic you can understand, question, and update when new evidence arrives.
Begin with a short business description before opening the ratio table. Identify the main products, customers, regions, revenue drivers, and recurring obligations. Then ask what allows the company to earn attractive returns: price, volume, distribution, scale, convenience, specialised assets, or a combination. A useful answer links the competitive advantage to an observable measure. Pricing power may appear in margins and customer retention. Efficient distribution may appear in turnover and working capital. A strong funding franchise may appear in deposit stability and funding costs. This gives the investor a way to test the business story against the statements. It also helps select comparable companies because businesses with similar labels can have very different revenue sources, capital needs, geographical exposures, and sensitivity to changes in demand or financing conditions.
The annual report can then be read as a connected account of operations and ownership. The income statement explains earnings over a period, the balance sheet records resources and obligations at a date, and the cash-flow statement follows movements in cash. Changes in equity connect profits, distributions, new capital, and other adjustments to the shareholders' position. The SEC's introductory guide offers a useful explanation of these relationships [1]. For Kenyan issuers, the investor then works with the accounting framework and policies used in the actual report. Read the auditor's opinion, key audit matters, accounting policies, and supporting notes alongside the primary statements. These sections identify where estimates, classifications, or uncertainty are important enough to affect the interpretation of an apparently simple growth rate or valuation multiple.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Do not use industrial FCFF for banks or insurers; use the appropriate equity/capital model. No new issuer value is asserted.
Base: Use the source five-year cash-flow forecast.
Changed: Increase WACC by one percentage point; hold those five cash flows fixed.
Consequence: Their present value falls. Terminal value also changes through the WACC-minus-growth denominator and discount factor.
ARTICLE SECTION: Estimate value from cash generation and required returns
Valuation begins by asking what the investor expects to receive and what return compensates for committing money to that opportunity. BAT Kenya supplies a dated nonfinancial case rather than a fictional manufacturer. Its FY2025 annual report recorded revenue of KES 23,191.945 million, EBIT of KES 7,474.835 million, operating cash flow of KES 6,633.154 million, capital expenditure of KES 301.833 million and earnings per share of KES 52.46 [10]. The NSE daily price list recorded a KES 560 volume-weighted average price on 11 September 2026 [11]. These reported values establish the operating scale and the price observation. They do not establish a target price.
| BAT Kenya FY2025 evidence | Reported value | Use in the case |
| --- | ---: | --- |
| Revenue | KES 23,191.945 million | Starting scale for the explicit operating scenario |
| EBIT | KES 7,474.835 million | Margin and after-tax operating-profit bridge |
| Operating cash flow | KES 6,633.154 million | Cash-conversion cross-check |
| Capital expenditure | KES 301.833 million | Reinvestment starting point |
| Fiscal dividend per share | KES 70.00 | Distribution-quality and payout discussion |
| Earnings per share | KES 52.46 | Payout and ownership-claim cross-check |
| NSE VWAP, 11 September 2026 | KES 560.00 | Dated price observation, not a guaranteed execution price |
The workbook forecasts operating cash available to all capital providers after tax and reinvestment, then discounts those cash flows at a matching required return. Its five forward years use stated assumptions for revenue growth, EBIT margin, working-capital days, capital expenditure, tax, required return and terminal return on invested capital. They are teaching scenarios calibrated from the FY2025 evidence, not BAT guidance, forecasts, or a recommendation. A terminal calculation represents the business beyond the explicit forecast. Cash and nonoperating assets are added where appropriate, debt and other claims are deducted, and the result is divided by shares. The appendix contains the detailed discounted-cash-flow formulas and every step of the worked case. The practical focus is the set of business assumptions behind them: sales, margins, tax, working capital, productive investment, financing, and the returns the company can earn as it moves towards a more mature operating pattern.
The terminal period deserves particular care because growth requires resources. Damodaran's valuation material connects stable growth to the reinvestment needed at the assumed return on capital [7]. In the BAT Kenya case workbook, the base scenario uses a 3% perpetual growth assumption and an 18% return on new capital, implying that approximately 16.67% of after-tax operating profit is retained for reinvestment in the terminal period. The remaining portion supports the terminal cash-flow calculation. Raising growth therefore changes both the future profit level and the resources required to sustain it. This is economically more informative than increasing growth while leaving investment unchanged. The sensitivity grid recalculates the full relationship across required returns and growth rates. It gives the investor a range to interpret and makes the assumptions behind a high terminal value visible, including how much of the total valuation depends on events beyond the explicit forecast.
Banks and insurers often benefit from valuation methods centred on equity, distributions, and returns on equity, as developed in Damodaran's treatmen
ARTICLE SECTION: Follow profit into cash and capital
Operating cash flow explains how the accounting result connects to cash generated by activity. IAS 7 classifies cash flows into operating, investing, and financing categories, with the relevant accounting policies affecting the presentation [2]. For a nonfinancial company, changes in receivables, inventory, and payables are often central to the bridge. A profitable expansion may initially consume cash as stock and customer credit grow. A decline in activity may temporarily release cash by reducing those balances. The investor can therefore compare cash conversion across several years and examine the underlying operating movements. This turns a cash-flow ratio into a business explanation. It also provides useful forecast drivers because future growth will often require additional working capital before the new sales have been fully collected.
Equation (2.1), operating working capital = trade receivables plus inventory minus trade payables, creates a manageable starting point for a manufacturer. The next step is to connect each balance to activity. Receivable days estimate how long sales remain unpaid, inventory days estimate how long stock is held, and payable days estimate how long suppliers finance purchases. When purchases are unavailable, cost of sales can serve as an explicitly labelled proxy for payable days. Average balances improve the comparison where opening and closing values are available. Seasonal businesses may require more frequent observations because a year-end balance can be unrepresentative. The appendix explains the exact formulas and manual calculations. In the body of the analysis, the useful question is how much additional cash the company needs when sales or payment behaviour change.
A negative cash-conversion cycle can be commercially attractive because customers pay before the company settles the associated supplier obligations. Understanding its cause is essential to assessing durability. Prepaid sales and reliable supplier terms can support a stable pattern, while overdue payments or temporary inventory reductions can produce a similar numerical result through a different process. Supplier-finance arrangements also deserve separate attention because they can change the interpretation of payables and cash flows. The sector-screen sheet lets you compare an efficient cycle, slower collections, and longer supplier credit using the same formulas. You can then ask which changes reflect a repeatable operating advantage and which represent financing pressure. The conclusion feeds directly into the cash forecast, dividend capacity, and the amount of financial flexibility available during a difficult trading period.
Capital expenditure links today's cash to tomorrow's productive capacity. Maintenance spending preserves existing operations, while expansion spending aims to create additional earnings. Companies may provide useful information about projects, capacity, network investment, or replacement programmes, although the split between maintenance and growth is often an analytical estimate. Record that estimate and test alternatives. Depreciation offers context about past capital consumption, but future replacement costs and technology can change the cash required. Equation (2.2), cash after capital expenditure = operating cash flow minus capital expenditure, provides a simple cash measure for the initial review. The valuation model then develops an unlevered cash-flow measure with consistent tax and financing trea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REAL WEB CAPTURE
{
  "key": "dcf-value",
  "captured_at": "2026-09-25T13:24:28.600Z",
  "url": "http://127.0.0.1:8765/calculators/dcf-value/",
  "equations": 3,
  "inputs": [
    {
      "name": "free_cash_flow",
      "value": "500000000"
    },
    {
      "name": "forecast_growth",
      "value": "8"
    },
    {
      "name": "required_return",
      "value": "15"
    },
    {
      "name": "terminal_growth",
      "value": "5"
    },
    {
      "name": "net_debt",
      "value": "1000000000"
    },
    {
      "name": "shares_outstanding",
      "value": "1000000000"
    }
  ],
  "mathErrors": 0,
  "title": "DCF value explorer | Sokointel",
  "viewport": {
    "height": 720,
    "width": 1280
  },
  "files": [
    "dcf-value-full.png",
    "dcf-value-results.png",
    "dcf-value-forecast.png",
    "dcf-value-sensitivity.png"
  ],
  "slug": "dcf-value",
  "screenshots": [
    "dcf-value-full.png",
    "dcf-value-results.png",
    "dcf-value-forecast.png",
    "dcf-value-sensitivity.png"
  ],
  "environment": "local preview; not proof of live deployment",
  "base": "Evidence/Web/20260925-formula-rendering"
}
DEMONSTRATION SCOPE
Use five-year FCFF, a matching WACC and terminal growth. Inspect the forecast and terminal dependence before changing the discount rate.
This separate default is not an issuer valuation. After-interest owner earnings is not FCFF.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Answer: A defensible value range makes cash generation, reinvestment, growth and required returns explicit. Sector-specific claims and sensitivity analysis explain what can change the estimate.
Viewer task: Write a value range with cash-flow, reinvestment, growth and discount-rate assumptions; identify the missing source evidence.
Return to each opening research question and identify what remains conditional or unknown.
ARTICLE SECTION: Follow profit into cash and capital
Operating cash flow explains how the accounting result connects to cash generated by activity. IAS 7 classifies cash flows into operating, investing, and financing categories, with the relevant accounting policies affecting the presentation [2]. For a nonfinancial company, changes in receivables, inventory, and payables are often central to the bridge. A profitable expansion may initially consume cash as stock and customer credit grow. A decline in activity may temporarily release cash by reducing those balances. The investor can therefore compare cash conversion across several years and examine the underlying operating movements. This turns a cash-flow ratio into a business explanation. It also provides useful forecast drivers because future growth will often require additional working capital before the new sales have been fully collected.
Equation (2.1), operating working capital = trade receivables plus inventory minus trade payables, creates a manageable starting point for a manufacturer. The next step is to connect each balance to activity. Receivable days estimate how long sales remain unpaid, inventory days estimate how long stock is held, and payable days estimate how long suppliers finance purchases. When purchases are unavailable, cost of sales can serve as an explicitly labelled proxy for payable days. Average balances improve the comparison where opening and closing values are available. Seasonal businesses may require more frequent observations because a year-end balance can be unrepresentative. The appendix explains the exact formulas and manual calculations. In the body of the analysis, the useful question is how much additional cash the company needs when sales or payment behaviour change.
A negative cash-conversion cycle can be commercially attractive because customers pay before the company settles the associated supplier obligations. Understanding its cause is essential to assessing durability. Prepaid sales and reliable supplier terms can support a stable pattern, while overdue payments or temporary inventory reductions can produce a similar numerical result through a different process. Supplier-finance arrangements also deserve separate attention because they can change the interpretation of payables and cash flows. The sector-screen sheet lets you compare an efficient cycle, slower collections, and longer supplier credit using the same formulas. You can then ask which changes reflect a repeatable operating advantage and which represent financing pressure. The conclusion feeds directly into the cash forecast, dividend capacity, and the amount of financial flexibility available during a difficult trading period.
Capital expenditure links today's cash to tomorrow's productive capacity. Maintenance spending preserves existing operations, while expansion spending aims to create additional earnings. Companies may provide useful information about projects, capacity, network investment, or replacement programmes, although the split between maintenance and growth is often an analytical estimate. Record that estimate and test alternatives. Depreciation offers context about past capital consumption, but future replacement costs and technology can change the cash required. Equation (2.2), cash after capital expenditure = operating cash flow minus capital expenditure, provides a simple cash measure for the initial review. The valuation model then develops an unlevered cash-flow measure with consistent tax and financing trea
ARTICLE SECTION: Estimate value from cash generation and required returns
Valuation begins by asking what the investor expects to receive and what return compensates for committing money to that opportunity. BAT Kenya supplies a dated nonfinancial case rather than a fictional manufacturer. Its FY2025 annual report recorded revenue of KES 23,191.945 million, EBIT of KES 7,474.835 million, operating cash flow of KES 6,633.154 million, capital expenditure of KES 301.833 million and earnings per share of KES 52.46 [10]. The NSE daily price list recorded a KES 560 volume-weighted average price on 11 September 2026 [11]. These reported values establish the operating scale and the price observation. They do not establish a target price.
| BAT Kenya FY2025 evidence | Reported value | Use in the case |
| --- | ---: | --- |
| Revenue | KES 23,191.945 million | Starting scale for the explicit operating scenario |
| EBIT | KES 7,474.835 million | Margin and after-tax operating-profit bridge |
| Operating cash flow | KES 6,633.154 million | Cash-conversion cross-check |
| Capital expenditure | KES 301.833 million | Reinvestment starting point |
| Fiscal dividend per share | KES 70.00 | Distribution-quality and payout discussion |
| Earnings per share | KES 52.46 | Payout and ownership-claim cross-check |
| NSE VWAP, 11 September 2026 | KES 560.00 | Dated price observation, not a guaranteed execution price |
The workbook forecasts operating cash available to all capital providers after tax and reinvestment, then discounts those cash flows at a matching required return. Its five forward years use stated assumptions for revenue growth, EBIT margin, working-capital days, capital expenditure, tax, required return and terminal return on invested capital. They are teaching scenarios calibrated from the FY2025 evidence, not BAT guidance, forecasts, or a recommendation. A terminal calculation represents the business beyond the explicit forecast. Cash and nonoperating assets are added where appropriate, debt and other claims are deducted, and the result is divided by shares. The appendix contains the detailed discounted-cash-flow formulas and every step of the worked case. The practical focus is the set of business assumptions behind them: sales, margins, tax, working capital, productive investment, financing, and the returns the company can earn as it moves towards a more mature operating pattern.
The terminal period deserves particular care because growth requires resources. Damodaran's valuation material connects stable growth to the reinvestment needed at the assumed return on capital [7]. In the BAT Kenya case workbook, the base scenario uses a 3% perpetual growth assumption and an 18% return on new capital, implying that approximately 16.67% of after-tax operating profit is retained for reinvestment in the terminal period. The remaining portion supports the terminal cash-flow calculation. Raising growth therefore changes both the future profit level and the resources required to sustain it. This is economically more informative than increasing growth while leaving investment unchanged. The sensitivity grid recalculates the full relationship across required returns and growth rates. It gives the investor a range to interpret and makes the assumptions behind a high terminal value visible, including how much of the total valuation depends on events beyond the explicit forecast.
Banks and insurers often benefit from valuation methods centred on equity, distributions, and returns on equity, as developed in Damodaran's treatmen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KECA-02: Reading the Business Behind a Kenyan Share Price
ARTICLE: https://sokointel.com/read/keca-02/
RESEARCH SNAPSHOT: 10 September 2026
SOURCE MATERIAL
[1] U.S. Securities and Exchange Commission, “Beginners' Guide to Financial Statements”. [Online]. Available: Source. Accessed: Sep. 7, 2026.
[2] IFRS Foundation, “IAS 7 Statement of Cash Flows”. [Online]. Available: Source. Accessed: Sep. 7, 2026.
[3] IFRS Foundation, “IFRS 9 Financial Instruments”. [Online]. Available: Source. Accessed: Sep. 7, 2026.
[4] Central Bank of Kenya, “Bank Supervision Annual Report 2024”. [Online]. Available: Source. Accessed: Sep. 7, 2026.
[5] IFRS Foundation, “IFRS 17 Insurance Contracts”. [Online]. Available: Source. Accessed: Sep. 7, 2026.
[6] Jubilee Holdings, “2025 Annual Integrated Report”. [Online]. Available: Source. Accessed: Sep. 7, 2026.
[7] A. Damodaran, “Excess Returns and Terminal Value”. [Online]. Available: Source. Accessed: Sep. 7, 2026.
[8] A. Damodaran, “Valuing Financial Service Firms”. [Online]. Available: Source. Accessed: Sep. 7, 2026.
[9] J. D. Piotroski, “Value Investing: The Use of Historical Financial Statement Information to Separate Winners from Losers”, Journal of Accounting Research, vol. 38, suppl., pp. 1–41, 2000. [Online]. Available: Source. Accessed: Sep. 7, 2026.
[10] BAT Kenya PLC, “Combined Annual and Sustainability Report 2025”, 2026. [Online]. Available: &lt;https://www.batkenya.com/content/dam/endmarkets/ke/en/download/investors-and-reporting/annual-reports/BATK_Combined_Annual_and_Sustainability_Report_2025.pdf&gt;. Accessed: Sep. 12, 2026.
[11] Nairobi Securities Exchange, “Daily Price List, 11 September 2026”. [Online]. Available: &lt;https://www.nse.co.ke/wp-content/uploads/11-SEP-26.pdf&gt;. Accessed: Sep. 12, 2026.
All linked source URLs:
Source: https://www.sec.gov/about/reports-publications/beginners-guide-financial-statements
Source: https://www.ifrs.org/issued-standards/list-of-standards/ias-7-statement-of-cash-flows/
Source: https://www.ifrs.org/issued-standards/list-of-standards/ifrs-9-financial-instruments/
Source: https://www.centralbank.go.ke/uploads/banking_sector_annual_reports/1328318827_2024%20Annual%20Report.pdf
Source: https://www.ifrs.org/issued-standards/list-of-standards/ifrs-17-insurance-contracts/
Source: https://jubileeinsurance.com/group/wp-content/uploads/2026/06/Jubilee-Holdings-2025-Annual-Integrated-Report.pdf
Source: https://pages.stern.nyu.edu/~adamodar/New_Home_Page/valquestions/termvalueexreturns.htm
Source: https://pages.stern.nyu.edu/~adamodar/pdfiles/papers/finfirm09.pdf
Source: https://www.chicagobooth.edu/~/media/FE874EE65F624AAEBD0166B1974FD74D
J. D. Piotroski, “Value Investing: The Use of Historical Financial Statement Information to Separate Winners from Losers”, Journal of Accounting Resea: https://www.batkenya.com/content/dam/endmarkets/ke/en/download/investors-and-reporting/annual-reports/BATK_Combined_Annual_and_Sustainability_Report_2025.pdf
Nairobi Securities Exchange, “Daily Price List, 11 September 2026”. [Online]. Available: &lt;: https://www.nse.co.ke/wp-content/uploads/11-SEP-26.pdf
Additional content sources:
[]
Workbook provenance:
C:\Users\Nevo\Downloads\financial material\outputs\01a0789a-5035-7453-ad64-a71cc94b3211\kenyan-equities\02-Statements-and-Valuation.xlsx
'DCF'!A4:H14
f1465694d6ee2cba0cf2f3ef2ea1f2b4179a7677de88d087a092e2301a3a4fcb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keca-02/" TargetMode="External"/><Relationship Id="rId2" Type="http://schemas.openxmlformats.org/officeDocument/2006/relationships/hyperlink" Target="https://www.sec.gov/about/reports-publications/beginners-guide-financial-statements" TargetMode="External"/><Relationship Id="rId3" Type="http://schemas.openxmlformats.org/officeDocument/2006/relationships/hyperlink" Target="https://www.ifrs.org/issued-standards/list-of-standards/ias-7-statement-of-cash-flows/" TargetMode="External"/><Relationship Id="rId4" Type="http://schemas.openxmlformats.org/officeDocument/2006/relationships/hyperlink" Target="https://www.ifrs.org/issued-standards/list-of-standards/ifrs-9-financial-instruments/" TargetMode="External"/><Relationship Id="rId5" Type="http://schemas.openxmlformats.org/officeDocument/2006/relationships/hyperlink" Target="https://www.centralbank.go.ke/uploads/banking_sector_annual_reports/1328318827_2024%20Annual%20Report.pdf"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Reading the Business Behind a Kenyan Share Price</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Seven dated dividend examples, fictional company models and three educational allocation policies.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KECA-02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Which statement relationships and sector-specific indicators explain the sustainability of earnings, distributions and reinvestment?</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How can an investor estimate a plausible range of business values while making growth, required returns and capital requirements explicit?</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FCFF — free cash flow to the firm before debt payments</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WACC — discount rate matching the enterprise cash flows</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g — sustainable terminal growth; must be below WACC</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ROIC — return on incremental invested capital</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Equity bridge — enterprise value adjusted for cash, debt and other claims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Profit and operating cash / A complete forecast</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Working capital helps explain why reported profit and cash generation differ.</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Cash, plant, debt and retained earnings connect across the forecast.</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Banks and credit quality / Insurers and investment returns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Loan quality, losses, funding and capital shape distribution capacity.</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service result and the investment result contribute through different routes.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Discounted cash generation / A valuation range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value estimate depends on operating cash, required returns and sustainable reinvestment.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Changing required returns and terminal growth changes the estimate.</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Terminal growth requires reinvestment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Terminal FCFF = terminal NOPAT × (1 − g/ROIC)</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Source terminal NOPAT 1,626.33 × (1 − 25%) = 1,219.75.</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model then discounts forecast and terminal cash flows; source enterprise value is 9,693.04 in its stated model units.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DCF: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KECA-02-01-p1.png">    </p:cNvPr>
          <p:cNvPicPr>
            <a:picLocks noChangeAspect="1"/>
          </p:cNvPicPr>
          <p:nvPr/>
        </p:nvPicPr>
        <p:blipFill>
          <a:blip r:embed="rId1"/>
          <a:stretch>
            <a:fillRect/>
          </a:stretch>
        </p:blipFill>
        <p:spPr>
          <a:xfrm>
            <a:off x="1090661" y="1874520"/>
            <a:ext cx="10016773" cy="363931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DCF!A4:H14</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Raise the required return; preserve the forecast</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Use the source five-year cash-flow forecast.</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Increase WACC by one percentage point; hold those five cash flows fixed.</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Their present value falls. Terminal value also changes through the WACC-minus-growth denominator and discount factor.</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20260925-formula-rendering\dcf-value-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five-year FCFF, a matching WACC and terminal growth. Inspect the forecast and terminal dependence before changing the discount rate.</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This separate default is not an issuer valuation. After-interest owner earnings is not FCFF.</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/calculators/dcf-value/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defensible value range makes cash generation, reinvestment, growth and required returns explicit. Sector-specific claims and sensitivity analysis explain what can change the estimate.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Write a value range with cash-flow, reinvestment, growth and discount-rate assumptions; identify the missing source evidence.</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sokointel.com/read/keca-02/</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Source</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Source</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Source</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Business Behind a Kenyan Share Price</dc:title>
  <dc:subject>Which statement relationships and sector-specific indicators explain the sustainability of earnings, distributions and reinvestment? | How can an investor estimate a plausible range of business values while making growth, required returns and capital requirements explicit?</dc:subject>
  <dc:creator>Sokointel</dc:creator>
  <cp:lastModifiedBy>Sokointel</cp:lastModifiedBy>
  <cp:revision>1</cp:revision>
  <dcterms:created xsi:type="dcterms:W3CDTF">2026-09-25T13:49:38Z</dcterms:created>
  <dcterms:modified xsi:type="dcterms:W3CDTF">2026-09-25T13:49:38Z</dcterms:modified>
</cp:coreProperties>
</file>