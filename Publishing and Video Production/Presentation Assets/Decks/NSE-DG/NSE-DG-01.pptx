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OPENING NARRATION
A dated KES 100,000 teaching allocation staged through three monthly purchases with fees and whole-share constraints.
Dated source record • fictional calculations are labelled as illustrations
Introduce the decision before defining the technical terms.
ARTICLE SECTION: # NSE Dividend-Growth DCA and Watchlist Research Project
Research snapshot: 10 September 2026  
Price reference date: 9 September 2026  
Capital: KES 100,000, deployed over three months
ARTICLE SECTION: 1. Introduction and Objective
A KES 100,000 investment in Nairobi Securities Exchange equities is large enough to build a deliberately diversified starter portfolio, but still small enough that excessive fragmentation, brokerage costs and poor entry discipline can materially damage returns. The objective of this report is therefore not to identify the single highest-yielding share. It is to construct a practical dividend-growth portfolio whose income stream is supported by credible businesses, whose sector exposures are understandable, and whose initial capital is deployed systematically over three months. The model retains the seven-counter core developed in the earlier analysis: Safaricom, Equity Group, Co-operative Bank, Standard Chartered Bank Kenya, BAT Kenya, East African Breweries and Nairobi Securities Exchange PLC, but strengthens the methodology, citation trail, cost treatment and risk controls.
The capital assumption is KES 100,000 in total, deployed across three monthly tranches. The three months are a deployment window, not a recommended holding period. Dividend investing is normally evaluated over years because the economic return comes from several channels: cash dividends, reinvestment of those dividends, growth in earnings and book value, and any eventual capital appreciation. A three-month horizon is too short to judge whether the underlying companies have created shareholder value. The purpose of staging the purchases is instead to reduce dependence on one entry date.
All share prices in the construction tables use the NSE market close of 9 September 2026 as a common reference snapshot. The market-data source shows Safaricom at KES 36.65, Equity at KES 101.50, Co-op at KES 37.85, Standard Chartered at KES 349.25, BAT at KES 559.00, EABL at KES 285.25 and NSE PLC at KES 28.20 [1]. These prices are not forecasts and should not be copied mechanically into October or November orders. They are a baseline for sizing and comparing current income yields.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Read the questions naturally and define terms in context.
DCA — investing fixed contributions at scheduled dates
Whole shares — integer quantity affordable within cash limits
Residual cash — unspent amount after share purchases and costs
Research question mapping: How can KES 100,000 be staged across a dividend-growth portfolio while reserving transaction costs?; Which inputs determine whole-share DCA quantities, dividend income, and net yield?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Explain the mechanism with the cited article section, then relate it to the opening decision.
Narration: explain each step and its consequence for the opening decision.
ARTICLE SECTION: 5. Core Portfolio: Price, Dividend and Yield Snapshot
| Counter | Price (KES) | Recent DPS (KES) | Indicative yield | Target weight | Role |
|---|---:|---:|---:|---:|---|
| Safaricom (SCOM) | 36.65 | 2.00 | 5.46% | 20% | Core growth + income; telecom/data/mobile money |
| Equity Group (EQTY) | 101.50 | 5.75 | 5.67% | 15% | Regional banking growth and rising payout |
| Co-operative Bank (COOP) | 37.85 | 2.50 | 6.61% | 15% | Income-oriented banking; broad domestic franchise |
| Standard Chartered Kenya (SCBK) | 349.25 | 31.00 | 8.88% | 15% | High-income banking and capital discipline |
| BAT Kenya (BAT) | 559.00 | 70.00 | 12.52% | 15% | High cash distribution; concentrated regulatory risk |
| EABL | 285.25 | 12.70 | 4.45% | 10% | Consumer diversification and regional brands |
| NSE PLC | 28.20 | 1.00 | 3.55% | 10% | Capital-market infrastructure and trading-volume exposure |
ARTICLE SECTION: 12. Principal Risks and Part 1 Conclusion
The portfolio contains several material risks. The 45% bank weighting creates exposure to the same interest-rate, credit-quality and regulatory cycle across multiple issuers. BAT's high yield comes with tobacco regulation and excise risk. EABL is sensitive to consumer spending, taxation and input costs. Safaricom's valuation and growth depend increasingly on data, financial services and regional execution. NSE PLC is sensitive to market turnover, listings and investor participation. In addition, the whole portfolio is Kenya-centric and denominated in Kenyan shillings, so it does not diversify country or currency risk.
Within those limits, the construction is coherent for a KES 100,000 starter dividend-growth allocation. It reserves transaction costs, uses seven liquid or strategically differentiated companies, caps the largest position at 20%, and stages capital over three months. The reference portfolio's 6.94% headline gross yield is attractive but should never be interpreted as guaranteed. The real objective is a durable total-return process: own profitable businesses, distinguish recurring from special payouts, reinvest selectively, diversify future contributions away from the largest existing sector, and keep the execution rules simple enough to follow through both rallies and corrections.
Valuation discipline remains necessary even inside a DCA programme. A predetermined purchase date does not require purchasing a security whose investment thesis has materially changed or whose valuation has become detached from a reasonable earnings and dividend outlook. DCA is a method of staging capital, not a rule against judgment. Before each tranche, the investor should perform a short exception review: confirm that no profit warning, dividend cancellation, major regulatory event, governance problem or balance-sheet deterioration has invalidated the original thesis. If the thesis remains intact, the scheduled purchase proceeds. If a material event has changed the expected cash flows, the allocation can remain temporarily in cash while the company is reassessed. This distinction prevents systematic investing from becoming mechanical averaging into a deteriorating business.
Opportunity cost should also be recognized. Equity capital competes with Kenyan money-market funds, Treasury bills, bank deposits and the investor's own business opportunities. A dividend yield of 6% is not automatically attractive merely because it is positive; the relevant comparison is the expected total return after risk, tax, fees and the possibility of capital loss. Shares earn their place in the portfolio when the combination of sustainable dividend income and prospective earnings growth provides adequate compensation for volatility and uncertainty. For this reason, the model should not be read as an instruction to liquidate emergency savings or short-term operating cash. Capital needed within the next few months should remain in instruments whose liquidity and principal stability match that liability rather than being exposed to equity-market timing.
Finally, portfolio governance matters as much as initial selection. Maintain a simple investment journal showing each purchase date, live price, number of shares, transaction charges, target weight, actual weight and the reason the position still qualifies for ownership. Record ordinary and special dividends separately so that one-off distributions do not inflate the expected income rate. At each half-year or full-y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Explain the mechanism with the cited article section, then relate it to the opening decision.
Narration: explain each step and its consequence for the opening decision.
ARTICLE SECTION: 2. Why Dollar-Cost Averaging Is Appropriate Here
Dollar-cost averaging (DCA) means investing a fixed or approximately fixed amount at predetermined intervals rather than attempting to predict the market's short-term high and low points. Standard Chartered's investor education material describes the mechanism directly: the same cash contribution buys more units when prices decline and fewer when prices rise, which can reduce timing risk and help remove emotional decision-making [4]. DCA does not guarantee a profit, and it cannot rescue a weak company. Its advantage in this project is behavioural and procedural: the investor decides the capital allocation before being exposed to daily price noise.
The strategy is particularly relevant after a strong market advance. Market-level data on 9 September 2026 indicated that the Kenyan market had risen materially over the preceding year, while several individual counters in both the core portfolio and watchlist were close to their recent highs [35]. Under those circumstances, investing the full KES 100,000 on a single day would create concentration in time as well as concentration by security. Splitting the commitment into approximately KES 33,333 of cash per month limits the damage if the first entry occurs immediately before a correction. The trade-off is that, if prices keep rising, later tranches buy fewer shares and the eventual average cost may be higher than a successful lump-sum purchase.
The DCA rule used here is therefore simple: preserve the strategic weights, but recalculate the number of whole shares from the live price on each purchase date. Do not preserve the September share counts. A falling Safaricom price should naturally produce a larger quantity from the same monthly allocation; a rising price should produce fewer shares. This makes cash discipline, not prediction, the central execution variable.
ARTICLE SECTION: 7. Transaction-Cost Budget and Investable Capital
If the investor has exactly KES 100,000 available, it is incorrect to allocate KES 100,000 to shares and then ignore the cash required to settle transaction charges. Using the regulatory maximum of 2.10% for secondary equity transactions up to KES 100,000 [2], the conservative investable-security value is obtained by solving X multiplied by 1.021 = 100,000. The result is approximately KES 97,943.19 available for the securities themselves, leaving about KES 2,056.81 as a maximum-cost provision. Spread equally across three months, the model has approximately KES 32,647.73 of share-purchase capacity per month and KES 685.60 of fee capacity, producing the desired KES 33,333.33 monthly cash commitment.
This is a budgeting ceiling, not a prediction of the precise bill from a particular broker. The investor should use the actual contract-note charges and roll unused cash forward. An important discipline is to avoid forcing residual cash into a security just to achieve a cosmetically exact 100% investment rate. Whole-share rounding will always create small residuals. Those residuals can be carried to the next month and used where they best restore the target weights.
Budget: total cash KES 100,000; target securities KES 97,943.19; maximum fee provision KES 2,056.81; monthly target securities KES 32,647.73.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Explain the mechanism with the cited article section, then relate it to the opening decision.
Narration: explain each step and its consequence for the opening decision.
ARTICLE SECTION: 9. Indicative Dividend Income and Tax
Using the most recent full-year or annual distributions in the core table, the portfolio has a weighted headline gross yield of approximately 6.94% at the 9 September prices. Applied to approximately KES 97,943 of securities, that corresponds to roughly KES 6,799 of annual gross dividend income if, an important assumption, the same distributions were repeated and the portfolio could be acquired at the reference prices. The number is a screening estimate, not a forecast. Some record dates have already passed, some distributions may change, and NSE PLC's KES 1.00 includes a special dividend.
For a resident individual, the Income Tax Act specifies a 5% resident withholding-tax rate on a qualifying dividend and states that this is final tax [5]. On the simplified assumption that the entire KES 6,799 is qualifying dividend income, the net amount would be approximately KES 6,459. The effective net cash yield on the original KES 100,000 wallet would therefore be about 6.46% before any capital gain or loss. Investors with different tax status should not assume the same treatment.
Kenya's tax treatment of listed-share gains is also relevant to total-return planning. KRA's current guidance identifies a gain on transfer of securities traded on a securities exchange licensed by the CMA among CGT exemptions/exclusions [6]. Tax law can change, so the correct practice is to recheck the prevailing law at the time of disposal rather than embedding today's treatment permanently into a long-horizon model.
| Counter | Target capital | Indicative yield | Gross annual dividend |
|---|---:|---:|---:|
| Safaricom (SCOM) | 19,589 | 5.46% | 1,069 |
| Equity Group (EQTY) | 14,691 | 5.67% | 832 |
| Co-operative Bank (COOP) | 14,691 | 6.61% | 970 |
| Standard Chartered Kenya (SCBK) | 14,691 | 8.88% | 1,304 |
| BAT Kenya (BAT) | 14,691 | 12.52% | 1,840 |
| EABL | 9,794 | 4.45% | 436 |
| NSE PLC | 9,794 | 3.55% | 347 |
| Portfolio | 97,943 | 6.94% | 6,799 |
ARTICLE SECTION: 10. Stress Testing the Income Thesis
A dividend-growth strategy should be tested against reductions, not only repeated or increased payouts. If every dividend in the model fell by 20%, gross annual portfolio income would decline from about KES 6,799 to KES 5,439 and simplified net income after 5% withholding would fall to about KES 5,167. If dividends were unchanged, the simplified net figure is about KES 6,459. A 10% increase in aggregate distributions would raise gross income to roughly KES 7,479 and net income to approximately KES 7,105. These scenarios isolate the dividend stream; they do not include share-price movements.
That distinction is fundamental. A 6% cash yield does not protect the investor from a 20% mark-to-market fall, and a 4% yielding company can still produce superior total returns if earnings, dividends and valuation grow. The portfolio should therefore be monitored on total return and dividend sustainability rather than dividend income alone. Useful warning signals include falling earnings with a rising payout ratio, debt increasing faster than operating cash flow, repeated special dividends being treated as ordinary, deteriorating asset quality in banks, or a share price rising so quickly that the cash yield collapses despite unchanged dividends.
| Scenario | Gross income | Net after 5% WHT | Net yield on KES100k |
|---|---:|---:|---:|
| Dividends fall 20% | 5,439 | 5,167 | 5.17% |
| Recent dividends repeated | 6,799 | 6,459 | 6.46% |
| Dividends increase 10% | 7,479 | 7,105 | 7.10%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Article worked example and saved workbook evidence; preserve their separate assumptions.
Equation: Shares = floor(monthly capital allocation ÷ reference price)
Substitution: Safaricom: floor(KES 6,529.55 ÷ KES 36.65) = 178 shares.
Interpretation: Source share cost KES 6,523.70; cost plus maximum modeled fees KES 6,660.70.
ARTICLE SECTION: 2. Why Dollar-Cost Averaging Is Appropriate Here
Dollar-cost averaging (DCA) means investing a fixed or approximately fixed amount at predetermined intervals rather than attempting to predict the market's short-term high and low points. Standard Chartered's investor education material describes the mechanism directly: the same cash contribution buys more units when prices decline and fewer when prices rise, which can reduce timing risk and help remove emotional decision-making [4]. DCA does not guarantee a profit, and it cannot rescue a weak company. Its advantage in this project is behavioural and procedural: the investor decides the capital allocation before being exposed to daily price noise.
The strategy is particularly relevant after a strong market advance. Market-level data on 9 September 2026 indicated that the Kenyan market had risen materially over the preceding year, while several individual counters in both the core portfolio and watchlist were close to their recent highs [35]. Under those circumstances, investing the full KES 100,000 on a single day would create concentration in time as well as concentration by security. Splitting the commitment into approximately KES 33,333 of cash per month limits the damage if the first entry occurs immediately before a correction. The trade-off is that, if prices keep rising, later tranches buy fewer shares and the eventual average cost may be higher than a successful lump-sum purchase.
The DCA rule used here is therefore simple: preserve the strategic weights, but recalculate the number of whole shares from the live price on each purchase date. Do not preserve the September share counts. A falling Safaricom price should naturally produce a larger quantity from the same monthly allocation; a rising price should produce fewer shares. This makes cash discipline, not prediction, the central execution variable.
ARTICLE SECTION: 6. Target Allocation of the KES 100,000
The target weights deliberately stop short of equal weighting. Safaricom receives 20% because it is the largest non-bank growth-and-income anchor. Equity, Co-op, Standard Chartered and BAT each receive 15%. EABL and NSE PLC receive 10% each. This creates a portfolio in which no single company exceeds one-fifth of the capital and in which the highest-yielding counter, BAT, is capped rather than allowed to dominate. The structure is intended to balance income generation with the risk that a specific dividend is reduced.
The main weakness is clear: the three banks represent 45% of target capital. That concentration is acceptable only if it is acknowledged and managed. It means future additions should not automatically be directed to KCB, Stanbic, NCBA, I&amp;M or Absa simply because those banks also offer attractive yields. Part 2 therefore treats most additional banks as replacements or comparative benchmarks rather than automatic additions. New capital beyond the first KES 100,000 should preferably broaden exposure to energy, insurance, industrials and selected agriculture before increasing the bank weight further.
| Counter | Target weight | Target security capital (KES) | Strategic role |
|---|---:|---:|---|
| Safaricom (SCOM) | 20% | 19,589 | Core growth + income; telecom/data/mobile money |
| Equity Group (EQTY) | 15% | 14,691 | Regional banking growth and rising payout |
| Co-operative Bank (COOP) | 15% | 14,691 | Income-oriented banking; broad domestic franchise |
| Standard Chartered Kenya (SCBK) | 15% | 14,691 | High-income banking and capital discipline |
| BAT Kenya (BAT) | 15% | 14,691 | High cash distribution; concentrated regulatory risk |
| EABL | 10% | 9,794 | Consumer diversification and regional brands |
| NSE PLC | 10% | 9,794 | Capital-market infrastructure and trading-volume exposure |
| Total | 100% | 97,943 | Before actual whole-share rounding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ACTUAL WORKBOOK CAPTURE
Workbook: C:\Users\Nevo\Downloads\financial material\NSE Dividend Growth Project 2026\Publication\Output\NSE Dividend Growth Formula Workbook.xlsx
Sheet/range: 'DCA Plan'!A12:H21
SHA-256: b54b185f5c120b9852cd37d3c5f730d26df9dd40f65be8141d3c0e85dc775f05
Capture method: Microsoft Excel read-only PDF range export. Print headings retained. Source not saved.
Asset: Evidence/Workbooks/NSE-DG-01-01-p1.png
SCREEN RECORDING WALKTHROUGH
Read the row and column headings. Identify inputs, follow the dependent row and explain the units. Do not alter the source workbook while recording; use a copy for a new scenario.
Extracted evidence text:
12
13
14
15
16
17
18
19
20
21
A B C D E F G H
Counter Target weight Monthly target Reference price Illustrative shares Approx. share cost Uncommitted amount Cost plus maximum 
fees
Safaricom 20.0% 6,529.55 36.65 178 6,523.70 5.85 6,660.70
Equity Group 15.0% 4,897.16 101.50 48 4,872.00 25.16 4,974.31
Co-operative Bank 15.0% 4,897.16 37.85 129 4,882.65 14.51 4,985.19
Standard Chartered Kenya 15.0% 4,897.16 349.25 14 4,889.50 7.66 4,992.18
BAT Kenya 15.0% 4,897.16 559.00 8 4,472.00 425.16 4,565.91
East African Breweries 10.0% 3,264.77 285.25 11 3,137.75 127.02 3,203.64
Nairobi Securities Exchange 10.0% 3,264.77 28.20 115 3,243.00 21.77 3,311.10
Total 100.0% 32,647.73 503 32,020.60 627.13 32,693.03
Month one whole-share illustration
Relevant article context:
ARTICLE SECTION: 8. Three-Month DCA Execution Schedule
The first-month illustration uses 9 September prices and the post-fee target budgets. Approximately KES 6,530 of investable capital is assigned to Safaricom, KES 4,897 to each 15% position, and KES 3,265 to each 10% position. Whole-share rounding produces the quantities shown below. The resulting first-tranche security cost is about KES 32,020.60, leaving roughly KES 627 of the monthly investable amount uncommitted before actual fees. That residual should be carried forward rather than spent indiscriminately.
Months two and three should not copy the first-month quantities. Instead, before each monthly order, obtain the live prices, multiply the available security budget by the target weight, divide by the live price, and round down to a whole share. After the initial calculation, compare actual portfolio weights with targets. If a counter rose sharply during the prior month, it may already be overweight; directing the new contribution toward underweight names can rebalance the portfolio without selling. This creates a practical hybrid of DCA and contribution-based rebalancing.
Execution discipline also means avoiding the temptation to time purchases around dividend book-closure dates. A dividend is a transfer of value from the company to shareholders, not free wealth. Prices may adjust when a share trades ex-dividend, and a rushed purchase can expose the investor to a worse entry price. The purchase decision should be driven by the long-term investment case and the pre-set schedule; corporate-action dates are relevant for cash-flow planning, but they should not override valuation and diversification.
| Counter | Monthly target (KES) | Ref. price | Illustrative shares | Approx. share cost |
|---|---:|---:|---:|---:|
| Safaricom (SCOM) | 6,530 | 36.65 | 178 | 6,523.70 |
| Equity Group (EQTY) | 4,897 | 101.50 | 48 | 4,872.00 |
| Co-operative Bank (COOP) | 4,897 | 37.85 | 129 | 4,882.65 |
| Standard Chartered Kenya (SCBK) | 4,897 | 349.25 | 14 | 4,889.50 |
| BAT Kenya (BAT) | 4,897 | 559.00 | 8 | 4,472.00 |
| EABL | 3,265 | 285.25 | 11 | 3,137.75 |
| NSE PLC | 3,265 | 28.20 | 115 | 3,243.00 |
| Total | 32,648 | - | - | 32,020.60 |
ARTICLE SECTION: 9. Indicative Dividend Income and Tax
Using the most recent full-year or annual distributions in the core table, the portfolio has a weighted headline gross yield of approximately 6.94% at the 9 September prices. Applied to approximately KES 97,943 of securities, that corresponds to roughly KES 6,799 of annual gross dividend income if, an important assumption, the same distributions were repeated and the portfolio could be acquired at the reference prices. The number is a screening estimate, not a forecast. Some record dates have already passed, some distributions may change, and NSE PLC's KES 1.00 includes a special dividend.
For a resident individual, the Income Tax Act specifies a 5% resident withholding-tax rate on a qualifying dividend and states that this is final tax [5]. On the simplified assumption that the entire KES 6,799 is qualifying dividend income, the net amount would be approximately KES 6,459. The effective net cash yield on the original KES 100,000 wallet would therefore be about 6.46% before any capital gain or loss. Investors with different tax status should not assume the same treatment.
Kenya's tax treatment of listed-share gains is also relevant to total-return planning. KRA's current guidance identifies a gain on transfer of securities traded on a securities exchange licensed by the CMA among CGT exemptions/exclusions [6]. Tax law can change, so the correct practice is to recheck the prevailing law at the time of disposal rather than embedding today's treatment permanently into a long-horizon model.
| Counter | Target capital | Indicative yield | Gross annual dividend |
|---|---:|---:|---:|
| Safaricom (SCOM) | 19,589 | 5.46% | 1,069 |
| Equity Group (EQTY) | 14,691 | 5.67% | 832 |
| Co-operative Bank (COOP) | 14,691 | 6.61% | 970 |
| Standard Chartered Kenya (SCBK) | 14,691 | 8.88% | 1,304 |
| BAT Kenya (BAT) | 14,691 | 12.52% | 1,840 |
| EABL | 9,794 | 4.45% | 436 |
| NSE PLC | 9,794 | 3.55% | 347 |
| Portfolio | 97,943 | 6.94% | 6,799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ACTUAL WORKBOOK CAPTURE
Workbook: C:\Users\Nevo\Downloads\financial material\NSE Dividend Growth Project 2026\Publication\Output\NSE Dividend Growth Formula Workbook.xlsx
Sheet/range: 'Income Scenarios'!A5:G9
SHA-256: b54b185f5c120b9852cd37d3c5f730d26df9dd40f65be8141d3c0e85dc775f05
Capture method: Microsoft Excel read-only PDF range export. Print headings retained. Source not saved.
Asset: Evidence/Workbooks/NSE-DG-01-02-p1.png
SCREEN RECORDING WALKTHROUGH
Read the row and column headings. Identify inputs, follow the dependent row and explain the units. Do not alter the source workbook while recording; use a copy for a new scenario.
Extracted evidence text:
5
6
7
8
9
A B C D E F G
Scenario Dividend change Gross income Withholding tax Net income Net yield on total cash Interpretation
Dividends fall 20% -20.0% 5,439.00 271.95 5,167.05 5.17% Lower distribution scenario
Recent dividends repeated 0.0% 6,798.75 339.94 6,458.81 6.46% Reference case
Dividends increase 10% 10.0% 7,478.63 373.93 7,104.69 7.10% Higher distribution scenario
Scenario inputs and results
Relevant article context:
ARTICLE SECTION: 10. Stress Testing the Income Thesis
A dividend-growth strategy should be tested against reductions, not only repeated or increased payouts. If every dividend in the model fell by 20%, gross annual portfolio income would decline from about KES 6,799 to KES 5,439 and simplified net income after 5% withholding would fall to about KES 5,167. If dividends were unchanged, the simplified net figure is about KES 6,459. A 10% increase in aggregate distributions would raise gross income to roughly KES 7,479 and net income to approximately KES 7,105. These scenarios isolate the dividend stream; they do not include share-price movements.
That distinction is fundamental. A 6% cash yield does not protect the investor from a 20% mark-to-market fall, and a 4% yielding company can still produce superior total returns if earnings, dividends and valuation grow. The portfolio should therefore be monitored on total return and dividend sustainability rather than dividend income alone. Useful warning signals include falling earnings with a rising payout ratio, debt increasing faster than operating cash flow, repeated special dividends being treated as ordinary, deteriorating asset quality in banks, or a share price rising so quickly that the cash yield collapses despite unchanged dividends.
| Scenario | Gross income | Net after 5% WHT | Net yield on KES100k |
|---|---:|---:|---:|
| Dividends fall 20% | 5,439 | 5,167 | 5.17% |
| Recent dividends repeated | 6,799 | 6,459 | 6.46% |
| Dividends increase 10% | 7,479 | 7,105 | 7.10% |
ARTICLE SECTION: 9. Indicative Dividend Income and Tax
Using the most recent full-year or annual distributions in the core table, the portfolio has a weighted headline gross yield of approximately 6.94% at the 9 September prices. Applied to approximately KES 97,943 of securities, that corresponds to roughly KES 6,799 of annual gross dividend income if, an important assumption, the same distributions were repeated and the portfolio could be acquired at the reference prices. The number is a screening estimate, not a forecast. Some record dates have already passed, some distributions may change, and NSE PLC's KES 1.00 includes a special dividend.
For a resident individual, the Income Tax Act specifies a 5% resident withholding-tax rate on a qualifying dividend and states that this is final tax [5]. On the simplified assumption that the entire KES 6,799 is qualifying dividend income, the net amount would be approximately KES 6,459. The effective net cash yield on the original KES 100,000 wallet would therefore be about 6.46% before any capital gain or loss. Investors with different tax status should not assume the same treatment.
Kenya's tax treatment of listed-share gains is also relevant to total-return planning. KRA's current guidance identifies a gain on transfer of securities traded on a securities exchange licensed by the CMA among CGT exemptions/exclusions [6]. Tax law can change, so the correct practice is to recheck the prevailing law at the time of disposal rather than embedding today's treatment permanently into a long-horizon model.
| Counter | Target capital | Indicative yield | Gross annual dividend |
|---|---:|---:|---:|
| Safaricom (SCOM) | 19,589 | 5.46% | 1,069 |
| Equity Group (EQTY) | 14,691 | 5.67% | 832 |
| Co-operative Bank (COOP) | 14,691 | 6.61% | 970 |
| Standard Chartered Kenya (SCBK) | 14,691 | 8.88% | 1,304 |
| BAT Kenya (BAT) | 14,691 | 12.52% | 1,840 |
| EABL | 9,794 | 4.45% | 436 |
| NSE PLC | 9,794 | 3.55% | 347 |
| Portfolio | 97,943 | 6.94% | 6,799 |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Teaching sensitivity; hold other assumptions fixed unless a multi-input case is explicitly named.
Base: Keep the monthly allocation and fee budget fixed.
Changed: Increase the observed share price before executing the order.
Consequence: Recalculate whole shares and residual cash; do not force the original quantity through the cash limit.
ARTICLE SECTION: 5. Core Portfolio: Price, Dividend and Yield Snapshot
| Counter | Price (KES) | Recent DPS (KES) | Indicative yield | Target weight | Role |
|---|---:|---:|---:|---:|---|
| Safaricom (SCOM) | 36.65 | 2.00 | 5.46% | 20% | Core growth + income; telecom/data/mobile money |
| Equity Group (EQTY) | 101.50 | 5.75 | 5.67% | 15% | Regional banking growth and rising payout |
| Co-operative Bank (COOP) | 37.85 | 2.50 | 6.61% | 15% | Income-oriented banking; broad domestic franchise |
| Standard Chartered Kenya (SCBK) | 349.25 | 31.00 | 8.88% | 15% | High-income banking and capital discipline |
| BAT Kenya (BAT) | 559.00 | 70.00 | 12.52% | 15% | High cash distribution; concentrated regulatory risk |
| EABL | 285.25 | 12.70 | 4.45% | 10% | Consumer diversification and regional brands |
| NSE PLC | 28.20 | 1.00 | 3.55% | 10% | Capital-market infrastructure and trading-volume exposure |
ARTICLE SECTION: 2. Why Dollar-Cost Averaging Is Appropriate Here
Dollar-cost averaging (DCA) means investing a fixed or approximately fixed amount at predetermined intervals rather than attempting to predict the market's short-term high and low points. Standard Chartered's investor education material describes the mechanism directly: the same cash contribution buys more units when prices decline and fewer when prices rise, which can reduce timing risk and help remove emotional decision-making [4]. DCA does not guarantee a profit, and it cannot rescue a weak company. Its advantage in this project is behavioural and procedural: the investor decides the capital allocation before being exposed to daily price noise.
The strategy is particularly relevant after a strong market advance. Market-level data on 9 September 2026 indicated that the Kenyan market had risen materially over the preceding year, while several individual counters in both the core portfolio and watchlist were close to their recent highs [35]. Under those circumstances, investing the full KES 100,000 on a single day would create concentration in time as well as concentration by security. Splitting the commitment into approximately KES 33,333 of cash per month limits the damage if the first entry occurs immediately before a correction. The trade-off is that, if prices keep rising, later tranches buy fewer shares and the eventual average cost may be higher than a successful lump-sum purchase.
The DCA rule used here is therefore simple: preserve the strategic weights, but recalculate the number of whole shares from the live price on each purchase date. Do not preserve the September share counts. A falling Safaricom price should naturally produce a larger quantity from the same monthly allocation; a rising price should produce fewer shares. This makes cash discipline, not prediction, the central execution variable.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REAL WEB CAPTURE
{
  "slug": "dca-dividend",
  "url": "https://sokointel.com/calculators/dca-dividend/",
  "captured_at": "2026-09-25T05:01:14.698Z",
  "inputs": [
    {
      "name": "total_cash",
      "value": "100000"
    },
    {
      "name": "transaction_cost",
      "value": "2.1"
    },
    {
      "name": "deployment_months",
      "value": "3"
    },
    {
      "name": "target_weight",
      "value": "20"
    },
    {
      "name": "share_price",
      "value": "36.65"
    },
    {
      "name": "dividend_per_share",
      "value": "2.0"
    },
    {
      "name": "withholding_tax",
      "value": "5"
    }
  ],
  "screenshots": [
    "dca-dividend-inputs.png",
    "dca-dividend-full.png",
    "dca-dividend-results.png",
    "dca-dividend-summary.png"
  ],
  "get_status": 200,
  "title": "DCA and dividend planner | Sokointel",
  "post_status": 200,
  "results_text": "3-MONTH DCA PLAN\n\nInvestable securities · KES\n97,943\nSteady-state net annual dividend · KES\n1,016\nNet yield on cash\n0.01%\nWhole shares per month\n178\nFollow the cash through the plan.\nMeasure\tCalculated result\nTotal cash available\tKES 100,000.00\nTransaction-cost reserve\tKES 2,056.81\nMonthly securities allocation\tKES 32,647.73\nMonthly target for this counter\tKES 6,529.55\nEstimated monthly share purchase\tKES 6,523.70\nUncommitted amount after whole shares\tKES 5.85\nGross annual dividend estimate\tKES 1,068.96\nDividend withholding estimate\tKES 53.45\nFollow the calculation\n𝐼\n=\n𝐶\n1\n+\n𝑐\n,\n𝑇\n=\n𝐼\n𝑚\n×\n𝑤\n𝑁\n=\n⌊\n𝑇\n𝑃\n⌋\n,\n𝐷\nnet\n=\n𝐼\n𝑤\n×\n𝑑\n𝑃\n(\n1\n−\n𝜏\n)\n\nThe DCA schedule is a planning structure. It makes the cash reserve, price assumption, whole-share rounding, and income estimate visible before each actual order is placed.\n\nTake the research further.\n\nRead the full NSE dividend-growth case, then use its companion formula workbook to vary allocation, price, cost, and dividend assumptions together.\n\nRead the DCA research →",
  "alerts": [],
  "base": "Evidence/Web"
}
DEMONSTRATION SCOPE
Follow capital, cost reserve, target allocation and whole-share quantity in the saved table. Recalculate after a changed price or dividend assumption.
Income KES 1,015.51 / KES 100,000 = 1.02%. Captured page yield formatting is under review.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Answer: A staged contribution plan must fit fees, whole-share quantities and residual cash. Dividend assessment then asks whether the underlying business can sustain the payment.
Viewer task: Save the purchase log with capital budget, source price date, fees, integer shares and review trigger.
Return to each opening research question and identify what remains conditional or unknown.
ARTICLE SECTION: 12. Principal Risks and Part 1 Conclusion
The portfolio contains several material risks. The 45% bank weighting creates exposure to the same interest-rate, credit-quality and regulatory cycle across multiple issuers. BAT's high yield comes with tobacco regulation and excise risk. EABL is sensitive to consumer spending, taxation and input costs. Safaricom's valuation and growth depend increasingly on data, financial services and regional execution. NSE PLC is sensitive to market turnover, listings and investor participation. In addition, the whole portfolio is Kenya-centric and denominated in Kenyan shillings, so it does not diversify country or currency risk.
Within those limits, the construction is coherent for a KES 100,000 starter dividend-growth allocation. It reserves transaction costs, uses seven liquid or strategically differentiated companies, caps the largest position at 20%, and stages capital over three months. The reference portfolio's 6.94% headline gross yield is attractive but should never be interpreted as guaranteed. The real objective is a durable total-return process: own profitable businesses, distinguish recurring from special payouts, reinvest selectively, diversify future contributions away from the largest existing sector, and keep the execution rules simple enough to follow through both rallies and corrections.
Valuation discipline remains necessary even inside a DCA programme. A predetermined purchase date does not require purchasing a security whose investment thesis has materially changed or whose valuation has become detached from a reasonable earnings and dividend outlook. DCA is a method of staging capital, not a rule against judgment. Before each tranche, the investor should perform a short exception review: confirm that no profit warning, dividend cancellation, major regulatory event, governance problem or balance-sheet deterioration has invalidated the original thesis. If the thesis remains intact, the scheduled purchase proceeds. If a material event has changed the expected cash flows, the allocation can remain temporarily in cash while the company is reassessed. This distinction prevents systematic investing from becoming mechanical averaging into a deteriorating business.
Opportunity cost should also be recognized. Equity capital competes with Kenyan money-market funds, Treasury bills, bank deposits and the investor's own business opportunities. A dividend yield of 6% is not automatically attractive merely because it is positive; the relevant comparison is the expected total return after risk, tax, fees and the possibility of capital loss. Shares earn their place in the portfolio when the combination of sustainable dividend income and prospective earnings growth provides adequate compensation for volatility and uncertainty. For this reason, the model should not be read as an instruction to liquidate emergency savings or short-term operating cash. Capital needed within the next few months should remain in instruments whose liquidity and principal stability match that liability rather than being exposed to equity-market timing.
Finally, portfolio governance matters as much as initial selection. Maintain a simple investment journal showing each purchase date, live price, number of shares, transaction charges, target weight, actual weight and the reason the position still qualifies for ownership. Record ordinary and special dividends separately so that one-off distributions do not inflate the expected income rate. At each half-year or full-y
ARTICLE SECTION: 2. Why Dollar-Cost Averaging Is Appropriate Here
Dollar-cost averaging (DCA) means investing a fixed or approximately fixed amount at predetermined intervals rather than attempting to predict the market's short-term high and low points. Standard Chartered's investor education material describes the mechanism directly: the same cash contribution buys more units when prices decline and fewer when prices rise, which can reduce timing risk and help remove emotional decision-making [4]. DCA does not guarantee a profit, and it cannot rescue a weak company. Its advantage in this project is behavioural and procedural: the investor decides the capital allocation before being exposed to daily price noise.
The strategy is particularly relevant after a strong market advance. Market-level data on 9 September 2026 indicated that the Kenyan market had risen materially over the preceding year, while several individual counters in both the core portfolio and watchlist were close to their recent highs [35]. Under those circumstances, investing the full KES 100,000 on a single day would create concentration in time as well as concentration by security. Splitting the commitment into approximately KES 33,333 of cash per month limits the damage if the first entry occurs immediately before a correction. The trade-off is that, if prices keep rising, later tranches buy fewer shares and the eventual average cost may be higher than a successful lump-sum purchase.
The DCA rule used here is therefore simple: preserve the strategic weights, but recalculate the number of whole shares from the live price on each purchase date. Do not preserve the September share counts. A falling Safaricom price should naturally produce a larger quantity from the same monthly allocation; a rising price should produce fewer shares. This makes cash discipline, not prediction, the central execution variable.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NSE-DG-01: Building a dividend-growth core with three-month DCA
ARTICLE: https://sokointel.com/read/nse-dg-01/
RESEARCH SNAPSHOT: 10 September 2026
SOURCE MATERIAL
All linked source URLs:
Additional content sources:
[]
Workbook provenance:
C:\Users\Nevo\Downloads\financial material\NSE Dividend Growth Project 2026\Publication\Output\NSE Dividend Growth Formula Workbook.xlsx
'DCA Plan'!A12:H21
b54b185f5c120b9852cd37d3c5f730d26df9dd40f65be8141d3c0e85dc775f05
C:\Users\Nevo\Downloads\financial material\NSE Dividend Growth Project 2026\Publication\Output\NSE Dividend Growth Formula Workbook.xlsx
'Income Scenarios'!A5:G9
b54b185f5c120b9852cd37d3c5f730d26df9dd40f65be8141d3c0e85dc775f05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nse-dg-01/" TargetMode="External"/><Relationship Id="rId2" Type="http://schemas.openxmlformats.org/officeDocument/2006/relationships/hyperlink" Target="https://sokointel.com/read/nse-dg-01/"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Building a dividend-growth core with three-month DCA</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dated KES 100,000 teaching allocation staged through three monthly purchases with fees and whole-share constraints.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NSE-DG-01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can KES 100,000 be staged across a dividend-growth portfolio while reserving transaction costs?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inputs determine whole-share DCA quantities, dividend income, and net yield?</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DCA — investing fixed contributions at scheduled dates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Whole shares — integer quantity affordable within cash limits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Residual cash — unspent amount after share purchases and costs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Stage KES 100,000 over three months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Retain cash for acquisition costs and whole-share rounding.</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core is a portfolio role with a review rule, not a universal ticker list.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Treat dividend sustainability and total return as related but distinct questions.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whole-share order leaves residual cash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the saved reference price and its date.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Monthly allocation is rounded down to an affordable integer quantity.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Record both share cost and maximum modeled fees.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Trace the dividend into net household cash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ordinary distributions from special payments.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Apply the relevant withholding assumptions explicitly.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 payout, cash generation, debt and reinvestment before extrapolating income.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Whole-share implementation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Shares = floor(monthly capital allocation ÷ reference price)</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Safaricom: floor(KES 6,529.55 ÷ KES 36.65) = 178 shares.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Source share cost KES 6,523.70; cost plus maximum modeled fees KES 6,660.70.</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DCA Plan: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NSE-DG-01-01-p1.png">    </p:cNvPr>
          <p:cNvPicPr>
            <a:picLocks noChangeAspect="1"/>
          </p:cNvPicPr>
          <p:nvPr/>
        </p:nvPicPr>
        <p:blipFill>
          <a:blip r:embed="rId1"/>
          <a:stretch>
            <a:fillRect/>
          </a:stretch>
        </p:blipFill>
        <p:spPr>
          <a:xfrm>
            <a:off x="612648" y="2663494"/>
            <a:ext cx="10972800" cy="206136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DCA Plan!A12:H21</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Income Scenarios: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NSE-DG-01-02-p1.png">    </p:cNvPr>
          <p:cNvPicPr>
            <a:picLocks noChangeAspect="1"/>
          </p:cNvPicPr>
          <p:nvPr/>
        </p:nvPicPr>
        <p:blipFill>
          <a:blip r:embed="rId1"/>
          <a:stretch>
            <a:fillRect/>
          </a:stretch>
        </p:blipFill>
        <p:spPr>
          <a:xfrm>
            <a:off x="612648" y="3094795"/>
            <a:ext cx="10972800" cy="119876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Income Scenarios!A5:G9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Price changes alter the affordable quantity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the monthly allocation and fee budget fixed.</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Increase the observed share price before executing the order.</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Recalculate whole shares and residual cash; do not force the original quantity through the cash limit.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dca-dividend-table-crop.png">    </p:cNvPr>
          <p:cNvPicPr>
            <a:picLocks noChangeAspect="1"/>
          </p:cNvPicPr>
          <p:nvPr/>
        </p:nvPicPr>
        <p:blipFill>
          <a:blip r:embed="rId1"/>
          <a:stretch>
            <a:fillRect/>
          </a:stretch>
        </p:blipFill>
        <p:spPr>
          <a:xfrm>
            <a:off x="665071" y="1810512"/>
            <a:ext cx="723778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Follow capital, cost reserve, target allocation and whole-share quantity in the saved table. Recalculate after a changed price or dividend assumption.</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Income KES 1,015.51 / KES 100,000 = 1.02%. Captured page yield formatting is under review.</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/calculators/dca-dividend/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staged contribution plan must fit fees, whole-share quantities and residual cash. Dividend assessment then asks whether the underlying business can sustain the payment.</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Save the purchase log with capital budget, source price date, fees, integer shares and review trigger.</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NSE-DG-01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sokointel.com/read/nse-dg-01/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Building a dividend-growth core with three-month DCA</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NSE Dividend Growth Formula 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'DCA Plan'!A12:H21; 'Income Scenarios'!A5:G9</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dividend-growth core with three-month DCA</dc:title>
  <dc:subject>How can KES 100,000 be staged across a dividend-growth portfolio while reserving transaction costs? | Which inputs determine whole-share DCA quantities, dividend income, and net yield?</dc:subject>
  <dc:creator>Sokointel</dc:creator>
  <cp:lastModifiedBy>Sokointel</cp:lastModifiedBy>
  <cp:revision>1</cp:revision>
  <dcterms:created xsi:type="dcterms:W3CDTF">2026-09-25T13:59:18Z</dcterms:created>
  <dcterms:modified xsi:type="dcterms:W3CDTF">2026-09-25T13:59:18Z</dcterms:modified>
</cp:coreProperties>
</file>