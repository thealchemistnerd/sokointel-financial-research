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NSE-DG-02: Using a watchlist to broaden a Kenyan equity portfolio
ARTICLE: https://sokointel.com/read/nse-dg-02/
RESEARCH SNAPSHOT: 10 September 2026
OPENING NARRATION
An investor compares new research candidates with an existing Kenyan equity core, preserving the option to defer.
Dated source record • fictional calculations are labelled as illustrations
Introduce the decision before defining the technical terms.
ARTICLE SECTION: # NSE Dividend-Growth DCA and Watchlist Research Project
Research snapshot: 10 September 2026  
Price reference date: 9 September 2026  
Capital: KES 100,000, deployed over three months
ARTICLE SECTION: 13. Part 2: Purpose of the Watchlist
A watchlist is not a second portfolio. It is a decision pipeline. Its purpose is to identify companies that could improve diversification, replace a weakening core holding, or become attractive after a valuation or business-quality change. This distinction is especially important after constructing the seven-stock core because adding every appealing dividend payer would quickly undermine the original architecture. The core already holds three banks; therefore KCB, Stanbic, NCBA, I&amp;M, Absa and DTB should primarily be compared against the existing bank positions rather than all being bought at once.
The 15-counter watchlist below is organized into three functional groups. The first group contains diversification candidates: energy, insurance, industrial and agriculture businesses whose cash flows are meaningfully different from the core. The second contains banking alternatives and potential replacements. The third contains higher-risk/value opportunities where the headline yield or recent price performance needs additional caution. Every yield uses the 9 September 2026 reference price from the same market list [1] and a stated dividend basis. The result is a comparable research snapshot rather than a collection of numbers gathered on different dates.
The status labels are research labels, not personalized buy or sell recommendations. 'High-priority diversifier' means the company fills an obvious portfolio gap and merits deeper valuation work. 'Bank alternative' means the stock should be evaluated against an existing bank rather than added automatically. 'Wait' signals that price momentum, concentration or uncertainty makes patience more important than immediate entry. 'Speculative' indicates that the dividend or valuation thesis has a material fragility that should be resolved before capital is committed.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NSE-DG-02: Using a watchlist to broaden a Kenyan equity portfolio
ARTICLE: https://sokointel.com/read/nse-dg-02/
RESEARCH SNAPSHOT: 10 September 2026
Read the questions naturally and define terms in context.
Target weight — desired proportion of the portfolio
Concentration — exposure clustered in related claims
Watchlist — research candidates with an evidence status
Research question mapping: Which inputs determine whole-share DCA quantities, dividend income, and net yield?; How can a watchlist broaden diversification without automatically increasing bank concentration?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NSE-DG-02: Using a watchlist to broaden a Kenyan equity portfolio
ARTICLE: https://sokointel.com/read/nse-dg-02/
RESEARCH SNAPSHOT: 10 September 2026
Explain the mechanism with the cited article section, then relate it to the opening decision.
Narration: explain each step and its consequence for the opening decision.
ARTICLE SECTION: 15. Diversification Candidate: KenGen (KEGN)
KenGen is the highest-priority watchlist addition because it changes the economic exposure of the portfolio. The core has telecommunications, banking, tobacco, beverages and capital-market infrastructure but no electricity generation. KenGen closed at KES 10.85 on 9 September with about 2.42 million shares traded, indicating materially better liquidity than most agricultural and small industrial counters [1]. Its board recommended a first and final FY2026 dividend of KES 0.75 per share, down from KES 0.90 for FY2025 [15]. At the reference price, the recommended dividend represents an indicative yield of about 6.91%.
The dividend cut should not automatically be interpreted as deterioration. KenGen's FY2026 results show an asset-intensive business continuing to invest in generation capacity, while management is also developing geothermal consulting and the KenGen Green Energy Park [14], [15]. For a dividend-growth investor, the important question is whether retained cash earns an adequate return and expands future distributable capacity. A utility that under-invests merely to preserve a high payout can destroy long-term value. Key risks include large capital requirements, hydrology, project execution, regulatory policy and the government's strategic role. The watch status is therefore high-priority diversifier, with emphasis on accumulating only when valuation and the investor's overall energy weight are reasonable.
ARTICLE SECTION: 17. Diversification Candidate: Jubilee Holdings (JUB)
Jubilee Holdings fills another clear gap: insurance. At KES 412.25, it is one of the higher-priced watchlist shares and traded only 15,484 shares on 9 September [1]. The FY2025 results showed profit before tax rising 15% to KES 7.2 billion, net profit rising 18% to KES 5.6 billion and an ordinary dividend of KES 15 per share, up 11% [21]. The resulting indicative yield is about 3.64%, which is below the banking and tobacco yields in the core.
That lower yield is precisely why Jubilee should be assessed as a dividend-growth and diversification candidate rather than an income maximizer. Insurance earnings are driven by underwriting, claims, investment returns, capital management and regional operations, so they broaden the portfolio's financial exposure beyond lending. The company also has asset-management exposure. Risks include claims inflation, investment-market volatility, regulatory capital requirements and relatively low trading liquidity. Jubilee deserves a high-priority watch status when the objective is portfolio quality rather than simply maximizing the first year's cash yield.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NSE-DG-02: Using a watchlist to broaden a Kenyan equity portfolio
ARTICLE: https://sokointel.com/read/nse-dg-02/
RESEARCH SNAPSHOT: 10 September 2026
Explain the mechanism with the cited article section, then relate it to the opening decision.
Narration: explain each step and its consequence for the opening decision.
ARTICLE SECTION: 17. Diversification Candidate: Jubilee Holdings (JUB)
Jubilee Holdings fills another clear gap: insurance. At KES 412.25, it is one of the higher-priced watchlist shares and traded only 15,484 shares on 9 September [1]. The FY2025 results showed profit before tax rising 15% to KES 7.2 billion, net profit rising 18% to KES 5.6 billion and an ordinary dividend of KES 15 per share, up 11% [21]. The resulting indicative yield is about 3.64%, which is below the banking and tobacco yields in the core.
That lower yield is precisely why Jubilee should be assessed as a dividend-growth and diversification candidate rather than an income maximizer. Insurance earnings are driven by underwriting, claims, investment returns, capital management and regional operations, so they broaden the portfolio's financial exposure beyond lending. The company also has asset-management exposure. Risks include claims inflation, investment-market volatility, regulatory capital requirements and relatively low trading liquidity. Jubilee deserves a high-priority watch status when the objective is portfolio quality rather than simply maximizing the first year's cash yield.
ARTICLE SECTION: 28. Ranking the Watchlist by Portfolio Function
The watchlist should be ranked according to what the portfolio lacks rather than according to yield. For diversification, KenGen is first because it introduces power generation and offers a meaningful current dividend. Jubilee follows because insurance changes the earnings mix without merely adding another lender. TotalEnergies is also attractive because downstream energy cash flows differ from the core sectors. BOC, Kakuzi and Carbacid are useful second-line diversifiers, but their lower liquidity or narrower business models justify smaller position sizes and more patient execution.
Among banks, the ranking depends on the role being replaced. For high income, Stanbic and NCBA compare strongly with Standard Chartered. For scale and regional banking, KCB compares directly with Equity but its FY2025 special dividend must be removed when normalizing yield. I&amp;M provides an attractive dividend-growth record, Absa combines income and profitability, and DTB combines a rising payout with retained capital and strong liquidity. The investor should not infer that the highest-ranked bank should simply be added; the decision should be framed as 'which bank best deserves the existing bank allocation?'
The higher-risk group, KPLC, Williamson Tea and Car &amp; General, requires explicit thesis validation. KPLC must demonstrate that the turnaround remains durable; WTK must demonstrate dividend coverage; CGEN must demonstrate that earnings can justify the post-rally valuation. These are precisely the situations where a watchlist prevents impulsive buying: the investor has already defined what evidence must improve before capital is committed.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NSE-DG-02: Using a watchlist to broaden a Kenyan equity portfolio
ARTICLE: https://sokointel.com/read/nse-dg-02/
RESEARCH SNAPSHOT: 10 September 2026
Explain the mechanism with the cited article section, then relate it to the opening decision.
Narration: explain each step and its consequence for the opening decision.
ARTICLE SECTION: 19. Diversification Candidate: Kakuzi (KUKZ)
Kakuzi is an agriculture and export-diversification candidate. It closed at KES 438.25 on 9 September and only 1,683 shares traded [1], so liquidity is a much larger concern than with large banks or utilities. For FY2025, Kakuzi returned to profit with KES 387.5 million after tax after recording a KES 131.6 million loss in the preceding year. The board recommended a first and final KES 16 dividend per share, double the prior year's payout [26]. At the reference price, that is an indicative yield of about 3.65%.
Kakuzi's value in a broader portfolio is its exposure to avocado, macadamia, blueberry and other agricultural/export activities. These businesses may respond differently from domestic credit and telecom demand, but they introduce new risks: weather, crop yields, freight, phytosanitary rules, global prices, foreign exchange and geopolitical disruption to export routes. The 2025 rebound is encouraging, but one strong year should not be extrapolated automatically. Kakuzi is therefore a selective-entry diversifier rather than a high-yield target.
ARTICLE SECTION: 29. Suggested Watchlist Monitoring Framework
A useful watchlist records not only price but the condition that would make the investment case stronger or weaker. For every company, update five fields after each results period: earnings trend, dividend per share, payout quality, balance-sheet risk and current price/liquidity. A sixth field should record the portfolio consequence of buying the stock. For example, purchasing KenGen lowers the relative bank weight; purchasing KCB increases it. The same KES 10,000 therefore has a different diversification effect depending on where it is deployed.
For dividend quality, classify distributions as ordinary recurring, ordinary but cyclical, or special/non-recurring. KCB's KES 3 special component belongs in the third category. NSE PLC's KES 0.27 special component should be treated similarly. Williamson Tea's KES 15 is ordinary in legal form but economically requires caution because it exceeded annual profit. Such classification prevents a mechanical spreadsheet from presenting all shillings of dividend as equally repeatable.
For price discipline, avoid a single rigid 'buy price' unsupported by valuation. Instead, use a range of evidence: historical and forward earnings, return on equity/capital, payout ratio, balance-sheet quality, recent price range, liquidity and expected dividend. A price decline caused by temporary market volatility can improve the entry; a price decline caused by deteriorating fundamentals may not. DCA should only be applied after the business passes the fundamental screen.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NSE-DG-02: Using a watchlist to broaden a Kenyan equity portfolio
ARTICLE: https://sokointel.com/read/nse-dg-02/
RESEARCH SNAPSHOT: 10 September 2026
Article worked example and saved workbook evidence; preserve their separate assumptions.
Equation: Combined sector weight = sum of constituent position weights
Substitution: Equity 15% + Co-operative Bank 15% + Standard Chartered Kenya 15% = 45%.
Interpretation: Three separate holdings still leave 45% of the illustrative target in banks.
ARTICLE SECTION: 17. Diversification Candidate: Jubilee Holdings (JUB)
Jubilee Holdings fills another clear gap: insurance. At KES 412.25, it is one of the higher-priced watchlist shares and traded only 15,484 shares on 9 September [1]. The FY2025 results showed profit before tax rising 15% to KES 7.2 billion, net profit rising 18% to KES 5.6 billion and an ordinary dividend of KES 15 per share, up 11% [21]. The resulting indicative yield is about 3.64%, which is below the banking and tobacco yields in the core.
That lower yield is precisely why Jubilee should be assessed as a dividend-growth and diversification candidate rather than an income maximizer. Insurance earnings are driven by underwriting, claims, investment returns, capital management and regional operations, so they broaden the portfolio's financial exposure beyond lending. The company also has asset-management exposure. Risks include claims inflation, investment-market volatility, regulatory capital requirements and relatively low trading liquidity. Jubilee deserves a high-priority watch status when the objective is portfolio quality rather than simply maximizing the first year's cash yield.
ARTICLE SECTION: 15. Diversification Candidate: KenGen (KEGN)
KenGen is the highest-priority watchlist addition because it changes the economic exposure of the portfolio. The core has telecommunications, banking, tobacco, beverages and capital-market infrastructure but no electricity generation. KenGen closed at KES 10.85 on 9 September with about 2.42 million shares traded, indicating materially better liquidity than most agricultural and small industrial counters [1]. Its board recommended a first and final FY2026 dividend of KES 0.75 per share, down from KES 0.90 for FY2025 [15]. At the reference price, the recommended dividend represents an indicative yield of about 6.91%.
The dividend cut should not automatically be interpreted as deterioration. KenGen's FY2026 results show an asset-intensive business continuing to invest in generation capacity, while management is also developing geothermal consulting and the KenGen Green Energy Park [14], [15]. For a dividend-growth investor, the important question is whether retained cash earns an adequate return and expands future distributable capacity. A utility that under-invests merely to preserve a high payout can destroy long-term value. Key risks include large capital requirements, hydrology, project execution, regulatory policy and the government's strategic role. The watch status is therefore high-priority diversifier, with emphasis on accumulating only when valuation and the investor's overall energy weight are reasonable.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NSE-DG-02: Using a watchlist to broaden a Kenyan equity portfolio
ARTICLE: https://sokointel.com/read/nse-dg-02/
RESEARCH SNAPSHOT: 10 September 2026
ACTUAL WORKBOOK CAPTURE
Workbook: C:\Users\Nevo\Downloads\financial material\NSE Dividend Growth Project 2026\Publication\Output\NSE Dividend Growth Formula Workbook.xlsx
Sheet/range: 'Core Portfolio'!A14:G22
SHA-256: b54b185f5c120b9852cd37d3c5f730d26df9dd40f65be8141d3c0e85dc775f05
Capture method: Microsoft Excel read-only PDF range export. Print headings retained. Source not saved.
Asset: Evidence/Workbooks/NSE-DG-02-01-p1.png
This capture is explicitly a cross-series teaching bridge. Its figures are not the article case.
SCREEN RECORDING WALKTHROUGH
Read the row and column headings. Identify inputs, follow the dependent row and explain the units. Do not alter the source workbook while recording; use a copy for a new scenario.
Extracted evidence text:
14
15
16
17
18
19
20
21
22
A B C D E F G
Counter Ticker Price Dividend per 
share Target weight Target capital Indicative yield
Safaricom SCOM 36.65 2.00 20.0% 19,588.64 5.46%
Equity Group EQTY 101.50 5.75 15.0% 14,691.48 5.67%
Co-operative Bank COOP 37.85 2.50 15.0% 14,691.48 6.61%
Standard Chartered Kenya SCBK 349.25 31.00 15.0% 14,691.48 8.88%
BAT Kenya BAT 559.00 70.00 15.0% 14,691.48 12.52%
East African Breweries EABL 285.25 12.70 10.0% 9,794.32 4.45%
Nairobi Securities Exchange NSE 28.20 1.00 10.0% 9,794.32 3.55%
Portfolio total 100.0% 97,943.19 6.94%
Relevant article context:
ARTICLE SECTION: 28. Ranking the Watchlist by Portfolio Function
The watchlist should be ranked according to what the portfolio lacks rather than according to yield. For diversification, KenGen is first because it introduces power generation and offers a meaningful current dividend. Jubilee follows because insurance changes the earnings mix without merely adding another lender. TotalEnergies is also attractive because downstream energy cash flows differ from the core sectors. BOC, Kakuzi and Carbacid are useful second-line diversifiers, but their lower liquidity or narrower business models justify smaller position sizes and more patient execution.
Among banks, the ranking depends on the role being replaced. For high income, Stanbic and NCBA compare strongly with Standard Chartered. For scale and regional banking, KCB compares directly with Equity but its FY2025 special dividend must be removed when normalizing yield. I&amp;M provides an attractive dividend-growth record, Absa combines income and profitability, and DTB combines a rising payout with retained capital and strong liquidity. The investor should not infer that the highest-ranked bank should simply be added; the decision should be framed as 'which bank best deserves the existing bank allocation?'
The higher-risk group, KPLC, Williamson Tea and Car &amp; General, requires explicit thesis validation. KPLC must demonstrate that the turnaround remains durable; WTK must demonstrate dividend coverage; CGEN must demonstrate that earnings can justify the post-rally valuation. These are precisely the situations where a watchlist prevents impulsive buying: the investor has already defined what evidence must improve before capital is committed.
ARTICLE SECTION: 30. How Future Capital Could Expand the Core
If an additional KES 50,000–100,000 becomes available after the initial core is established, the most coherent expansion is not to repeat the original weights. New money can be used to correct concentration. A reasonable sequence for deeper research is KenGen, Jubilee, TotalEnergies, then one selected bank alternative only if it replaces or offsets an existing bank allocation, followed by a small industrial position such as BOC or Carbacid. Kakuzi can be considered when liquidity and valuation permit. This sequence would gradually transform the portfolio from a bank-heavy dividend basket into a more balanced Kenyan equity allocation.
The precise future allocation should depend on the portfolio weights at that time. If banks have underperformed and fallen from 45% to 35%, a high-quality bank alternative may be acceptable. If banks have rallied and risen above 50%, new capital should overwhelmingly favour non-bank sectors. The watchlist therefore works best when connected to portfolio weights, not as a standalone ranking table.
The same principle applies to dividend reinvestment. Cash received from BAT does not have to buy BAT; cash received from Standard Chartered does not have to buy another bank. Reinvesting into the most underweight high-quality sector allows dividend income to become a rebalancing mechanism. Over time this can reduce concentration without triggering sales and their associated execution costs.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NSE-DG-02: Using a watchlist to broaden a Kenyan equity portfolio
ARTICLE: https://sokointel.com/read/nse-dg-02/
RESEARCH SNAPSHOT: 10 September 2026
Teaching sensitivity; hold other assumptions fixed unless a multi-input case is explicitly named.
Base: The example core already targets 45% in three banks.
Changed: Consider another bank without reducing existing bank holdings.
Consequence: Sector exposure rises; compare its incremental role and risk before adding a position.
ARTICLE SECTION: 17. Diversification Candidate: Jubilee Holdings (JUB)
Jubilee Holdings fills another clear gap: insurance. At KES 412.25, it is one of the higher-priced watchlist shares and traded only 15,484 shares on 9 September [1]. The FY2025 results showed profit before tax rising 15% to KES 7.2 billion, net profit rising 18% to KES 5.6 billion and an ordinary dividend of KES 15 per share, up 11% [21]. The resulting indicative yield is about 3.64%, which is below the banking and tobacco yields in the core.
That lower yield is precisely why Jubilee should be assessed as a dividend-growth and diversification candidate rather than an income maximizer. Insurance earnings are driven by underwriting, claims, investment returns, capital management and regional operations, so they broaden the portfolio's financial exposure beyond lending. The company also has asset-management exposure. Risks include claims inflation, investment-market volatility, regulatory capital requirements and relatively low trading liquidity. Jubilee deserves a high-priority watch status when the objective is portfolio quality rather than simply maximizing the first year's cash yield.
ARTICLE SECTION: 19. Diversification Candidate: Kakuzi (KUKZ)
Kakuzi is an agriculture and export-diversification candidate. It closed at KES 438.25 on 9 September and only 1,683 shares traded [1], so liquidity is a much larger concern than with large banks or utilities. For FY2025, Kakuzi returned to profit with KES 387.5 million after tax after recording a KES 131.6 million loss in the preceding year. The board recommended a first and final KES 16 dividend per share, double the prior year's payout [26]. At the reference price, that is an indicative yield of about 3.65%.
Kakuzi's value in a broader portfolio is its exposure to avocado, macadamia, blueberry and other agricultural/export activities. These businesses may respond differently from domestic credit and telecom demand, but they introduce new risks: weather, crop yields, freight, phytosanitary rules, global prices, foreign exchange and geopolitical disruption to export routes. The 2025 rebound is encouraging, but one strong year should not be extrapolated automatically. Kakuzi is therefore a selective-entry diversifier rather than a high-yield target.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NSE-DG-02: Using a watchlist to broaden a Kenyan equity portfolio
ARTICLE: https://sokointel.com/read/nse-dg-02/
RESEARCH SNAPSHOT: 10 September 2026
REAL WEB CAPTURE
{
  "slug": "dca-portfolio",
  "url": "https://sokointel.com/calculators/dca-portfolio/",
  "captured_at": "2026-09-25T05:01:21.691Z",
  "inputs": [
    {
      "name": "total_cash",
      "value": "100000"
    },
    {
      "name": "deployment_months",
      "value": "6"
    },
    {
      "name": "percentage_commission",
      "value": "2.1"
    },
    {
      "name": "fixed_order_fee",
      "value": "0"
    },
    {
      "name": "minimum_order_fee",
      "value": "0"
    },
    {
      "name": "cash_reserve",
      "value": "0"
    },
    {
      "name": "default_withholding_tax",
      "value": "5"
    },
    {
      "name": "purchase_mode",
      "value": "monthly"
    },
    {
      "name": "holding_label_0",
      "value": "SCOM"
    },
    {
      "name": "holding_share_price_0",
      "value": "36.45"
    },
    {
      "name": "holding_target_weight_0",
      "value": "55"
    },
    {
      "name": "holding_dividend_per_share_0",
      "value": "2"
    },
    {
      "name": "holding_withholding_tax_0",
      "value": ""
    },
    {
      "name": "holding_sector_0",
      "value": ""
    },
    {
      "name": "holding_label_1",
      "value": "EQTY"
    },
    {
      "name": "holding_share_price_1",
      "value": "101.75"
    },
    {
      "name": "holding_target_weight_1",
      "value": "35"
    },
    {
      "name": "holding_dividend_per_share_1",
      "value": "5.75"
    },
    {
      "name": "holding_withholding_tax_1",
      "value": ""
    },
    {
      "name": "holding_sector_1",
      "value": ""
    },
    {
      "name": "holding_label_2",
      "value": "NSE"
    },
    {
      "name": "holding_share_price_2",
      "value": "27.65"
    },
    {
      "name": "holding_target_weight_2",
      "value": "10"
    },
    {
      "name": "holding_dividend_per_share_2",
      "value": "1"
    },
    {
      "name": "holding_withholding_tax_2",
      "value": ""
    },
    {
      "name": "holding_sector_2",
      "value": ""
    }
  ],
  "screenshots": [
    "dca-portfolio-inputs.png",
    "dca-portfolio-full.png",
    "dca-portfolio-results.png",
    "dca-portfolio-summary.png"
  ],
  "get_status": 200,
  "title": "DCA portfolio and dividend planner | Sokointel",
  "scenario": "Illustrative historical-price teaching scenario supplied in the project discussion; not current quotes.",
  "post_status": 200,
  "results_text": "6-MONTH MONTHLY PLAN\n\nBuying budget after reserve\nKES 100,000\nTotal deployed, including costs\nKES 99,867\nNet annual dividend estimate\nKES 4,978\nNet yield on original cash\n4.98%\nReview before ordering.\nSCOM: target weight is above 40%; review concentration risk.\nPortfolio allocation and income\nHolding\tTarget weight\tActual deployed weight\tShares\tSecurity value\tCosts\tGross dividend\tNet dividend\nSCOM\t55.00%\t55.04%\t1,477\tKES 53,836.65\tKES 1,130.57\tKES 2,954.00\tKES 2,806.30\nEQTY\t35.00%\t34.95%\t336\tKES 34,188.00\tKES 717.95\tKES 1,932.00\tKES 1,835.40\nNSE\t10.00%\t10.01%\t354\tKES 9,788.10\tKES 205.55\tKES 354.00\tKES 336.30\nCash and dividend reconciliation\nMeasure\tCalculated result\nTotal capital\tKES 100,000.00\nCash reserve retained\tKES 0.00\nSecurities purchased\tKES 97,812.75\nTransaction costs\tKES 2,054.07\nUncommitted cash after whole-share rounding\tKES 133.18\nGross annual dividend estimate\tKES 5,240.00\nDividend withholding estimate\tKES 262.00\nNet yield on deployed capital\t4.98%\nSee the monthly purchase schedule\nFollow the calculation\n𝐵\n=\n𝐶\n−\n𝑅\n,\n𝑇\n𝑖\n,\n𝑡\n=\n𝐵\n𝑚\n×\n𝑤\n𝑖\n×\n𝑡\n𝑁\n𝑖\n,\n𝑡\n=\n⌊\n𝐴\n𝑖\n,\n𝑡\n𝑃\n𝑖\n+\ncost per share\n𝑖\n,\n𝑡\n⌋\n,\n𝐷\n𝑖\n,\nnet\n=\n𝑆\n𝑖\n𝑑\n𝑖\n(\n1\n−\n𝜏\n𝑖\n)\nTake the research further.\n\nRead the full NSE dividend-growth case, then use its companion formula workbook for changing prices, dividend growth, reinvestment, rebalancing bands, dividend cuts, sector limits, and scenarios.\n\nRead the DCA research →",
  "alerts": [],
  "base": "Evidence/Web"
}
DEMONSTRATION SCOPE
Use target weights, reference prices and costs to form an affordable purchase plan. Follow the residual cash after integer-share rounding.
Stress losses, covariance and HHI belong in the workbook, not this purchase planner.
The calculator defaults may be a separate teaching example. Do not claim the displayed default equals the article or workbook case unless inputs and conventions have been reconciled. DCF uses FCFF discounted at WACC, subtracting net debt once; do not put after-interest owner earnings into that model. For financial companies use the separate capital model.
For the DCA dividend capture only: the original page renders a fraction as a percentage without multiplying by 100. The derived screenshot is an exact table crop excluding that card, not a retouched page. Correct yield = 1,015.5093/100,000 ×100 = 1.0155093%, approximately 1.02%. The protected tool was not changed.
The DCA portfolio calculator is limited to purchase/allocation mechanics and does not calculate a 30-company HHI, correlation or a stress loss. The compounding explorer is a constant-return contribution-timing model, not a sequence-of-returns withdrawal simulation.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NSE-DG-02: Using a watchlist to broaden a Kenyan equity portfolio
ARTICLE: https://sokointel.com/read/nse-dg-02/
RESEARCH SNAPSHOT: 10 September 2026
Answer: A watchlist broadens research when each candidate has an evidence requirement and a portfolio role. A deferred decision can be the correct output.
Viewer task: Add a candidate with source links, a valuation range, an exposure role and pass/revise/defer status.
Return to each opening research question and identify what remains conditional or unknown.
ARTICLE SECTION: 13. Part 2: Purpose of the Watchlist
A watchlist is not a second portfolio. It is a decision pipeline. Its purpose is to identify companies that could improve diversification, replace a weakening core holding, or become attractive after a valuation or business-quality change. This distinction is especially important after constructing the seven-stock core because adding every appealing dividend payer would quickly undermine the original architecture. The core already holds three banks; therefore KCB, Stanbic, NCBA, I&amp;M, Absa and DTB should primarily be compared against the existing bank positions rather than all being bought at once.
The 15-counter watchlist below is organized into three functional groups. The first group contains diversification candidates: energy, insurance, industrial and agriculture businesses whose cash flows are meaningfully different from the core. The second contains banking alternatives and potential replacements. The third contains higher-risk/value opportunities where the headline yield or recent price performance needs additional caution. Every yield uses the 9 September 2026 reference price from the same market list [1] and a stated dividend basis. The result is a comparable research snapshot rather than a collection of numbers gathered on different dates.
The status labels are research labels, not personalized buy or sell recommendations. 'High-priority diversifier' means the company fills an obvious portfolio gap and merits deeper valuation work. 'Bank alternative' means the stock should be evaluated against an existing bank rather than added automatically. 'Wait' signals that price momentum, concentration or uncertainty makes patience more important than immediate entry. 'Speculative' indicates that the dividend or valuation thesis has a material fragility that should be resolved before capital is committed.
ARTICLE SECTION: 25. Higher-Risk/Value Watch: Kenya Power (KPLC)
Kenya Power is a turnaround/value watch rather than a conventional dividend-growth holding. The share closed at KES 21.45 and was one of the most liquid names on 9 September, with about 3.08 million shares traded [1]. Its audited FY2025 report states that a KES 0.20 interim dividend was paid and a KES 0.80 final dividend was recommended, producing KES 1.00 per ordinary share for the year [25]. At the reference price, the trailing yield is about 4.66%.
The restored dividend is significant because the company had previously gone through years of financial stress and suspended ordinary distributions. However, a turnaround thesis is fundamentally different from a stable-income thesis. The investor must monitor operating cash generation, collections, system losses, debt, foreign-currency exposure, tariff decisions and government policy. Moreover, as of the 10 September 2026 research date, audited FY2026 results had not yet been published; it would be inappropriate to project the FY2025 payout mechanically. KPLC is therefore a liquid but higher-risk watchlist candidate whose investment case depends on continued balance-sheet and operational improvement.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NSE-DG-02: Using a watchlist to broaden a Kenyan equity portfolio
ARTICLE: https://sokointel.com/read/nse-dg-02/
RESEARCH SNAPSHOT: 10 September 2026
SOURCE MATERIAL
myStocks Mobile, “Market Pricelist: 09 Sep 2026,” Sep. 9, 2026. [Online]. Available: https://live.mystocks.co.ke/m/pricelist. [Accessed: Sep. 10, 2026].
Republic of Kenya, “The Capital Markets (Licensing Requirements)(General) Regulations, 2025,” Legal Notice 197 of 2025, Kenya Law, Dec. 11, 2025. [Online]. Available: https://new.kenyalaw.org/akn/ke/act/ln/2025/197/eng@2025-12-11. [Accessed: Sep. 10, 2026].
Capital Markets Authority, “Quarterly Capital Markets Statistical Bulletin, Q3 2025,” 2025. [Online]. Available: https://www.cmarcp.or.ke/images/bulletin/Statistical%20Bulletin/2025/CMA-Quarterly-Statistical-Bulletin-Q3.-2025.pdf. [Accessed: Sep. 10, 2026].
Standard Chartered Bank Kenya, “How to use Dollar Cost Averaging to build long term wealth,” Wealth Insights. [Online]. Available: https://www.sc.com/ke/wealth-insights/dollar-cost-averaging/. [Accessed: Sep. 10, 2026].
Republic of Kenya, “Income Tax Act,” Kenya Law, text as at Jul. 1, 2025. [Online]. Available: https://new.kenyalaw.org/akn/ke/act/1973/16/eng@2025-07-01. [Accessed: Sep. 10, 2026].
Kenya Revenue Authority, “About Capital Gain Tax,” [Online]. Available: https://www.kra.go.ke/helping-tax-payers/faqs/capital-gain-taxes. [Accessed: Sep. 10, 2026].
Safaricom PLC, “Safaricom PLC pays a record dividend at KES 80.13 billion for FY26,” 2026. [Online]. Available: https://www.safaricom.co.ke/media-center-landing/press-releases/safaricom-plc-pays-a-record-dividend-at-kes-80-13-billion-for-fy26. [Accessed: Sep. 10, 2026].
Equity Group Holdings PLC, “Equity Group shareholders approve KSh 21.7 billion dividend, insurance expansion, and key governance resolutions at 22nd AGM,” Jun. 24, 2026. [Online]. Available: https://equitygroupholdings.com/nairobi-24th-june-2026-equity-group-holdings-plc-shareholders-have-approved-all-proposed-resolutions-tabled-at-the-22nd-annual-general-meeting-agm-including-dividend-payout-board-appointments-a/. [Accessed: Sep. 10, 2026].
Co-operative Bank of Kenya Ltd., “Integrated Report 2025,” 2026. [Online]. Available: https://www.co-opbank.co.ke/wp-content/uploads/2026/05/2025-Co-op-Bank-Integrated-Report-Web.pdf. [Accessed: Sep. 10, 2026].
Standard Chartered Bank Kenya Ltd., “Investor Relations: 2026 Financial Results &amp; Annual Reports,” 2026. [Online]. Available: https://www.sc.com/ke/investor-relations/. [Accessed: Sep. 10, 2026].
BAT Kenya PLC, “Combined Annual and Sustainability Report 2025,” 2026. [Online]. Available: https://www.batkenya.com/content/dam/endmarkets/ke/en/download/investors-and-reporting/annual-reports/BATK_Combined_Annual_and_Sustainability_Report_2025.pdf. [Accessed: Sep. 10, 2026].
East African Breweries PLC, “Financial Results: Full Year 2026,” 2026. [Online]. Available: https://www.eabl.com/investors/financial-results. [Accessed: Sep. 10, 2026].
Nairobi Securities Exchange PLC, “Integrated Annual Report &amp; Financial Statements 2025,” 2026. [Online]. Available: https://assets.kenyanstocks.com/files/019e3f97-1629-7292-a473-52cafbe29252/NSE_2025_Integrated_Reports.pdf. [Accessed: Sep. 10, 2026].
KenGen PLC, “Financial Reports: 2026,” 2026. [Online]. Available: https://www.kengen.co.ke/investor-relations/financial-information/. [Accessed: Sep. 10, 2026].
Nairobi Securities Exchange PLC, “KenGen Plc: Audited Financial Results for the Year Ended 30 June 2026,” distributed via Public Technologies, Sep. 7, 2026. [Online]. Available: https://www.marketscreener.com/news/nairobi-securities-exchange-kengen-plc-a-audited-financial-results-for-the-year-ended-30-june-20-ce785bdbd18af42c. [Accessed: Sep. 10, 2026].
KCB Group PLC, “2025 Integrated Report &amp; Financial Statements,” 2026. [Online]. Available: https://kcbgroup.com/. [Accessed: Sep. 10, 2026].
KCB Group PLC, “KCB Group Shareholders Approve KShs. 22.5 Billion Dividend Payout,” May 21, 2026. [Online]. Available: https://kcbgroup.com/. [Accessed: Sep. 10, 2026].
Stanbic Holdings PLC, “Summary of 2026 AGM Shareholders’ Questions &amp; Responses,” May 14, 2026. [Online]. Available: https://www.stanbicbank.co.ke/static_file/Kenya/Downloadable%20files/Stanbic%20Holdings%20PLC/AGM/2026/Stanbic-Holdings-Plc-2026-AGM-Shareholders-Questions-and-Responses.pdf. [Accessed: Sep. 10, 2026].
NCBA Group PLC, “Annual 2025 Integrated Report,” 2026. [Online]. Available: https://ncbagroup.com/wp-content/uploads/2026/06/NCBA-Group-Plc-Annual-2025-Integrated-Report.pdf. [Accessed: Sep. 10, 2026].
NCBA Group PLC, “NCBA Group PLC reports KES 23.4 billion in net profit, Dividend Per Share Up 30% and Launches New 5-Year Strategy,” Apr. 9, 2026. [Online]. Available: https://ncbagroup.com/blog/newsroom-article/ncba-group-plc-reports-kes-23-4-billion-in-net-profit-dividend-per-share-up-30-and-launches-new-5-year-strategy/. [Accessed: Sep. 10, 2026].
Jubilee Holdings Ltd., “Jubilee Holdings Declares A Record Dividend Following 18% Increase in Net Profit,” Apr. 9, 2026. [Online]. Available: https://jubileeinsurance.com/group/newsroom/jubilee-holdings-declares-a-record-dividend-following-18-increase-in-net-profit/. [Accessed: Sep. 10, 2026].
TotalEnergies Marketing Kenya PLC, “Financials,” 2026. [Online]. Available: https://totalenergies.ke/about-us/shareholder-information/financials. [Accessed: Sep. 10, 2026].
BOC Kenya PLC, “Investor Relations,” 2026. [Online]. Available: https://www.boc.co.ke/our-business/investor-relations. [Accessed: Sep. 10, 2026].
Morningstar, “BOC Kenya PLC Dividends,” 2026. [Online]. Available: https://www.morningstar.com/stocks/xnai/boc/dividends. [Accessed: Sep. 10, 2026].
The Kenya Power and Lighting Company PLC, “Annual Report and Financial Statements for the Year Ended 30 June 2025,” 2025. [Online]. Available: https://kplc.co.ke/storage/01K9C11B50VR5T3KS48G2GYNQ0.pdf. [Accessed: Sep. 10, 2026].
Kakuzi PLC, “Kakuzi Returns to Profit with KShs 387.5 million After Tax Earnings, With Double Dividends for Shareholders,” Mar. 25, 2026. [Online]. Available: https://www.kakuzi.co.ke/2026-kakuzi-returns-to-profit-with-kshs-387-5-million-after-tax-earnings-with-double-dividends-for-shareholders. [Accessed: Sep. 10, 2026].
Williamson Tea Kenya PLC, “Investor Reports: 2026,” 2026. [Online]. Available: https://www.williamsontea.com/investor-reports/. [Accessed: Sep. 10, 2026].
G. Ngigi, “Kapchorua, Williamson tap retained earnings to pay out mega dividends,” Business Daily Africa, Jun. 28, 2026. [Online]. Available: https://www.businessdailyafrica.com/bd/corporate/companies/kapchorua-williamson-tap-retained-earnings-to-pay-out-dividends-5512106. [Accessed: Sep. 10, 2026].
I&amp;M Group PLC, “Audited Financial Statements for the Year Ended 31 December 2025,” Mar. 24, 2026. [Online]. Available: https://www.imbankgroup.com/wp-content/uploads/2026/03/im-bank-group-financials.pdf. [Accessed: Sep. 10, 2026].
Absa Bank Kenya PLC, “Investor Relations: 2025 Annual Integrated Report,” 2026. [Online]. Available: https://www.absabank.co.ke/investor-relations/. [Accessed: Sep. 10, 2026].
G. Ngigi, “Absa lifts dividend 17pc on net profit growth to Sh22.9bn,” Business Daily Africa, Mar. 4, 2026. [Online]. Available: https://www.businessdailyafrica.com/bd/corporate/companies/absa-lifts-dividend-17pc-on-net-profit-growth-to-sh22-9bn-5379836. [Accessed: Sep. 10, 2026].
StockAnalysis.com, “Car &amp; General (Kenya) Dividend History, Dates &amp; Yield,” 2026. [Online]. Available: https://stockanalysis.com/quote/nase/CGEN/dividend/. [Accessed: Sep. 10, 2026].
Diamond Trust Bank Kenya Ltd., “DTB pre-tax profit jumps by 26%, increases dividend to KShs 9 per share,” Mar. 23, 2026. [Online]. Available: https://dtbk.dtbafrica.com/news/dtb-press-release-financials. [Accessed: Sep. 10, 2026].
Carbacid Investments PLC, “2025 Annual Report,” 2025. [Online]. Available: https://carbacid.com/documents/87/2025_Annual_Report.pdf. [Accessed: Sep. 10, 2026].
Simply Wall St, “Kenyan (NSE) Market Analysis &amp; Valuation: Updated Sep. 9, 2026,” Sep. 9, 2026. [Online]. Available: https://simplywall.st/markets/ke. [Accessed: Sep. 10, 2026].
All linked source URLs:
myStocks Mobile, “Market Pricelist: 09 Sep 2026,” Sep. 9, 2026. [Online]. Available:: https://live.mystocks.co.ke/m/pricelist
Republic of Kenya, “The Capital Markets (Licensing Requirements)(General) Regulations, 2025,” Legal Notice 197 of 2025, Kenya Law, Dec. 11, 2025. [Onl: https://new.kenyalaw.org/akn/ke/act/ln/2025/197/eng@2025-12-11
Capital Markets Authority, “Quarterly Capital Markets Statistical Bulletin, Q3 2025,” 2025. [Online]. Available:: https://www.cmarcp.or.ke/images/bulletin/Statistical%20Bulletin/2025/CMA-Quarterly-Statistical-Bulletin-Q3.-2025.pdf
Standard Chartered Bank Kenya, “How to use Dollar Cost Averaging to build long term wealth,” Wealth Insights. [Online]. Available:: https://www.sc.com/ke/wealth-insights/dollar-cost-averaging/
Republic of Kenya, “Income Tax Act,” Kenya Law, text as at Jul. 1, 2025. [Online]. Available:: https://new.kenyalaw.org/akn/ke/act/1973/16/eng@2025-07-01
Kenya Revenue Authority, “About Capital Gain Tax,” [Online]. Available:: https://www.kra.go.ke/helping-tax-payers/faqs/capital-gain-taxes
Safaricom PLC, “Safaricom PLC pays a record dividend at KES 80.13 billion for FY26,” 2026. [Online]. Available:: https://www.safaricom.co.ke/media-center-landing/press-releases/safaricom-plc-pays-a-record-dividend-at-kes-80-13-billion-for-fy26
Equity Group Holdings PLC, “Equity Group shareholders approve KSh 21.7 billion dividend, insurance expansion, and key governance resolutions at 22nd A: https://equitygroupholdings.com/nairobi-24th-june-2026-equity-group-holdings-plc-shareholders-have-approved-all-proposed-resolutions-tabled-at-the-22nd-annual-general-meeting-agm-including-dividend-payout-board-appointments-a/
Co-operative Bank of Kenya Ltd., “Integrated Report 2025,” 2026. [Online]. Available:: https://www.co-opbank.co.ke/wp-content/uploads/2026/05/2025-Co-op-Bank-Integrated-Report-Web.pdf
Standard Chartered Bank Kenya Ltd., “Investor Relations: 2026 Financial Results &amp; Annual Reports,” 2026. [Online]. Available:: https://www.sc.com/ke/investor-relations/
BAT Kenya PLC, “Combined Annual and Sustainability Report 2025,” 2026. [Online]. Available:: https://www.batkenya.com/content/dam/endmarkets/ke/en/download/investors-and-reporting/annual-reports/BATK_Combined_Annual_and_Sustainability_Report_2025.pdf
East African Breweries PLC, “Financial Results: Full Year 2026,” 2026. [Online]. Available:: https://www.eabl.com/investors/financial-results
Nairobi Securities Exchange PLC, “Integrated Annual Report &amp; Financial Statements 2025,” 2026. [Online]. Available:: https://assets.kenyanstocks.com/files/019e3f97-1629-7292-a473-52cafbe29252/NSE_2025_Integrated_Reports.pdf
KenGen PLC, “Financial Reports: 2026,” 2026. [Online]. Available:: https://www.kengen.co.ke/investor-relations/financial-information/
Nairobi Securities Exchange PLC, “KenGen Plc: Audited Financial Results for the Year Ended 30 June 2026,” distributed via Public Technologies, Sep. 7,: https://www.marketscreener.com/news/nairobi-securities-exchange-kengen-plc-a-audited-financial-results-for-the-year-ended-30-june-20-ce785bdbd18af42c
KCB Group PLC, “2025 Integrated Report &amp; Financial Statements,” 2026. [Online]. Available:: https://kcbgroup.com/
Stanbic Holdings PLC, “Summary of 2026 AGM Shareholders’ Questions &amp; Responses,” May 14, 2026. [Online]. Available:: https://www.stanbicbank.co.ke/static_file/Kenya/Downloadable%20files/Stanbic%20Holdings%20PLC/AGM/2026/Stanbic-Holdings-Plc-2026-AGM-Shareholders-Questions-and-Responses.pdf
NCBA Group PLC, “Annual 2025 Integrated Report,” 2026. [Online]. Available:: https://ncbagroup.com/wp-content/uploads/2026/06/NCBA-Group-Plc-Annual-2025-Integrated-Report.pdf
NCBA Group PLC, “NCBA Group PLC reports KES 23.4 billion in net profit, Dividend Per Share Up 30% and Launches New 5-Year Strategy,” Apr. 9, 2026. [On: https://ncbagroup.com/blog/newsroom-article/ncba-group-plc-reports-kes-23-4-billion-in-net-profit-dividend-per-share-up-30-and-launches-new-5-year-strategy/
Jubilee Holdings Ltd., “Jubilee Holdings Declares A Record Dividend Following 18% Increase in Net Profit,” Apr. 9, 2026. [Online]. Available:: https://jubileeinsurance.com/group/newsroom/jubilee-holdings-declares-a-record-dividend-following-18-increase-in-net-profit/
TotalEnergies Marketing Kenya PLC, “Financials,” 2026. [Online]. Available:: https://totalenergies.ke/about-us/shareholder-information/financials
BOC Kenya PLC, “Investor Relations,” 2026. [Online]. Available:: https://www.boc.co.ke/our-business/investor-relations
Morningstar, “BOC Kenya PLC Dividends,” 2026. [Online]. Available:: https://www.morningstar.com/stocks/xnai/boc/dividends
The Kenya Power and Lighting Company PLC, “Annual Report and Financial Statements for the Year Ended 30 June 2025,” 2025. [Online]. Available:: https://kplc.co.ke/storage/01K9C11B50VR5T3KS48G2GYNQ0.pdf
Kakuzi PLC, “Kakuzi Returns to Profit with KShs 387.5 million After Tax Earnings, With Double Dividends for Shareholders,” Mar. 25, 2026. [Online]. Av: https://www.kakuzi.co.ke/2026-kakuzi-returns-to-profit-with-kshs-387-5-million-after-tax-earnings-with-double-dividends-for-shareholders
Williamson Tea Kenya PLC, “Investor Reports: 2026,” 2026. [Online]. Available:: https://www.williamsontea.com/investor-reports/
G. Ngigi, “Kapchorua, Williamson tap retained earnings to pay out mega dividends,” Business Daily Africa, Jun. 28, 2026. [Online]. Available:: https://www.businessdailyafrica.com/bd/corporate/companies/kapchorua-williamson-tap-retained-earnings-to-pay-out-dividends-5512106
I&amp;M Group PLC, “Audited Financial Statements for the Year Ended 31 December 2025,” Mar. 24, 2026. [Online]. Available:: https://www.imbankgroup.com/wp-content/uploads/2026/03/im-bank-group-financials.pdf
Absa Bank Kenya PLC, “Investor Relations: 2025 Annual Integrated Report,” 2026. [Online]. Available:: https://www.absabank.co.ke/investor-relations/
G. Ngigi, “Absa lifts dividend 17pc on net profit growth to Sh22.9bn,” Business Daily Africa, Mar. 4, 2026. [Online]. Available:: https://www.businessdailyafrica.com/bd/corporate/companies/absa-lifts-dividend-17pc-on-net-profit-growth-to-sh22-9bn-5379836
StockAnalysis.com, “Car &amp; General (Kenya) Dividend History, Dates &amp; Yield,” 2026. [Online]. Available:: https://stockanalysis.com/quote/nase/CGEN/dividend/
Diamond Trust Bank Kenya Ltd., “DTB pre-tax profit jumps by 26%, increases dividend to KShs 9 per share,” Mar. 23, 2026. [Online]. Available:: https://dtbk.dtbafrica.com/news/dtb-press-release-financials
Carbacid Investments PLC, “2025 Annual Report,” 2025. [Online]. Available:: https://carbacid.com/documents/87/2025_Annual_Report.pdf
Simply Wall St, “Kenyan (NSE) Market Analysis &amp; Valuation: Updated Sep. 9, 2026,” Sep. 9, 2026. [Online]. Available:: https://simplywall.st/markets/ke
Additional content sources:
[]
Workbook provenance:
C:\Users\Nevo\Downloads\financial material\NSE Dividend Growth Project 2026\Publication\Output\NSE Dividend Growth Formula Workbook.xlsx
'Core Portfolio'!A14:G22
b54b185f5c120b9852cd37d3c5f730d26df9dd40f65be8141d3c0e85dc775f05
Article catalog snapshot hash: e4605210b04811ea848b3d4bef140d9caaeb16174d1488e3d29f8d71eb6a9f45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sokointel.com/read/nse-dg-02/" TargetMode="External"/><Relationship Id="rId2" Type="http://schemas.openxmlformats.org/officeDocument/2006/relationships/hyperlink" Target="https://live.mystocks.co.ke/m/pricelist" TargetMode="External"/><Relationship Id="rId3" Type="http://schemas.openxmlformats.org/officeDocument/2006/relationships/hyperlink" Target="https://new.kenyalaw.org/akn/ke/act/ln/2025/197/eng@2025-12-11" TargetMode="External"/><Relationship Id="rId4" Type="http://schemas.openxmlformats.org/officeDocument/2006/relationships/hyperlink" Target="https://www.cmarcp.or.ke/images/bulletin/Statistical%20Bulletin/2025/CMA-Quarterly-Statistical-Bulletin-Q3.-2025.pdf" TargetMode="External"/><Relationship Id="rId5" Type="http://schemas.openxmlformats.org/officeDocument/2006/relationships/hyperlink" Target="https://www.sc.com/ke/wealth-insights/dollar-cost-averaging/" TargetMode="External"/><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47"/>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BB8432"/>
          </a:solidFill>
          <a:ln w="12700">
            <a:solidFill>
              <a:srgbClr val="BB8432">
                <a:alpha val="0"/>
              </a:srgbClr>
            </a:solidFill>
            <a:prstDash val="solid"/>
          </a:ln>
        </p:spPr>
      </p:sp>
      <p:sp>
        <p:nvSpPr>
          <p:cNvPr id="3" name="Text 1"/>
          <p:cNvSpPr/>
          <p:nvPr/>
        </p:nvSpPr>
        <p:spPr>
          <a:xfrm>
            <a:off x="685800" y="530352"/>
            <a:ext cx="10789920" cy="274320"/>
          </a:xfrm>
          <a:prstGeom prst="rect">
            <a:avLst/>
          </a:prstGeom>
          <a:noFill/>
          <a:ln/>
        </p:spPr>
        <p:txBody>
          <a:bodyPr wrap="square" lIns="0" tIns="0" rIns="0" bIns="0" rtlCol="0" anchor="t"/>
          <a:lstStyle/>
          <a:p>
            <a:pPr indent="0" marL="0">
              <a:spcAft>
                <a:spcPts val="600"/>
              </a:spcAft>
              <a:buNone/>
            </a:pPr>
            <a:r>
              <a:rPr lang="en-US" sz="1300" spc="200" kern="0" dirty="0">
                <a:solidFill>
                  <a:srgbClr val="B9DAD6"/>
                </a:solidFill>
                <a:latin typeface="Aptos" pitchFamily="34" charset="0"/>
                <a:ea typeface="Aptos" pitchFamily="34" charset="-122"/>
                <a:cs typeface="Aptos" pitchFamily="34" charset="-120"/>
              </a:rPr>
              <a:t>SOKOINTEL  /  RESEARCH EXPLAINED</a:t>
            </a:r>
            <a:endParaRPr lang="en-US" sz="1300" dirty="0"/>
          </a:p>
        </p:txBody>
      </p:sp>
      <p:sp>
        <p:nvSpPr>
          <p:cNvPr id="4" name="Text 2"/>
          <p:cNvSpPr/>
          <p:nvPr/>
        </p:nvSpPr>
        <p:spPr>
          <a:xfrm>
            <a:off x="685800" y="1371600"/>
            <a:ext cx="10789920" cy="1920240"/>
          </a:xfrm>
          <a:prstGeom prst="rect">
            <a:avLst/>
          </a:prstGeom>
          <a:noFill/>
          <a:ln/>
        </p:spPr>
        <p:txBody>
          <a:bodyPr wrap="square" lIns="0" tIns="0" rIns="0" bIns="0" rtlCol="0" anchor="t"/>
          <a:lstStyle/>
          <a:p>
            <a:pPr indent="0" marL="0">
              <a:spcAft>
                <a:spcPts val="600"/>
              </a:spcAft>
              <a:buNone/>
            </a:pPr>
            <a:r>
              <a:rPr lang="en-US" sz="4200" dirty="0">
                <a:solidFill>
                  <a:srgbClr val="FFFFFF"/>
                </a:solidFill>
                <a:latin typeface="Georgia" pitchFamily="34" charset="0"/>
                <a:ea typeface="Georgia" pitchFamily="34" charset="-122"/>
                <a:cs typeface="Georgia" pitchFamily="34" charset="-120"/>
              </a:rPr>
              <a:t>Using a watchlist to broaden a Kenyan equity portfolio</a:t>
            </a:r>
            <a:endParaRPr lang="en-US" sz="4200" dirty="0"/>
          </a:p>
        </p:txBody>
      </p:sp>
      <p:sp>
        <p:nvSpPr>
          <p:cNvPr id="5" name="Text 3"/>
          <p:cNvSpPr/>
          <p:nvPr/>
        </p:nvSpPr>
        <p:spPr>
          <a:xfrm>
            <a:off x="713232" y="3685032"/>
            <a:ext cx="9875520" cy="1234440"/>
          </a:xfrm>
          <a:prstGeom prst="rect">
            <a:avLst/>
          </a:prstGeom>
          <a:noFill/>
          <a:ln/>
        </p:spPr>
        <p:txBody>
          <a:bodyPr wrap="square" lIns="0" tIns="0" rIns="0" bIns="0" rtlCol="0" anchor="t"/>
          <a:lstStyle/>
          <a:p>
            <a:pPr indent="0" marL="0">
              <a:spcAft>
                <a:spcPts val="600"/>
              </a:spcAft>
              <a:buNone/>
            </a:pPr>
            <a:r>
              <a:rPr lang="en-US" sz="2400" dirty="0">
                <a:solidFill>
                  <a:srgbClr val="E3ECE8"/>
                </a:solidFill>
                <a:latin typeface="Aptos" pitchFamily="34" charset="0"/>
                <a:ea typeface="Aptos" pitchFamily="34" charset="-122"/>
                <a:cs typeface="Aptos" pitchFamily="34" charset="-120"/>
              </a:rPr>
              <a:t>An investor compares new research candidates with an existing Kenyan equity core, preserving the option to defer.</a:t>
            </a:r>
            <a:endParaRPr lang="en-US" sz="2400" dirty="0"/>
          </a:p>
        </p:txBody>
      </p:sp>
      <p:sp>
        <p:nvSpPr>
          <p:cNvPr id="6" name="Text 4"/>
          <p:cNvSpPr/>
          <p:nvPr/>
        </p:nvSpPr>
        <p:spPr>
          <a:xfrm>
            <a:off x="713232" y="5971032"/>
            <a:ext cx="10789920" cy="420624"/>
          </a:xfrm>
          <a:prstGeom prst="rect">
            <a:avLst/>
          </a:prstGeom>
          <a:noFill/>
          <a:ln/>
        </p:spPr>
        <p:txBody>
          <a:bodyPr wrap="square" lIns="0" tIns="0" rIns="0" bIns="0" rtlCol="0" anchor="t"/>
          <a:lstStyle/>
          <a:p>
            <a:pPr indent="0" marL="0">
              <a:spcAft>
                <a:spcPts val="600"/>
              </a:spcAft>
              <a:buNone/>
            </a:pPr>
            <a:r>
              <a:rPr lang="en-US" sz="1200" dirty="0">
                <a:solidFill>
                  <a:srgbClr val="B9DAD6"/>
                </a:solidFill>
                <a:latin typeface="Aptos" pitchFamily="34" charset="0"/>
                <a:ea typeface="Aptos" pitchFamily="34" charset="-122"/>
                <a:cs typeface="Aptos" pitchFamily="34" charset="-120"/>
              </a:rPr>
              <a:t>NSE-DG-02   •   Dated source record • fictional calculations are labelled as illustrations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DECISION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questions and the language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NSE-DG-02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02</a:t>
            </a:r>
            <a:endParaRPr lang="en-US" sz="1000" dirty="0"/>
          </a:p>
        </p:txBody>
      </p:sp>
      <p:sp>
        <p:nvSpPr>
          <p:cNvPr id="8" name="Text 6"/>
          <p:cNvSpPr/>
          <p:nvPr/>
        </p:nvSpPr>
        <p:spPr>
          <a:xfrm>
            <a:off x="594360" y="1847088"/>
            <a:ext cx="5897880" cy="4160520"/>
          </a:xfrm>
          <a:prstGeom prst="rect">
            <a:avLst/>
          </a:prstGeom>
          <a:noFill/>
          <a:ln/>
        </p:spPr>
        <p:txBody>
          <a:bodyPr wrap="square" lIns="0" tIns="0" rIns="0" bIns="0" rtlCol="0" anchor="t"/>
          <a:lstStyle/>
          <a:p>
            <a:pPr indent="0" marL="0">
              <a:spcAft>
                <a:spcPts val="600"/>
              </a:spcAft>
              <a:buNone/>
            </a:pPr>
            <a:r>
              <a:rPr lang="en-US" sz="2100" dirty="0">
                <a:solidFill>
                  <a:srgbClr val="163047"/>
                </a:solidFill>
                <a:latin typeface="Aptos" pitchFamily="34" charset="0"/>
                <a:ea typeface="Aptos" pitchFamily="34" charset="-122"/>
                <a:cs typeface="Aptos" pitchFamily="34" charset="-120"/>
              </a:rPr>
              <a:t>1. Which inputs determine whole-share DCA quantities, dividend income, and net yield?</a:t>
            </a:r>
            <a:endParaRPr lang="en-US" sz="2100" dirty="0"/>
          </a:p>
          <a:p>
            <a:pPr indent="0" marL="0">
              <a:spcAft>
                <a:spcPts val="600"/>
              </a:spcAft>
              <a:buNone/>
            </a:pPr>
            <a:endParaRPr lang="en-US" sz="2100" dirty="0"/>
          </a:p>
          <a:p>
            <a:pPr indent="0" marL="0">
              <a:spcAft>
                <a:spcPts val="600"/>
              </a:spcAft>
              <a:buNone/>
            </a:pPr>
            <a:r>
              <a:rPr lang="en-US" sz="2100" dirty="0">
                <a:solidFill>
                  <a:srgbClr val="163047"/>
                </a:solidFill>
                <a:latin typeface="Aptos" pitchFamily="34" charset="0"/>
                <a:ea typeface="Aptos" pitchFamily="34" charset="-122"/>
                <a:cs typeface="Aptos" pitchFamily="34" charset="-120"/>
              </a:rPr>
              <a:t>2. How can a watchlist broaden diversification without automatically increasing bank concentration?</a:t>
            </a:r>
            <a:endParaRPr lang="en-US" sz="2100" dirty="0"/>
          </a:p>
        </p:txBody>
      </p:sp>
      <p:sp>
        <p:nvSpPr>
          <p:cNvPr id="9" name="Shape 7"/>
          <p:cNvSpPr/>
          <p:nvPr/>
        </p:nvSpPr>
        <p:spPr>
          <a:xfrm>
            <a:off x="6867144" y="1810512"/>
            <a:ext cx="4727448" cy="4352544"/>
          </a:xfrm>
          <a:prstGeom prst="rect">
            <a:avLst/>
          </a:prstGeom>
          <a:solidFill>
            <a:srgbClr val="E9EFE7"/>
          </a:solidFill>
          <a:ln w="12700">
            <a:solidFill>
              <a:srgbClr val="E9EFE7">
                <a:alpha val="0"/>
              </a:srgbClr>
            </a:solidFill>
            <a:prstDash val="solid"/>
          </a:ln>
        </p:spPr>
      </p:sp>
      <p:sp>
        <p:nvSpPr>
          <p:cNvPr id="10" name="Text 8"/>
          <p:cNvSpPr/>
          <p:nvPr/>
        </p:nvSpPr>
        <p:spPr>
          <a:xfrm>
            <a:off x="7114032" y="2039112"/>
            <a:ext cx="421538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TERMS &amp; UNITS</a:t>
            </a:r>
            <a:endParaRPr lang="en-US" sz="1200" dirty="0"/>
          </a:p>
        </p:txBody>
      </p:sp>
      <p:sp>
        <p:nvSpPr>
          <p:cNvPr id="11" name="Text 9"/>
          <p:cNvSpPr/>
          <p:nvPr/>
        </p:nvSpPr>
        <p:spPr>
          <a:xfrm>
            <a:off x="7114032" y="2578608"/>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Target weight — desired proportion of the portfolio</a:t>
            </a:r>
            <a:endParaRPr lang="en-US" sz="1650" dirty="0"/>
          </a:p>
        </p:txBody>
      </p:sp>
      <p:sp>
        <p:nvSpPr>
          <p:cNvPr id="12" name="Text 10"/>
          <p:cNvSpPr/>
          <p:nvPr/>
        </p:nvSpPr>
        <p:spPr>
          <a:xfrm>
            <a:off x="7114032" y="3236976"/>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Concentration — exposure clustered in related claims</a:t>
            </a:r>
            <a:endParaRPr lang="en-US" sz="1650" dirty="0"/>
          </a:p>
        </p:txBody>
      </p:sp>
      <p:sp>
        <p:nvSpPr>
          <p:cNvPr id="13" name="Text 11"/>
          <p:cNvSpPr/>
          <p:nvPr/>
        </p:nvSpPr>
        <p:spPr>
          <a:xfrm>
            <a:off x="7114032" y="3895344"/>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Watchlist — research candidates with an evidence status</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 watchlist is a research queue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NSE-DG-02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03</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Record why each candidate could fill a portfolio role.</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 candidate may remain deferred while evidence is missing.</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 new ticker does not automatically add a new economic exposure.</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Compare the candidate with what you already own</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NSE-DG-02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04</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Aggregate banks, sectors and shared operating drivers.</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Include liquidity, cash needs and maximum position size.</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Look through overlapping holdings before calling the portfolio diversified.</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Make entry discipline inspectable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NSE-DG-02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05</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Record the price date, valuation range and source.</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Set required evidence and the condition that rules out a purchase.</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Review quarterly and after a material change; expire stale theses.</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RELATIONSHIP</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Read the current core before adding a candidate</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NSE-DG-02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06</a:t>
            </a:r>
            <a:endParaRPr lang="en-US" sz="1000" dirty="0"/>
          </a:p>
        </p:txBody>
      </p:sp>
      <p:sp>
        <p:nvSpPr>
          <p:cNvPr id="8" name="Shape 6"/>
          <p:cNvSpPr/>
          <p:nvPr/>
        </p:nvSpPr>
        <p:spPr>
          <a:xfrm>
            <a:off x="594360" y="1847088"/>
            <a:ext cx="10972800" cy="1060704"/>
          </a:xfrm>
          <a:prstGeom prst="rect">
            <a:avLst/>
          </a:prstGeom>
          <a:solidFill>
            <a:srgbClr val="E9EFE7"/>
          </a:solidFill>
          <a:ln w="12700">
            <a:solidFill>
              <a:srgbClr val="E9EFE7">
                <a:alpha val="0"/>
              </a:srgbClr>
            </a:solidFill>
            <a:prstDash val="solid"/>
          </a:ln>
        </p:spPr>
      </p:sp>
      <p:sp>
        <p:nvSpPr>
          <p:cNvPr id="9" name="Text 7"/>
          <p:cNvSpPr/>
          <p:nvPr/>
        </p:nvSpPr>
        <p:spPr>
          <a:xfrm>
            <a:off x="868680" y="2011680"/>
            <a:ext cx="10424160" cy="777240"/>
          </a:xfrm>
          <a:prstGeom prst="rect">
            <a:avLst/>
          </a:prstGeom>
          <a:noFill/>
          <a:ln/>
        </p:spPr>
        <p:txBody>
          <a:bodyPr wrap="square" lIns="0" tIns="0" rIns="0" bIns="0" rtlCol="0" anchor="t"/>
          <a:lstStyle/>
          <a:p>
            <a:pPr algn="ctr" indent="0" marL="0">
              <a:spcAft>
                <a:spcPts val="600"/>
              </a:spcAft>
              <a:buNone/>
            </a:pPr>
            <a:r>
              <a:rPr lang="en-US" sz="2400" dirty="0">
                <a:solidFill>
                  <a:srgbClr val="176F73"/>
                </a:solidFill>
                <a:latin typeface="Cambria Math" pitchFamily="34" charset="0"/>
                <a:ea typeface="Cambria Math" pitchFamily="34" charset="-122"/>
                <a:cs typeface="Cambria Math" pitchFamily="34" charset="-120"/>
              </a:rPr>
              <a:t>Combined sector weight = sum of constituent position weights</a:t>
            </a:r>
            <a:endParaRPr lang="en-US" sz="2400" dirty="0"/>
          </a:p>
        </p:txBody>
      </p:sp>
      <p:sp>
        <p:nvSpPr>
          <p:cNvPr id="10" name="Text 8"/>
          <p:cNvSpPr/>
          <p:nvPr/>
        </p:nvSpPr>
        <p:spPr>
          <a:xfrm>
            <a:off x="777240" y="3291840"/>
            <a:ext cx="10698480" cy="1078992"/>
          </a:xfrm>
          <a:prstGeom prst="rect">
            <a:avLst/>
          </a:prstGeom>
          <a:noFill/>
          <a:ln/>
        </p:spPr>
        <p:txBody>
          <a:bodyPr wrap="square" lIns="0" tIns="0" rIns="0" bIns="0" rtlCol="0" anchor="t"/>
          <a:lstStyle/>
          <a:p>
            <a:pPr indent="0" marL="0">
              <a:spcAft>
                <a:spcPts val="600"/>
              </a:spcAft>
              <a:buNone/>
            </a:pPr>
            <a:r>
              <a:rPr lang="en-US" sz="2500" b="1" dirty="0">
                <a:solidFill>
                  <a:srgbClr val="163047"/>
                </a:solidFill>
                <a:latin typeface="Aptos" pitchFamily="34" charset="0"/>
                <a:ea typeface="Aptos" pitchFamily="34" charset="-122"/>
                <a:cs typeface="Aptos" pitchFamily="34" charset="-120"/>
              </a:rPr>
              <a:t>Equity 15% + Co-operative Bank 15% + Standard Chartered Kenya 15% = 45%.</a:t>
            </a:r>
            <a:endParaRPr lang="en-US" sz="2500" dirty="0"/>
          </a:p>
        </p:txBody>
      </p:sp>
      <p:sp>
        <p:nvSpPr>
          <p:cNvPr id="11" name="Text 9"/>
          <p:cNvSpPr/>
          <p:nvPr/>
        </p:nvSpPr>
        <p:spPr>
          <a:xfrm>
            <a:off x="777240" y="4654296"/>
            <a:ext cx="10652760" cy="1078992"/>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Three separate holdings still leave 45% of the illustrative target in banks.</a:t>
            </a:r>
            <a:endParaRPr lang="en-US" sz="2300" dirty="0"/>
          </a:p>
        </p:txBody>
      </p:sp>
      <p:sp>
        <p:nvSpPr>
          <p:cNvPr id="12" name="Text 10"/>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Core Portfolio: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NSE-DG-02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07</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NSE-DG-02-01-p1.png">    </p:cNvPr>
          <p:cNvPicPr>
            <a:picLocks noChangeAspect="1"/>
          </p:cNvPicPr>
          <p:nvPr/>
        </p:nvPicPr>
        <p:blipFill>
          <a:blip r:embed="rId1"/>
          <a:stretch>
            <a:fillRect/>
          </a:stretch>
        </p:blipFill>
        <p:spPr>
          <a:xfrm>
            <a:off x="612648" y="2438998"/>
            <a:ext cx="10972800" cy="2510355"/>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Core Portfolio!A14:G22</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Companion teaching bridge from another series; not a reconstruction of this article’s case.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CHANGE THE ASSUMPTION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The new bank candidate may deepen an existing tilt</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NSE-DG-02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08</a:t>
            </a:r>
            <a:endParaRPr lang="en-US" sz="1000" dirty="0"/>
          </a:p>
        </p:txBody>
      </p:sp>
      <p:sp>
        <p:nvSpPr>
          <p:cNvPr id="8" name="Shape 6"/>
          <p:cNvSpPr/>
          <p:nvPr/>
        </p:nvSpPr>
        <p:spPr>
          <a:xfrm>
            <a:off x="594360" y="1883664"/>
            <a:ext cx="5321808" cy="1975104"/>
          </a:xfrm>
          <a:prstGeom prst="rect">
            <a:avLst/>
          </a:prstGeom>
          <a:solidFill>
            <a:srgbClr val="E9EFE7"/>
          </a:solidFill>
          <a:ln w="12700">
            <a:solidFill>
              <a:srgbClr val="E9EFE7">
                <a:alpha val="0"/>
              </a:srgbClr>
            </a:solidFill>
            <a:prstDash val="solid"/>
          </a:ln>
        </p:spPr>
      </p:sp>
      <p:sp>
        <p:nvSpPr>
          <p:cNvPr id="9" name="Shape 7"/>
          <p:cNvSpPr/>
          <p:nvPr/>
        </p:nvSpPr>
        <p:spPr>
          <a:xfrm>
            <a:off x="6190488" y="1883664"/>
            <a:ext cx="5321808" cy="1975104"/>
          </a:xfrm>
          <a:prstGeom prst="rect">
            <a:avLst/>
          </a:prstGeom>
          <a:solidFill>
            <a:srgbClr val="EFE6D5"/>
          </a:solidFill>
          <a:ln w="12700">
            <a:solidFill>
              <a:srgbClr val="EFE6D5">
                <a:alpha val="0"/>
              </a:srgbClr>
            </a:solidFill>
            <a:prstDash val="solid"/>
          </a:ln>
        </p:spPr>
      </p:sp>
      <p:sp>
        <p:nvSpPr>
          <p:cNvPr id="10" name="Text 8"/>
          <p:cNvSpPr/>
          <p:nvPr/>
        </p:nvSpPr>
        <p:spPr>
          <a:xfrm>
            <a:off x="868680"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BASE / STARTING RECORD</a:t>
            </a:r>
            <a:endParaRPr lang="en-US" sz="1200" dirty="0"/>
          </a:p>
        </p:txBody>
      </p:sp>
      <p:sp>
        <p:nvSpPr>
          <p:cNvPr id="11" name="Text 9"/>
          <p:cNvSpPr/>
          <p:nvPr/>
        </p:nvSpPr>
        <p:spPr>
          <a:xfrm>
            <a:off x="868680"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The example core already targets 45% in three banks.</a:t>
            </a:r>
            <a:endParaRPr lang="en-US" sz="2200" dirty="0"/>
          </a:p>
        </p:txBody>
      </p:sp>
      <p:sp>
        <p:nvSpPr>
          <p:cNvPr id="12" name="Text 10"/>
          <p:cNvSpPr/>
          <p:nvPr/>
        </p:nvSpPr>
        <p:spPr>
          <a:xfrm>
            <a:off x="6464808"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80591D"/>
                </a:solidFill>
                <a:latin typeface="Aptos" pitchFamily="34" charset="0"/>
                <a:ea typeface="Aptos" pitchFamily="34" charset="-122"/>
                <a:cs typeface="Aptos" pitchFamily="34" charset="-120"/>
              </a:rPr>
              <a:t>CHANGED CASE / NEW EVIDENCE</a:t>
            </a:r>
            <a:endParaRPr lang="en-US" sz="1200" dirty="0"/>
          </a:p>
        </p:txBody>
      </p:sp>
      <p:sp>
        <p:nvSpPr>
          <p:cNvPr id="13" name="Text 11"/>
          <p:cNvSpPr/>
          <p:nvPr/>
        </p:nvSpPr>
        <p:spPr>
          <a:xfrm>
            <a:off x="6464808"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Consider another bank without reducing existing bank holdings.</a:t>
            </a:r>
            <a:endParaRPr lang="en-US" sz="2200" dirty="0"/>
          </a:p>
        </p:txBody>
      </p:sp>
      <p:sp>
        <p:nvSpPr>
          <p:cNvPr id="14" name="Text 12"/>
          <p:cNvSpPr/>
          <p:nvPr/>
        </p:nvSpPr>
        <p:spPr>
          <a:xfrm>
            <a:off x="749808" y="4379976"/>
            <a:ext cx="10716768" cy="1271016"/>
          </a:xfrm>
          <a:prstGeom prst="rect">
            <a:avLst/>
          </a:prstGeom>
          <a:noFill/>
          <a:ln/>
        </p:spPr>
        <p:txBody>
          <a:bodyPr wrap="square" lIns="0" tIns="0" rIns="0" bIns="0" rtlCol="0" anchor="t"/>
          <a:lstStyle/>
          <a:p>
            <a:pPr indent="0" marL="0">
              <a:spcAft>
                <a:spcPts val="600"/>
              </a:spcAft>
              <a:buNone/>
            </a:pPr>
            <a:r>
              <a:rPr lang="en-US" sz="2500" dirty="0">
                <a:solidFill>
                  <a:srgbClr val="163047"/>
                </a:solidFill>
                <a:latin typeface="Aptos" pitchFamily="34" charset="0"/>
                <a:ea typeface="Aptos" pitchFamily="34" charset="-122"/>
                <a:cs typeface="Aptos" pitchFamily="34" charset="-120"/>
              </a:rPr>
              <a:t>Sector exposure rises; compare its incremental role and risk before adding a position.</a:t>
            </a:r>
            <a:endParaRPr lang="en-US" sz="2500" dirty="0"/>
          </a:p>
        </p:txBody>
      </p:sp>
      <p:sp>
        <p:nvSpPr>
          <p:cNvPr id="15" name="Text 13"/>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Sensitivity or evidence comparison; interpretation depends on the stated assumptions.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SAVED WEB DEMONSTRATION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 focused calculator demonstration</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NSE-DG-02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09</a:t>
            </a:r>
            <a:endParaRPr lang="en-US" sz="1000" dirty="0"/>
          </a:p>
        </p:txBody>
      </p:sp>
      <p:pic>
        <p:nvPicPr>
          <p:cNvPr id="8" name="Image 0" descr="C:\Users\Nevo\Downloads\financial material\Publishing and Video Production\Presentation Assets\Evidence\Web\dca-portfolio-summary.png">    </p:cNvPr>
          <p:cNvPicPr>
            <a:picLocks noChangeAspect="1"/>
          </p:cNvPicPr>
          <p:nvPr/>
        </p:nvPicPr>
        <p:blipFill>
          <a:blip r:embed="rId1"/>
          <a:stretch>
            <a:fillRect/>
          </a:stretch>
        </p:blipFill>
        <p:spPr>
          <a:xfrm>
            <a:off x="1204093" y="1810512"/>
            <a:ext cx="6159743" cy="4334256"/>
          </a:xfrm>
          <a:prstGeom prst="rect">
            <a:avLst/>
          </a:prstGeom>
        </p:spPr>
      </p:pic>
      <p:sp>
        <p:nvSpPr>
          <p:cNvPr id="9" name="Shape 6"/>
          <p:cNvSpPr/>
          <p:nvPr/>
        </p:nvSpPr>
        <p:spPr>
          <a:xfrm>
            <a:off x="8275320" y="1865376"/>
            <a:ext cx="3291840" cy="4160520"/>
          </a:xfrm>
          <a:prstGeom prst="rect">
            <a:avLst/>
          </a:prstGeom>
          <a:solidFill>
            <a:srgbClr val="E9EFE7"/>
          </a:solidFill>
          <a:ln w="12700">
            <a:solidFill>
              <a:srgbClr val="E9EFE7">
                <a:alpha val="0"/>
              </a:srgbClr>
            </a:solidFill>
            <a:prstDash val="solid"/>
          </a:ln>
        </p:spPr>
      </p:sp>
      <p:sp>
        <p:nvSpPr>
          <p:cNvPr id="10" name="Text 7"/>
          <p:cNvSpPr/>
          <p:nvPr/>
        </p:nvSpPr>
        <p:spPr>
          <a:xfrm>
            <a:off x="8513064" y="2112264"/>
            <a:ext cx="279806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WHAT THIS TOOL DOES</a:t>
            </a:r>
            <a:endParaRPr lang="en-US" sz="1200" dirty="0"/>
          </a:p>
        </p:txBody>
      </p:sp>
      <p:sp>
        <p:nvSpPr>
          <p:cNvPr id="11" name="Text 8"/>
          <p:cNvSpPr/>
          <p:nvPr/>
        </p:nvSpPr>
        <p:spPr>
          <a:xfrm>
            <a:off x="8513064" y="2633472"/>
            <a:ext cx="2798064" cy="1847088"/>
          </a:xfrm>
          <a:prstGeom prst="rect">
            <a:avLst/>
          </a:prstGeom>
          <a:noFill/>
          <a:ln/>
        </p:spPr>
        <p:txBody>
          <a:bodyPr wrap="square" lIns="0" tIns="0" rIns="0" bIns="0" rtlCol="0" anchor="t"/>
          <a:lstStyle/>
          <a:p>
            <a:pPr indent="0" marL="0">
              <a:spcAft>
                <a:spcPts val="600"/>
              </a:spcAft>
              <a:buNone/>
            </a:pPr>
            <a:r>
              <a:rPr lang="en-US" sz="1900" dirty="0">
                <a:solidFill>
                  <a:srgbClr val="163047"/>
                </a:solidFill>
                <a:latin typeface="Aptos" pitchFamily="34" charset="0"/>
                <a:ea typeface="Aptos" pitchFamily="34" charset="-122"/>
                <a:cs typeface="Aptos" pitchFamily="34" charset="-120"/>
              </a:rPr>
              <a:t>Use target weights, reference prices and costs to form an affordable purchase plan. Follow the residual cash after integer-share rounding.</a:t>
            </a:r>
            <a:endParaRPr lang="en-US" sz="1900" dirty="0"/>
          </a:p>
        </p:txBody>
      </p:sp>
      <p:sp>
        <p:nvSpPr>
          <p:cNvPr id="12" name="Text 9"/>
          <p:cNvSpPr/>
          <p:nvPr/>
        </p:nvSpPr>
        <p:spPr>
          <a:xfrm>
            <a:off x="8513064" y="4617720"/>
            <a:ext cx="2798064" cy="1188720"/>
          </a:xfrm>
          <a:prstGeom prst="rect">
            <a:avLst/>
          </a:prstGeom>
          <a:noFill/>
          <a:ln/>
        </p:spPr>
        <p:txBody>
          <a:bodyPr wrap="square" lIns="0" tIns="0" rIns="0" bIns="0" rtlCol="0" anchor="t"/>
          <a:lstStyle/>
          <a:p>
            <a:pPr indent="0" marL="0">
              <a:spcAft>
                <a:spcPts val="600"/>
              </a:spcAft>
              <a:buNone/>
            </a:pPr>
            <a:r>
              <a:rPr lang="en-US" sz="1650" b="1" dirty="0">
                <a:solidFill>
                  <a:srgbClr val="163047"/>
                </a:solidFill>
                <a:latin typeface="Aptos" pitchFamily="34" charset="0"/>
                <a:ea typeface="Aptos" pitchFamily="34" charset="-122"/>
                <a:cs typeface="Aptos" pitchFamily="34" charset="-120"/>
              </a:rPr>
              <a:t>Stress losses, covariance and HHI belong in the workbook, not this purchase planner.</a:t>
            </a:r>
            <a:endParaRPr lang="en-US" sz="1650" dirty="0"/>
          </a:p>
        </p:txBody>
      </p:sp>
      <p:sp>
        <p:nvSpPr>
          <p:cNvPr id="13" name="Text 10"/>
          <p:cNvSpPr/>
          <p:nvPr/>
        </p:nvSpPr>
        <p:spPr>
          <a:xfrm>
            <a:off x="594360" y="6199632"/>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Saved production page • /calculators/dca-portfolio/ • captured 2026-09-25</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ANSWER THE OPENING QUESTION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What the evidence lets us conclude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NSE-DG-02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10</a:t>
            </a:r>
            <a:endParaRPr lang="en-US" sz="1000" dirty="0"/>
          </a:p>
        </p:txBody>
      </p:sp>
      <p:sp>
        <p:nvSpPr>
          <p:cNvPr id="8" name="Text 6"/>
          <p:cNvSpPr/>
          <p:nvPr/>
        </p:nvSpPr>
        <p:spPr>
          <a:xfrm>
            <a:off x="713232" y="1856232"/>
            <a:ext cx="10762488" cy="1865376"/>
          </a:xfrm>
          <a:prstGeom prst="rect">
            <a:avLst/>
          </a:prstGeom>
          <a:noFill/>
          <a:ln/>
        </p:spPr>
        <p:txBody>
          <a:bodyPr wrap="square" lIns="0" tIns="0" rIns="0" bIns="0" rtlCol="0" anchor="t"/>
          <a:lstStyle/>
          <a:p>
            <a:pPr indent="0" marL="0">
              <a:spcAft>
                <a:spcPts val="600"/>
              </a:spcAft>
              <a:buNone/>
            </a:pPr>
            <a:r>
              <a:rPr lang="en-US" sz="2700" dirty="0">
                <a:solidFill>
                  <a:srgbClr val="163047"/>
                </a:solidFill>
                <a:latin typeface="Aptos" pitchFamily="34" charset="0"/>
                <a:ea typeface="Aptos" pitchFamily="34" charset="-122"/>
                <a:cs typeface="Aptos" pitchFamily="34" charset="-120"/>
              </a:rPr>
              <a:t>A watchlist broadens research when each candidate has an evidence requirement and a portfolio role. A deferred decision can be the correct output.</a:t>
            </a:r>
            <a:endParaRPr lang="en-US" sz="2700" dirty="0"/>
          </a:p>
        </p:txBody>
      </p:sp>
      <p:sp>
        <p:nvSpPr>
          <p:cNvPr id="9" name="Shape 7"/>
          <p:cNvSpPr/>
          <p:nvPr/>
        </p:nvSpPr>
        <p:spPr>
          <a:xfrm>
            <a:off x="612648" y="4087368"/>
            <a:ext cx="10963656" cy="2002536"/>
          </a:xfrm>
          <a:prstGeom prst="rect">
            <a:avLst/>
          </a:prstGeom>
          <a:solidFill>
            <a:srgbClr val="E9EFE7"/>
          </a:solidFill>
          <a:ln w="12700">
            <a:solidFill>
              <a:srgbClr val="E9EFE7">
                <a:alpha val="0"/>
              </a:srgbClr>
            </a:solidFill>
            <a:prstDash val="solid"/>
          </a:ln>
        </p:spPr>
      </p:sp>
      <p:sp>
        <p:nvSpPr>
          <p:cNvPr id="10" name="Text 8"/>
          <p:cNvSpPr/>
          <p:nvPr/>
        </p:nvSpPr>
        <p:spPr>
          <a:xfrm>
            <a:off x="877824" y="4352544"/>
            <a:ext cx="10332720" cy="256032"/>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YOUR NEXT RECORD</a:t>
            </a:r>
            <a:endParaRPr lang="en-US" sz="1200" dirty="0"/>
          </a:p>
        </p:txBody>
      </p:sp>
      <p:sp>
        <p:nvSpPr>
          <p:cNvPr id="11" name="Text 9"/>
          <p:cNvSpPr/>
          <p:nvPr/>
        </p:nvSpPr>
        <p:spPr>
          <a:xfrm>
            <a:off x="877824" y="4800600"/>
            <a:ext cx="10287000" cy="1097280"/>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Add a candidate with source links, a valuation range, an exposure role and pass/revise/defer status.</a:t>
            </a:r>
            <a:endParaRPr lang="en-US" sz="2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SOURCE RECORD</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Sources, dates and companion material</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NSE-DG-02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11</a:t>
            </a:r>
            <a:endParaRPr lang="en-US" sz="1000" dirty="0"/>
          </a:p>
        </p:txBody>
      </p:sp>
      <p:sp>
        <p:nvSpPr>
          <p:cNvPr id="8" name="Text 6">
            <a:hlinkClick r:id="rId1" tooltip=""/>
          </p:cNvPr>
          <p:cNvSpPr/>
          <p:nvPr/>
        </p:nvSpPr>
        <p:spPr>
          <a:xfrm>
            <a:off x="658368" y="1847088"/>
            <a:ext cx="10881360" cy="548640"/>
          </a:xfrm>
          <a:prstGeom prst="rect">
            <a:avLst/>
          </a:prstGeom>
          <a:noFill/>
          <a:ln/>
        </p:spPr>
        <p:txBody>
          <a:bodyPr wrap="square" lIns="0" tIns="0" rIns="0" bIns="0" rtlCol="0" anchor="t"/>
          <a:lstStyle/>
          <a:p>
            <a:pPr indent="0" marL="0">
              <a:spcAft>
                <a:spcPts val="600"/>
              </a:spcAft>
              <a:buNone/>
            </a:pPr>
            <a:r>
              <a:rPr lang="en-US" sz="2300" u="sng" dirty="0">
                <a:solidFill>
                  <a:srgbClr val="176F73"/>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the episode: sokointel.com/read/nse-dg-02/</a:t>
            </a:r>
            <a:endParaRPr lang="en-US" sz="2300" dirty="0"/>
          </a:p>
        </p:txBody>
      </p:sp>
      <p:sp>
        <p:nvSpPr>
          <p:cNvPr id="9" name="Text 7">
            <a:hlinkClick r:id="rId2" tooltip=""/>
          </p:cNvPr>
          <p:cNvSpPr/>
          <p:nvPr/>
        </p:nvSpPr>
        <p:spPr>
          <a:xfrm>
            <a:off x="694944" y="2697480"/>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1. myStocks Mobile, “Market Pricelist: 09 Sep 2026,” Sep. 9, 2026. [Online]. Available: • 2026</a:t>
            </a:r>
            <a:endParaRPr lang="en-US" sz="1700" dirty="0"/>
          </a:p>
        </p:txBody>
      </p:sp>
      <p:sp>
        <p:nvSpPr>
          <p:cNvPr id="10" name="Text 8">
            <a:hlinkClick r:id="rId3" tooltip=""/>
          </p:cNvPr>
          <p:cNvSpPr/>
          <p:nvPr/>
        </p:nvSpPr>
        <p:spPr>
          <a:xfrm>
            <a:off x="694944" y="3273552"/>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2. Republic of Kenya, “The Capital Markets (Licensing Requirements)(General) Regulations, 2025,” Legal Notice 197 of 2025, Kenya • 2025</a:t>
            </a:r>
            <a:endParaRPr lang="en-US" sz="1700" dirty="0"/>
          </a:p>
        </p:txBody>
      </p:sp>
      <p:sp>
        <p:nvSpPr>
          <p:cNvPr id="11" name="Text 9">
            <a:hlinkClick r:id="rId4" tooltip=""/>
          </p:cNvPr>
          <p:cNvSpPr/>
          <p:nvPr/>
        </p:nvSpPr>
        <p:spPr>
          <a:xfrm>
            <a:off x="694944" y="3849624"/>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3. Capital Markets Authority, “Quarterly Capital Markets Statistical Bulletin, Q3 2025,” 2025. [Online]. Available: • 2025</a:t>
            </a:r>
            <a:endParaRPr lang="en-US" sz="1700" dirty="0"/>
          </a:p>
        </p:txBody>
      </p:sp>
      <p:sp>
        <p:nvSpPr>
          <p:cNvPr id="12" name="Text 10">
            <a:hlinkClick r:id="rId5" tooltip=""/>
          </p:cNvPr>
          <p:cNvSpPr/>
          <p:nvPr/>
        </p:nvSpPr>
        <p:spPr>
          <a:xfrm>
            <a:off x="694944" y="4425696"/>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5" invalidUrl="" action="" tgtFrame="" tooltip="" history="1" highlightClick="0" endSnd="0">
                  <a:extLst>
                    <a:ext uri="{A12FA001-AC4F-418D-AE19-62706E023703}">
                      <ahyp:hlinkClr xmlns:ahyp="http://schemas.microsoft.com/office/drawing/2018/hyperlinkcolor" val="tx"/>
                    </a:ext>
                  </a:extLst>
                </a:hlinkClick>
              </a:rPr>
              <a:t>4. Standard Chartered Bank Kenya, “How to use Dollar Cost Averaging to build long term wealth,” Wealth Insights. [Online]. Avail • 2026</a:t>
            </a:r>
            <a:endParaRPr lang="en-US" sz="1700" dirty="0"/>
          </a:p>
        </p:txBody>
      </p:sp>
      <p:sp>
        <p:nvSpPr>
          <p:cNvPr id="13" name="Text 11"/>
          <p:cNvSpPr/>
          <p:nvPr/>
        </p:nvSpPr>
        <p:spPr>
          <a:xfrm>
            <a:off x="694944" y="5321808"/>
            <a:ext cx="10789920" cy="713232"/>
          </a:xfrm>
          <a:prstGeom prst="rect">
            <a:avLst/>
          </a:prstGeom>
          <a:noFill/>
          <a:ln/>
        </p:spPr>
        <p:txBody>
          <a:bodyPr wrap="square" lIns="0" tIns="0" rIns="0" bIns="0" rtlCol="0" anchor="t"/>
          <a:lstStyle/>
          <a:p>
            <a:pPr indent="0" marL="0">
              <a:spcAft>
                <a:spcPts val="600"/>
              </a:spcAft>
              <a:buNone/>
            </a:pPr>
            <a:r>
              <a:rPr lang="en-US" sz="1800" dirty="0">
                <a:solidFill>
                  <a:srgbClr val="50616B"/>
                </a:solidFill>
                <a:latin typeface="Aptos" pitchFamily="34" charset="0"/>
                <a:ea typeface="Aptos" pitchFamily="34" charset="-122"/>
                <a:cs typeface="Aptos" pitchFamily="34" charset="-120"/>
              </a:rPr>
              <a:t>Full source references, workbook paths, cell ranges and capture metadata are preserved in speaker notes and the episode manifest.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Sokointel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a watchlist to broaden a Kenyan equity portfolio</dc:title>
  <dc:subject>Which inputs determine whole-share DCA quantities, dividend income, and net yield? | How can a watchlist broaden diversification without automatically increasing bank concentration?</dc:subject>
  <dc:creator>Sokointel</dc:creator>
  <cp:lastModifiedBy>Sokointel</cp:lastModifiedBy>
  <cp:revision>1</cp:revision>
  <dcterms:created xsi:type="dcterms:W3CDTF">2026-09-25T13:49:39Z</dcterms:created>
  <dcterms:modified xsi:type="dcterms:W3CDTF">2026-09-25T13:49:39Z</dcterms:modified>
</cp:coreProperties>
</file>