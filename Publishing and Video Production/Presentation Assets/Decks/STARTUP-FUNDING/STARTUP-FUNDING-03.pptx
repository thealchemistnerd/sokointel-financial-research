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OPENING NARRATION
A reader follows thirteen company funding claims toward cash receipts, legal status and investor outcomes, leaving unresolved evidence visibly open.
Dated public evidence • cutoff 24 September 2026 • screenshot amounts remain claims until verified
Introduce the decision before defining the technical terms.
ARTICLE SECTION: A raise can extend runway without fixing unit economics
Funding can pay payroll, marketing, inventory or debt service for a period. Whether that extends a viable business depends on contribution, collection timing and the cost of serving customers. Take a fictional delivery route: it invoices KSh 100,000 of sales, spends KSh 66,000 on goods, KSh 14,000 on delivery and handling, and KSh 8,000 on customer support and payment costs. Contribution is KSh 12,000 before hub rent, central staff, financing, vehicle replacement, tax and growth spending.
If customer cash arrives 45 days after delivery but suppliers require payment in 15 days, the route can show positive contribution while consuming working capital. More orders may improve route density and reduce cost per delivery; more orders can also deepen the cash gap if customers pay late or new inventory must be purchased in advance. Equity can finance that experiment without a fixed monthly repayment, but only if management sets a test period and stop criteria. A receivables facility could finance accepted invoices, but only if the terms and customer quality support the borrowing base. Neither instrument creates contribution by itself.
An investor reviewing a company after a raise should trace the “sources and uses” schedule: opening cash; cash received by date; restricted proceeds; operating receipts; inventory and supplier payments; payroll and customer acquisition; capex; debt service; and closing unrestricted cash. Then ask which metrics changed after the financing: gross contribution per order, returns, retention, collections, service quality, staff productivity and cash required per unit of growth. If all that is available is a fundraising headline and an administration notice, the right conclusion is that the operating bridge remains unknown.
ARTICLE SECTION: Build a company outcome file in five passes
Pass 1: Map the legal entities. List parent, holding company, operating subsidiaries, asset-owning entities and trade names. Record company numbers and former names. Draw the ownership relationships only where a filing, registry record, contract or administrator notice supports them. Do not infer that shared branding means shared liabilities.
Pass 2: Reconcile funding. Add one row per transaction with announcement, close and cash dates, original currency, legal recipient, instrument, security, amount drawn and source. Separate a company's own shares sold from secondary sales; separate cash equity from loan commitments; flag later refinancing.
Pass 3: Build the operating timeline. Record what was public or known to management at each decision date: product launches, customer terms, route openings, hiring, shutdowns, leadership changes, missed payments, fundraising, acquisition, court filing and administrator appointment. Use exact dates and identify who could access the information.
Pass 4: Trace cash and unit economics. If available, link customer orders to delivered sales, cash collections, direct cost, returns, delivery cost, working-capital investment, capex and debt service. Calculate contribution by cohort or unit. Keep company-level cash history blank if records are absent; do not fill it with a fictional example and label it as history.
Pass 5: Classify the outcome and recovery. Date the trading status, legal status, asset sale or merger separately. Estimate creditor recoveries only from administrator distributions or confirmed payments. Estimate equity outcomes only from distributions, secondary proceeds or a supportable remaining valuation. If unresolved, retain “unknown.”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Read the questions naturally and define terms in context.
Funding claim — stated amount before transaction-level verification
Legal recipient — exact entity receiving the financing
Recovery — evidenced distributions to a specific claim class
Status date — date at which the legal or operating state is established
Unknown — missing evidence; never substitute zero
Research question mapping: What do the headline total, funding breadth and concentration each measure?; How do equity, debt and asset-linked funding change what a business must earn or repay?; What happened after funding, and what evidence is needed to establish investor recoveries or losses?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Part 3 and Appendix 03. Build separate company/entity, financing event, cash-receipt and current status fields. A published funding aggregate is not a balance sheet.
Narration: explain each step and its consequence for the opening decision.
ARTICLE SECTION: Follow the company, the cash and the legal claim separately
A social post says 13 Kenyan startups “collapsed after raising” a combined Sh93 billion. The sentence feels conclusive: large funding, failed companies, money gone. But it puts three questions into one label. Which legal entity received the financing? What happened to each business and its operating companies? What money, if any, did investors or creditors recover? Without those answers, the total is not a failure rate or an investor-loss figure.
The screenshot’s 13 amounts do add to KSh 93.31 billion, which rounds to Sh93 billion [1]. The five largest items add to KSh 75.7 billion, or about 81.1% of that selected list. That calculation is useful for understanding the list’s internal concentration. It does not verify the amounts, establish a national funding share or prove a loss. The post supplies no underlying deal ledger, transaction status, currency-conversion dates, legal recipients or source methods beyond “MoneyAcademyKE.”
This article gives the list a more practical treatment. It separates financing events from operating outcomes, gives each legal entity its own dated status, and shows what records would be needed to estimate recovery. It also explains why a company can raise a large amount and still run out of cash—and why an adverse outcome does not prove that every earlier investment decision was irrational.
ARTICLE SECTION: What can be said about the 13-company list today?
The table below records the screenshot’s claimed amounts as leads. It deliberately does not treat them as verified funding received. The outcomes are bounded by the public materials identified in the source capture and verification ledger.
| Company as displayed | Screenshot amount | Current public-evidence treatment |
|---|---:|---|
| Twiga Foods | Sh24.10bn | September 2026 reporting names GT Flow Limited and Templar Field Limited as separately under administration; official notices and the claimed funding aggregate still need direct verification [8] |
| Copia | Sh16.00bn | Kenya Gazette notice appoints administrators to Copia Kenya Limited in May 2024; the amount and investor recovery are unreconciled [3] |
| Gro Intelligence | Sh15.30bn | Included in FSD Kenya’s group of firms that closed, entered administration or exited Kenya; the report does not assign the exact category here [2] |
| Koko Networks | Sh13.00bn | Amount and entity-level outcome remain unverified in the supplied evidence bundle |
| Mobius Motors | Sh7.30bn | Amount and dated legal/operating outcome require primary company and transaction records |
| MarketForce | Sh5.50bn | FSD Kenya describes MarketForce among companies that downsized, restructured or pursued mergers; exact entity, date and result need verification [2] |
| WeFarm | Sh4.20bn | Included in FSD Kenya’s combined closed/administration/exit group; exact outcome is not allocated there [2] |
| Sendy | Sh3.20bn | Included in FSD Kenya’s combined closed/administration/exit group; the legal entity and recovery records remain open [2] |
| iProcure | Sh2.20bn | Included in FSD Kenya’s combined closed/administration/exit group; exact process and claim perimeter need verification [2] |
| Lipa Later | Sh2.20bn | Funding amount, legal borrower and dated outcome remain unresolved in the source bundle |
| Kune Foods | Sh0.13bn | Funding amount and current legal/operating status require primary verification |
| Zumi | Sh0.13bn | Funding amount and company outcome need transaction-level and entity-level sources |
| Notify Logistics | Sh0.05bn | Funding amount, recipient and outcome remain unverified |
The amount column is in KSh billions and comes from a screenshot, not audited filings. The table does not claim that the listed firm itself received every shilling: an investor may have funded a parent, foreign holding company, project vehicle or separate operating subsidiary. It also does not imply that the company still owes all financing or that an investor recovered nothing.
The distinction is visible in the Twiga example. The September reports cited in the research materials refer to GT Flow Limited (formerly Twiga Foods One Limited) and Templar Field Limited (formerly Twiga Foods Limited) as separate companies. One report describes an administration effective in August 2026; another describes a September board appointment. The underlying Gazette notice and administrator communication have not both been directly verified in this package [8]. The responsible wording is attribution to the report, with an open primary-source check. Even if the appointments are confirmed, they do not by themselves establish that every entity using the Twiga name entered administration or that all investor claims are unrecoverable.
Copia provides a stronger primary-record example. The Kenya Gazette of 31 May 2024 states that administrators were appointed to Copia Kenya Limited [3]. A ruling delivered on 23 April 2026 is available here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Screenshot List C5:F21 and Appendix 01. Keep currency, event dates, instruments and recipients unverified until supported by transaction-level evidence.
Narration: explain each step and its consequence for the opening decision.
ARTICLE SECTION: Do not turn a selected list into a startup failure rate
The screenshot begins with companies already described as collapsed. It is therefore a case list selected on an outcome. To estimate a failure rate, start with a defined population: for example, every Kenya-tagged venture that received a source-defined first equity or debt transaction in 2020, then observe each for five years. The researcher would need a denominator of all qualifying recipients, including firms that continue trading, were acquired, changed business model, stopped operating or remain unresolved. If companies are included only after a reported closure, the sample cannot tell us the share of all funded ventures that closed.
The outcome also needs a fixed definition and horizon. “Closed operations in Kenya” is different from “liquidated legal entity”; “administration” is a legal procedure, not necessarily a terminal operating state. An acquisition can preserve employees and products while ending the original shareholders' investment. A voluntary pivot can close one business line without ending the parent company. Code each dimension separately and allow more than one event date. State whether the event is first legal filing, cessation of trading, asset sale, acquisition or final dissolution.
Follow-up periods differ. A company funded in 2025 has had less time to fail than one funded in 2018. If the analysis counts only companies whose outcomes are already known, it will overrepresent older cohorts. Survival or hazard methods can handle unequal observation time when dates and event definitions are reliable, but they cannot fix missing companies or inconsistent source coverage. Shumway's public-company bankruptcy study treats failure as a time-dependent outcome; it does not supply a Kenyan startup base rate [11].
An evidence-quality column should accompany the outcome code. A court judgment can verify that an order was issued, and may summarize a creditor's statement. It does not independently establish every allegation in that statement. A company release can verify what management announced, not the ultimate cash recovery. A media report can date an event and point to a Gazette notice. A screenshot can preserve the wording of a claim. Those source types can all be useful, but their uses differ.
A practical case register can record one row per dated event with: legal entity; former name; country operation; event date; public date; source; source passage; event category; operational status; legal status; evidence level; and follow-up record needed. Keep the earlier status in history rather than overwriting it when a later event arrives. This lets a reviewer answer both “What is the status now?” and “What could a lender or supplier have known then?”
ARTICLE SECTION: What can be said about the 13-company list today?
The table below records the screenshot’s claimed amounts as leads. It deliberately does not treat them as verified funding received. The outcomes are bounded by the public materials identified in the source capture and verification ledger.
| Company as displayed | Screenshot amount | Current public-evidence treatment |
|---|---:|---|
| Twiga Foods | Sh24.10bn | September 2026 reporting names GT Flow Limited and Templar Field Limited as separately under administration; official notices and the claimed funding aggregate still need direct verification [8] |
| Copia | Sh16.00bn | Kenya Gazette notice appoints administrators to Copia Kenya Limited in May 2024; the amount and investor recovery are unreconciled [3] |
| Gro Intelligence | Sh15.30bn | Included in FSD Kenya’s group of firms that closed, entered administration or exited Kenya; the report does not assign the exact category here [2] |
| Koko Networks | Sh13.00bn | Amount and entity-level outcome remain unverified in the supplied evidence bundle |
| Mobius Motors | Sh7.30bn | Amount and dated legal/operating outcome require primary company and transaction records |
| MarketForce | Sh5.50bn | FSD Kenya describes MarketForce among companies that downsized, restructured or pursued mergers; exact entity, date and result need verification [2] |
| WeFarm | Sh4.20bn | Included in FSD Kenya’s combined closed/administration/exit group; exact outcome is not allocated there [2] |
| Sendy | Sh3.20bn | Included in FSD Kenya’s combined closed/administration/exit group; the legal entity and recovery records remain open [2] |
| iProcure | Sh2.20bn | Included in FSD Kenya’s combined closed/administration/exit group; exact process and claim perimeter need verification [2] |
| Lipa Later | Sh2.20bn | Funding amount, legal borrower and dated outcome remain unresolved in the source bundle |
| Kune Foods | Sh0.13bn | Funding amount and current legal/operating status require primary verification |
| Zumi | Sh0.13bn | Funding amount and company outcome need transaction-level and entity-level sources |
| Notify Logistics | Sh0.05bn | Funding amount, recipient and outcome remain unverified |
The amount column is in KSh billions and comes from a screenshot, not audited filings. The table does not claim that the listed firm itself received every shilling: an investor may have funded a parent, foreign holding company, project vehicle or separate operating subsidiary. It also does not imply that the company still owes all financing or that an investor recovered nothing.
The distinction is visible in the Twiga example. The September reports cited in the research materials refer to GT Flow Limited (formerly Twiga Foods One Limited) and Templar Field Limited (formerly Twiga Foods Limited) as separate companies. One report describes an administration effective in August 2026; another describes a September board appointment. The underlying Gazette notice and administrator communication have not both been directly verified in this package [8]. The responsible wording is attribution to the report, with an open primary-source check. Even if the appointments are confirmed, they do not by themselves establish that every entity using the Twiga name entered administration or that all investor claims are unrecoverable.
Copia provides a stronger primary-record example. The Kenya Gazette of 31 May 2024 states that administrators were appointed to Copia Kenya Limited [3]. A ruling delivered on 23 April 2026 is available here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Project 3 Case Register and Timeline; startup Appendix 03. Twiga’s USD 185.4m secondary-source funding aggregate does not establish cash received, runway or investor loss; legal recipient allocation remains unclear.
Narration: explain each step and its consequence for the opening decision.
ARTICLE SECTION: What can be said about the 13-company list today?
The table below records the screenshot’s claimed amounts as leads. It deliberately does not treat them as verified funding received. The outcomes are bounded by the public materials identified in the source capture and verification ledger.
| Company as displayed | Screenshot amount | Current public-evidence treatment |
|---|---:|---|
| Twiga Foods | Sh24.10bn | September 2026 reporting names GT Flow Limited and Templar Field Limited as separately under administration; official notices and the claimed funding aggregate still need direct verification [8] |
| Copia | Sh16.00bn | Kenya Gazette notice appoints administrators to Copia Kenya Limited in May 2024; the amount and investor recovery are unreconciled [3] |
| Gro Intelligence | Sh15.30bn | Included in FSD Kenya’s group of firms that closed, entered administration or exited Kenya; the report does not assign the exact category here [2] |
| Koko Networks | Sh13.00bn | Amount and entity-level outcome remain unverified in the supplied evidence bundle |
| Mobius Motors | Sh7.30bn | Amount and dated legal/operating outcome require primary company and transaction records |
| MarketForce | Sh5.50bn | FSD Kenya describes MarketForce among companies that downsized, restructured or pursued mergers; exact entity, date and result need verification [2] |
| WeFarm | Sh4.20bn | Included in FSD Kenya’s combined closed/administration/exit group; exact outcome is not allocated there [2] |
| Sendy | Sh3.20bn | Included in FSD Kenya’s combined closed/administration/exit group; the legal entity and recovery records remain open [2] |
| iProcure | Sh2.20bn | Included in FSD Kenya’s combined closed/administration/exit group; exact process and claim perimeter need verification [2] |
| Lipa Later | Sh2.20bn | Funding amount, legal borrower and dated outcome remain unresolved in the source bundle |
| Kune Foods | Sh0.13bn | Funding amount and current legal/operating status require primary verification |
| Zumi | Sh0.13bn | Funding amount and company outcome need transaction-level and entity-level sources |
| Notify Logistics | Sh0.05bn | Funding amount, recipient and outcome remain unverified |
The amount column is in KSh billions and comes from a screenshot, not audited filings. The table does not claim that the listed firm itself received every shilling: an investor may have funded a parent, foreign holding company, project vehicle or separate operating subsidiary. It also does not imply that the company still owes all financing or that an investor recovered nothing.
The distinction is visible in the Twiga example. The September reports cited in the research materials refer to GT Flow Limited (formerly Twiga Foods One Limited) and Templar Field Limited (formerly Twiga Foods Limited) as separate companies. One report describes an administration effective in August 2026; another describes a September board appointment. The underlying Gazette notice and administrator communication have not both been directly verified in this package [8]. The responsible wording is attribution to the report, with an open primary-source check. Even if the appointments are confirmed, they do not by themselves establish that every entity using the Twiga name entered administration or that all investor claims are unrecoverable.
Copia provides a stronger primary-record example. The Kenya Gazette of 31 May 2024 states that administrators were appointed to Copia Kenya Limited [3]. A ruling delivered on 23 April 2026 is available here
ARTICLE SECTION: Follow the company, the cash and the legal claim separately
A social post says 13 Kenyan startups “collapsed after raising” a combined Sh93 billion. The sentence feels conclusive: large funding, failed companies, money gone. But it puts three questions into one label. Which legal entity received the financing? What happened to each business and its operating companies? What money, if any, did investors or creditors recover? Without those answers, the total is not a failure rate or an investor-loss figure.
The screenshot’s 13 amounts do add to KSh 93.31 billion, which rounds to Sh93 billion [1]. The five largest items add to KSh 75.7 billion, or about 81.1% of that selected list. That calculation is useful for understanding the list’s internal concentration. It does not verify the amounts, establish a national funding share or prove a loss. The post supplies no underlying deal ledger, transaction status, currency-conversion dates, legal recipients or source methods beyond “MoneyAcademyKE.”
This article gives the list a more practical treatment. It separates financing events from operating outcomes, gives each legal entity its own dated status, and shows what records would be needed to estimate recovery. It also explains why a company can raise a large amount and still run out of cash—and why an adverse outcome does not prove that every earlier investment decision was irrational.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Screenshot List C5:F21. The screenshot’s 82% claim and this 81.1% list calculation use different definitions from a verified same-version Kenya transaction ledger.
Equation: Selected-list top-five share = top-five claims ÷ all listed claims
Substitution: KES 75.7bn ÷ KES 93.31bn ≈ 81.1%
Interpretation: This reproduces the arithmetic of the selected thirteen-company screenshot. It does not validate any individual claim or measure the national market.
ARTICLE SECTION: What the 13-company screenshot currently supports
The screenshot supports two limited facts: it displayed 13 named brands with claimed amounts, and those amounts arithmetically total KSh 93.31bn. The five largest displayed claims form about 81.1% of that selected list. FSD Kenya’s 2024 report supplies a later public snapshot of several companies’ financing and broad operating/legal outcomes, while court and Gazette materials give more precise entity and legal-process records for Copia, Nakumatt and Tuskys. September 2026 reporting adds a new, still-to-be-verified administration status for two Twiga-related legal entities.
The research does not yet support the claim that every listed startup “collapsed,” that each amount reached the named Kenyan operating company, or that investors lost KSh 93bn. It also cannot reconstruct each company’s owner earnings or declare one cause of distress. The useful next output is a verified ledger and matched workbook, not a stronger adjective.
ARTICLE SECTION: Recalculate what the screenshot actually proves
The 13 listed amounts sum to Sh93.31bn. The top five entries—Twiga, Copia, Gro Intelligence, Koko Networks and Mobius—sum to Sh75.70bn. The ratio is:
Sh75.70bn ÷ Sh93.31bn = 81.13%.
That proves only the arithmetic relationship among the 13 displayed claims. It says nothing about national venture funding because the list is selected around firms described as collapsed, mixes outcomes, covers more than one financing period and uses an unverified currency conversion. It is a sample chosen after adverse events, not a complete list of all funded startups. A high concentration among the largest failed firms may be interesting, but it cannot estimate the probability that a funded Kenyan startup fails.
FSD Kenya listed dollar-denominated funding claims for nine companies in a 2024 discussion: Twiga $195m, Wasoko $144m, Gro Intelligence $125m, Copia Global $120m, Swvl $100m, MarketForce $42.5m, WeFarm $32m, Sendy $26.5m and iProcure $17.2m [2]. These amounts sum to $802.2m. FSD describes the firms collectively as having raised over $800m and cites several commercial databases and media sources. That arithmetic is a check of FSD’s displayed entries, not a second audit. It differs in companies, currencies, source date and classification from the screenshot’s Sh93.31bn list; the two should not be converted and compared without original round schedules and common FX dates.
The task is not to find a single “correct” cumulative number by averaging lists. It is to build an event-level record and show the range of transactions confirmed, attributed or unresolved. If the list includes a loan that was refinanced, count the original loan and refinancing as separate financing events but do not treat both as new cash available for operations. If it includes a secondary share purchase, distinguish the seller’s proceeds from capital injected into the company. If a facility was never drawn, do not add its full committed amount to cash received.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ACTUAL WORKBOOK CAPTURE
Workbook: C:\Users\Nevo\Downloads\financial material\Owner's Earning\What Startup Funding Figures Actually Measure\Startup Funding Market and Outcomes Workbook.xlsx
Sheet/range: 'Screenshot List'!C5:F19
SHA-256: cd8f7689e54d34ad0ad95991f1815c26e948341f3ca001a7ec7d1ba34ae57812
Capture method: Microsoft Excel read-only PDF range export. Print headings retained. Source not saved.
Asset: Evidence/Workbooks/STARTUP-FUNDING-03-01-p1.png
SCREEN RECORDING WALKTHROUGH
Read the row and column headings. Identify inputs, follow the dependent row and explain the units. Do not alter the source workbook while recording; use a copy for a new scenario.
Extracted evidence text:
5
6
7
8
9
10
11
12
13
14
15
16
17
18
19
C D E F
Company / brand as shown Claimed amount (KES bn) Amount status Outcome note
Twiga Foods 24.1 Screenshot claim Two entities reported under administration; primary notices pending
Copia 16 Screenshot claim Copia Kenya administration Gazette notice captured; reconcile funded entity
Gro Intelligence 15.3 Screenshot claim Outcome / legal entity unresolved in current ledger
Koko Networks 13 Screenshot claim Outcome / legal entity unresolved in current ledger
Mobius Motors 7.3 Screenshot claim Outcome / legal entity unresolved in current ledger
MarketForce 5.5 Screenshot claim Outcome / legal entity unresolved in current ledger
Wefarm 4.2 Screenshot claim Outcome / legal entity unresolved in current ledger
Sendy 3.2 Screenshot claim Outcome / legal entity unresolved in current ledger
iProcure 2.2 Screenshot claim Outcome / legal entity unresolved in current ledger
Lipa Later 2.2 Screenshot claim Outcome / legal entity unresolved in current ledger
Kune Foods 0.13 Screenshot claim Outcome / legal entity unresolved in current ledger
Zumi 0.13 Screenshot claim Outcome / legal entity unresolved in current ledger
Notify Logistics 0.05 Screenshot claim Outcome / legal entity unresolved in current ledger
Displayed-list sum 93.31
Relevant article context:
ARTICLE SECTION: What can be said about the 13-company list today?
The table below records the screenshot’s claimed amounts as leads. It deliberately does not treat them as verified funding received. The outcomes are bounded by the public materials identified in the source capture and verification ledger.
| Company as displayed | Screenshot amount | Current public-evidence treatment |
|---|---:|---|
| Twiga Foods | Sh24.10bn | September 2026 reporting names GT Flow Limited and Templar Field Limited as separately under administration; official notices and the claimed funding aggregate still need direct verification [8] |
| Copia | Sh16.00bn | Kenya Gazette notice appoints administrators to Copia Kenya Limited in May 2024; the amount and investor recovery are unreconciled [3] |
| Gro Intelligence | Sh15.30bn | Included in FSD Kenya’s group of firms that closed, entered administration or exited Kenya; the report does not assign the exact category here [2] |
| Koko Networks | Sh13.00bn | Amount and entity-level outcome remain unverified in the supplied evidence bundle |
| Mobius Motors | Sh7.30bn | Amount and dated legal/operating outcome require primary company and transaction records |
| MarketForce | Sh5.50bn | FSD Kenya describes MarketForce among companies that downsized, restructured or pursued mergers; exact entity, date and result need verification [2] |
| WeFarm | Sh4.20bn | Included in FSD Kenya’s combined closed/administration/exit group; exact outcome is not allocated there [2] |
| Sendy | Sh3.20bn | Included in FSD Kenya’s combined closed/administration/exit group; the legal entity and recovery records remain open [2] |
| iProcure | Sh2.20bn | Included in FSD Kenya’s combined closed/administration/exit group; exact process and claim perimeter need verification [2] |
| Lipa Later | Sh2.20bn | Funding amount, legal borrower and dated outcome remain unresolved in the source bundle |
| Kune Foods | Sh0.13bn | Funding amount and current legal/operating status require primary verification |
| Zumi | Sh0.13bn | Funding amount and company outcome need transaction-level and entity-level sources |
| Notify Logistics | Sh0.05bn | Funding amount, recipient and outcome remain unverified |
The amount column is in KSh billions and comes from a screenshot, not audited filings. The table does not claim that the listed firm itself received every shilling: an investor may have funded a parent, foreign holding company, project vehicle or separate operating subsidiary. It also does not imply that the company still owes all financing or that an investor recovered nothing.
The distinction is visible in the Twiga example. The September reports cited in the research materials refer to GT Flow Limited (formerly Twiga Foods One Limited) and Templar Field Limited (formerly Twiga Foods Limited) as separate companies. One report describes an administration effective in August 2026; another describes a September board appointment. The underlying Gazette notice and administrator communication have not both been directly verified in this package [8]. The responsible wording is attribution to the report, with an open primary-source check. Even if the appointments are confirmed, they do not by themselves establish that every entity using the Twiga name entered administration or that all investor claims are unrecoverable.
Copia provides a stronger primary-record example. The Kenya Gazette of 31 May 2024 states that administrators were appointed to Copia Kenya Limited [3]. A ruling delivered on 23 April 2026 is available here
ARTICLE SECTION: Recalculate what the screenshot actually proves
The 13 listed amounts sum to Sh93.31bn. The top five entries—Twiga, Copia, Gro Intelligence, Koko Networks and Mobius—sum to Sh75.70bn. The ratio is:
Sh75.70bn ÷ Sh93.31bn = 81.13%.
That proves only the arithmetic relationship among the 13 displayed claims. It says nothing about national venture funding because the list is selected around firms described as collapsed, mixes outcomes, covers more than one financing period and uses an unverified currency conversion. It is a sample chosen after adverse events, not a complete list of all funded startups. A high concentration among the largest failed firms may be interesting, but it cannot estimate the probability that a funded Kenyan startup fails.
FSD Kenya listed dollar-denominated funding claims for nine companies in a 2024 discussion: Twiga $195m, Wasoko $144m, Gro Intelligence $125m, Copia Global $120m, Swvl $100m, MarketForce $42.5m, WeFarm $32m, Sendy $26.5m and iProcure $17.2m [2]. These amounts sum to $802.2m. FSD describes the firms collectively as having raised over $800m and cites several commercial databases and media sources. That arithmetic is a check of FSD’s displayed entries, not a second audit. It differs in companies, currencies, source date and classification from the screenshot’s Sh93.31bn list; the two should not be converted and compared without original round schedules and common FX dates.
The task is not to find a single “correct” cumulative number by averaging lists. It is to build an event-level record and show the range of transactions confirmed, attributed or unresolved. If the list includes a loan that was refinanced, count the original loan and refinancing as separate financing events but do not treat both as new cash available for operations. If it includes a secondary share purchase, distinguish the seller’s proceeds from capital injected into the company. If a facility was never drawn, do not add its full committed amount to cash received.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ACTUAL WORKBOOK CAPTURE
Workbook: C:\Users\Nevo\Downloads\financial material\Owner's Earning\What Startup Funding Figures Actually Measure\Startup Funding Market and Outcomes Workbook.xlsx
Sheet/range: 'Company Outcomes'!C5:I10
SHA-256: cd8f7689e54d34ad0ad95991f1815c26e948341f3ca001a7ec7d1ba34ae57812
Capture method: Microsoft Excel read-only PDF range export. Print headings retained. Source not saved.
Asset: Evidence/Workbooks/STARTUP-FUNDING-03-02-p1.png
SCREEN RECORDING WALKTHROUGH
Read the row and column headings. Identify inputs, follow the dependent row and explain the units. Do not alter the source workbook while recording; use a copy for a new scenario.
Extracted evidence text:
5
6
7
8
9
10
C D E F G H I
Brand / company Screenshot amount 
(KES bn) Current status note Deal verification Investor recovery Next evidence step Local evidence register
Twiga Foods 24.1 Two entities reported under administration; primary notices pending Administration reported for two 
entities; primary notices pending Not calculated Confirm exact funded entity and original records 01 - Screenshot Source Capture; 03 - Claim and Company Verification Ledger
Copia 16 Copia Kenya administration Gazette notice captured; reconcile funded entity
Copia Kenya Gazette 
appointment captured; 23-Apr-
2026 two-month extension found 
only in secondary reproduction; 
current status unknown
Not calculated Confirm exact funded entity and original records 01 - Screenshot Source Capture; 03 - Claim and Company Verification Ledger
Gro Intelligence 15.3 Outcome / legal entity unresolved in current ledger Unreconciled Not calculated Confirm exact funded entity and original records 01 - Screenshot Source Capture; 03 - Claim and Company Verification Ledger
Koko Networks 13 Outcome / legal entity unresolved in current ledger Unreconciled Not calculated Confirm exact funded entity and original records 01 - Screenshot Source Capture; 03 - Claim and Company Verification Ledger
Mobius Motors 7.3 Outcome / legal entity unresolved in current ledger Unreconciled Not calculated Confirm exact funded entity and original records 01 - Screenshot Source Capture; 03 - Claim and Company Verification Ledger
Relevant article context:
ARTICLE SECTION: Follow the company, the cash and the legal claim separately
A social post says 13 Kenyan startups “collapsed after raising” a combined Sh93 billion. The sentence feels conclusive: large funding, failed companies, money gone. But it puts three questions into one label. Which legal entity received the financing? What happened to each business and its operating companies? What money, if any, did investors or creditors recover? Without those answers, the total is not a failure rate or an investor-loss figure.
The screenshot’s 13 amounts do add to KSh 93.31 billion, which rounds to Sh93 billion [1]. The five largest items add to KSh 75.7 billion, or about 81.1% of that selected list. That calculation is useful for understanding the list’s internal concentration. It does not verify the amounts, establish a national funding share or prove a loss. The post supplies no underlying deal ledger, transaction status, currency-conversion dates, legal recipients or source methods beyond “MoneyAcademyKE.”
This article gives the list a more practical treatment. It separates financing events from operating outcomes, gives each legal entity its own dated status, and shows what records would be needed to estimate recovery. It also explains why a company can raise a large amount and still run out of cash—and why an adverse outcome does not prove that every earlier investment decision was irrational.
ARTICLE SECTION: “Collapsed” is not one company status
A company may continue selling after a funding round ends. It may close one country operation while trading elsewhere, restructure debt, sell assets, merge with a competitor, enter administration, be liquidated, or cease operations without a formal insolvency process. These outcomes matter differently to employees, customers, lenders, investors and suppliers. They should not be collapsed into a single “failed” category.
Use a status table with exact company names and dates. Keep at least two fields: operating status and legal process. “Trading” is an operating status. “Under administration” is a legal process. A company can trade during administration; an entity can cease activity without liquidation. The legal status of a parent does not automatically determine the status of every subsidiary, and a brand can outlive the original corporate entity.
A source can also be accurate but too broad for a company-level claim. Financial Sector Deepening Kenya (FSD Kenya) reported in 2024 that several prominent firms, including Sendy, Swvl, WeFarm, Copia Global, iProcure and Gro Intelligence, had either closed, entered administration or exited Kenya; it separately described MarketForce, Twiga Foods and Wasoko as facing cash shortages, downsizing, restructuring or pursuing mergers [2]. That groups several outcomes together. It does not tell us which exact status applies to each company at every date. The report is valuable context, but company-level assertions still need dated primary records.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This is an evidence-state comparison, not a numerical cash forecast. Track publication date, event date, document type and whether text is a party assertion, procedural order or court finding.
Base: The ledger contains a financing headline and an unresolved recipient or receipt amount.
Changed: Obtain an entity-specific primary legal notice or transaction document.
Consequence: Update only what that document establishes. Cash received and investor recovery remain unknown unless separate evidence reconciles them.
ARTICLE SECTION: Follow the company, the cash and the legal claim separately
A social post says 13 Kenyan startups “collapsed after raising” a combined Sh93 billion. The sentence feels conclusive: large funding, failed companies, money gone. But it puts three questions into one label. Which legal entity received the financing? What happened to each business and its operating companies? What money, if any, did investors or creditors recover? Without those answers, the total is not a failure rate or an investor-loss figure.
The screenshot’s 13 amounts do add to KSh 93.31 billion, which rounds to Sh93 billion [1]. The five largest items add to KSh 75.7 billion, or about 81.1% of that selected list. That calculation is useful for understanding the list’s internal concentration. It does not verify the amounts, establish a national funding share or prove a loss. The post supplies no underlying deal ledger, transaction status, currency-conversion dates, legal recipients or source methods beyond “MoneyAcademyKE.”
This article gives the list a more practical treatment. It separates financing events from operating outcomes, gives each legal entity its own dated status, and shows what records would be needed to estimate recovery. It also explains why a company can raise a large amount and still run out of cash—and why an adverse outcome does not prove that every earlier investment decision was irrational.
ARTICLE SECTION: “Collapsed” is not one company status
A company may continue selling after a funding round ends. It may close one country operation while trading elsewhere, restructure debt, sell assets, merge with a competitor, enter administration, be liquidated, or cease operations without a formal insolvency process. These outcomes matter differently to employees, customers, lenders, investors and suppliers. They should not be collapsed into a single “failed” category.
Use a status table with exact company names and dates. Keep at least two fields: operating status and legal process. “Trading” is an operating status. “Under administration” is a legal process. A company can trade during administration; an entity can cease activity without liquidation. The legal status of a parent does not automatically determine the status of every subsidiary, and a brand can outlive the original corporate entity.
A source can also be accurate but too broad for a company-level claim. Financial Sector Deepening Kenya (FSD Kenya) reported in 2024 that several prominent firms, including Sendy, Swvl, WeFarm, Copia Global, iProcure and Gro Intelligence, had either closed, entered administration or exited Kenya; it separately described MarketForce, Twiga Foods and Wasoko as facing cash shortages, downsizing, restructuring or pursuing mergers [2]. That groups several outcomes together. It does not tell us which exact status applies to each company at every date. The report is valuable context, but company-level assertions still need dated primary records.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Answer: The public record can establish particular financing statements and dated legal events. Investor loss requires a separate reconciliation of ownership, claim priority and actual recovery; missing coordinates should remain unknown.
Viewer task: Complete five passes: confirm the legal entity, verify each transaction, reconcile cash received, establish dated status and calculate recovery only from evidenced distributions.
Return to each opening research question and identify what remains conditional or unknown.
ARTICLE SECTION: What peer-reviewed research adds to the retrospective
Venture-capital funding cycles can affect both the quantity and the type of ventures funded. Janeway, Nanda and Rhodes-Kropf review research on VC booms and busts, including evidence that capital supply, sector concentration and investor incentives can affect the kinds of firms selected and the terms offered [9]. Nanda and Rhodes-Kropf’s study of investment cycles finds that firms initially financed in more active periods were more likely to go bankrupt but successful firms also had stronger innovation and exit outcomes [10]. The sample is US venture-backed companies. It does not prove that a Kenyan funding boom caused any company in this list to fail. It does caution against using either funding abundance or funding scarcity as a direct measure of company quality.
Shumway’s hazard-model research demonstrates why financial distress is a time-to-event problem rather than a single ratio observed once [11]. Fischhoff’s work on hindsight bias is relevant when analysts revisit a company after a public administration or closure [12]. Once an outcome is known, earlier expansion, hiring or fundraising decisions can look more obviously reckless than they did to people acting with partial information at the time. A fair analysis saves the information set by date, then separately adds later records.
The work of the case study is not to excuse management or investor choices. It is to identify the mechanism supported by evidence: a missed customer collection, an asset financed longer than the loan tenor, an unprofitable customer cohort, a failed refinancing, supplier arrears, a loss of distribution access or a governance decision. If the record cannot discriminate among causes, write what it establishes and name the missing document.
ARTICLE SECTION: A decision record for the next founder and investor
For founders, the lesson is to connect every raise to a milestone and a cash plan. Before signing, test what happens if the next round is delayed six months, if a top customer pays late, if inventory turns more slowly, or if the currency moves against the company. Name the action for each trigger and the person accountable. Record any personal guarantees, liens or security granted by affiliates.
For investors, record the financing thesis before the outcome is known. What evidence supported the customer opportunity? What was the expected capital need to reach a durable margin? Which assumptions were uncertain? What would count as a successful adjustment, a failed hypothesis or a new funding need? A later failure does not alone show that the original investment was irrational. A contemporaneous investment memo makes that test possible.
For journalists, ecosystem teams and policymakers, do not add all “raised” values for a selected group and call the result losses. Separate financing instrument, entity, outcome, time period, national market and source. If the data are incomplete, state which records could change the conclusion. Readers can handle an unresolved finding when the next research step is concrete.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STARTUP-FUNDING-03: What happened after the raise?
ARTICLE: https://sokointel.com/read/startup-funding-03/
RESEARCH SNAPSHOT: 10 September 2026
SOURCE MATERIAL
[1] Alex Owiti, user-supplied LinkedIn screenshot captured September 22, 2026; transcription and image hash in ../01 - Screenshot Source Capture.md. The post attributes its source to “#moneyacademyke” but does not include a stable URL or underlying deal ledger.
[2] Financial Sector Deepening Kenya, “Building resilient innovation ecosystems in Kenya,” October 15, 2024, https://www.fsdkenya.org/blogs-publications/building-resilient-innovation-ecosystems-in-kenya/.
[3] Republic of Kenya, Kenya Gazette, Vol. CXXVI No. 76, May 31, 2024, Insolvency Notice E106 of 2024, appointment of administrators to Copia Kenya Limited, https://new.kenyalaw.org/akn/ke/officialGazette/gazette/2024-05-31/76/eng@2024-05-31/source.
[4] In re Copia Kenya Limited (Under Administration), Insolvency Notice E106 of 2024, [2026] KEHC 5926 (KLR), ruling delivered April 23, 2026, https://sheriahub.com/cases/ke/caselaw/in-re-copia-kenya-limited-under-administrstion-2026-kehc-5926-klr. Secondary reproduction; the official Kenya Law copy was not located in this check.
[5] In re Nakumatt Holdings Limited (Under Administration), Insolvency Cause No. 10 of 2017, [2021] KEHC 8603 (KLR), ruling delivered March 11, 2021, https://new.kenyalaw.org/akn/ke/judgment/kehc/2021/8603/eng@2021-03-11.
[6] In re Tusker Mattresses Limited, Insolvency Petitions E018 of 2020 and E026 of 2021 and Insolvency Cause E002 of 2020 (consolidated), [2023] KEHC 18107 (KLR), judgment delivered May 31, 2023, https://new.kenyalaw.org/akn/ke/judgment/kehc/2023/18107/eng@2023-05-31.
[7] Hotpoint Appliances Limited &amp; another v Tusker Mattresses Limited &amp; another; Njenga (Suing as Interim Liquidator), [2025] KEHC 14728 (KLR), ruling delivered October 16, 2025, https://new.kenyalaw.org/akn/ke/judgment/kehc/2025/14728/eng@2025-10-16.
[8] “Twiga Foods is in administration, 16 months after the leaked plan we published,” Tech-ish, September 14, 2026, https://tech-ish.com/2026/09/14/twiga-foods-is-in-administration-16-months-after-the-leaked-plan-we-published/; and “The second Twiga company has gone into administration,” Tech-ish, September 15, 2026, https://tech-ish.com/2026/09/15/twiga-foods-templar-field-administration/. Both are secondary reports; the cited primary notices remain a publication check.
[9] W. H. Janeway, R. Nanda, and M. Rhodes-Kropf, “Venture Capital Booms and Start-Up Financing,” Annual Review of Financial Economics, vol. 13, pp. 111–127, 2021, https://doi.org/10.1146/annurev-financial-010621-115801.
[10] R. Nanda and M. Rhodes-Kropf, “Investment Cycles and Startup Innovation,” Journal of Financial Economics, vol. 110, no. 2, pp. 403–418, 2013, https://doi.org/10.1016/j.jfineco.2013.07.001.
[11] T. Shumway, “Forecasting Bankruptcy More Accurately: A Simple Hazard Model,” The Journal of Business, vol. 74, no. 1, pp. 101–124, 2001, https://doi.org/10.1086/209665.
[12] B. Fischhoff, “Hindsight Is Not Equal to Foresight: The Effect of Outcome Knowledge on Judgment Under Uncertainty,” Journal of Experimental Psychology: Human Perception and Performance, vol. 1, no. 3, pp. 288–299, 1975, https://doi.org/10.1037/0096-1523.1.3.288.
[13] P. Gompers and J. Lerner, “The Venture Capital Revolution,” Journal of Economic Perspectives, vol. 15, no. 2, pp. 145–168, 2001, https://doi.org/10.1257/jep.15.2.145.
All linked source URLs:
Financial Sector Deepening Kenya, “Building resilient innovation ecosystems in Kenya,” October 15, 2024: https://www.fsdkenya.org/blogs-publications/building-resilient-innovation-ecosystems-in-kenya/
Republic of Kenya, Kenya Gazette, Vol. CXXVI No. 76, May 31, 2024, Insolvency Notice E106 of 2024, appointment of administrators to Copia Kenya Limite: https://new.kenyalaw.org/akn/ke/officialGazette/gazette/2024-05-31/76/eng@2024-05-31/source
In re Copia Kenya Limited (Under Administration), Insolvency Notice E106 of 2024, [2026] KEHC 5926 (KLR), ruling delivered April 23, 2026: https://sheriahub.com/cases/ke/caselaw/in-re-copia-kenya-limited-under-administrstion-2026-kehc-5926-klr
In re Nakumatt Holdings Limited (Under Administration), Insolvency Cause No. 10 of 2017, [2021] KEHC 8603 (KLR), ruling delivered March 11, 2021: https://new.kenyalaw.org/akn/ke/judgment/kehc/2021/8603/eng@2021-03-11
In re Tusker Mattresses Limited, Insolvency Petitions E018 of 2020 and E026 of 2021 and Insolvency Cause E002 of 2020 (consolidated), [2023] KEHC 1810: https://new.kenyalaw.org/akn/ke/judgment/kehc/2023/18107/eng@2023-05-31
Hotpoint Appliances Limited &amp; another v Tusker Mattresses Limited &amp; another; Njenga (Suing as Interim Liquidator), [2025] KEHC 14728 (KLR), ruling del: https://new.kenyalaw.org/akn/ke/judgment/kehc/2025/14728/eng@2025-10-16
“Twiga Foods is in administration, 16 months after the leaked plan we published,” Tech-ish, September 14, 2026: https://tech-ish.com/2026/09/14/twiga-foods-is-in-administration-16-months-after-the-leaked-plan-we-published/
W. H. Janeway, R. Nanda, and M. Rhodes-Kropf, “Venture Capital Booms and Start-Up Financing,” Annual Review of Financial Economics, vol. 13, pp. 111–1: https://doi.org/10.1146/annurev-financial-010621-115801
R. Nanda and M. Rhodes-Kropf, “Investment Cycles and Startup Innovation,” Journal of Financial Economics, vol. 110, no. 2, pp. 403–418, 2013: https://doi.org/10.1016/j.jfineco.2013.07.001
T. Shumway, “Forecasting Bankruptcy More Accurately: A Simple Hazard Model,” The Journal of Business, vol. 74, no. 1, pp. 101–124, 2001: https://doi.org/10.1086/209665
B. Fischhoff, “Hindsight Is Not Equal to Foresight: The Effect of Outcome Knowledge on Judgment Under Uncertainty,” Journal of Experimental Psychology: https://doi.org/10.1037/0096-1523.1.3.288
P. Gompers and J. Lerner, “The Venture Capital Revolution,” Journal of Economic Perspectives, vol. 15, no. 2, pp. 145–168, 2001: https://doi.org/10.1257/jep.15.2.145
Additional content sources:
[]
Workbook provenance:
C:\Users\Nevo\Downloads\financial material\Owner's Earning\What Startup Funding Figures Actually Measure\Startup Funding Market and Outcomes Workbook.xlsx
'Screenshot List'!C5:F19
cd8f7689e54d34ad0ad95991f1815c26e948341f3ca001a7ec7d1ba34ae57812
C:\Users\Nevo\Downloads\financial material\Owner's Earning\What Startup Funding Figures Actually Measure\Startup Funding Market and Outcomes Workbook.xlsx
'Company Outcomes'!C5:I10
cd8f7689e54d34ad0ad95991f1815c26e948341f3ca001a7ec7d1ba34ae57812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startup-funding-03/" TargetMode="External"/><Relationship Id="rId2" Type="http://schemas.openxmlformats.org/officeDocument/2006/relationships/hyperlink" Target="https://www.fsdkenya.org/blogs-publications/building-resilient-innovation-ecosystems-in-kenya/" TargetMode="External"/><Relationship Id="rId3" Type="http://schemas.openxmlformats.org/officeDocument/2006/relationships/hyperlink" Target="https://new.kenyalaw.org/akn/ke/officialGazette/gazette/2024-05-31/76/eng@2024-05-31/source" TargetMode="External"/><Relationship Id="rId4" Type="http://schemas.openxmlformats.org/officeDocument/2006/relationships/hyperlink" Target="https://sheriahub.com/cases/ke/caselaw/in-re-copia-kenya-limited-under-administrstion-2026-kehc-5926-klr" TargetMode="External"/><Relationship Id="rId5" Type="http://schemas.openxmlformats.org/officeDocument/2006/relationships/hyperlink" Target="https://new.kenyalaw.org/akn/ke/judgment/kehc/2021/8603/eng@2021-03-11"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What happened after the raise?</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reader follows thirteen company funding claims toward cash receipts, legal status and investor outcomes, leaving unresolved evidence visibly open.</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STARTUP-FUNDING-03   •   Dated public evidence • cutoff 24 September 2026 • screenshot amounts remain claims until verified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do the headline total, funding breadth and concentration each measure?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do equity, debt and asset-linked funding change what a business must earn or repay?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happened after funding, and what evidence is needed to establish investor recoveries or losses?</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Funding claim — stated amount before transaction-level verification</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Legal recipient — exact entity receiving the financing</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Recovery — evidenced distributions to a specific claim class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Status date — date at which the legal or operating state is established</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Unknown — missing evidence; never substitute zero</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Four records must stay distinct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company brand is not always the legal financing recipient.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financing announcement is not proof of cash received.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administration event does not, by itself, quantify an investor’s realized loss.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Selected-list arithmetic is not deal verification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screenshot’s thirteen claimed amounts sum to KES 93.31bn.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Its five largest claims sum to KES 75.7bn.</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That selected-list ratio does not establish Kenya-wide concentration, domestic cash receipts or thirteen business failures.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Keep legal entities and evidence status explicit</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Twiga’s GT Flow and Templar Field records concern distinct legal entities.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For Copia, distinguish the Gazette appointment from a separately dated extension record.</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secondary report of administration is different evidence from an obtained primary notice.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Use the denominator that the claim actually supports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Selected-list top-five share = top-five claims ÷ all listed claims</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75.7bn ÷ KES 93.31bn ≈ 81.1%</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This reproduces the arithmetic of the selected thirteen-company screenshot. It does not validate any individual claim or measure the national market.</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Screenshot List: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3-01-p1.png">    </p:cNvPr>
          <p:cNvPicPr>
            <a:picLocks noChangeAspect="1"/>
          </p:cNvPicPr>
          <p:nvPr/>
        </p:nvPicPr>
        <p:blipFill>
          <a:blip r:embed="rId1"/>
          <a:stretch>
            <a:fillRect/>
          </a:stretch>
        </p:blipFill>
        <p:spPr>
          <a:xfrm>
            <a:off x="612648" y="2270610"/>
            <a:ext cx="10972800" cy="284713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Screenshot List!C5:F19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Company Outcomes: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3-02-p1.png">    </p:cNvPr>
          <p:cNvPicPr>
            <a:picLocks noChangeAspect="1"/>
          </p:cNvPicPr>
          <p:nvPr/>
        </p:nvPicPr>
        <p:blipFill>
          <a:blip r:embed="rId1"/>
          <a:stretch>
            <a:fillRect/>
          </a:stretch>
        </p:blipFill>
        <p:spPr>
          <a:xfrm>
            <a:off x="612648" y="3074951"/>
            <a:ext cx="10972800" cy="123845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Company Outcomes!C5:I10</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public evidence • cutoff 24 September 2026 • screenshot amounts remain claims until verified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New evidence changes status, not unknown cash by assumption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ledger contains a financing headline and an unresolved recipient or receipt amount.</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Obtain an entity-specific primary legal notice or transaction document.</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Update only what that document establishes. Cash received and investor recovery remain unknown unless separate evidence reconciles them.</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The public record can establish particular financing statements and dated legal events. Investor loss requires a separate reconciliation of ownership, claim priority and actual recovery; missing coordinates should remain unknown.</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Complete five passes: confirm the legal entity, verify each transaction, reconcile cash received, establish dated status and calculate recovery only from evidenced distributions.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sokointel.com/read/startup-funding-03/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Financial Sector Deepening Kenya, “Building resilient innovation ecosystems in Kenya,” October 15, 2024 • 2024</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Republic of Kenya, Kenya Gazette, Vol. CXXVI No. 76, May 31, 2024, Insolvency Notice E106 of 2024, appointment of administrat • 2024</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In re Copia Kenya Limited (Under Administration), Insolvency Notice E106 of 2024, [2026] KEHC 5926 (KLR), ruling delivered Ap • 2024</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In re Nakumatt Holdings Limited (Under Administration), Insolvency Cause No. 10 of 2017, [2021] KEHC 8603 (KLR), ruling deliv • 2017</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happened after the raise?</dc:title>
  <dc:subject>What do the headline total, funding breadth and concentration each measure? | How do equity, debt and asset-linked funding change what a business must earn or repay? | What happened after funding, and what evidence is needed to establish investor recoveries or losses?</dc:subject>
  <dc:creator>Sokointel</dc:creator>
  <cp:lastModifiedBy>Sokointel</cp:lastModifiedBy>
  <cp:revision>1</cp:revision>
  <dcterms:created xsi:type="dcterms:W3CDTF">2026-09-25T13:49:42Z</dcterms:created>
  <dcterms:modified xsi:type="dcterms:W3CDTF">2026-09-25T13:49:42Z</dcterms:modified>
</cp:coreProperties>
</file>