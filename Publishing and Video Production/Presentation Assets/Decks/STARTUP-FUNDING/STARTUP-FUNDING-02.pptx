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OPENING NARRATION
A business compares a debt facility and an equity offer by following who receives cash, what claim is created and what the downside requires.
Fictional financing scenarios • KES million unless stated • no lender offer implied
Introduce the decision before defining the technical terms.
ARTICLE SECTION: A worked debt case: check the first payment before celebrating the round
Assume an equipment distributor borrows KSh 100 million for 24 months at 18% nominal annual interest. It repays equal principal each month. This is an invented example; it is not a current Kenyan facility offer. Equal monthly principal is KSh 100m ÷ 24, or approximately KSh 4.167m. If interest is charged monthly at 1.5% of opening principal, first-month interest is KSh 1.5m and first-month total debt service is about KSh 5.667m.
| Month | Opening principal (KSh m) | Principal due (KSh m) | Interest at 1.5% (KSh m) | Scheduled service (KSh m) |
|---:|---:|---:|---:|---:|
| 1 | 100.000 | 4.167 | 1.500 | 5.667 |
| 2 | 95.833 | 4.167 | 1.438 | 5.604 |
| 3 | 91.667 | 4.167 | 1.375 | 5.542 |
| 12 | 54.167 | 4.167 | 0.813 | 4.979 |
| 24 | 4.167 | 4.167 | 0.063 | 4.229 |
Across the 24 months, the simple model produces approximately KSh 18.75m of interest and KSh 118.75m total principal plus interest, before fees, taxes, legal costs, arrears charges or hedging. The calculation assumes the lender uses a 1.5% monthly rate on a declining balance and that the borrower pays on time. A real contract may use another day-count convention, a flat rate, fees, a grace period, balloon repayment or different payment dates.
Suppose the financed portfolio generates KSh 6.2m of monthly cash available for debt service after necessary operating cost, tax, maintenance, collection cost and working-capital need. First-month coverage is 6.2 ÷ 5.667 = 1.09 times. If collections are 20% below plan, available cash falls to KSh 4.96m, and coverage becomes 4.96 ÷ 5.667 = 0.88 times; the monthly shortfall is about KSh 707,000. The measure is illustrative, not a recommended covenant. A lender’s agreement defines its own DSCR, permitted add-backs and test periods.
The borrower should now ask: do customers actually pay before the loan due date? Are the receivables enforceable? Will the portfolio require replacement equipment or servicing? Are taxes and collection losses included? Does the debt currency match the customer cash currency? Is there a reserve for late payments? The financing may be viable if the debt tenor matches asset receipts and the stress is manageable. It may be dangerous if the investor relies on the next equity round to cover every scheduled payment.
ARTICLE SECTION: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Read the questions naturally and define terms in context.
CFADS — cash flow available for debt service; KES/month
DSCR — CFADS ÷ scheduled principal and interest
Equal principal — the same principal amount repaid each month
Pre-money — equity value before the new investment
Post-money — pre-money value plus new primary investment
Research question mapping: What do the headline total, funding breadth and concentration each measure?; How do equity, debt and asset-linked funding change what a business must earn or repay?; What happened after funding, and what evidence is needed to establish investor recoveries or losses?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Instrument Guide C5:F14 and Appendix 02. Explain recipient, instrument, maturity, security, conversion and control separately rather than treating all funding headlines as the same capital.
Narration: explain each step and its consequence for the opening decision.
ARTICLE SECTION: Grants and blended finance have restrictions and reporting obligations
A grant can fund a public-benefit pilot, customer affordability programme, research milestone or market entry where a purely commercial investor would not yet fund the activity. It usually does not give the grantor ordinary ownership. But grants often restrict eligible costs, require matching funds, set delivery milestones, allow audits and require repayment or clawback if conditions are not met. An award announcement does not equal unrestricted cash.
Blended finance can combine grants, concessional debt, commercial loans, guarantees and equity to share risks. That can bring a new service to customers or make a capital asset financeable. The analytical question is whether each tranche has a clear purpose and whether the business can continue after a subsidy ends. Count the grant on the date it is received and usable. Do not include a pending reimbursement in current cash unless the claim is accepted and payment timing is supported.
For founders, keep a grant register with agreement date, amount, currency, eligible budget, disbursement milestones, matching requirement, reporting date and restricted balance. If a grant pays for a pilot but salaries or customer acquisition continue afterward, include the post-grant cash requirement in the base plan. A successful pilot is not the same as a funded operating model.
ARTICLE SECTION: Convertible notes, SAFEs and “we will decide later”
A convertible instrument can postpone setting a valuation, but it does not remove the economic terms. Review the principal, interest, maturity date, valuation cap, discount, conversion trigger, qualified-financing threshold, repayment or extension options, most-favoured-nation clause and treatment at a sale or shutdown. Model several conversion prices with the existing option pool and earlier notes included. A low cap combined with a discount can give an investor a larger share than a founder expects from the headline cheque.
A SAFE or similar future-equity contract may not accrue ordinary interest or have a maturity in the way a conventional note does, but it still creates a future claim on ownership. Kenyan legal treatment, tax and foreign-law governing provisions should be reviewed by qualified counsel. Never label a convertible as plain equity before conversion or plain debt without checking repayment rights and local enforceability.
A company may also have several bridge instruments outstanding. If every investor expects the next round to convert them, one delayed equity close can create a maturity wall or negotiation over waivers. The cash forecast should list actual due dates and legal claim priority, not just a single “funding balance.”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Part 2 instrument and contract discussion. Preserve the legal issuer and recipient, currency, conditions precedent, draw status and cash evidence.
Narration: explain each step and its consequence for the opening decision.
ARTICLE SECTION: Match currency and tenor to cash receipts
Currency mismatch is a real financing cost even when the interest rate looks low. If a company earns shillings but owes dollars, a shilling depreciation can increase the shilling value of principal and interest. If revenue is in dollars but payroll and suppliers are in shillings, that mismatch may work differently. Record the currency of each significant revenue stream, input cost, debt, lease, customer installment and bank balance.
Tenor matters as much as rate. A 12-month facility financing an asset that pays back over three years creates refinancing risk. A five-year facility for inventory that turns in 60 days may be unnecessarily expensive. Map scheduled repayments to the cash-conversion cycle and useful life; model first payment, grace-period end, balloon and covenant test dates. Put the downside cash trough beside the repayment schedule.
A simple currency stress can be framed without forecasting exchange rates: recalculate debt service under a 10%, 20% or 30% adverse movement, using the actual exchange rate at the model date and clearly labeling the shock as a scenario. If the company has a natural hedge or a forward contract, document notional, tenor, collateral, rollover and counterparty limits. The shock is a resilience check, not a prediction.
ARTICLE SECTION: First translate the label into a contract
“Debt” can mean a bank loan, overdraft, invoice facility, equipment lease, asset-backed securitization, convertible note, venture loan or supplier credit. They do not have the same repayment source or seniority. “Equity” can mean ordinary shares, preferred shares, a convertible instrument that later becomes shares, or a fund investment made through a holding company. Grants may be restricted to a specified programme, milestone or recipient. The word in a press release is only the starting point.
For each transaction, write down eight things:
1. Who provides the capital and who legally receives it? A parent and an operating subsidiary may be different borrowers.
2. What is the legal instrument? Read the signed agreement, not just a press release label.
3. What amount is available, and when? Separate announced, committed, signed, closed, drawn and cleared cash.
4. What does it cost? Include interest, fees, arrangement costs, warrants, currency hedges, default charges and any preferred return.
5. What claims does the financier have? Identify security, guarantees, seniority, covenants, information rights and voting control.
6. What activity is funded? Inventory, equipment, customer receivables, research, payroll, expansion, refinancing or a combination.
7. What cash flow or next event repays it? Name the receipts, sale, refinance, grant milestone or future equity round.
8. What happens if that source arrives late or not at all? Map default, dilution, restructuring, asset seizure, waiver, extension or shutdown options.
A single transaction can combine several instruments. A company may draw a secured line, issue preferred shares and receive a grant during the same quarter. Add them into one “funding raised” headline only after recording the amount, date and status separately. Otherwise readers cannot tell which cash remains available and what claims follow it.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Equity Dilution C5:K7. These are teaching assumptions. A cap table, liquidation preference, conversion and option pool can change the economic claim; simple ownership percentage is not a measure of cash repayment capacity.
Narration: explain each step and its consequence for the opening decision.
ARTICLE SECTION: Equity buys a different kind of time, at a price
Equity does not require scheduled principal repayment, which can give an uncertain business room to test demand. But it is not free. The investor receives ownership, voting or information rights, and often contractual protections that affect future financing and a sale. A preferred-share class may have priority over ordinary shares in a sale or liquidation. A founder may be diluted in future rounds, option-pool expansions or conversions.
A basic dilution calculation keeps the pre-money and post-money values distinct. If an investor puts KSh 30m into a company at a KSh 120m pre-money valuation, post-money valuation is KSh 150m. The new investor owns 30 ÷ 150 = 20% on the simplified fully diluted basis. Existing holders collectively fall to 80%, before any option-pool increase, earlier convertible conversion, liquidation preference or later round. This arithmetic does not say whether KSh 120m is fair; it shows what the stated price implies.
A founder should read the whole term sheet: class and seniority of shares; liquidation preference and participation; anti-dilution; board and observer rights; protective provisions; founder vesting; option pool and who bears its creation; information rights; reserved matters; pro-rata rights; transfer restrictions; exit and drag/tag rights; and conditions precedent. “We raised $10m” does not tell the reader whether the company sold 10% or 40%, whether the investor has a guaranteed multiple on exit, or how much money is left after a secondary sale or debt repayment.
Equity is often described as “patient,” but the fund behind it has its own life, return target, governance model and follow-on capacity. A fund may encourage a rapid growth path because its portfolio is built around outcomes where a small number of very large exits drive returns. That can fit a scalable business with improving unit contribution. It can conflict with a slower route to profitability or a company whose investors cannot provide the next round. The founder should ask who will fund the next milestone and what evidence that decision will require.
ARTICLE SECTION: Compare instruments with the same capital need
To see why debt and equity should not be ranked by a single “confidence” label, hold the cash need constant. Imagine the equipment distributor needs KSh 100m for a two-year portfolio. Under the invented debt terms above, scheduled repayment totals about KSh 118.75m over two years, assuming the company pays on time and incurs no extra fees. The lender has no ordinary ownership in the upside, but may have security and default rights. Under a simple equity alternative, the company could issue 20% for KSh 100m at a KSh 400m pre-money valuation, producing KSh 500m post-money. If the company later sold for KSh 1bn and no other dilution, preference or transaction cost existed, that shareholding would correspond to KSh 200m of gross value; if the business failed, equity could be worthless.
Those numbers are not comparable returns. Debt receives a contracted claim and is exposed to default and recovery; equity receives a residual claim and is exposed to dilution, valuation and exit timing. The debt also requires cash on specific dates; the equity may require governance concessions and future rounds. A founder comparing the two should model company value and cash under several outcomes, not compare the interest percentage with the projected exit multiple as if both were certain.
A useful financing decision asks whether the funded activity can produce a return that exceeds the full financing cost after operating risk, taxes, downtime, losses, collection costs, currency changes and working capital. If the project generates cash after the first debt payment but not before it, the long-run return may be positive while the company still defaults in month one. Equity can bridge that timing gap, but if the enterprise has little chance of reaching the next milestone, new shares may simply postpone a necessary decision. The right mix is specific to the asset and forecast.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Debt Service C5:M16 and full schedule to row 38. Hypothetical KES 100m facility, 24 equal-principal monthly payments, annual rate 18%; no unmodeled lender fees or grace periods are inferred.
Equation: DSCR = monthly CFADS ÷ (principal repayment + interest)
Substitution: KES 6.2m ÷ (100m/24 + 100m × 18%/12) ≈ 1.09
Interpretation: Month-one principal is KES 4.167m and interest KES 1.5m: debt service is about KES 5.667m, leaving little operating cushion.
ARTICLE SECTION: A worked debt case: check the first payment before celebrating the round
Assume an equipment distributor borrows KSh 100 million for 24 months at 18% nominal annual interest. It repays equal principal each month. This is an invented example; it is not a current Kenyan facility offer. Equal monthly principal is KSh 100m ÷ 24, or approximately KSh 4.167m. If interest is charged monthly at 1.5% of opening principal, first-month interest is KSh 1.5m and first-month total debt service is about KSh 5.667m.
| Month | Opening principal (KSh m) | Principal due (KSh m) | Interest at 1.5% (KSh m) | Scheduled service (KSh m) |
|---:|---:|---:|---:|---:|
| 1 | 100.000 | 4.167 | 1.500 | 5.667 |
| 2 | 95.833 | 4.167 | 1.438 | 5.604 |
| 3 | 91.667 | 4.167 | 1.375 | 5.542 |
| 12 | 54.167 | 4.167 | 0.813 | 4.979 |
| 24 | 4.167 | 4.167 | 0.063 | 4.229 |
Across the 24 months, the simple model produces approximately KSh 18.75m of interest and KSh 118.75m total principal plus interest, before fees, taxes, legal costs, arrears charges or hedging. The calculation assumes the lender uses a 1.5% monthly rate on a declining balance and that the borrower pays on time. A real contract may use another day-count convention, a flat rate, fees, a grace period, balloon repayment or different payment dates.
Suppose the financed portfolio generates KSh 6.2m of monthly cash available for debt service after necessary operating cost, tax, maintenance, collection cost and working-capital need. First-month coverage is 6.2 ÷ 5.667 = 1.09 times. If collections are 20% below plan, available cash falls to KSh 4.96m, and coverage becomes 4.96 ÷ 5.667 = 0.88 times; the monthly shortfall is about KSh 707,000. The measure is illustrative, not a recommended covenant. A lender’s agreement defines its own DSCR, permitted add-backs and test periods.
The borrower should now ask: do customers actually pay before the loan due date? Are the receivables enforceable? Will the portfolio require replacement equipment or servicing? Are taxes and collection losses included? Does the debt currency match the customer cash currency? Is there a reserve for late payments? The financing may be viable if the debt tenor matches asset receipts and the stress is manageable. It may be dangerous if the investor relies on the next equity round to cover every scheduled payment.
ARTICLE SECTION: Debt can fund an asset. It can also borrow from a future that never arrives
Debt is useful when the borrower can forecast cash receipts well enough to service principal and interest under a conservative case. Asset finance may fund solar equipment, a vehicle fleet, inventory with contracted buyers or invoices from creditworthy customers. The lender may look primarily at the asset, receivable pool, customer collection history, sponsor support and enforceability of contracts.
That structure is different from an early-stage software venture raising equity to test a product that has not yet found repeatable demand. The latter may have valuable intangible assets but no predictable monthly cash. A scheduled repayment can force a premature sale, aggressive customer collections or spending cuts that undermine the experiment. Equity can absorb more variation, but it dilutes founders and investors and may introduce governance rights or a preferred return.
The Africa: The Big Deal data show why debt labels need more detail: the 2025 Kenyan total was heavily shaped by energy and asset-financing activity [1]. A facility connected to energy equipment could be economically sound and repayable even when it is not the type of venture capital often imagined in startup discussions. Conversely, a large facility can create concentrated risk if the company’s customer payments, imported equipment and debt service are denominated in different currencies.
Public transaction announcements can illustrate structure without giving every term. Sun King has disclosed debt and securitization arrangements involving development-finance and commercial partners [2]. A disclosed transaction can show that a capital market exists for a particular asset pool. It does not reveal the rate, repayment waterfall or remaining cash position of every company described as “solar finance.” To estimate those, we need the original agreement or a detailed issuer disclosure.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ACTUAL WORKBOOK CAPTURE
Workbook: C:\Users\Nevo\Downloads\financial material\Owner's Earning\What Startup Funding Figures Actually Measure\Startup Funding Market and Outcomes Workbook.xlsx
Sheet/range: 'Debt Service'!C5:M16
SHA-256: cd8f7689e54d34ad0ad95991f1815c26e948341f3ca001a7ec7d1ba34ae57812
Capture method: Microsoft Excel read-only PDF range export. Print headings retained. Source not saved.
Asset: Evidence/Workbooks/STARTUP-FUNDING-02-01-p1.png
SCREEN RECORDING WALKTHROUGH
Read the row and column headings. Identify inputs, follow the dependent row and explain the units. Do not alter the source workbook while recording; use a copy for a new scenario.
Extracted evidence text:
5
6
7
8
9
10
11
12
13
14
15
16
C D E F G H I J K L M
Principal (KES) 100,000,000
Base annual interest rate 18.0%
Tenor (months) 24
Base monthly CFADS (KES)6,200,000
CFADS downside haircut 20.0%
Stress annual interest rate 23.0%
Month Opening principal Scheduled principal Base interest Base debt service Stress interest Stress debt service Base CFADS Downside CFADS Base DSCR Downside DSCR
1 100,000,000 4,166,667 1,500,000 5,666,667 1,916,667 6,083,333 6,200,000 4,960,000 1.09 0.82
2 95,833,333 4,166,667 1,437,500 5,604,167 1,836,806 6,003,472 6,200,000 4,960,000 1.11 0.83
3 91,666,667 4,166,667 1,375,000 5,541,667 1,756,944 5,923,611 6,200,000 4,960,000 1.12 0.84
Relevant article context:
ARTICLE SECTION: Debt can fund an asset. It can also borrow from a future that never arrives
Debt is useful when the borrower can forecast cash receipts well enough to service principal and interest under a conservative case. Asset finance may fund solar equipment, a vehicle fleet, inventory with contracted buyers or invoices from creditworthy customers. The lender may look primarily at the asset, receivable pool, customer collection history, sponsor support and enforceability of contracts.
That structure is different from an early-stage software venture raising equity to test a product that has not yet found repeatable demand. The latter may have valuable intangible assets but no predictable monthly cash. A scheduled repayment can force a premature sale, aggressive customer collections or spending cuts that undermine the experiment. Equity can absorb more variation, but it dilutes founders and investors and may introduce governance rights or a preferred return.
The Africa: The Big Deal data show why debt labels need more detail: the 2025 Kenyan total was heavily shaped by energy and asset-financing activity [1]. A facility connected to energy equipment could be economically sound and repayable even when it is not the type of venture capital often imagined in startup discussions. Conversely, a large facility can create concentrated risk if the company’s customer payments, imported equipment and debt service are denominated in different currencies.
Public transaction announcements can illustrate structure without giving every term. Sun King has disclosed debt and securitization arrangements involving development-finance and commercial partners [2]. A disclosed transaction can show that a capital market exists for a particular asset pool. It does not reveal the rate, repayment waterfall or remaining cash position of every company described as “solar finance.” To estimate those, we need the original agreement or a detailed issuer disclosure.
ARTICLE SECTION: A worked debt case: check the first payment before celebrating the round
Assume an equipment distributor borrows KSh 100 million for 24 months at 18% nominal annual interest. It repays equal principal each month. This is an invented example; it is not a current Kenyan facility offer. Equal monthly principal is KSh 100m ÷ 24, or approximately KSh 4.167m. If interest is charged monthly at 1.5% of opening principal, first-month interest is KSh 1.5m and first-month total debt service is about KSh 5.667m.
| Month | Opening principal (KSh m) | Principal due (KSh m) | Interest at 1.5% (KSh m) | Scheduled service (KSh m) |
|---:|---:|---:|---:|---:|
| 1 | 100.000 | 4.167 | 1.500 | 5.667 |
| 2 | 95.833 | 4.167 | 1.438 | 5.604 |
| 3 | 91.667 | 4.167 | 1.375 | 5.542 |
| 12 | 54.167 | 4.167 | 0.813 | 4.979 |
| 24 | 4.167 | 4.167 | 0.063 | 4.229 |
Across the 24 months, the simple model produces approximately KSh 18.75m of interest and KSh 118.75m total principal plus interest, before fees, taxes, legal costs, arrears charges or hedging. The calculation assumes the lender uses a 1.5% monthly rate on a declining balance and that the borrower pays on time. A real contract may use another day-count convention, a flat rate, fees, a grace period, balloon repayment or different payment dates.
Suppose the financed portfolio generates KSh 6.2m of monthly cash available for debt service after necessary operating cost, tax, maintenance, collection cost and working-capital need. First-month coverage is 6.2 ÷ 5.667 = 1.09 times. If collections are 20% below plan, available cash falls to KSh 4.96m, and coverage becomes 4.96 ÷ 5.667 = 0.88 times; the monthly shortfall is about KSh 707,000. The measure is illustrative, not a recommended covenant. A lender’s agreement defines its own DSCR, permitted add-backs and test periods.
The borrower should now ask: do customers actually pay before the loan due date? Are the receivables enforceable? Will the portfolio require replacement equipment or servicing? Are taxes and collection losses included? Does the debt currency match the customer cash currency? Is there a reserve for late payments? The financing may be viable if the debt tenor matches asset receipts and the stress is manageable. It may be dangerous if the investor relies on the next equity round to cover every scheduled payment.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ACTUAL WORKBOOK CAPTURE
Workbook: C:\Users\Nevo\Downloads\financial material\Owner's Earning\What Startup Funding Figures Actually Measure\Startup Funding Market and Outcomes Workbook.xlsx
Sheet/range: 'Equity Dilution'!C5:K7
SHA-256: cd8f7689e54d34ad0ad95991f1815c26e948341f3ca001a7ec7d1ba34ae57812
Capture method: Microsoft Excel read-only PDF range export. Print headings retained. Source not saved.
Asset: Evidence/Workbooks/STARTUP-FUNDING-02-02-p1.png
SCREEN RECORDING WALKTHROUGH
Read the row and column headings. Identify inputs, follow the dependent row and explain the units. Do not alter the source workbook while recording; use a copy for a new scenario.
Extracted evidence text:
5
6
7
C D E F G H I J K
Case Pre-money (KES m) New investment (KES m) Post-money (KES m) New investor ownership Illustrative exit value (KES m) Gross pro-rata proceeds (KES m) Simple gross MOIC Limit
KSh30m round at KSh120m pre-money 120.0 30.0 150.0 20.0% Article arithmetic; no other securities
KSh100m alternative at KSh400m pre-money 400.0 100.0 500.0 20.0% 1000.0 200.0 2.00x Illustrative KSh1bn exit only; no preference or later dilution
Relevant article context:
ARTICLE SECTION: Equity buys a different kind of time, at a price
Equity does not require scheduled principal repayment, which can give an uncertain business room to test demand. But it is not free. The investor receives ownership, voting or information rights, and often contractual protections that affect future financing and a sale. A preferred-share class may have priority over ordinary shares in a sale or liquidation. A founder may be diluted in future rounds, option-pool expansions or conversions.
A basic dilution calculation keeps the pre-money and post-money values distinct. If an investor puts KSh 30m into a company at a KSh 120m pre-money valuation, post-money valuation is KSh 150m. The new investor owns 30 ÷ 150 = 20% on the simplified fully diluted basis. Existing holders collectively fall to 80%, before any option-pool increase, earlier convertible conversion, liquidation preference or later round. This arithmetic does not say whether KSh 120m is fair; it shows what the stated price implies.
A founder should read the whole term sheet: class and seniority of shares; liquidation preference and participation; anti-dilution; board and observer rights; protective provisions; founder vesting; option pool and who bears its creation; information rights; reserved matters; pro-rata rights; transfer restrictions; exit and drag/tag rights; and conditions precedent. “We raised $10m” does not tell the reader whether the company sold 10% or 40%, whether the investor has a guaranteed multiple on exit, or how much money is left after a secondary sale or debt repayment.
Equity is often described as “patient,” but the fund behind it has its own life, return target, governance model and follow-on capacity. A fund may encourage a rapid growth path because its portfolio is built around outcomes where a small number of very large exits drive returns. That can fit a scalable business with improving unit contribution. It can conflict with a slower route to profitability or a company whose investors cannot provide the next round. The founder should ask who will fund the next milestone and what evidence that decision will require.
ARTICLE SECTION: Debt is not automatically bad capital, and equity is not automatically patient capital
Suppose two Kenyan companies each announce that they raised KSh 500 million. The headline makes them look comparable. One may have sold new shares to fund product experiments with no fixed repayment date. The other may have taken a secured, dollar-linked facility to finance equipment that pays for itself through customer instalments. A third possibility is that a lender announced a commitment that the company has not fully drawn. Those are three different events, with different cash claims and different risks.
That is why the debt-versus-equity discussion matters. The 2025 tracker data cited in Part 1 say Kenya’s funding included $582 million of debt and $383 million of equity, with debt close to 60% of the published amount [1]. The annual summary describes large energy companies as key drivers. The mix tells us something about the instruments recorded in that dataset. It does not tell us which firms received which terms, how much was disbursed, whether the debt financed assets or operating losses, or which capital was best for the borrower.
The practical question is not “Is debt worse than equity?” It is: Does the instrument match the asset, cash-flow timing, currency and uncertainty it is financing? If a founder cannot answer that with dates and a downside case, the company may be accepting capital that makes next quarter’s cash problem worse.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Debt Service C5:M16. This is a specified two-input stress, not a forecast for any startup. Identify operating actions or explicit contract revisions that could close the gap; do not silently assume refinancing.
Base: CFADS KES 6.2m; 18% annual interest; DSCR about 1.09.
Changed: CFADS falls 20% to KES 4.96m; annual interest rises to 23%.
Consequence: Month-one debt service becomes about KES 6.083m; DSCR falls to about 0.82, with a cash shortfall of about KES 1.123m.
ARTICLE SECTION: Match currency and tenor to cash receipts
Currency mismatch is a real financing cost even when the interest rate looks low. If a company earns shillings but owes dollars, a shilling depreciation can increase the shilling value of principal and interest. If revenue is in dollars but payroll and suppliers are in shillings, that mismatch may work differently. Record the currency of each significant revenue stream, input cost, debt, lease, customer installment and bank balance.
Tenor matters as much as rate. A 12-month facility financing an asset that pays back over three years creates refinancing risk. A five-year facility for inventory that turns in 60 days may be unnecessarily expensive. Map scheduled repayments to the cash-conversion cycle and useful life; model first payment, grace-period end, balloon and covenant test dates. Put the downside cash trough beside the repayment schedule.
A simple currency stress can be framed without forecasting exchange rates: recalculate debt service under a 10%, 20% or 30% adverse movement, using the actual exchange rate at the model date and clearly labeling the shock as a scenario. If the company has a natural hedge or a forward contract, document notional, tenor, collateral, rollover and counterparty limits. The shock is a resilience check, not a prediction.
ARTICLE SECTION: First translate the label into a contract
“Debt” can mean a bank loan, overdraft, invoice facility, equipment lease, asset-backed securitization, convertible note, venture loan or supplier credit. They do not have the same repayment source or seniority. “Equity” can mean ordinary shares, preferred shares, a convertible instrument that later becomes shares, or a fund investment made through a holding company. Grants may be restricted to a specified programme, milestone or recipient. The word in a press release is only the starting point.
For each transaction, write down eight things:
1. Who provides the capital and who legally receives it? A parent and an operating subsidiary may be different borrowers.
2. What is the legal instrument? Read the signed agreement, not just a press release label.
3. What amount is available, and when? Separate announced, committed, signed, closed, drawn and cleared cash.
4. What does it cost? Include interest, fees, arrangement costs, warrants, currency hedges, default charges and any preferred return.
5. What claims does the financier have? Identify security, guarantees, seniority, covenants, information rights and voting control.
6. What activity is funded? Inventory, equipment, customer receivables, research, payroll, expansion, refinancing or a combination.
7. What cash flow or next event repays it? Name the receipts, sale, refinance, grant milestone or future equity round.
8. What happens if that source arrives late or not at all? Map default, dilution, restructuring, asset seizure, waiver, extension or shutdown options.
A single transaction can combine several instruments. A company may draw a secured line, issue preferred shares and receive a grant during the same quarter. Add them into one “funding raised” headline only after recording the amount, date and status separately. Otherwise readers cannot tell which cash remains available and what claims follow it.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Answer: Funding quality depends on fit between the use of cash and the instrument’s obligations. The fictional debt facility barely covers its first payment in the base case and fails coverage in the specified downside; the equity offer instead changes ownership and control.
Viewer task: Prepare a term-sheet record with issuer, recipient, amount, currency, draw conditions, fees, maturity, security, conversion and downside cash dates.
Return to each opening research question and identify what remains conditional or unknown.
ARTICLE SECTION: What the research says—and what it does not say about Kenya
Robb and Robinson examine capital-structure choices among new US firms using the Kauffman Firm Survey and show that external debt, especially business debt, was more prominent in startup finance than a venture-capital-only story would imply [4]. Cole and Sokolyk find that in their US startup sample, firms using business debt at startup were more likely to survive and have higher revenue three years later than all-equity firms, while personal debt did not show the same pattern [5]. Those are observational results in defined datasets. More creditworthy firms may be more likely to obtain business loans, so the estimates should not be read as proof that debt causes survival or that the same results hold in Kenya.
Berger and Udell describe how small-business financing changes across firm growth stages and how private debt and equity markets serve different information and risk profiles [3]. De Rassenfosse and Fischer study venture-debt lenders and report the importance of venture backing and intellectual property in lender decisions in their US lender survey [6]. These studies are helpful for framing a due-diligence conversation. They do not establish terms available to Kenyan borrowers or the repayment performance of African solar portfolios.
A funding article should therefore use peer-reviewed research to explain possible mechanisms, then use contracts and cash records to analyze named transactions. The local deal tracker describes transaction amounts and instruments; it does not substitute for a borrower’s loan agreement, bank statement or audited financials.
ARTICLE SECTION: A practical capital-fit scorecard
A founder and investor can review each financing offer with six tests:
| Test | Green evidence | Question that should stop the decision |
|---|---|---|
| Use | Specific asset, milestone or receivable pool | Is the stated use actually allowed under the agreement? |
| Repayment or return | Named cash source or milestone | Does repayment depend on a new round the borrower cannot control? |
| Currency | Revenue and obligation aligned or hedged | Who absorbs a material FX move? |
| Tenor | Due dates match customer collections or asset life | Does the first repayment arrive before cash generation? |
| Downside | Cash forecast includes slower collection, lower sales and cost overrun | Who funds the shortfall and by what date? |
| Control and claims | Ownership, security, preference and governance understood | Can the contract remove operating flexibility needed to recover? |
If two or more answers are unknown, the next action is not necessarily to reject the offer. It is to request the agreement, model, legal-entity map and repayment schedule before accepting it. If the provider will not disclose a material term, record that limitation rather than assuming the most favorable version.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STARTUP-FUNDING-02: What kind of money was raised?
ARTICLE: https://sokointel.com/read/startup-funding-02/
RESEARCH SNAPSHOT: 10 September 2026
SOURCE MATERIAL
[1] Africa: The Big Deal, “2025 in review: Mapping the money,” January 13, 2026, https://thebigdeal.substack.com/p/2025ir2.
[2] AVCA / British International Investment and Stanbic Bank Kenya, “BII, FMO, Norfund et al. jointly invest in Sun King,” transaction announcement, https://www.avca.africa/news-insights/member-news/bii-fmo-norfund-et-al-jointly-invest-in-sun-king/.
[3] A. N. Berger and G. F. Udell, “The Economics of Small Business Finance: The Roles of Private Equity and Debt Markets in the Financial Growth Cycle,” Journal of Banking &amp; Finance, vol. 22, nos. 6–8, pp. 613–673, 1998, https://doi.org/10.1016/S0378-4266(98)00038-7.
[4] A. M. Robb and D. T. Robinson, “The Capital Structure Decisions of New Firms,” Review of Financial Studies, vol. 27, no. 1, pp. 153–179, 2014, https://doi.org/10.1093/rfs/hhs072.
[5] R. A. Cole and T. Sokolyk, “Debt Financing, Survival, and Growth of Start-up Firms,” Journal of Corporate Finance, vol. 50, pp. 609–625, 2018, https://doi.org/10.1016/j.jcorpfin.2017.10.013.
[6] G. de Rassenfosse and T. Fischer, “Venture Debt Financing: Determinants of the Lending Decision,” Strategic Entrepreneurship Journal, vol. 10, no. 3, 2016, https://doi.org/10.1002/sej.1220.
[7] P. Gompers and J. Lerner, “The Venture Capital Revolution,” Journal of Economic Perspectives, vol. 15, no. 2, pp. 145–168, 2001, https://doi.org/10.1257/jep.15.2.145.
All linked source URLs:
Africa: The Big Deal, “2025 in review: Mapping the money,” January 13, 2026: https://thebigdeal.substack.com/p/2025ir2
AVCA / British International Investment and Stanbic Bank Kenya, “BII, FMO, Norfund et al. jointly invest in Sun King,” transaction announcement: https://www.avca.africa/news-insights/member-news/bii-fmo-norfund-et-al-jointly-invest-in-sun-king/
A. N. Berger and G. F. Udell, “The Economics of Small Business Finance: The Roles of Private Equity and Debt Markets in the Financial Growth Cycle,” J: https://doi.org/10.1016/S0378-4266(98)00038-7
A. M. Robb and D. T. Robinson, “The Capital Structure Decisions of New Firms,” Review of Financial Studies, vol. 27, no. 1, pp. 153–179, 2014: https://doi.org/10.1093/rfs/hhs072
R. A. Cole and T. Sokolyk, “Debt Financing, Survival, and Growth of Start-up Firms,” Journal of Corporate Finance, vol. 50, pp. 609–625, 2018: https://doi.org/10.1016/j.jcorpfin.2017.10.013
G. de Rassenfosse and T. Fischer, “Venture Debt Financing: Determinants of the Lending Decision,” Strategic Entrepreneurship Journal, vol. 10, no. 3, : https://doi.org/10.1002/sej.1220
P. Gompers and J. Lerner, “The Venture Capital Revolution,” Journal of Economic Perspectives, vol. 15, no. 2, pp. 145–168, 2001: https://doi.org/10.1257/jep.15.2.145
Additional content sources:
[]
Workbook provenance:
C:\Users\Nevo\Downloads\financial material\Owner's Earning\What Startup Funding Figures Actually Measure\Startup Funding Market and Outcomes Workbook.xlsx
'Debt Service'!C5:M16
cd8f7689e54d34ad0ad95991f1815c26e948341f3ca001a7ec7d1ba34ae57812
C:\Users\Nevo\Downloads\financial material\Owner's Earning\What Startup Funding Figures Actually Measure\Startup Funding Market and Outcomes Workbook.xlsx
'Equity Dilution'!C5:K7
cd8f7689e54d34ad0ad95991f1815c26e948341f3ca001a7ec7d1ba34ae57812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startup-funding-02/" TargetMode="External"/><Relationship Id="rId2" Type="http://schemas.openxmlformats.org/officeDocument/2006/relationships/hyperlink" Target="https://thebigdeal.substack.com/p/2025ir2" TargetMode="External"/><Relationship Id="rId3" Type="http://schemas.openxmlformats.org/officeDocument/2006/relationships/hyperlink" Target="https://www.avca.africa/news-insights/member-news/bii-fmo-norfund-et-al-jointly-invest-in-sun-king/" TargetMode="External"/><Relationship Id="rId4" Type="http://schemas.openxmlformats.org/officeDocument/2006/relationships/hyperlink" Target="https://doi.org/10.1016/S0378-4266(98)00038-7" TargetMode="External"/><Relationship Id="rId5" Type="http://schemas.openxmlformats.org/officeDocument/2006/relationships/hyperlink" Target="https://doi.org/10.1093/rfs/hhs072"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What kind of money was raised?</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business compares a debt facility and an equity offer by following who receives cash, what claim is created and what the downside requires.</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STARTUP-FUNDING-02   •   Fictional financing scenarios • KES million unless stated • no lender offer implied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What do the headline total, funding breadth and concentration each measure?</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How do equity, debt and asset-linked funding change what a business must earn or repay?</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3. What happened after funding, and what evidence is needed to establish investor recoveries or losses?</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CFADS — cash flow available for debt service; KES/month</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DSCR — CFADS ÷ scheduled principal and interest</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Equal principal — the same principal amount repaid each month</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Pre-money — equity value before the new investment</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Post-money — pre-money value plus new primary investment</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instrument determines the obligation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Equity creates an ownership claim; debt creates dated repayment obligations.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Leases, receivables finance and supplier credit fund different assets or cash gaps.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SAFE or convertible adds conversion terms; a grant can add restrictions and milestones.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scenarios • KES million unless stated • no lender offer implied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Follow the cash recipient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primary investment can bring cash into the issuing company.</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secondary share sale may pay the existing shareholder instead.</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Announcement, signing, close, draw and receipt are distinct states; a facility is not automatically cash on the bank statement.</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scenarios • KES million unless stated • no lender offer implied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Ownership percentage is a separate calculation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New primary investment: KES 30m at KES 120m pre-money.</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Post-money equity value is KES 150m.</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Simple new-investor ownership is 30 ÷ 150 = 20%, before additional option-pool or instrument adjustments.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scenarios • KES million unless stated • no lender offer implied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Can month-one cash cover the debt schedule?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DSCR = monthly CFADS ÷ (principal repayment + interest)</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6.2m ÷ (100m/24 + 100m × 18%/12) ≈ 1.09</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Month-one principal is KES 4.167m and interest KES 1.5m: debt service is about KES 5.667m, leaving little operating cushion.</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scenarios • KES million unless stated • no lender offer implied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Debt Service: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STARTUP-FUNDING-02-01-p1.png">    </p:cNvPr>
          <p:cNvPicPr>
            <a:picLocks noChangeAspect="1"/>
          </p:cNvPicPr>
          <p:nvPr/>
        </p:nvPicPr>
        <p:blipFill>
          <a:blip r:embed="rId1"/>
          <a:stretch>
            <a:fillRect/>
          </a:stretch>
        </p:blipFill>
        <p:spPr>
          <a:xfrm>
            <a:off x="612648" y="2724501"/>
            <a:ext cx="10972800" cy="1939349"/>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Debt Service!C5:M16</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scenarios • KES million unless stated • no lender offer implied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Equity Dilution: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STARTUP-FUNDING-02-02-p1.png">    </p:cNvPr>
          <p:cNvPicPr>
            <a:picLocks noChangeAspect="1"/>
          </p:cNvPicPr>
          <p:nvPr/>
        </p:nvPicPr>
        <p:blipFill>
          <a:blip r:embed="rId1"/>
          <a:stretch>
            <a:fillRect/>
          </a:stretch>
        </p:blipFill>
        <p:spPr>
          <a:xfrm>
            <a:off x="612648" y="3362440"/>
            <a:ext cx="10972800" cy="66347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Equity Dilution!C5:K7</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financing scenarios • KES million unless stated • no lender offer implied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Cash and interest can deteriorate together</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CFADS KES 6.2m; 18% annual interest; DSCR about 1.09.</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CFADS falls 20% to KES 4.96m; annual interest rises to 23%.</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Month-one debt service becomes about KES 6.083m; DSCR falls to about 0.82, with a cash shortfall of about KES 1.123m.</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Funding quality depends on fit between the use of cash and the instrument’s obligations. The fictional debt facility barely covers its first payment in the base case and fails coverage in the specified downside; the equity offer instead changes ownership and control.</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Prepare a term-sheet record with issuer, recipient, amount, currency, draw conditions, fees, maturity, security, conversion and downside cash dates.</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sokointel.com/read/startup-funding-02/</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Africa: The Big Deal, “2025 in review: Mapping the money,” January 13, 2026 • 2025</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AVCA / British International Investment and Stanbic Bank Kenya, “BII, FMO, Norfund et al. jointly invest in Sun King,” transa</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A. N. Berger and G. F. Udell, “The Economics of Small Business Finance: The Roles of Private Equity and Debt Markets in the F • 1998</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A. M. Robb and D. T. Robinson, “The Capital Structure Decisions of New Firms,” Review of Financial Studies, vol. 27, no. 1, p • 2014</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kind of money was raised?</dc:title>
  <dc:subject>What do the headline total, funding breadth and concentration each measure? | How do equity, debt and asset-linked funding change what a business must earn or repay? | What happened after funding, and what evidence is needed to establish investor recoveries or losses?</dc:subject>
  <dc:creator>Sokointel</dc:creator>
  <cp:lastModifiedBy>Sokointel</cp:lastModifiedBy>
  <cp:revision>1</cp:revision>
  <dcterms:created xsi:type="dcterms:W3CDTF">2026-09-25T13:49:42Z</dcterms:created>
  <dcterms:modified xsi:type="dcterms:W3CDTF">2026-09-25T13:49:42Z</dcterms:modified>
</cp:coreProperties>
</file>