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OPENING NARRATION
A founder reads that Kenya raised almost USD 1bn, then sees a sharp half-year decline. The decision depends on what each total actually counts.
Research cutoff 24 September 2026 • provider statistics and unverified screenshot claims stay separate
Introduce the decision before defining the technical terms.
ARTICLE SECTION: 
ARTICLE SECTION: How to tell a record total from a broad financing market
A founder sees the headline: Kenya led African startup funding in 2025, then reported funding fell sharply in the first half of 2026. An investor asks whether that means capital has disappeared, shifted into debt, or become more selective. Those are different questions. Before deciding which story is true, put three denominators on the table: dollars raised, ventures that raised, and the deals and companies included in the source.
The short answer is that the 2025 total was large and unusually exposed to a handful of energy and asset-financing transactions, while the number of Kenyan ventures crossing a stated funding threshold fell. In H1 2026, the tracker reported lower Kenya funding again. That is a useful signal about disclosed transaction activity. It does not, by itself, show that the typical startup raised less, that all Kenyan ventures found capital harder to get, or that investors became more confident in Nigeria and Egypt. The reader has to separate what the data show from what they might mean.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Read the questions naturally and define terms in context.
Amount — source-defined funding total; USD million
Venture count — distinct recipients above a stated threshold
Deal count — financing events, not necessarily unique companies
C₅ — top-five amount ÷ same-universe total
Release date — publication date, distinct from the transaction cutoff
Research question mapping: What do the headline total, funding breadth and concentration each measure?; How do equity, debt and asset-linked funding change what a business must earn or repay?; What happened after funding, and what evidence is needed to establish investor recoveries or losses?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Part 1, source [2]. The exact USD 984m is attributed in contemporary secondary coverage and the screenshot; do not present it as the precise wording of ATBD’s primary public post.
Narration: explain each step and its consequence for the opening decision.
ARTICLE SECTION: The 2025 record says something about dollars and something else about breadth
The tracker reports that 75 Kenyan ventures raised at least $100,000 in 2025, a 23% year-on-year decline [2]. The national dollar amount increased 52% year on year, while the number of ventures over that threshold fell. Those measures can move in opposite directions because a small number of very large rounds can lift the total while fewer companies receive qualifying tickets.
That is not a contradiction. It is the difference between scale and reach. The total asks how many dollars appear in the covered transactions. The venture count asks how many distinct ventures cleared a minimum disclosed amount. Neither tells us the median cheque, the number of first-time raises, the stage mix, the proportion of companies that sought funding but failed, or what share of all Kenyan startups had enough financing to reach their next milestone.
| Measure | What the cited 2025 material says | What it can and cannot tell us |
|---|---|---|
| Kenya funding total | Almost $1bn in the tracker summary; $984m in the screenshot | Indicates a large source-defined total; exact source-version reconciliation remains open |
| Debt | $582m; about 60% of the tracker’s rounded total | Shows the reported instrument mix; does not mean all debt was venture debt or cash was drawn |
| Equity | $383m; described by the tracker as almost double year on year | Shows substantial reported equity; it contradicts a broad claim that equity did not grow in that comparison |
| Ventures at or above $100k | 75, down 23% year on year | Measures count above a threshold, not all companies, round count, median financing or application success |
| Large energy firms | d.light, Sun King, M-Kopa, BURN and PowerGen named as key drivers | Supports sector concentration as a serious research question; does not establish a Kenya-specific five-company share |
The phrase “equity did not scale” needs a defined comparison. Within ATBD’s 2025 series, the source says the dollar amount of equity almost doubled. If the claim means early-stage equity access remained narrow, the decline in the number of qualifying ventures is relevant but not enough: the count combines financing stages and is limited to deals crossing the source threshold. A more precise question is: did the number and value of early-stage equity rounds rise or fall after controlling for stage, company age and source coverage? The public summary does not answer that. As the provider comparison below shows, the size and mix of the same country-year also change when a second tracker applies its own coverage rules.
ARTICLE SECTION: Cross-checking Kenya 2025 against a second provider
The primary Partech Africa Tech Venture Capital report gives a useful independent check because it publishes both its headline and the rules behind it. For Kenya in 2025, Partech reports about $1.04bn in total equity and debt, including $539m equity and $498m debt. It says the total rose 72% year over year, with equity up 144% and debt up 30%. The equity and debt figures sum to $1.037bn, which is close to the rounded $1.04bn headline. Partech also reports 91 Kenya deals: 72 equity rounds and 19 debt transactions [9].
ATBD and Partech are not counting the same thing. ATBD’s database tracks funding deals of at least $100,000 across African startups and covers equity, debt and grants, excluding exits; Partech reports equity and debt rounds of at least $200,000 for African tech and digital startups. Partech defines “African” through the company’s primary market, using operations and/or revenue rather than requiring an African headquarters [9]. ATBD’s public database description confirms the $100,000 threshold, while its 2024 and 2025 summaries identify the included instruments and exclusions [2, 11]. These are both useful curated datasets, but neither is a census of every financing transaction in Kenya.
| 2025 Kenya measure | Africa: The Big Deal | Partech Africa Tech VC | How to read the difference |
|---|---:|---:|---|
| Total funding | $984m in contemporary reporting; ATBD itself says “almost $1bn” | About $1.04bn | Partech is about $56m, or 5.7%, higher using the rounded published amount; do not treat this as a like-for-like error |
| Equity | $383m; source says almost doubled year over year | $539m; source reports +144% | Partech’s reported equity value is $156m higher; the database rules and transaction set differ |
| Debt | $582m; source reports +33% | $498m; source reports +30% | ATBD’s reported debt value is $84m higher; facility eligibility and classification may differ, but the summaries do not identify the transactions behind the gap |
| Equity plus debt subtotal | $965m | $1.037bn | ATBD leaves $19m between its secondary-reported total and two published categories; Partech’s $3m gap is consistent with rounding its $1.037bn subtotal to $1.04bn |
| Count | 75 ventures above $100k, down 23% | 91 deals; 72 equity rounds and 19 debt transactions | A venture can have multiple deals; threshold, sector and count unit also differ |
| Published total growth | ATBD says +52% | Partech says +72% | Do not compare growth rates without freezing each provider’s 2024 base and publication vintage |
The total spread is 1,040 − 984 = $56m, which is 56 ÷ 984 = 5.69% of the ATBD exact value reported by the two news outlets. The instrument differences are larger and run in opposite directions: 539 − 383 = +$156m in equity for Partech, while 498 − 582 = −$84m in debt. A reader who only repeats the near-$1bn total would miss that the providers tell different stories about what financed that total. The figures do not show which individual deals explain the spread; that requires matching their deal-level records.
There is also an internal growth-rate check. ATBD’s official 2024 Round-Up reports $638m for Kenya [11], and the 2025 roundup says Kenya grew 52% [2]. Taking the exact $984m figure quoted in contemporary reports and the official 2024 $638m base gives (984 ÷ 638) − 1 = 54.23%, or about 54.2%. That is 2.23 percentage points above the tracker’s stated 52%. It could reflect rounding or different data vintages, but no inspected public source reso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Provider Comparison C5:L26 and Appendix 04. Headline spread is USD 56m, equity difference +USD 156m, debt difference −USD 84m. The category sums leave different residuals.
Narration: explain each step and its consequence for the opening decision.
ARTICLE SECTION: Country comparisons need common definitions, not flag colors
The H1 2026 comparison places Kenya at $126m total, below Nigeria and Egypt in total funding, and at $46m in equity [4]. The same tracker puts Spiro's $327m aggregate in an “Africa” category going forward rather than assigning it entirely to Kenya or Benin [4]. Other reports, including AVCA’s venture-capital report [8], are also useful context, but a headline comparison needs each provider’s scope and instrument rules beside the value. Partech’s primary 2025 report makes that comparison concrete: it gives Kenya a larger total than the ATBD figure, while also publishing a substantially different equity/debt split [9]. That disagreement is an invitation to reconcile scope, not choose whichever number confirms a preferred story.
Before comparing two providers, place their rules side by side: transaction threshold; equity-only or equity-plus-debt; grant treatment; startup eligibility; headquarters, legal recipient or operating geography; disclosed versus confidential deals; and reporting cutoff. If one source includes large asset-finance facilities and another focuses on venture-equity rounds, the difference is partly a definition. It still matters for founders, but it does not indicate that one source is necessarily wrong.
A useful country view can show two separate columns: source-defined total and disclosed equity total. A third column should show company-count coverage. If the sources cannot be made like-for-like, publish them as separate measures and explain the reason. Do not average them or add them together. A national “rank” that changes when a pan-African company moves from a country label to an Africa-wide label is a classification outcome as well as a capital-market observation.
ARTICLE SECTION: Start with what “funding raised” counts
Startup databases do not observe every Kenyan company borrowing, receiving a grant, raising a convertible note or selling equity. The Africa: The Big Deal database describes a monthly updated record of disclosed or privately shared funding deals at or above a threshold, currently $100,000, with more than 30 data fields per deal [2]. That is useful coverage. It is not a census of all business finance. Small grants, undisclosed angel cheques, local bank overdrafts, founder loans, supplier credit and some confidential facilities may be absent or treated differently.
A source’s “amount raised” is therefore a measured total under that source’s rules. It depends on which entities qualify as startups; whether debt, grants and asset finance are included; whether exits are excluded; how multi-country companies are tagged; whether a deal is counted when announced, signed, closed or drawn; what happens when the amount is confidential; and how revisions are handled. Those rules are not footnotes. They define the number.
The 2025 tracker post says Kenya “almost” reached $1 billion. It reports $582 million of debt and $383 million of equity, with debt representing 60% of the amount, and identifies large energy players as major drivers [2]. The screenshot supplied for this research says $984 million [1]. Contemporary reporting also attributes an exact $984 million 2025 total to Africa: The Big Deal [10, 12], although the tracker’s own public post rounds the country figure to “almost” $1 billion. The reported categories still do not reconcile to that exact value: $582m + $383m = $965m. Subtracting the subtotal from $984m leaves $19m. Because the public country summary does not provide a same-version deal ledger with every instrument, we cannot say whether that difference reflects grants, other instruments, rounding, a later update or another coverage difference. The practical treatment is to keep the reported total and categories visible, identify where the exact total came from, and leave the residual unassigned.
That is a small arithmetic discrepancy with a useful lesson. A precise-looking total can be less informative than a clearly defined approximate one. Here, the exact $984m number is corroborated by contemporary coverage of the tracker, but it is not printed as an exact figure in the public ATBD country summary. The reader should keep that source lineage visible and should not combine the number, rounded category amounts and a different report’s deal list into one exact table without confirming that they share a publication date and dataset version.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Reporting Vectors C5:F30. Neither public report establishes the transaction cutoff or event-date assignment rule. Mark those coordinates as unknown instead of inferring them.
Narration: explain each step and its consequence for the opening decision.
ARTICLE SECTION: A reporting date is a vector, not a timestamp
The nine-day interval between ATBD’s 13 January post and Partech’s 22 January release is relevant, but it does not tell us that Partech observed nine more days of deals. A report publication date is when a document became public. It is not necessarily the last transaction date in the dataset, the date the provider first recorded a deal, or the date the provider froze its export. Similarly, “raised in 2025” is a period label, not a documented rule for whether a deal belongs to 2025 because it was announced, signed, closed, drawn or first disclosed during that year.
The inspected timeline is:
| Date | What was published | What the date establishes |
|---|---|---|
| 13 Jan 2026 | ATBD’s primary year-end post | It reported Kenya “almost” $1bn, $582m debt and $383m equity, but did not give the exact $984m value or a dated export cutoff [2]. |
| 15 Jan 2026 | The Star reported the $984m ATBD-attributed total | An exact value appeared in inspected press coverage two days after the ATBD post; this is not proof that it was the first publication [14]. |
| 19 Jan 2026 | Business Daily reported $984m and calculated +54.2% from $638m; The EastAfrican also reported $984m [10, 12] | The two growth statements can be compared, but they do not identify a revised dataset or explain the $19m category difference. |
| 22 Jan 2026 | Partech released its 2025 report | It reported about $1.04bn for Kenya, nine days after ATBD’s post. It says the report uses fully disclosed, partially disclosed and confidential data [9]. |
| 12 May 2026 | ATBD later described reporting delays and public plus confidential investor disclosures | Backfilling is possible in its process, but this later note does not say that the Kenya 2025 total changed after January or by how much [13]. |
The comparison therefore needs two layers of dates. At the report level, record the funding period, release date, source, publication precision and any disclosed cutoff or version. At the transaction level, record announcement, agreement/signing, close, facility commitment, drawdown, cash receipt, provider first-seen date, the provider's date-assignment rule, and the snapshot/version containing that transaction. Keep these fields separate: a solar lender may announce a facility in December, sign it in January, disburse tranches over later months and disclose it publicly still later. The amount might mean commitment, facility size or cash drawn; each observation answers a different question.
| Reporting dimension | ATBD 2025 summary | Partech 2025 report | What remains unresolved |
|---|---|---|---|
| Activity period | Calendar 2025 | Calendar 2025 | The summaries do not state an individual deal's qualifying event date. |
| Public report date | 13 Jan 2026 | 22 Jan 2026 | Nine days between publication, not an established nine-day data collection gap. |
| Exact Kenya total | Primary post says almost $1bn; $984m appears in contemporary coverage on 15–19 Jan | About $1.04bn in the 22 Jan release | ATBD exact value is secondary-reported; Partech value is rounded. |
| Transaction cutoff / snapshot | Not stated in inspected summary | Not stated in inspected report | No dated extract or version history permits a vintage bridge. |
| Year-assignment rule | Not stated in inspected summary | Not stated in inspected report | Announcement, close, draw and first-seen dates cannot be presumed interchangeable. |
| Deal record date | Not published for the aggregate | Not published for the aggregate | We cannot i
ARTICLE SECTION: Workbook map
The Startup Funding Market and Outcomes workbook is built. Market Metrics compares H1 2025 US$227m with H1 2026 US$126m and calculates a 44.5% decline. Provider Comparison lays out ATBD’s secondary-reported US$984m and Partech’s approximate US$1.04bn beside their separate equity, debt, threshold and count measures; it calculates the US$56m provider spread, the 5.7% relative difference, ATBD’s 54.2% recomputed annual change versus its stated 52%, and both providers’ category shares. Reporting Vectors records the activity period, report dates, observed-publication timeline, precision, source scope, the subscriber route to ATBD's underlying database and the missing historical snapshot, transaction cutoff and assignment-date rule. Its nine-day calculation is a publication lag only. Deal Ledger appends separate fields for provider, report date, first-seen date, export as-of date, assigned period, assignment basis and release vintage; those fields remain blank until source records and a dated vintage are obtained. Funding Mix keeps the ATBD US$582m debt and US$383m equity subtotal (US$965m) beside the reported total, leaving the US$19m unassigned. Screenshot List reproduces the 13 KES claims, their KES93.31bn sum and the first five's 81.1% share of that selected list only. Appendix 01 and Appendix 04 reproduce the calculations and source-definition audit.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Funding Mix C5:F12, Market Metrics C5:G10 and Appendix 04. Partech’s rounded residual is approximately USD 3m: 1,040 − 539 − 498. Do not combine different dataset versions as an exact ledger.
Equation: Unassigned remainder = reported total − debt − equity
Substitution: ATBD-attributed exact total: USD 984m − 582m − 383m = USD 19m
Interpretation: The USD 19m difference is unassigned. The source summary does not establish that it is grants, rounding or another instrument.
ARTICLE SECTION: Start with what “funding raised” counts
Startup databases do not observe every Kenyan company borrowing, receiving a grant, raising a convertible note or selling equity. The Africa: The Big Deal database describes a monthly updated record of disclosed or privately shared funding deals at or above a threshold, currently $100,000, with more than 30 data fields per deal [2]. That is useful coverage. It is not a census of all business finance. Small grants, undisclosed angel cheques, local bank overdrafts, founder loans, supplier credit and some confidential facilities may be absent or treated differently.
A source’s “amount raised” is therefore a measured total under that source’s rules. It depends on which entities qualify as startups; whether debt, grants and asset finance are included; whether exits are excluded; how multi-country companies are tagged; whether a deal is counted when announced, signed, closed or drawn; what happens when the amount is confidential; and how revisions are handled. Those rules are not footnotes. They define the number.
The 2025 tracker post says Kenya “almost” reached $1 billion. It reports $582 million of debt and $383 million of equity, with debt representing 60% of the amount, and identifies large energy players as major drivers [2]. The screenshot supplied for this research says $984 million [1]. Contemporary reporting also attributes an exact $984 million 2025 total to Africa: The Big Deal [10, 12], although the tracker’s own public post rounds the country figure to “almost” $1 billion. The reported categories still do not reconcile to that exact value: $582m + $383m = $965m. Subtracting the subtotal from $984m leaves $19m. Because the public country summary does not provide a same-version deal ledger with every instrument, we cannot say whether that difference reflects grants, other instruments, rounding, a later update or another coverage difference. The practical treatment is to keep the reported total and categories visible, identify where the exact total came from, and leave the residual unassigned.
That is a small arithmetic discrepancy with a useful lesson. A precise-looking total can be less informative than a clearly defined approximate one. Here, the exact $984m number is corroborated by contemporary coverage of the tracker, but it is not printed as an exact figure in the public ATBD country summary. The reader should keep that source lineage visible and should not combine the number, rounded category amounts and a different report’s deal list into one exact table without confirming that they share a publication date and dataset version.
ARTICLE SECTION: A reporting date is a vector, not a timestamp
The nine-day interval between ATBD’s 13 January post and Partech’s 22 January release is relevant, but it does not tell us that Partech observed nine more days of deals. A report publication date is when a document became public. It is not necessarily the last transaction date in the dataset, the date the provider first recorded a deal, or the date the provider froze its export. Similarly, “raised in 2025” is a period label, not a documented rule for whether a deal belongs to 2025 because it was announced, signed, closed, drawn or first disclosed during that year.
The inspected timeline is:
| Date | What was published | What the date establishes |
|---|---|---|
| 13 Jan 2026 | ATBD’s primary year-end post | It reported Kenya “almost” $1bn, $582m debt and $383m equity, but did not give the exact $984m value or a dated export cutoff [2]. |
| 15 Jan 2026 | The Star reported the $984m ATBD-attributed total | An exact value appeared in inspected press coverage two days after the ATBD post; this is not proof that it was the first publication [14]. |
| 19 Jan 2026 | Business Daily reported $984m and calculated +54.2% from $638m; The EastAfrican also reported $984m [10, 12] | The two growth statements can be compared, but they do not identify a revised dataset or explain the $19m category difference. |
| 22 Jan 2026 | Partech released its 2025 report | It reported about $1.04bn for Kenya, nine days after ATBD’s post. It says the report uses fully disclosed, partially disclosed and confidential data [9]. |
| 12 May 2026 | ATBD later described reporting delays and public plus confidential investor disclosures | Backfilling is possible in its process, but this later note does not say that the Kenya 2025 total changed after January or by how much [13]. |
The comparison therefore needs two layers of dates. At the report level, record the funding period, release date, source, publication precision and any disclosed cutoff or version. At the transaction level, record announcement, agreement/signing, close, facility commitment, drawdown, cash receipt, provider first-seen date, the provider's date-assignment rule, and the snapshot/version containing that transaction. Keep these fields separate: a solar lender may announce a facility in December, sign it in January, disburse tranches over later months and disclose it publicly still later. The amount might mean commitment, facility size or cash drawn; each observation answers a different question.
| Reporting dimension | ATBD 2025 summary | Partech 2025 report | What remains unresolved |
|---|---|---|---|
| Activity period | Calendar 2025 | Calendar 2025 | The summaries do not state an individual deal's qualifying event date. |
| Public report date | 13 Jan 2026 | 22 Jan 2026 | Nine days between publication, not an established nine-day data collection gap. |
| Exact Kenya total | Primary post says almost $1bn; $984m appears in contemporary coverage on 15–19 Jan | About $1.04bn in the 22 Jan release | ATBD exact value is secondary-reported; Partech value is rounded. |
| Transaction cutoff / snapshot | Not stated in inspected summary | Not stated in inspected report | No dated extract or version history permits a vintage bridge. |
| Year-assignment rule | Not stated in inspected summary | Not stated in inspected report | Announcement, close, draw and first-seen dates cannot be presumed interchangeable. |
| Deal record date | Not published for the aggregate | Not published for the aggregate | We cannot i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ACTUAL WORKBOOK CAPTURE
Workbook: C:\Users\Nevo\Downloads\financial material\Owner's Earning\What Startup Funding Figures Actually Measure\Startup Funding Market and Outcomes Workbook.xlsx
Sheet/range: 'Provider Comparison'!C5:H13
SHA-256: cd8f7689e54d34ad0ad95991f1815c26e948341f3ca001a7ec7d1ba34ae57812
Capture method: Microsoft Excel read-only PDF range export. Print headings retained. Source not saved.
Asset: Evidence/Workbooks/STARTUP-FUNDING-01-01-p1.png
SCREEN RECORDING WALKTHROUGH
Read the row and column headings. Identify inputs, follow the dependent row and explain the units. Do not alter the source workbook while recording; use a copy for a new scenario.
Extracted evidence text:
5
6
7
8
9
10
11
12
13
C D E F G H
Provider Kenya total (USD m) Total YoY as reported Equity (USD m) Equity YoY as reported Debt (USD m)
Africa: The Big Deal 984 +52% stated 383 Almost doubled 582
Partech Africa Tech VC 1,040 +72% stated 539 +144% 498
Calculation Result Unit Interpretation / limit
Partech less ATBD reported 2025 total 56 USD m Uses the approximate Partech US$1.04bn and the exact US$984m cited in contemporary coverage.
Provider total difference / ATBD total 5.7% % Relative spread; the coverage universes differ and should not be averaged.
ATBD 2024 Kenya total 638 USD m ATBD 2024 Round-Up; same provider series, published historical value.
Relevant article context:
ARTICLE SECTION: Country comparisons need common definitions, not flag colors
The H1 2026 comparison places Kenya at $126m total, below Nigeria and Egypt in total funding, and at $46m in equity [4]. The same tracker puts Spiro's $327m aggregate in an “Africa” category going forward rather than assigning it entirely to Kenya or Benin [4]. Other reports, including AVCA’s venture-capital report [8], are also useful context, but a headline comparison needs each provider’s scope and instrument rules beside the value. Partech’s primary 2025 report makes that comparison concrete: it gives Kenya a larger total than the ATBD figure, while also publishing a substantially different equity/debt split [9]. That disagreement is an invitation to reconcile scope, not choose whichever number confirms a preferred story.
Before comparing two providers, place their rules side by side: transaction threshold; equity-only or equity-plus-debt; grant treatment; startup eligibility; headquarters, legal recipient or operating geography; disclosed versus confidential deals; and reporting cutoff. If one source includes large asset-finance facilities and another focuses on venture-equity rounds, the difference is partly a definition. It still matters for founders, but it does not indicate that one source is necessarily wrong.
A useful country view can show two separate columns: source-defined total and disclosed equity total. A third column should show company-count coverage. If the sources cannot be made like-for-like, publish them as separate measures and explain the reason. Do not average them or add them together. A national “rank” that changes when a pan-African company moves from a country label to an Africa-wide label is a classification outcome as well as a capital-market observation.
ARTICLE SECTION: Cross-checking Kenya 2025 against a second provider
The primary Partech Africa Tech Venture Capital report gives a useful independent check because it publishes both its headline and the rules behind it. For Kenya in 2025, Partech reports about $1.04bn in total equity and debt, including $539m equity and $498m debt. It says the total rose 72% year over year, with equity up 144% and debt up 30%. The equity and debt figures sum to $1.037bn, which is close to the rounded $1.04bn headline. Partech also reports 91 Kenya deals: 72 equity rounds and 19 debt transactions [9].
ATBD and Partech are not counting the same thing. ATBD’s database tracks funding deals of at least $100,000 across African startups and covers equity, debt and grants, excluding exits; Partech reports equity and debt rounds of at least $200,000 for African tech and digital startups. Partech defines “African” through the company’s primary market, using operations and/or revenue rather than requiring an African headquarters [9]. ATBD’s public database description confirms the $100,000 threshold, while its 2024 and 2025 summaries identify the included instruments and exclusions [2, 11]. These are both useful curated datasets, but neither is a census of every financing transaction in Kenya.
| 2025 Kenya measure | Africa: The Big Deal | Partech Africa Tech VC | How to read the difference |
|---|---:|---:|---|
| Total funding | $984m in contemporary reporting; ATBD itself says “almost $1bn” | About $1.04bn | Partech is about $56m, or 5.7%, higher using the rounded published amount; do not treat this as a like-for-like error |
| Equity | $383m; source says almost doubled year over year | $539m; source reports +144% | Partech’s reported equity value is $156m higher; the database rules and transaction set differ |
| Debt | $582m; source reports +33% | $498m; source reports +30% | ATBD’s reported debt value is $84m higher; facility eligibility and classification may differ, but the summaries do not identify the transactions behind the gap |
| Equity plus debt subtotal | $965m | $1.037bn | ATBD leaves $19m between its secondary-reported total and two published categories; Partech’s $3m gap is consistent with rounding its $1.037bn subtotal to $1.04bn |
| Count | 75 ventures above $100k, down 23% | 91 deals; 72 equity rounds and 19 debt transactions | A venture can have multiple deals; threshold, sector and count unit also differ |
| Published total growth | ATBD says +52% | Partech says +72% | Do not compare growth rates without freezing each provider’s 2024 base and publication vintage |
The total spread is 1,040 − 984 = $56m, which is 56 ÷ 984 = 5.69% of the ATBD exact value reported by the two news outlets. The instrument differences are larger and run in opposite directions: 539 − 383 = +$156m in equity for Partech, while 498 − 582 = −$84m in debt. A reader who only repeats the near-$1bn total would miss that the providers tell different stories about what financed that total. The figures do not show which individual deals explain the spread; that requires matching their deal-level records.
There is also an internal growth-rate check. ATBD’s official 2024 Round-Up reports $638m for Kenya [11], and the 2025 roundup says Kenya grew 52% [2]. Taking the exact $984m figure quoted in contemporary reports and the official 2024 $638m base gives (984 ÷ 638) − 1 = 54.23%, or about 54.2%. That is 2.23 percentage points above the tracker’s stated 52%. It could reflect rounding or different data vintages, but no inspected public source reso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ACTUAL WORKBOOK CAPTURE
Workbook: C:\Users\Nevo\Downloads\financial material\Owner's Earning\What Startup Funding Figures Actually Measure\Startup Funding Market and Outcomes Workbook.xlsx
Sheet/range: 'Market Metrics'!C11:G16
SHA-256: cd8f7689e54d34ad0ad95991f1815c26e948341f3ca001a7ec7d1ba34ae57812
Capture method: Microsoft Excel read-only PDF range export. Print headings retained. Source not saved.
Asset: Evidence/Workbooks/STARTUP-FUNDING-01-02-p1.png
SCREEN RECORDING WALKTHROUGH
Read the row and column headings. Identify inputs, follow the dependent row and explain the units. Do not alter the source workbook while recording; use a copy for a new scenario.
Extracted evidence text:
11
12
13
14
15
16
C D E F G
Kenya H1 2025 total 227 USD m US$227m Tracker-reported
Kenya H1 2026 total 126 USD m US$126m Tracker-reported
Kenya H1 2026 equity 46 USD m US$46m Tracker-reported
Nigeria H1 2026 equity 214 USD m US$214m Tracker-reported
Egypt H1 2026 equity 183 USD m US$183m Tracker-reported
H1 2026 change vs H1 2025 (44.5%) % Calculated Uses published rounded totals; not a causal explanation
Relevant article context:
ARTICLE SECTION: How to tell a record total from a broad financing market
A founder sees the headline: Kenya led African startup funding in 2025, then reported funding fell sharply in the first half of 2026. An investor asks whether that means capital has disappeared, shifted into debt, or become more selective. Those are different questions. Before deciding which story is true, put three denominators on the table: dollars raised, ventures that raised, and the deals and companies included in the source.
The short answer is that the 2025 total was large and unusually exposed to a handful of energy and asset-financing transactions, while the number of Kenyan ventures crossing a stated funding threshold fell. In H1 2026, the tracker reported lower Kenya funding again. That is a useful signal about disclosed transaction activity. It does not, by itself, show that the typical startup raised less, that all Kenyan ventures found capital harder to get, or that investors became more confident in Nigeria and Egypt. The reader has to separate what the data show from what they might mean.
ARTICLE SECTION: Workbook map
The Startup Funding Market and Outcomes workbook is built. Market Metrics compares H1 2025 US$227m with H1 2026 US$126m and calculates a 44.5% decline. Provider Comparison lays out ATBD’s secondary-reported US$984m and Partech’s approximate US$1.04bn beside their separate equity, debt, threshold and count measures; it calculates the US$56m provider spread, the 5.7% relative difference, ATBD’s 54.2% recomputed annual change versus its stated 52%, and both providers’ category shares. Reporting Vectors records the activity period, report dates, observed-publication timeline, precision, source scope, the subscriber route to ATBD's underlying database and the missing historical snapshot, transaction cutoff and assignment-date rule. Its nine-day calculation is a publication lag only. Deal Ledger appends separate fields for provider, report date, first-seen date, export as-of date, assigned period, assignment basis and release vintage; those fields remain blank until source records and a dated vintage are obtained. Funding Mix keeps the ATBD US$582m debt and US$383m equity subtotal (US$965m) beside the reported total, leaving the US$19m unassigned. Screenshot List reproduces the 13 KES claims, their KES93.31bn sum and the first five's 81.1% share of that selected list only. Appendix 01 and Appendix 04 reproduce the calculations and source-definition audit.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Market Metrics C11:G16. Discuss Spiro’s geographic tagging as a coverage issue; do not assign pan-African cash to Kenya without the provider rule. The selected thirteen-company screenshot list totals KES 93.31bn; its KES 75.7bn top five yield 81.1%, a different denominator from national funding.
Base: ATBD H1 2025 published total: USD 227m.
Changed: ATBD H1 2026 published total: USD 126m.
Consequence: (126 ÷ 227) − 1 = −44.5%. This is a change in the tracker’s covered total, not a universal measure of confidence or access.
ARTICLE SECTION: H1 2026: the fall is real in the source series, but not a universal confidence score
The Big Deal reported $227m of Kenyan startup funding in H1 2025 [3] and $126m in H1 2026 [4]. On those rounded values, the change is (126 ÷ 227) − 1 = −44.5%. This is a valid matched half-year comparison within that tracker’s method. It is not appropriate to compare H1 2026 with all of calendar 2025 and call that the year-on-year fall.
The same H1 2026 summary reports Kenya’s equity funding at $46m, compared with $214m in Nigeria and $183m in Egypt [4]. That can matter to a founder looking for equity capital, but it is not necessarily a countrywide ranking of investor confidence. The same post explains that Spiro, a Benin-born company with a Nairobi headquarters and Dubai holding company, was tagged as “Africa” going forward because of its pan-African operations, even though much of its activity is in Kenya [4]. In H1 2026 Spiro alone announced $270m of equity and $57m of debt, and the tracker says its Kenya operations put the national decline in perspective. Whether and where that transaction belongs depends on the country-tagging rule.
This is not a criticism of the tracker. It is a reminder that cross-border businesses do not fit neatly into one country box. A transaction may be raised by a holding company in one jurisdiction, contracted through an operating subsidiary in another, deployed across several markets and reported by headquarters in a third. For a country capital-market question, the researcher should show at least two views where possible: headquarters or legal recipient; and operations or use of proceeds. If the database publishes only one tag, state that rule and do not present it as domestic cash invested in Kenyan companies.
The H1 2025 source provides another useful comparison. It reports $227m for Kenya and a $100k+ venture count, with the Big Four’s share of African funding at 78% and 67% of qualifying deal counts outside the Big Four [3]. The H1 2026 summary says the Big Four accounted for 58% of total funding and 58% of $100k+ deals, but also notes the Spiro attribution issue [4]. Those continental shares should not be used as Kenya-only measures; they show why the geographical scope must accompany every percentage.
ARTICLE SECTION: The 2025 record says something about dollars and something else about breadth
The tracker reports that 75 Kenyan ventures raised at least $100,000 in 2025, a 23% year-on-year decline [2]. The national dollar amount increased 52% year on year, while the number of ventures over that threshold fell. Those measures can move in opposite directions because a small number of very large rounds can lift the total while fewer companies receive qualifying tickets.
That is not a contradiction. It is the difference between scale and reach. The total asks how many dollars appear in the covered transactions. The venture count asks how many distinct ventures cleared a minimum disclosed amount. Neither tells us the median cheque, the number of first-time raises, the stage mix, the proportion of companies that sought funding but failed, or what share of all Kenyan startups had enough financing to reach their next milestone.
| Measure | What the cited 2025 material says | What it can and cannot tell us |
|---|---|---|
| Kenya funding total | Almost $1bn in the tracker summary; $984m in the screenshot | Indicates a large source-defined total; exact source-version reconciliation remains open |
| Debt | $582m; about 60% of the tracker’s rounded total | Shows the reported instrument mix; does not mean all debt was venture debt or cash was drawn |
| Equity | $383m; described by the tracker as almost double year on year | Shows substantial reported equity; it contradicts a broad claim that equity did not grow in that comparison |
| Ventures at or above $100k | 75, down 23% year on year | Measures count above a threshold, not all companies, round count, median financing or application success |
| Large energy firms | d.light, Sun King, M-Kopa, BURN and PowerGen named as key drivers | Supports sector concentration as a serious research question; does not establish a Kenya-specific five-company share |
The phrase “equity did not scale” needs a defined comparison. Within ATBD’s 2025 series, the source says the dollar amount of equity almost doubled. If the claim means early-stage equity access remained narrow, the decline in the number of qualifying ventures is relevant but not enough: the count combines financing stages and is limited to deals crossing the source threshold. A more precise question is: did the number and value of early-stage equity rounds rise or fall after controlling for stage, company age and source coverage? The public summary does not answer that. As the provider comparison below shows, the size and mix of the same country-year also change when a second tracker applies its own coverage rules.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Answer: A funding headline needs its amount, recipient count and coverage rules. Kenya’s large 2025 total and narrower qualifying-venture count answer different questions; unreconciled residuals and unknown cutoff rules must remain visible.
Viewer task: Save a one-page provider comparison with matched periods, thresholds, instruments, count units and unresolved coordinates before repeating a headline.
Return to each opening research question and identify what remains conditional or unknown.
ARTICLE SECTION: The peer-reviewed research warns against a simple boom/bust story
Research on venture investment cycles helps explain why “more funding” and “healthier companies” are not interchangeable. Nanda and Rhodes-Kropf study venture-backed firms receiving early-stage financing in the United States from 1985 to 2004. They find startups first funded in more active investment periods were more likely to go bankrupt, but among successful firms they were also associated with higher IPO values and more patenting [6]. Their interpretation is that hot markets can finance riskier and more novel experimentation. The study is not evidence about Kenya; it demonstrates that a funding boom can change which ventures investors choose, not simply how much money existing firms receive.
Ewens and Farre-Mensa review changes in entrepreneurial finance and the way private capital has altered company financing paths, governance and time to public markets [7]. Their synthesis is largely about the US ecosystem. It reinforces the need to look at who provides capital, what rights they receive, and what alternative financing channels exist. A funding total cannot answer those institutional questions.
For Kenya, both processes can happen together. Investors may demand stronger unit economics after losses in some sectors while also funding new asset-backed businesses through debt. Early-stage firms may face less equity even when overall dollars rise. An energy asset transaction can create a large national total while a software startup with a working product cannot raise its next round. These observations are compatible; the data need to test each rather than force a single national explanation.
ARTICLE SECTION: A useful reading of the screenshot
The screenshot's strongest point is that aggregate funding can be concentrated and a single total can hide uneven access. Its arithmetic claim about five companies and 82% is not established by the public material reviewed here. Its concern about fewer deals deserves testing, while its statement that equity “did not scale” conflicts with the tracker’s reported near-doubling of Kenya equity in calendar 2025. Its suggestion that fewer deals mean stronger companies is a hypothesis, not a conclusion. The screenshot's question is worth keeping; its causal explanations need better evidence.
The reader can now make a practical judgment: H1 2026 funding in the cited tracker was about 44.5% below the comparable H1 2025 total. The 2025 Kenya headline was concentrated in large transactions and debt formed a majority of the published mix. The count of qualifying ventures fell year on year. Those facts point to unevenness and concentration. They do not yet tell us whether investor selection improved, whether viable firms were shut out, or what funding did to operating survival. Part 2 turns to the next practical question: what exactly does the money require in return?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EPISODE STARTUP-FUNDING-01: Kenya’s startup funding headline needs three denominators
ARTICLE: https://sokointel.com/read/startup-funding-01/
RESEARCH SNAPSHOT: 10 September 2026
SOURCE MATERIAL
[1] Nasra Mohamed and Alex Owiti, user-supplied LinkedIn screenshots captured September 22, 2026; transcription, claims and SHA-256 fingerprints in ../01 - Screenshot Source Capture.md. The visible posts have relative timestamps and no stable URL.
[2] Africa: The Big Deal, “2025 in review: Mapping the money,” January 13, 2026, https://thebigdeal.substack.com/p/2025ir2; and “2025 in review: Fintech in gold; energy boosted by debt,” February 16, 2026, https://thebigdeal.substack.com/p/2025ct.
[3] Africa: The Big Deal, Start-up funding in Africa: H1 2025, October 2025, https://africathebigdeal.com/wp-content/uploads/2025/10/ATBD-H1-2025-Round-Up-1.pdf.
[4] Africa: The Big Deal, “H1 2026: Mapping the money,” July 20, 2026, https://thebigdeal.substack.com/p/h12026c.
[5] Africa: The Big Deal, “2025 in review: Fintech in gold; energy boosted by debt,” February 16, 2026, https://thebigdeal.substack.com/p/2025ct. The 82% claim is Africa-wide energy-sector concentration, not a Kenya-only share.
[6] R. Nanda and M. Rhodes-Kropf, “Investment Cycles and Startup Innovation,” Journal of Financial Economics, vol. 110, no. 2, pp. 403–418, 2013, https://doi.org/10.1016/j.jfineco.2013.07.001.
[7] M. Ewens and J. Farre-Mensa, “Private or Public Equity? The Evolving Entrepreneurial Finance Landscape,” Annual Review of Financial Economics, vol. 14, pp. 271–293, 2022, https://doi.org/10.1146/annurev-financial-101821-121115.
[8] African Private Capital Association, Venture Capital in Africa Report, February 2026, https://www.avca.africa/media/umlh132j/avca25-15-vc-annual-report_4.pdf.
[9] Partech, 2025 Africa Tech Venture Capital Report, January 2026, https://partechpartners.com/africa-reports/2025-africa-tech-venture-capital-report. Kenya’s country total, equity/debt split, deal counts and methodology.
[10] Business Daily Africa, “Kenya remains on top with Sh127bn startup funding in 2025,” January 2026, https://www.businessdailyafrica.com/bd/markets/market-news/kenya-remains-on-top-with-sh127bn-startup-funding-in-2025-5331672. Contemporary secondary report quoting the ATBD-attributed US$984m value.
[11] Africa: The Big Deal, 2024 Round-Up, January 2025, https://africathebigdeal.com/wp-content/uploads/2025/01/ATBD-2024-Round-Up.pdf. Kenya’s published 2024 total is US$638m; the chart describes equity, debt and grant deals, excluding exits.
[12] The EastAfrican, “Kenya takes largest share of Africa’s venture capital funding,” January 2026, https://www.theeastafrican.co.ke/tea/business-tech/kenya-takes-largest-share-of-african-venture-capital-funding-5329968. Independent contemporary corroboration of the exact US$984m figure attributed to ATBD.
[13] Africa: The Big Deal, “Where are the investors?”, May 12, 2026, https://thebigdeal.substack.com/p/invest426. Later methodology context: deals may be reported with delay through public sources and confidential investor disclosures; it does not establish a revision to the 2025 Kenya total.
[14] The Star, “Kenya tightens grip on Africa startup capital, attracts Sh126bn in 2025,” January 15, 2026, https://www.the-star.co.ke/business/2026-01-15-kenya-tightens-grip-on-africa-startup-capital-attracts-sh126bn-in-2025. Earliest exact-total report inspected for this comparison; not claimed as first publication.
[15] Africa: The Big Deal, startup deals database product page, https://africathebigdeal.com/, and “2025 in review: Mapping the money,” January 13, 2026, https://thebigdeal.substack.com/p/2025ir2. The site describes a monthly updated Excel database of African startup deals of at least US$100,000 with 30-plus fields; the year-end post directs readers to subscribe for the full underlying data. No transaction export or historical January 2026 snapshot was acquired for this analysis.
All linked source URLs:
Africa: The Big Deal, “2025 in review: Mapping the money,” January 13, 2026: https://thebigdeal.substack.com/p/2025ir2
Africa: The Big Deal, Start-up funding in Africa: H1 2025, October 2025: https://africathebigdeal.com/wp-content/uploads/2025/10/ATBD-H1-2025-Round-Up-1.pdf
Africa: The Big Deal, “H1 2026: Mapping the money,” July 20, 2026: https://thebigdeal.substack.com/p/h12026c
Africa: The Big Deal, “2025 in review: Fintech in gold; energy boosted by debt,” February 16, 2026: https://thebigdeal.substack.com/p/2025ct
R. Nanda and M. Rhodes-Kropf, “Investment Cycles and Startup Innovation,” Journal of Financial Economics, vol. 110, no. 2, pp. 403–418, 2013: https://doi.org/10.1016/j.jfineco.2013.07.001
M. Ewens and J. Farre-Mensa, “Private or Public Equity? The Evolving Entrepreneurial Finance Landscape,” Annual Review of Financial Economics, vol. 14: https://doi.org/10.1146/annurev-financial-101821-121115
African Private Capital Association, Venture Capital in Africa Report, February 2026: https://www.avca.africa/media/umlh132j/avca25-15-vc-annual-report_4.pdf
Partech, 2025 Africa Tech Venture Capital Report, January 2026: https://partechpartners.com/africa-reports/2025-africa-tech-venture-capital-report
Business Daily Africa, “Kenya remains on top with Sh127bn startup funding in 2025,” January 2026: https://www.businessdailyafrica.com/bd/markets/market-news/kenya-remains-on-top-with-sh127bn-startup-funding-in-2025-5331672
Africa: The Big Deal, 2024 Round-Up, January 2025: https://africathebigdeal.com/wp-content/uploads/2025/01/ATBD-2024-Round-Up.pdf
The EastAfrican, “Kenya takes largest share of Africa’s venture capital funding,” January 2026: https://www.theeastafrican.co.ke/tea/business-tech/kenya-takes-largest-share-of-african-venture-capital-funding-5329968
Africa: The Big Deal, “Where are the investors?”, May 12, 2026: https://thebigdeal.substack.com/p/invest426
The Star, “Kenya tightens grip on Africa startup capital, attracts Sh126bn in 2025,” January 15, 2026: https://www.the-star.co.ke/business/2026-01-15-kenya-tightens-grip-on-africa-startup-capital-attracts-sh126bn-in-2025
Africa: The Big Deal, startup deals database product page: https://africathebigdeal.com/
Additional content sources:
[]
Workbook provenance:
C:\Users\Nevo\Downloads\financial material\Owner's Earning\What Startup Funding Figures Actually Measure\Startup Funding Market and Outcomes Workbook.xlsx
'Provider Comparison'!C5:H13
cd8f7689e54d34ad0ad95991f1815c26e948341f3ca001a7ec7d1ba34ae57812
C:\Users\Nevo\Downloads\financial material\Owner's Earning\What Startup Funding Figures Actually Measure\Startup Funding Market and Outcomes Workbook.xlsx
'Market Metrics'!C11:G16
cd8f7689e54d34ad0ad95991f1815c26e948341f3ca001a7ec7d1ba34ae57812
Article catalog snapshot hash: e4605210b04811ea848b3d4bef140d9caaeb16174d1488e3d29f8d71eb6a9f45
Presentation assembled 25 September 2026. Educational source snapshot; no recording or publication is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sokointel.com/read/startup-funding-01/" TargetMode="External"/><Relationship Id="rId2" Type="http://schemas.openxmlformats.org/officeDocument/2006/relationships/hyperlink" Target="https://thebigdeal.substack.com/p/2025ir2" TargetMode="External"/><Relationship Id="rId3" Type="http://schemas.openxmlformats.org/officeDocument/2006/relationships/hyperlink" Target="https://africathebigdeal.com/wp-content/uploads/2025/10/ATBD-H1-2025-Round-Up-1.pdf" TargetMode="External"/><Relationship Id="rId4" Type="http://schemas.openxmlformats.org/officeDocument/2006/relationships/hyperlink" Target="https://thebigdeal.substack.com/p/h12026c" TargetMode="External"/><Relationship Id="rId5" Type="http://schemas.openxmlformats.org/officeDocument/2006/relationships/hyperlink" Target="https://thebigdeal.substack.com/p/2025ct" TargetMode="External"/><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047"/>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BB8432"/>
          </a:solidFill>
          <a:ln w="12700">
            <a:solidFill>
              <a:srgbClr val="BB8432">
                <a:alpha val="0"/>
              </a:srgbClr>
            </a:solidFill>
            <a:prstDash val="solid"/>
          </a:ln>
        </p:spPr>
      </p:sp>
      <p:sp>
        <p:nvSpPr>
          <p:cNvPr id="3" name="Text 1"/>
          <p:cNvSpPr/>
          <p:nvPr/>
        </p:nvSpPr>
        <p:spPr>
          <a:xfrm>
            <a:off x="685800" y="530352"/>
            <a:ext cx="10789920" cy="274320"/>
          </a:xfrm>
          <a:prstGeom prst="rect">
            <a:avLst/>
          </a:prstGeom>
          <a:noFill/>
          <a:ln/>
        </p:spPr>
        <p:txBody>
          <a:bodyPr wrap="square" lIns="0" tIns="0" rIns="0" bIns="0" rtlCol="0" anchor="t"/>
          <a:lstStyle/>
          <a:p>
            <a:pPr indent="0" marL="0">
              <a:spcAft>
                <a:spcPts val="600"/>
              </a:spcAft>
              <a:buNone/>
            </a:pPr>
            <a:r>
              <a:rPr lang="en-US" sz="1300" spc="200" kern="0" dirty="0">
                <a:solidFill>
                  <a:srgbClr val="B9DAD6"/>
                </a:solidFill>
                <a:latin typeface="Aptos" pitchFamily="34" charset="0"/>
                <a:ea typeface="Aptos" pitchFamily="34" charset="-122"/>
                <a:cs typeface="Aptos" pitchFamily="34" charset="-120"/>
              </a:rPr>
              <a:t>SOKOINTEL  /  RESEARCH EXPLAINED</a:t>
            </a:r>
            <a:endParaRPr lang="en-US" sz="1300" dirty="0"/>
          </a:p>
        </p:txBody>
      </p:sp>
      <p:sp>
        <p:nvSpPr>
          <p:cNvPr id="4" name="Text 2"/>
          <p:cNvSpPr/>
          <p:nvPr/>
        </p:nvSpPr>
        <p:spPr>
          <a:xfrm>
            <a:off x="685800" y="1371600"/>
            <a:ext cx="10789920" cy="1920240"/>
          </a:xfrm>
          <a:prstGeom prst="rect">
            <a:avLst/>
          </a:prstGeom>
          <a:noFill/>
          <a:ln/>
        </p:spPr>
        <p:txBody>
          <a:bodyPr wrap="square" lIns="0" tIns="0" rIns="0" bIns="0" rtlCol="0" anchor="t"/>
          <a:lstStyle/>
          <a:p>
            <a:pPr indent="0" marL="0">
              <a:spcAft>
                <a:spcPts val="600"/>
              </a:spcAft>
              <a:buNone/>
            </a:pPr>
            <a:r>
              <a:rPr lang="en-US" sz="4200" dirty="0">
                <a:solidFill>
                  <a:srgbClr val="FFFFFF"/>
                </a:solidFill>
                <a:latin typeface="Georgia" pitchFamily="34" charset="0"/>
                <a:ea typeface="Georgia" pitchFamily="34" charset="-122"/>
                <a:cs typeface="Georgia" pitchFamily="34" charset="-120"/>
              </a:rPr>
              <a:t>Kenya’s startup funding headline needs three denominators</a:t>
            </a:r>
            <a:endParaRPr lang="en-US" sz="4200" dirty="0"/>
          </a:p>
        </p:txBody>
      </p:sp>
      <p:sp>
        <p:nvSpPr>
          <p:cNvPr id="5" name="Text 3"/>
          <p:cNvSpPr/>
          <p:nvPr/>
        </p:nvSpPr>
        <p:spPr>
          <a:xfrm>
            <a:off x="713232" y="3685032"/>
            <a:ext cx="9875520" cy="1234440"/>
          </a:xfrm>
          <a:prstGeom prst="rect">
            <a:avLst/>
          </a:prstGeom>
          <a:noFill/>
          <a:ln/>
        </p:spPr>
        <p:txBody>
          <a:bodyPr wrap="square" lIns="0" tIns="0" rIns="0" bIns="0" rtlCol="0" anchor="t"/>
          <a:lstStyle/>
          <a:p>
            <a:pPr indent="0" marL="0">
              <a:spcAft>
                <a:spcPts val="600"/>
              </a:spcAft>
              <a:buNone/>
            </a:pPr>
            <a:r>
              <a:rPr lang="en-US" sz="2400" dirty="0">
                <a:solidFill>
                  <a:srgbClr val="E3ECE8"/>
                </a:solidFill>
                <a:latin typeface="Aptos" pitchFamily="34" charset="0"/>
                <a:ea typeface="Aptos" pitchFamily="34" charset="-122"/>
                <a:cs typeface="Aptos" pitchFamily="34" charset="-120"/>
              </a:rPr>
              <a:t>A founder reads that Kenya raised almost USD 1bn, then sees a sharp half-year decline. The decision depends on what each total actually counts.</a:t>
            </a:r>
            <a:endParaRPr lang="en-US" sz="2400" dirty="0"/>
          </a:p>
        </p:txBody>
      </p:sp>
      <p:sp>
        <p:nvSpPr>
          <p:cNvPr id="6" name="Text 4"/>
          <p:cNvSpPr/>
          <p:nvPr/>
        </p:nvSpPr>
        <p:spPr>
          <a:xfrm>
            <a:off x="713232" y="5971032"/>
            <a:ext cx="10789920" cy="420624"/>
          </a:xfrm>
          <a:prstGeom prst="rect">
            <a:avLst/>
          </a:prstGeom>
          <a:noFill/>
          <a:ln/>
        </p:spPr>
        <p:txBody>
          <a:bodyPr wrap="square" lIns="0" tIns="0" rIns="0" bIns="0" rtlCol="0" anchor="t"/>
          <a:lstStyle/>
          <a:p>
            <a:pPr indent="0" marL="0">
              <a:spcAft>
                <a:spcPts val="600"/>
              </a:spcAft>
              <a:buNone/>
            </a:pPr>
            <a:r>
              <a:rPr lang="en-US" sz="1200" dirty="0">
                <a:solidFill>
                  <a:srgbClr val="B9DAD6"/>
                </a:solidFill>
                <a:latin typeface="Aptos" pitchFamily="34" charset="0"/>
                <a:ea typeface="Aptos" pitchFamily="34" charset="-122"/>
                <a:cs typeface="Aptos" pitchFamily="34" charset="-120"/>
              </a:rPr>
              <a:t>STARTUP-FUNDING-01   •   Research cutoff 24 September 2026 • provider statistics and unverified screenshot claims stay separate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DECISION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The questions and the language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02</a:t>
            </a:r>
            <a:endParaRPr lang="en-US" sz="1000" dirty="0"/>
          </a:p>
        </p:txBody>
      </p:sp>
      <p:sp>
        <p:nvSpPr>
          <p:cNvPr id="8" name="Text 6"/>
          <p:cNvSpPr/>
          <p:nvPr/>
        </p:nvSpPr>
        <p:spPr>
          <a:xfrm>
            <a:off x="594360" y="1847088"/>
            <a:ext cx="5897880" cy="4160520"/>
          </a:xfrm>
          <a:prstGeom prst="rect">
            <a:avLst/>
          </a:prstGeom>
          <a:noFill/>
          <a:ln/>
        </p:spPr>
        <p:txBody>
          <a:bodyPr wrap="square" lIns="0" tIns="0" rIns="0" bIns="0" rtlCol="0" anchor="t"/>
          <a:lstStyle/>
          <a:p>
            <a:pPr indent="0" marL="0">
              <a:spcAft>
                <a:spcPts val="600"/>
              </a:spcAft>
              <a:buNone/>
            </a:pPr>
            <a:r>
              <a:rPr lang="en-US" sz="2100" dirty="0">
                <a:solidFill>
                  <a:srgbClr val="163047"/>
                </a:solidFill>
                <a:latin typeface="Aptos" pitchFamily="34" charset="0"/>
                <a:ea typeface="Aptos" pitchFamily="34" charset="-122"/>
                <a:cs typeface="Aptos" pitchFamily="34" charset="-120"/>
              </a:rPr>
              <a:t>1. What do the headline total, funding breadth and concentration each measure?</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2. How do equity, debt and asset-linked funding change what a business must earn or repay?</a:t>
            </a:r>
            <a:endParaRPr lang="en-US" sz="2100" dirty="0"/>
          </a:p>
          <a:p>
            <a:pPr indent="0" marL="0">
              <a:spcAft>
                <a:spcPts val="600"/>
              </a:spcAft>
              <a:buNone/>
            </a:pPr>
            <a:endParaRPr lang="en-US" sz="2100" dirty="0"/>
          </a:p>
          <a:p>
            <a:pPr indent="0" marL="0">
              <a:spcAft>
                <a:spcPts val="600"/>
              </a:spcAft>
              <a:buNone/>
            </a:pPr>
            <a:r>
              <a:rPr lang="en-US" sz="2100" dirty="0">
                <a:solidFill>
                  <a:srgbClr val="163047"/>
                </a:solidFill>
                <a:latin typeface="Aptos" pitchFamily="34" charset="0"/>
                <a:ea typeface="Aptos" pitchFamily="34" charset="-122"/>
                <a:cs typeface="Aptos" pitchFamily="34" charset="-120"/>
              </a:rPr>
              <a:t>3. What happened after funding, and what evidence is needed to establish investor recoveries or losses?</a:t>
            </a:r>
            <a:endParaRPr lang="en-US" sz="2100" dirty="0"/>
          </a:p>
        </p:txBody>
      </p:sp>
      <p:sp>
        <p:nvSpPr>
          <p:cNvPr id="9" name="Shape 7"/>
          <p:cNvSpPr/>
          <p:nvPr/>
        </p:nvSpPr>
        <p:spPr>
          <a:xfrm>
            <a:off x="6867144" y="1810512"/>
            <a:ext cx="4727448" cy="4352544"/>
          </a:xfrm>
          <a:prstGeom prst="rect">
            <a:avLst/>
          </a:prstGeom>
          <a:solidFill>
            <a:srgbClr val="E9EFE7"/>
          </a:solidFill>
          <a:ln w="12700">
            <a:solidFill>
              <a:srgbClr val="E9EFE7">
                <a:alpha val="0"/>
              </a:srgbClr>
            </a:solidFill>
            <a:prstDash val="solid"/>
          </a:ln>
        </p:spPr>
      </p:sp>
      <p:sp>
        <p:nvSpPr>
          <p:cNvPr id="10" name="Text 8"/>
          <p:cNvSpPr/>
          <p:nvPr/>
        </p:nvSpPr>
        <p:spPr>
          <a:xfrm>
            <a:off x="7114032" y="2039112"/>
            <a:ext cx="4215384" cy="27432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TERMS &amp; UNITS</a:t>
            </a:r>
            <a:endParaRPr lang="en-US" sz="1200" dirty="0"/>
          </a:p>
        </p:txBody>
      </p:sp>
      <p:sp>
        <p:nvSpPr>
          <p:cNvPr id="11" name="Text 9"/>
          <p:cNvSpPr/>
          <p:nvPr/>
        </p:nvSpPr>
        <p:spPr>
          <a:xfrm>
            <a:off x="7114032" y="2578608"/>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Amount — source-defined funding total; USD million</a:t>
            </a:r>
            <a:endParaRPr lang="en-US" sz="1650" dirty="0"/>
          </a:p>
        </p:txBody>
      </p:sp>
      <p:sp>
        <p:nvSpPr>
          <p:cNvPr id="12" name="Text 10"/>
          <p:cNvSpPr/>
          <p:nvPr/>
        </p:nvSpPr>
        <p:spPr>
          <a:xfrm>
            <a:off x="7114032" y="3236976"/>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Venture count — distinct recipients above a stated threshold</a:t>
            </a:r>
            <a:endParaRPr lang="en-US" sz="1650" dirty="0"/>
          </a:p>
        </p:txBody>
      </p:sp>
      <p:sp>
        <p:nvSpPr>
          <p:cNvPr id="13" name="Text 11"/>
          <p:cNvSpPr/>
          <p:nvPr/>
        </p:nvSpPr>
        <p:spPr>
          <a:xfrm>
            <a:off x="7114032" y="3895344"/>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Deal count — financing events, not necessarily unique companies</a:t>
            </a:r>
            <a:endParaRPr lang="en-US" sz="1650" dirty="0"/>
          </a:p>
        </p:txBody>
      </p:sp>
      <p:sp>
        <p:nvSpPr>
          <p:cNvPr id="14" name="Text 12"/>
          <p:cNvSpPr/>
          <p:nvPr/>
        </p:nvSpPr>
        <p:spPr>
          <a:xfrm>
            <a:off x="7114032" y="4553712"/>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C₅ — top-five amount ÷ same-universe total</a:t>
            </a:r>
            <a:endParaRPr lang="en-US" sz="1650" dirty="0"/>
          </a:p>
        </p:txBody>
      </p:sp>
      <p:sp>
        <p:nvSpPr>
          <p:cNvPr id="15" name="Text 13"/>
          <p:cNvSpPr/>
          <p:nvPr/>
        </p:nvSpPr>
        <p:spPr>
          <a:xfrm>
            <a:off x="7114032" y="5212080"/>
            <a:ext cx="4178808" cy="603504"/>
          </a:xfrm>
          <a:prstGeom prst="rect">
            <a:avLst/>
          </a:prstGeom>
          <a:noFill/>
          <a:ln/>
        </p:spPr>
        <p:txBody>
          <a:bodyPr wrap="square" lIns="0" tIns="0" rIns="0" bIns="0" rtlCol="0" anchor="t"/>
          <a:lstStyle/>
          <a:p>
            <a:pPr indent="0" marL="0">
              <a:buNone/>
            </a:pPr>
            <a:r>
              <a:rPr lang="en-US" sz="1650" dirty="0">
                <a:solidFill>
                  <a:srgbClr val="163047"/>
                </a:solidFill>
                <a:latin typeface="Aptos" pitchFamily="34" charset="0"/>
                <a:ea typeface="Aptos" pitchFamily="34" charset="-122"/>
                <a:cs typeface="Aptos" pitchFamily="34" charset="-120"/>
              </a:rPr>
              <a:t>Release date — publication date, distinct from the transaction cutoff</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Dollars and breadth can move in opposite directions</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ATBD’s primary 2025 post says Kenya raised almost USD 1bn.</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It reports 75 ventures above USD 100,000, down 23% year on year.</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 larger total can coexist with fewer qualifying recipients; neither measures application success.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Research cutoff 24 September 2026 • provider statistics and unverified screenshot claims stay separate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Two providers define two measurement systems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04</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ATBD: reported debt USD 582m and equity USD 383m.</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Partech: rounded total USD 1.04bn; equity USD 539m and debt USD 498m.</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providers differ in thresholds, universe and count units. Do not average their totals.</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Research cutoff 24 September 2026 • provider statistics and unverified screenshot claims stay separate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FOLLOW THE MECHANISM</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Publication dates do not reveal data cutoffs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658368" y="1865376"/>
            <a:ext cx="73152" cy="758952"/>
          </a:xfrm>
          <a:prstGeom prst="rect">
            <a:avLst/>
          </a:prstGeom>
          <a:solidFill>
            <a:srgbClr val="176F73"/>
          </a:solidFill>
          <a:ln w="12700">
            <a:solidFill>
              <a:srgbClr val="176F73">
                <a:alpha val="0"/>
              </a:srgbClr>
            </a:solidFill>
            <a:prstDash val="solid"/>
          </a:ln>
        </p:spPr>
      </p:sp>
      <p:sp>
        <p:nvSpPr>
          <p:cNvPr id="9" name="Text 7"/>
          <p:cNvSpPr/>
          <p:nvPr/>
        </p:nvSpPr>
        <p:spPr>
          <a:xfrm>
            <a:off x="841248" y="1865376"/>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01</a:t>
            </a:r>
            <a:endParaRPr lang="en-US" sz="1300" dirty="0"/>
          </a:p>
        </p:txBody>
      </p:sp>
      <p:sp>
        <p:nvSpPr>
          <p:cNvPr id="10" name="Text 8"/>
          <p:cNvSpPr/>
          <p:nvPr/>
        </p:nvSpPr>
        <p:spPr>
          <a:xfrm>
            <a:off x="1435608" y="1865376"/>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ATBD’s release: 13 January 2026; Partech’s release: 22 January 2026.</a:t>
            </a:r>
            <a:endParaRPr lang="en-US" sz="2200" dirty="0"/>
          </a:p>
        </p:txBody>
      </p:sp>
      <p:sp>
        <p:nvSpPr>
          <p:cNvPr id="11" name="Shape 9"/>
          <p:cNvSpPr/>
          <p:nvPr/>
        </p:nvSpPr>
        <p:spPr>
          <a:xfrm>
            <a:off x="658368" y="3136392"/>
            <a:ext cx="73152" cy="758952"/>
          </a:xfrm>
          <a:prstGeom prst="rect">
            <a:avLst/>
          </a:prstGeom>
          <a:solidFill>
            <a:srgbClr val="176F73"/>
          </a:solidFill>
          <a:ln w="12700">
            <a:solidFill>
              <a:srgbClr val="176F73">
                <a:alpha val="0"/>
              </a:srgbClr>
            </a:solidFill>
            <a:prstDash val="solid"/>
          </a:ln>
        </p:spPr>
      </p:sp>
      <p:sp>
        <p:nvSpPr>
          <p:cNvPr id="12" name="Text 10"/>
          <p:cNvSpPr/>
          <p:nvPr/>
        </p:nvSpPr>
        <p:spPr>
          <a:xfrm>
            <a:off x="841248" y="3136392"/>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02</a:t>
            </a:r>
            <a:endParaRPr lang="en-US" sz="1300" dirty="0"/>
          </a:p>
        </p:txBody>
      </p:sp>
      <p:sp>
        <p:nvSpPr>
          <p:cNvPr id="13" name="Text 11"/>
          <p:cNvSpPr/>
          <p:nvPr/>
        </p:nvSpPr>
        <p:spPr>
          <a:xfrm>
            <a:off x="1435608" y="3136392"/>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The nine-day publication gap does not prove a nine-day transaction cutoff gap.</a:t>
            </a:r>
            <a:endParaRPr lang="en-US" sz="2200" dirty="0"/>
          </a:p>
        </p:txBody>
      </p:sp>
      <p:sp>
        <p:nvSpPr>
          <p:cNvPr id="14" name="Shape 12"/>
          <p:cNvSpPr/>
          <p:nvPr/>
        </p:nvSpPr>
        <p:spPr>
          <a:xfrm>
            <a:off x="658368" y="4407408"/>
            <a:ext cx="73152" cy="758952"/>
          </a:xfrm>
          <a:prstGeom prst="rect">
            <a:avLst/>
          </a:prstGeom>
          <a:solidFill>
            <a:srgbClr val="176F73"/>
          </a:solidFill>
          <a:ln w="12700">
            <a:solidFill>
              <a:srgbClr val="176F73">
                <a:alpha val="0"/>
              </a:srgbClr>
            </a:solidFill>
            <a:prstDash val="solid"/>
          </a:ln>
        </p:spPr>
      </p:sp>
      <p:sp>
        <p:nvSpPr>
          <p:cNvPr id="15" name="Text 13"/>
          <p:cNvSpPr/>
          <p:nvPr/>
        </p:nvSpPr>
        <p:spPr>
          <a:xfrm>
            <a:off x="841248" y="4407408"/>
            <a:ext cx="502920" cy="320040"/>
          </a:xfrm>
          <a:prstGeom prst="rect">
            <a:avLst/>
          </a:prstGeom>
          <a:noFill/>
          <a:ln/>
        </p:spPr>
        <p:txBody>
          <a:bodyPr wrap="square" lIns="0" tIns="0" rIns="0" bIns="0" rtlCol="0" anchor="t"/>
          <a:lstStyle/>
          <a:p>
            <a:pPr indent="0" marL="0">
              <a:spcAft>
                <a:spcPts val="600"/>
              </a:spcAft>
              <a:buNone/>
            </a:pPr>
            <a:r>
              <a:rPr lang="en-US" sz="1300" b="1" dirty="0">
                <a:solidFill>
                  <a:srgbClr val="BB8432"/>
                </a:solidFill>
                <a:latin typeface="Aptos" pitchFamily="34" charset="0"/>
                <a:ea typeface="Aptos" pitchFamily="34" charset="-122"/>
                <a:cs typeface="Aptos" pitchFamily="34" charset="-120"/>
              </a:rPr>
              <a:t>03</a:t>
            </a:r>
            <a:endParaRPr lang="en-US" sz="1300" dirty="0"/>
          </a:p>
        </p:txBody>
      </p:sp>
      <p:sp>
        <p:nvSpPr>
          <p:cNvPr id="16" name="Text 14"/>
          <p:cNvSpPr/>
          <p:nvPr/>
        </p:nvSpPr>
        <p:spPr>
          <a:xfrm>
            <a:off x="1435608" y="4407408"/>
            <a:ext cx="9921240" cy="105156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Save provider, activity period, threshold, instrument scope, geography and date-assignment rule.</a:t>
            </a:r>
            <a:endParaRPr lang="en-US" sz="2200" dirty="0"/>
          </a:p>
        </p:txBody>
      </p:sp>
      <p:sp>
        <p:nvSpPr>
          <p:cNvPr id="17" name="Text 15"/>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Research cutoff 24 September 2026 • provider statistics and unverified screenshot claims stay separate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THE RELATIONSHIP</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Keep the unreconciled remainder visible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06</a:t>
            </a:r>
            <a:endParaRPr lang="en-US" sz="1000" dirty="0"/>
          </a:p>
        </p:txBody>
      </p:sp>
      <p:sp>
        <p:nvSpPr>
          <p:cNvPr id="8" name="Shape 6"/>
          <p:cNvSpPr/>
          <p:nvPr/>
        </p:nvSpPr>
        <p:spPr>
          <a:xfrm>
            <a:off x="594360" y="1847088"/>
            <a:ext cx="10972800" cy="1060704"/>
          </a:xfrm>
          <a:prstGeom prst="rect">
            <a:avLst/>
          </a:prstGeom>
          <a:solidFill>
            <a:srgbClr val="E9EFE7"/>
          </a:solidFill>
          <a:ln w="12700">
            <a:solidFill>
              <a:srgbClr val="E9EFE7">
                <a:alpha val="0"/>
              </a:srgbClr>
            </a:solidFill>
            <a:prstDash val="solid"/>
          </a:ln>
        </p:spPr>
      </p:sp>
      <p:sp>
        <p:nvSpPr>
          <p:cNvPr id="9" name="Text 7"/>
          <p:cNvSpPr/>
          <p:nvPr/>
        </p:nvSpPr>
        <p:spPr>
          <a:xfrm>
            <a:off x="868680" y="2011680"/>
            <a:ext cx="10424160" cy="777240"/>
          </a:xfrm>
          <a:prstGeom prst="rect">
            <a:avLst/>
          </a:prstGeom>
          <a:noFill/>
          <a:ln/>
        </p:spPr>
        <p:txBody>
          <a:bodyPr wrap="square" lIns="0" tIns="0" rIns="0" bIns="0" rtlCol="0" anchor="t"/>
          <a:lstStyle/>
          <a:p>
            <a:pPr algn="ctr" indent="0" marL="0">
              <a:spcAft>
                <a:spcPts val="600"/>
              </a:spcAft>
              <a:buNone/>
            </a:pPr>
            <a:r>
              <a:rPr lang="en-US" sz="2800" dirty="0">
                <a:solidFill>
                  <a:srgbClr val="176F73"/>
                </a:solidFill>
                <a:latin typeface="Cambria Math" pitchFamily="34" charset="0"/>
                <a:ea typeface="Cambria Math" pitchFamily="34" charset="-122"/>
                <a:cs typeface="Cambria Math" pitchFamily="34" charset="-120"/>
              </a:rPr>
              <a:t>Unassigned remainder = reported total − debt − equity</a:t>
            </a:r>
            <a:endParaRPr lang="en-US" sz="2800" dirty="0"/>
          </a:p>
        </p:txBody>
      </p:sp>
      <p:sp>
        <p:nvSpPr>
          <p:cNvPr id="10" name="Text 8"/>
          <p:cNvSpPr/>
          <p:nvPr/>
        </p:nvSpPr>
        <p:spPr>
          <a:xfrm>
            <a:off x="777240" y="3291840"/>
            <a:ext cx="10698480" cy="1078992"/>
          </a:xfrm>
          <a:prstGeom prst="rect">
            <a:avLst/>
          </a:prstGeom>
          <a:noFill/>
          <a:ln/>
        </p:spPr>
        <p:txBody>
          <a:bodyPr wrap="square" lIns="0" tIns="0" rIns="0" bIns="0" rtlCol="0" anchor="t"/>
          <a:lstStyle/>
          <a:p>
            <a:pPr indent="0" marL="0">
              <a:spcAft>
                <a:spcPts val="600"/>
              </a:spcAft>
              <a:buNone/>
            </a:pPr>
            <a:r>
              <a:rPr lang="en-US" sz="2500" b="1" dirty="0">
                <a:solidFill>
                  <a:srgbClr val="163047"/>
                </a:solidFill>
                <a:latin typeface="Aptos" pitchFamily="34" charset="0"/>
                <a:ea typeface="Aptos" pitchFamily="34" charset="-122"/>
                <a:cs typeface="Aptos" pitchFamily="34" charset="-120"/>
              </a:rPr>
              <a:t>ATBD-attributed exact total: USD 984m − 582m − 383m = USD 19m</a:t>
            </a:r>
            <a:endParaRPr lang="en-US" sz="2500" dirty="0"/>
          </a:p>
        </p:txBody>
      </p:sp>
      <p:sp>
        <p:nvSpPr>
          <p:cNvPr id="11" name="Text 9"/>
          <p:cNvSpPr/>
          <p:nvPr/>
        </p:nvSpPr>
        <p:spPr>
          <a:xfrm>
            <a:off x="777240" y="4654296"/>
            <a:ext cx="10652760" cy="1078992"/>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The USD 19m difference is unassigned. The source summary does not establish that it is grants, rounding or another instrument.</a:t>
            </a:r>
            <a:endParaRPr lang="en-US" sz="2300" dirty="0"/>
          </a:p>
        </p:txBody>
      </p:sp>
      <p:sp>
        <p:nvSpPr>
          <p:cNvPr id="12" name="Text 10"/>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Research cutoff 24 September 2026 • provider statistics and unverified screenshot claims stay separate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2900" dirty="0">
                <a:solidFill>
                  <a:srgbClr val="163047"/>
                </a:solidFill>
                <a:latin typeface="Georgia" pitchFamily="34" charset="0"/>
                <a:ea typeface="Georgia" pitchFamily="34" charset="-122"/>
                <a:cs typeface="Georgia" pitchFamily="34" charset="-120"/>
              </a:rPr>
              <a:t>Provider Comparison: follow the saved workbook</a:t>
            </a:r>
            <a:endParaRPr lang="en-US" sz="29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07</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STARTUP-FUNDING-01-01-p1.png">    </p:cNvPr>
          <p:cNvPicPr>
            <a:picLocks noChangeAspect="1"/>
          </p:cNvPicPr>
          <p:nvPr/>
        </p:nvPicPr>
        <p:blipFill>
          <a:blip r:embed="rId1"/>
          <a:stretch>
            <a:fillRect/>
          </a:stretch>
        </p:blipFill>
        <p:spPr>
          <a:xfrm>
            <a:off x="612648" y="2848396"/>
            <a:ext cx="10972800" cy="1691560"/>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Provider Comparison!C5:H13</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Research cutoff 24 September 2026 • provider statistics and unverified screenshot claims stay separate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WORKBOOK EVIDENCE</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Market Metrics: follow the saved workbook</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08</a:t>
            </a:r>
            <a:endParaRPr lang="en-US" sz="1000" dirty="0"/>
          </a:p>
        </p:txBody>
      </p:sp>
      <p:sp>
        <p:nvSpPr>
          <p:cNvPr id="8" name="Shape 6"/>
          <p:cNvSpPr/>
          <p:nvPr/>
        </p:nvSpPr>
        <p:spPr>
          <a:xfrm>
            <a:off x="502920" y="1773936"/>
            <a:ext cx="11183112" cy="3840480"/>
          </a:xfrm>
          <a:prstGeom prst="rect">
            <a:avLst/>
          </a:prstGeom>
          <a:solidFill>
            <a:srgbClr val="FFFFFF"/>
          </a:solidFill>
          <a:ln w="12700">
            <a:solidFill>
              <a:srgbClr val="FFFFFF">
                <a:alpha val="0"/>
              </a:srgbClr>
            </a:solidFill>
            <a:prstDash val="solid"/>
          </a:ln>
        </p:spPr>
      </p:sp>
      <p:pic>
        <p:nvPicPr>
          <p:cNvPr id="9" name="Image 0" descr="C:\Users\Nevo\Downloads\financial material\Publishing and Video Production\Presentation Assets\Evidence\Workbooks\STARTUP-FUNDING-01-02-p1.png">    </p:cNvPr>
          <p:cNvPicPr>
            <a:picLocks noChangeAspect="1"/>
          </p:cNvPicPr>
          <p:nvPr/>
        </p:nvPicPr>
        <p:blipFill>
          <a:blip r:embed="rId1"/>
          <a:stretch>
            <a:fillRect/>
          </a:stretch>
        </p:blipFill>
        <p:spPr>
          <a:xfrm>
            <a:off x="612648" y="3131630"/>
            <a:ext cx="10972800" cy="1125091"/>
          </a:xfrm>
          <a:prstGeom prst="rect">
            <a:avLst/>
          </a:prstGeom>
        </p:spPr>
      </p:pic>
      <p:sp>
        <p:nvSpPr>
          <p:cNvPr id="10" name="Text 7"/>
          <p:cNvSpPr/>
          <p:nvPr/>
        </p:nvSpPr>
        <p:spPr>
          <a:xfrm>
            <a:off x="612648" y="5769864"/>
            <a:ext cx="9326880" cy="320040"/>
          </a:xfrm>
          <a:prstGeom prst="rect">
            <a:avLst/>
          </a:prstGeom>
          <a:noFill/>
          <a:ln/>
        </p:spPr>
        <p:txBody>
          <a:bodyPr wrap="square" lIns="0" tIns="0" rIns="0" bIns="0" rtlCol="0" anchor="t"/>
          <a:lstStyle/>
          <a:p>
            <a:pPr indent="0" marL="0">
              <a:spcAft>
                <a:spcPts val="600"/>
              </a:spcAft>
              <a:buNone/>
            </a:pPr>
            <a:r>
              <a:rPr lang="en-US" sz="1800" b="1" dirty="0">
                <a:solidFill>
                  <a:srgbClr val="176F73"/>
                </a:solidFill>
                <a:latin typeface="Aptos" pitchFamily="34" charset="0"/>
                <a:ea typeface="Aptos" pitchFamily="34" charset="-122"/>
                <a:cs typeface="Aptos" pitchFamily="34" charset="-120"/>
              </a:rPr>
              <a:t>Market Metrics!C11:G16</a:t>
            </a:r>
            <a:endParaRPr lang="en-US" sz="1800" dirty="0"/>
          </a:p>
        </p:txBody>
      </p:sp>
      <p:sp>
        <p:nvSpPr>
          <p:cNvPr id="11" name="Text 8"/>
          <p:cNvSpPr/>
          <p:nvPr/>
        </p:nvSpPr>
        <p:spPr>
          <a:xfrm>
            <a:off x="594360" y="614476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Research cutoff 24 September 2026 • provider statistics and unverified screenshot claims stay separate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CHANGE THE ASSUMPTION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Compare the same half-year in the same series</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09</a:t>
            </a:r>
            <a:endParaRPr lang="en-US" sz="1000" dirty="0"/>
          </a:p>
        </p:txBody>
      </p:sp>
      <p:sp>
        <p:nvSpPr>
          <p:cNvPr id="8" name="Shape 6"/>
          <p:cNvSpPr/>
          <p:nvPr/>
        </p:nvSpPr>
        <p:spPr>
          <a:xfrm>
            <a:off x="594360" y="1883664"/>
            <a:ext cx="5321808" cy="1975104"/>
          </a:xfrm>
          <a:prstGeom prst="rect">
            <a:avLst/>
          </a:prstGeom>
          <a:solidFill>
            <a:srgbClr val="E9EFE7"/>
          </a:solidFill>
          <a:ln w="12700">
            <a:solidFill>
              <a:srgbClr val="E9EFE7">
                <a:alpha val="0"/>
              </a:srgbClr>
            </a:solidFill>
            <a:prstDash val="solid"/>
          </a:ln>
        </p:spPr>
      </p:sp>
      <p:sp>
        <p:nvSpPr>
          <p:cNvPr id="9" name="Shape 7"/>
          <p:cNvSpPr/>
          <p:nvPr/>
        </p:nvSpPr>
        <p:spPr>
          <a:xfrm>
            <a:off x="6190488" y="1883664"/>
            <a:ext cx="5321808" cy="1975104"/>
          </a:xfrm>
          <a:prstGeom prst="rect">
            <a:avLst/>
          </a:prstGeom>
          <a:solidFill>
            <a:srgbClr val="EFE6D5"/>
          </a:solidFill>
          <a:ln w="12700">
            <a:solidFill>
              <a:srgbClr val="EFE6D5">
                <a:alpha val="0"/>
              </a:srgbClr>
            </a:solidFill>
            <a:prstDash val="solid"/>
          </a:ln>
        </p:spPr>
      </p:sp>
      <p:sp>
        <p:nvSpPr>
          <p:cNvPr id="10" name="Text 8"/>
          <p:cNvSpPr/>
          <p:nvPr/>
        </p:nvSpPr>
        <p:spPr>
          <a:xfrm>
            <a:off x="868680"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BASE / STARTING RECORD</a:t>
            </a:r>
            <a:endParaRPr lang="en-US" sz="1200" dirty="0"/>
          </a:p>
        </p:txBody>
      </p:sp>
      <p:sp>
        <p:nvSpPr>
          <p:cNvPr id="11" name="Text 9"/>
          <p:cNvSpPr/>
          <p:nvPr/>
        </p:nvSpPr>
        <p:spPr>
          <a:xfrm>
            <a:off x="868680"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ATBD H1 2025 published total: USD 227m.</a:t>
            </a:r>
            <a:endParaRPr lang="en-US" sz="2200" dirty="0"/>
          </a:p>
        </p:txBody>
      </p:sp>
      <p:sp>
        <p:nvSpPr>
          <p:cNvPr id="12" name="Text 10"/>
          <p:cNvSpPr/>
          <p:nvPr/>
        </p:nvSpPr>
        <p:spPr>
          <a:xfrm>
            <a:off x="6464808" y="2139696"/>
            <a:ext cx="4754880" cy="228600"/>
          </a:xfrm>
          <a:prstGeom prst="rect">
            <a:avLst/>
          </a:prstGeom>
          <a:noFill/>
          <a:ln/>
        </p:spPr>
        <p:txBody>
          <a:bodyPr wrap="square" lIns="0" tIns="0" rIns="0" bIns="0" rtlCol="0" anchor="t"/>
          <a:lstStyle/>
          <a:p>
            <a:pPr indent="0" marL="0">
              <a:spcAft>
                <a:spcPts val="600"/>
              </a:spcAft>
              <a:buNone/>
            </a:pPr>
            <a:r>
              <a:rPr lang="en-US" sz="1200" b="1" dirty="0">
                <a:solidFill>
                  <a:srgbClr val="80591D"/>
                </a:solidFill>
                <a:latin typeface="Aptos" pitchFamily="34" charset="0"/>
                <a:ea typeface="Aptos" pitchFamily="34" charset="-122"/>
                <a:cs typeface="Aptos" pitchFamily="34" charset="-120"/>
              </a:rPr>
              <a:t>CHANGED CASE / NEW EVIDENCE</a:t>
            </a:r>
            <a:endParaRPr lang="en-US" sz="1200" dirty="0"/>
          </a:p>
        </p:txBody>
      </p:sp>
      <p:sp>
        <p:nvSpPr>
          <p:cNvPr id="13" name="Text 11"/>
          <p:cNvSpPr/>
          <p:nvPr/>
        </p:nvSpPr>
        <p:spPr>
          <a:xfrm>
            <a:off x="6464808" y="2624328"/>
            <a:ext cx="4754880" cy="1005840"/>
          </a:xfrm>
          <a:prstGeom prst="rect">
            <a:avLst/>
          </a:prstGeom>
          <a:noFill/>
          <a:ln/>
        </p:spPr>
        <p:txBody>
          <a:bodyPr wrap="square" lIns="0" tIns="0" rIns="0" bIns="0" rtlCol="0" anchor="t"/>
          <a:lstStyle/>
          <a:p>
            <a:pPr indent="0" marL="0">
              <a:spcAft>
                <a:spcPts val="600"/>
              </a:spcAft>
              <a:buNone/>
            </a:pPr>
            <a:r>
              <a:rPr lang="en-US" sz="2200" dirty="0">
                <a:solidFill>
                  <a:srgbClr val="163047"/>
                </a:solidFill>
                <a:latin typeface="Aptos" pitchFamily="34" charset="0"/>
                <a:ea typeface="Aptos" pitchFamily="34" charset="-122"/>
                <a:cs typeface="Aptos" pitchFamily="34" charset="-120"/>
              </a:rPr>
              <a:t>ATBD H1 2026 published total: USD 126m.</a:t>
            </a:r>
            <a:endParaRPr lang="en-US" sz="2200" dirty="0"/>
          </a:p>
        </p:txBody>
      </p:sp>
      <p:sp>
        <p:nvSpPr>
          <p:cNvPr id="14" name="Text 12"/>
          <p:cNvSpPr/>
          <p:nvPr/>
        </p:nvSpPr>
        <p:spPr>
          <a:xfrm>
            <a:off x="749808" y="4379976"/>
            <a:ext cx="10716768" cy="1271016"/>
          </a:xfrm>
          <a:prstGeom prst="rect">
            <a:avLst/>
          </a:prstGeom>
          <a:noFill/>
          <a:ln/>
        </p:spPr>
        <p:txBody>
          <a:bodyPr wrap="square" lIns="0" tIns="0" rIns="0" bIns="0" rtlCol="0" anchor="t"/>
          <a:lstStyle/>
          <a:p>
            <a:pPr indent="0" marL="0">
              <a:spcAft>
                <a:spcPts val="600"/>
              </a:spcAft>
              <a:buNone/>
            </a:pPr>
            <a:r>
              <a:rPr lang="en-US" sz="2500" dirty="0">
                <a:solidFill>
                  <a:srgbClr val="163047"/>
                </a:solidFill>
                <a:latin typeface="Aptos" pitchFamily="34" charset="0"/>
                <a:ea typeface="Aptos" pitchFamily="34" charset="-122"/>
                <a:cs typeface="Aptos" pitchFamily="34" charset="-120"/>
              </a:rPr>
              <a:t>(126 ÷ 227) − 1 = −44.5%. This is a change in the tracker’s covered total, not a universal measure of confidence or access.</a:t>
            </a:r>
            <a:endParaRPr lang="en-US" sz="2500" dirty="0"/>
          </a:p>
        </p:txBody>
      </p:sp>
      <p:sp>
        <p:nvSpPr>
          <p:cNvPr id="15" name="Text 13"/>
          <p:cNvSpPr/>
          <p:nvPr/>
        </p:nvSpPr>
        <p:spPr>
          <a:xfrm>
            <a:off x="594360" y="6053328"/>
            <a:ext cx="10972800" cy="274320"/>
          </a:xfrm>
          <a:prstGeom prst="rect">
            <a:avLst/>
          </a:prstGeom>
          <a:noFill/>
          <a:ln/>
        </p:spPr>
        <p:txBody>
          <a:bodyPr wrap="square" lIns="0" tIns="0" rIns="0" bIns="0" rtlCol="0" anchor="t"/>
          <a:lstStyle/>
          <a:p>
            <a:pPr indent="0" marL="0">
              <a:spcAft>
                <a:spcPts val="600"/>
              </a:spcAft>
              <a:buNone/>
            </a:pPr>
            <a:r>
              <a:rPr lang="en-US" sz="1000" dirty="0">
                <a:solidFill>
                  <a:srgbClr val="50616B"/>
                </a:solidFill>
                <a:latin typeface="Aptos" pitchFamily="34" charset="0"/>
                <a:ea typeface="Aptos" pitchFamily="34" charset="-122"/>
                <a:cs typeface="Aptos" pitchFamily="34" charset="-120"/>
              </a:rPr>
              <a:t>Sensitivity or evidence comparison; interpretation depends on the stated assumptions.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ANSWER THE OPENING QUESTION</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What the evidence lets us conclude</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10</a:t>
            </a:r>
            <a:endParaRPr lang="en-US" sz="1000" dirty="0"/>
          </a:p>
        </p:txBody>
      </p:sp>
      <p:sp>
        <p:nvSpPr>
          <p:cNvPr id="8" name="Text 6"/>
          <p:cNvSpPr/>
          <p:nvPr/>
        </p:nvSpPr>
        <p:spPr>
          <a:xfrm>
            <a:off x="713232" y="1856232"/>
            <a:ext cx="10762488" cy="1865376"/>
          </a:xfrm>
          <a:prstGeom prst="rect">
            <a:avLst/>
          </a:prstGeom>
          <a:noFill/>
          <a:ln/>
        </p:spPr>
        <p:txBody>
          <a:bodyPr wrap="square" lIns="0" tIns="0" rIns="0" bIns="0" rtlCol="0" anchor="t"/>
          <a:lstStyle/>
          <a:p>
            <a:pPr indent="0" marL="0">
              <a:spcAft>
                <a:spcPts val="600"/>
              </a:spcAft>
              <a:buNone/>
            </a:pPr>
            <a:r>
              <a:rPr lang="en-US" sz="2700" dirty="0">
                <a:solidFill>
                  <a:srgbClr val="163047"/>
                </a:solidFill>
                <a:latin typeface="Aptos" pitchFamily="34" charset="0"/>
                <a:ea typeface="Aptos" pitchFamily="34" charset="-122"/>
                <a:cs typeface="Aptos" pitchFamily="34" charset="-120"/>
              </a:rPr>
              <a:t>A funding headline needs its amount, recipient count and coverage rules. Kenya’s large 2025 total and narrower qualifying-venture count answer different questions; unreconciled residuals and unknown cutoff rules must remain visible.</a:t>
            </a:r>
            <a:endParaRPr lang="en-US" sz="2700" dirty="0"/>
          </a:p>
        </p:txBody>
      </p:sp>
      <p:sp>
        <p:nvSpPr>
          <p:cNvPr id="9" name="Shape 7"/>
          <p:cNvSpPr/>
          <p:nvPr/>
        </p:nvSpPr>
        <p:spPr>
          <a:xfrm>
            <a:off x="612648" y="4087368"/>
            <a:ext cx="10963656" cy="2002536"/>
          </a:xfrm>
          <a:prstGeom prst="rect">
            <a:avLst/>
          </a:prstGeom>
          <a:solidFill>
            <a:srgbClr val="E9EFE7"/>
          </a:solidFill>
          <a:ln w="12700">
            <a:solidFill>
              <a:srgbClr val="E9EFE7">
                <a:alpha val="0"/>
              </a:srgbClr>
            </a:solidFill>
            <a:prstDash val="solid"/>
          </a:ln>
        </p:spPr>
      </p:sp>
      <p:sp>
        <p:nvSpPr>
          <p:cNvPr id="10" name="Text 8"/>
          <p:cNvSpPr/>
          <p:nvPr/>
        </p:nvSpPr>
        <p:spPr>
          <a:xfrm>
            <a:off x="877824" y="4352544"/>
            <a:ext cx="10332720" cy="256032"/>
          </a:xfrm>
          <a:prstGeom prst="rect">
            <a:avLst/>
          </a:prstGeom>
          <a:noFill/>
          <a:ln/>
        </p:spPr>
        <p:txBody>
          <a:bodyPr wrap="square" lIns="0" tIns="0" rIns="0" bIns="0" rtlCol="0" anchor="t"/>
          <a:lstStyle/>
          <a:p>
            <a:pPr indent="0" marL="0">
              <a:spcAft>
                <a:spcPts val="600"/>
              </a:spcAft>
              <a:buNone/>
            </a:pPr>
            <a:r>
              <a:rPr lang="en-US" sz="1200" b="1" dirty="0">
                <a:solidFill>
                  <a:srgbClr val="176F73"/>
                </a:solidFill>
                <a:latin typeface="Aptos" pitchFamily="34" charset="0"/>
                <a:ea typeface="Aptos" pitchFamily="34" charset="-122"/>
                <a:cs typeface="Aptos" pitchFamily="34" charset="-120"/>
              </a:rPr>
              <a:t>YOUR NEXT RECORD</a:t>
            </a:r>
            <a:endParaRPr lang="en-US" sz="1200" dirty="0"/>
          </a:p>
        </p:txBody>
      </p:sp>
      <p:sp>
        <p:nvSpPr>
          <p:cNvPr id="11" name="Text 9"/>
          <p:cNvSpPr/>
          <p:nvPr/>
        </p:nvSpPr>
        <p:spPr>
          <a:xfrm>
            <a:off x="877824" y="4800600"/>
            <a:ext cx="10287000" cy="1097280"/>
          </a:xfrm>
          <a:prstGeom prst="rect">
            <a:avLst/>
          </a:prstGeom>
          <a:noFill/>
          <a:ln/>
        </p:spPr>
        <p:txBody>
          <a:bodyPr wrap="square" lIns="0" tIns="0" rIns="0" bIns="0" rtlCol="0" anchor="t"/>
          <a:lstStyle/>
          <a:p>
            <a:pPr indent="0" marL="0">
              <a:spcAft>
                <a:spcPts val="600"/>
              </a:spcAft>
              <a:buNone/>
            </a:pPr>
            <a:r>
              <a:rPr lang="en-US" sz="2300" dirty="0">
                <a:solidFill>
                  <a:srgbClr val="163047"/>
                </a:solidFill>
                <a:latin typeface="Aptos" pitchFamily="34" charset="0"/>
                <a:ea typeface="Aptos" pitchFamily="34" charset="-122"/>
                <a:cs typeface="Aptos" pitchFamily="34" charset="-120"/>
              </a:rPr>
              <a:t>Save a one-page provider comparison with matched periods, thresholds, instruments, count units and unresolved coordinates before repeating a headline.</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6F73"/>
          </a:solidFill>
          <a:ln w="12700">
            <a:solidFill>
              <a:srgbClr val="176F73">
                <a:alpha val="0"/>
              </a:srgbClr>
            </a:solidFill>
            <a:prstDash val="solid"/>
          </a:ln>
        </p:spPr>
      </p:sp>
      <p:sp>
        <p:nvSpPr>
          <p:cNvPr id="3" name="Text 1"/>
          <p:cNvSpPr/>
          <p:nvPr/>
        </p:nvSpPr>
        <p:spPr>
          <a:xfrm>
            <a:off x="502920" y="365760"/>
            <a:ext cx="11155680" cy="228600"/>
          </a:xfrm>
          <a:prstGeom prst="rect">
            <a:avLst/>
          </a:prstGeom>
          <a:noFill/>
          <a:ln/>
        </p:spPr>
        <p:txBody>
          <a:bodyPr wrap="square" lIns="0" tIns="0" rIns="0" bIns="0" rtlCol="0" anchor="t"/>
          <a:lstStyle/>
          <a:p>
            <a:pPr indent="0" marL="0">
              <a:spcAft>
                <a:spcPts val="600"/>
              </a:spcAft>
              <a:buNone/>
            </a:pPr>
            <a:r>
              <a:rPr lang="en-US" sz="1100" b="1" spc="150" kern="0" dirty="0">
                <a:solidFill>
                  <a:srgbClr val="176F73"/>
                </a:solidFill>
                <a:latin typeface="Aptos" pitchFamily="34" charset="0"/>
                <a:ea typeface="Aptos" pitchFamily="34" charset="-122"/>
                <a:cs typeface="Aptos" pitchFamily="34" charset="-120"/>
              </a:rPr>
              <a:t>SOURCE RECORD</a:t>
            </a:r>
            <a:endParaRPr lang="en-US" sz="1100" dirty="0"/>
          </a:p>
        </p:txBody>
      </p:sp>
      <p:sp>
        <p:nvSpPr>
          <p:cNvPr id="4" name="Text 2"/>
          <p:cNvSpPr/>
          <p:nvPr/>
        </p:nvSpPr>
        <p:spPr>
          <a:xfrm>
            <a:off x="502920" y="859536"/>
            <a:ext cx="11155680" cy="941832"/>
          </a:xfrm>
          <a:prstGeom prst="rect">
            <a:avLst/>
          </a:prstGeom>
          <a:noFill/>
          <a:ln/>
        </p:spPr>
        <p:txBody>
          <a:bodyPr wrap="square" lIns="0" tIns="0" rIns="0" bIns="0" rtlCol="0" anchor="t"/>
          <a:lstStyle/>
          <a:p>
            <a:pPr indent="0" marL="0">
              <a:spcAft>
                <a:spcPts val="600"/>
              </a:spcAft>
              <a:buNone/>
            </a:pPr>
            <a:r>
              <a:rPr lang="en-US" sz="3400" dirty="0">
                <a:solidFill>
                  <a:srgbClr val="163047"/>
                </a:solidFill>
                <a:latin typeface="Georgia" pitchFamily="34" charset="0"/>
                <a:ea typeface="Georgia" pitchFamily="34" charset="-122"/>
                <a:cs typeface="Georgia" pitchFamily="34" charset="-120"/>
              </a:rPr>
              <a:t>Sources, dates and companion material</a:t>
            </a:r>
            <a:endParaRPr lang="en-US" sz="3400" dirty="0"/>
          </a:p>
        </p:txBody>
      </p:sp>
      <p:sp>
        <p:nvSpPr>
          <p:cNvPr id="5" name="Text 3"/>
          <p:cNvSpPr/>
          <p:nvPr/>
        </p:nvSpPr>
        <p:spPr>
          <a:xfrm>
            <a:off x="502920" y="6473952"/>
            <a:ext cx="2834640" cy="173736"/>
          </a:xfrm>
          <a:prstGeom prst="rect">
            <a:avLst/>
          </a:prstGeom>
          <a:noFill/>
          <a:ln/>
        </p:spPr>
        <p:txBody>
          <a:bodyPr wrap="square" lIns="0" tIns="0" rIns="0" bIns="0" rtlCol="0" anchor="t"/>
          <a:lstStyle/>
          <a:p>
            <a:pPr indent="0" marL="0">
              <a:spcAft>
                <a:spcPts val="600"/>
              </a:spcAft>
              <a:buNone/>
            </a:pPr>
            <a:r>
              <a:rPr lang="en-US" sz="900" spc="100" kern="0" dirty="0">
                <a:solidFill>
                  <a:srgbClr val="50616B"/>
                </a:solidFill>
                <a:latin typeface="Aptos" pitchFamily="34" charset="0"/>
                <a:ea typeface="Aptos" pitchFamily="34" charset="-122"/>
                <a:cs typeface="Aptos" pitchFamily="34" charset="-120"/>
              </a:rPr>
              <a:t>SOKOINTEL  /  STARTUP-FUNDING-01</a:t>
            </a:r>
            <a:endParaRPr lang="en-US" sz="900" dirty="0"/>
          </a:p>
        </p:txBody>
      </p:sp>
      <p:sp>
        <p:nvSpPr>
          <p:cNvPr id="6" name="Text 4"/>
          <p:cNvSpPr/>
          <p:nvPr/>
        </p:nvSpPr>
        <p:spPr>
          <a:xfrm>
            <a:off x="3246120" y="6473952"/>
            <a:ext cx="7635240" cy="173736"/>
          </a:xfrm>
          <a:prstGeom prst="rect">
            <a:avLst/>
          </a:prstGeom>
          <a:noFill/>
          <a:ln/>
        </p:spPr>
        <p:txBody>
          <a:bodyPr wrap="square" lIns="0" tIns="0" rIns="0" bIns="0" rtlCol="0" anchor="t"/>
          <a:lstStyle/>
          <a:p>
            <a:pPr indent="0" marL="0">
              <a:spcAft>
                <a:spcPts val="600"/>
              </a:spcAft>
              <a:buNone/>
            </a:pPr>
            <a:r>
              <a:rPr lang="en-US" sz="900" dirty="0">
                <a:solidFill>
                  <a:srgbClr val="50616B"/>
                </a:solidFill>
                <a:latin typeface="Aptos" pitchFamily="34" charset="0"/>
                <a:ea typeface="Aptos" pitchFamily="34" charset="-122"/>
                <a:cs typeface="Aptos" pitchFamily="34" charset="-120"/>
              </a:rPr>
              <a:t>Source material and recording notes included</a:t>
            </a:r>
            <a:endParaRPr lang="en-US" sz="900" dirty="0"/>
          </a:p>
        </p:txBody>
      </p:sp>
      <p:sp>
        <p:nvSpPr>
          <p:cNvPr id="7" name="Text 5"/>
          <p:cNvSpPr/>
          <p:nvPr/>
        </p:nvSpPr>
        <p:spPr>
          <a:xfrm>
            <a:off x="11045952" y="6455664"/>
            <a:ext cx="594360" cy="210312"/>
          </a:xfrm>
          <a:prstGeom prst="rect">
            <a:avLst/>
          </a:prstGeom>
          <a:noFill/>
          <a:ln/>
        </p:spPr>
        <p:txBody>
          <a:bodyPr wrap="square" lIns="0" tIns="0" rIns="0" bIns="0" rtlCol="0" anchor="t"/>
          <a:lstStyle/>
          <a:p>
            <a:pPr algn="r" indent="0" marL="0">
              <a:spcAft>
                <a:spcPts val="600"/>
              </a:spcAft>
              <a:buNone/>
            </a:pPr>
            <a:r>
              <a:rPr lang="en-US" sz="1000" dirty="0">
                <a:solidFill>
                  <a:srgbClr val="176F73"/>
                </a:solidFill>
                <a:latin typeface="Aptos" pitchFamily="34" charset="0"/>
                <a:ea typeface="Aptos" pitchFamily="34" charset="-122"/>
                <a:cs typeface="Aptos" pitchFamily="34" charset="-120"/>
              </a:rPr>
              <a:t>11</a:t>
            </a:r>
            <a:endParaRPr lang="en-US" sz="1000" dirty="0"/>
          </a:p>
        </p:txBody>
      </p:sp>
      <p:sp>
        <p:nvSpPr>
          <p:cNvPr id="8" name="Text 6">
            <a:hlinkClick r:id="rId1" tooltip=""/>
          </p:cNvPr>
          <p:cNvSpPr/>
          <p:nvPr/>
        </p:nvSpPr>
        <p:spPr>
          <a:xfrm>
            <a:off x="658368" y="1847088"/>
            <a:ext cx="10881360" cy="548640"/>
          </a:xfrm>
          <a:prstGeom prst="rect">
            <a:avLst/>
          </a:prstGeom>
          <a:noFill/>
          <a:ln/>
        </p:spPr>
        <p:txBody>
          <a:bodyPr wrap="square" lIns="0" tIns="0" rIns="0" bIns="0" rtlCol="0" anchor="t"/>
          <a:lstStyle/>
          <a:p>
            <a:pPr indent="0" marL="0">
              <a:spcAft>
                <a:spcPts val="600"/>
              </a:spcAft>
              <a:buNone/>
            </a:pPr>
            <a:r>
              <a:rPr lang="en-US" sz="2300" u="sng" dirty="0">
                <a:solidFill>
                  <a:srgbClr val="176F73"/>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Read the episode: sokointel.com/read/startup-funding-01/</a:t>
            </a:r>
            <a:endParaRPr lang="en-US" sz="2300" dirty="0"/>
          </a:p>
        </p:txBody>
      </p:sp>
      <p:sp>
        <p:nvSpPr>
          <p:cNvPr id="9" name="Text 7">
            <a:hlinkClick r:id="rId2" tooltip=""/>
          </p:cNvPr>
          <p:cNvSpPr/>
          <p:nvPr/>
        </p:nvSpPr>
        <p:spPr>
          <a:xfrm>
            <a:off x="694944" y="2697480"/>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1. Africa: The Big Deal, “2025 in review: Mapping the money,” January 13, 2026 • 2025</a:t>
            </a:r>
            <a:endParaRPr lang="en-US" sz="1700" dirty="0"/>
          </a:p>
        </p:txBody>
      </p:sp>
      <p:sp>
        <p:nvSpPr>
          <p:cNvPr id="10" name="Text 8">
            <a:hlinkClick r:id="rId3" tooltip=""/>
          </p:cNvPr>
          <p:cNvSpPr/>
          <p:nvPr/>
        </p:nvSpPr>
        <p:spPr>
          <a:xfrm>
            <a:off x="694944" y="3273552"/>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2. Africa: The Big Deal, Start-up funding in Africa: H1 2025, October 2025 • 2025</a:t>
            </a:r>
            <a:endParaRPr lang="en-US" sz="1700" dirty="0"/>
          </a:p>
        </p:txBody>
      </p:sp>
      <p:sp>
        <p:nvSpPr>
          <p:cNvPr id="11" name="Text 9">
            <a:hlinkClick r:id="rId4" tooltip=""/>
          </p:cNvPr>
          <p:cNvSpPr/>
          <p:nvPr/>
        </p:nvSpPr>
        <p:spPr>
          <a:xfrm>
            <a:off x="694944" y="3849624"/>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3. Africa: The Big Deal, “H1 2026: Mapping the money,” July 20, 2026 • 2026</a:t>
            </a:r>
            <a:endParaRPr lang="en-US" sz="1700" dirty="0"/>
          </a:p>
        </p:txBody>
      </p:sp>
      <p:sp>
        <p:nvSpPr>
          <p:cNvPr id="12" name="Text 10">
            <a:hlinkClick r:id="rId5" tooltip=""/>
          </p:cNvPr>
          <p:cNvSpPr/>
          <p:nvPr/>
        </p:nvSpPr>
        <p:spPr>
          <a:xfrm>
            <a:off x="694944" y="4425696"/>
            <a:ext cx="10835640" cy="475488"/>
          </a:xfrm>
          <a:prstGeom prst="rect">
            <a:avLst/>
          </a:prstGeom>
          <a:noFill/>
          <a:ln/>
        </p:spPr>
        <p:txBody>
          <a:bodyPr wrap="square" lIns="0" tIns="0" rIns="0" bIns="0" rtlCol="0" anchor="t"/>
          <a:lstStyle/>
          <a:p>
            <a:pPr indent="0" marL="0">
              <a:spcAft>
                <a:spcPts val="600"/>
              </a:spcAft>
              <a:buNone/>
            </a:pPr>
            <a:r>
              <a:rPr lang="en-US" sz="1700" u="sng" dirty="0">
                <a:solidFill>
                  <a:srgbClr val="163047"/>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4. Africa: The Big Deal, “2025 in review: Fintech in gold; energy boosted by debt,” February 16, 2026 • 2025</a:t>
            </a:r>
            <a:endParaRPr lang="en-US" sz="1700" dirty="0"/>
          </a:p>
        </p:txBody>
      </p:sp>
      <p:sp>
        <p:nvSpPr>
          <p:cNvPr id="13" name="Text 11"/>
          <p:cNvSpPr/>
          <p:nvPr/>
        </p:nvSpPr>
        <p:spPr>
          <a:xfrm>
            <a:off x="694944" y="5321808"/>
            <a:ext cx="10789920" cy="713232"/>
          </a:xfrm>
          <a:prstGeom prst="rect">
            <a:avLst/>
          </a:prstGeom>
          <a:noFill/>
          <a:ln/>
        </p:spPr>
        <p:txBody>
          <a:bodyPr wrap="square" lIns="0" tIns="0" rIns="0" bIns="0" rtlCol="0" anchor="t"/>
          <a:lstStyle/>
          <a:p>
            <a:pPr indent="0" marL="0">
              <a:spcAft>
                <a:spcPts val="600"/>
              </a:spcAft>
              <a:buNone/>
            </a:pPr>
            <a:r>
              <a:rPr lang="en-US" sz="1800" dirty="0">
                <a:solidFill>
                  <a:srgbClr val="50616B"/>
                </a:solidFill>
                <a:latin typeface="Aptos" pitchFamily="34" charset="0"/>
                <a:ea typeface="Aptos" pitchFamily="34" charset="-122"/>
                <a:cs typeface="Aptos" pitchFamily="34" charset="-120"/>
              </a:rPr>
              <a:t>Full source references, workbook paths, cell ranges and capture metadata are preserved in speaker notes and the episode manifest.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Sokointel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Kenya’s startup funding headline needs three denominators</dc:title>
  <dc:subject>What do the headline total, funding breadth and concentration each measure? | How do equity, debt and asset-linked funding change what a business must earn or repay? | What happened after funding, and what evidence is needed to establish investor recoveries or losses?</dc:subject>
  <dc:creator>Sokointel</dc:creator>
  <cp:lastModifiedBy>Sokointel</cp:lastModifiedBy>
  <cp:revision>1</cp:revision>
  <dcterms:created xsi:type="dcterms:W3CDTF">2026-09-25T13:49:42Z</dcterms:created>
  <dcterms:modified xsi:type="dcterms:W3CDTF">2026-09-25T13:49:42Z</dcterms:modified>
</cp:coreProperties>
</file>