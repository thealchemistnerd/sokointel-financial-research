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Lst>
  <p:notesMasterIdLst>
    <p:notesMasterId r:id="rId13"/>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notesMaster" Target="notesMasters/notesMaster1.xml"/><Relationship Id="rId14" Type="http://schemas.openxmlformats.org/officeDocument/2006/relationships/presProps" Target="presProps.xml"/><Relationship Id="rId15" Type="http://schemas.openxmlformats.org/officeDocument/2006/relationships/viewProps" Target="viewProps.xml"/><Relationship Id="rId16" Type="http://schemas.openxmlformats.org/officeDocument/2006/relationships/theme" Target="theme/theme1.xml"/><Relationship Id="rId17"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EPISODE USMPC-08: Integration, Rebalancing and Portfolio Governance
ARTICLE: https://sokointel.com/read/usmpc-08/
RESEARCH SNAPSHOT: 10 September 2026
OPENING NARRATION
An educational US-market portfolio, funded and maintained through an explicit policy rather than a prediction of the next winning fund.
Dated source record • fictional calculations are labelled as illustrations
Introduce the decision before defining the technical terms.
ARTICLE SECTION: # Part 08: Integration, Rebalancing and Portfolio Governance
US Markets and Portfolio Construction, unified nine-part series. Research edition: 15 September 2026.
A portfolio becomes a durable policy when allocations, cash flows, rebalancing triggers and decision rights are documented together.
ARTICLE SECTION: Series scope
The preceding chapters separate the major decisions involved in an illustrative U.S. portfolio. SPYM represents broad U.S. large-cap beta, QQQM is a deliberate Nasdaq-100 growth tilt, a semiconductor ETF is a sector overweight rather than a new asset class, and the option wheel is a payoff-modifying equity strategy rather than guaranteed income. The purpose of integration is to make those roles, interactions and limits visible at portfolio level.
The final task is integration. A portfolio is not complete when every sleeve is individually reasonable. It is complete when the combined exposures, capital requirements, risk contributions and decision rules are coherent.
This article uses an illustrative policy of 60% SPYM, 15% QQQM, 10% semiconductor exposure and 15% wheel/collateral reserve because that structure uses a bounded example while keeping the active sleeves bounded. The percentages are not personalized advice. They are a worked case for the companion workbook.
Presentation assembled 25 September 2026. Educational source snapshot; no recording or publication is implied.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EPISODE USMPC-08: Integration, Rebalancing and Portfolio Governance
ARTICLE: https://sokointel.com/read/usmpc-08/
RESEARCH SNAPSHOT: 10 September 2026
Read the questions naturally and define terms in context.
Target weight — policy allocation; decimal
Current value — marked sleeve value; USD
Target value — weight × total portfolio value; USD
Trade — target value less current value; USD
Drift — deviation of actual weight from the target
Research question mapping: 
Presentation assembled 25 September 2026. Educational source snapshot; no recording or publication is implied.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EPISODE USMPC-08: Integration, Rebalancing and Portfolio Governance
ARTICLE: https://sokointel.com/read/usmpc-08/
RESEARCH SNAPSHOT: 10 September 2026
Explain the mechanism with the cited article section, then relate it to the opening decision.
Narration: explain each step and its consequence for the opening decision.
ARTICLE SECTION: 2. The illustrative four-sleeve policy
| Sleeve | Target weight | Role | Strategic or tactical? |
|---|---:|---|---|
| SPYM | 60% | Broad S&amp;P 500 U.S. large-cap core | Strategic |
| QQQM | 15% | Nasdaq-100 growth/innovation tilt | Strategic tilt |
| Semiconductor ETF | 10% | Bounded industry overweight | Satellite |
| Wheel / collateral reserve | 15% | Option premium, contingent equity purchase, liquidity | Tactical |
| Total | 100% | | |
State Street reports a 0.02% gross expense ratio for SPYM [2]. Invesco reports 0.15% for QQQM [3]. If SOXQ is used for the semiconductor sleeve, its current expense ratio is 0.19% [4]. The wheel sleeve’s cost is not represented by an ETF expense ratio; it has trading costs, bid-ask spreads, possible assignment costs, and opportunity cost on collateral.
The policy’s fund-level weighted expense ratio before wheel trading costs is:
\[
e_p=(0.60)(0.02\%)+(0.15)(0.15\%)+(0.10)(0.19\%)=0.0535\%.
\]
On $100,000, that is approximately $53.50 per year in stated fund expenses attributable to those three sleeves, assuming the weights stay constant. This number is useful, but it does not describe portfolio risk.
ARTICLE SECTION: 19. The boundaries of an integrated portfolio
The worked policy is a U.S.-equity-heavy core-satellite portfolio with growth, semiconductor and options tilts. It is not a complete household balance sheet: it omits dedicated bonds, emergency liquidity, currency matching, tax-residence analysis and estate planning. Those issues should be handled at the broader wealth-management layer rather than forced into the U.S. sleeve.
Presentation assembled 25 September 2026. Educational source snapshot; no recording or publication is implied.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EPISODE USMPC-08: Integration, Rebalancing and Portfolio Governance
ARTICLE: https://sokointel.com/read/usmpc-08/
RESEARCH SNAPSHOT: 10 September 2026
Explain the mechanism with the cited article section, then relate it to the opening decision.
Narration: explain each step and its consequence for the opening decision.
ARTICLE SECTION: 17. Model risk and false precision
Portfolio models are decision aids, not forecasts. Expense ratios and option expiration payoffs can be specified precisely; expected returns, correlations and volatilities cannot. The workbook therefore separates sourced facts from assumptions, keeps assumptions editable, and places stress tests beside point estimates. This reduces the risk that a spreadsheet’s numerical precision is mistaken for economic certainty.
ARTICLE SECTION: 5. Risk contribution is more informative than capital weight
For covariance matrix \(\Sigma\), marginal contribution to risk is:
\[
MCR_i=\frac{(\Sigma w)_i}{\sigma_p},
\]
and component risk contribution is:
\[
RC_i=w_iMCR_i.
\]
The sum of \(RC_i\) equals total portfolio volatility. This lets the investor ask whether a small satellite is consuming an outsized share of the risk budget.
The idea is related to risk-parity thinking, where portfolios are designed around the contribution of assets to total risk rather than dollar weights [6]. This series does not propose a leveraged risk-parity portfolio; it borrows the diagnostic because it is useful for any allocation.
If the 10% semiconductor sleeve contributes 20% of modeled volatility, the policy can respond in three ways: accept the concentration, reduce the sector weight, or add genuinely diversifying exposure elsewhere. Pretending the sleeve is “only 10%” is not a fourth option.
Presentation assembled 25 September 2026. Educational source snapshot; no recording or publication is implied.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EPISODE USMPC-08: Integration, Rebalancing and Portfolio Governance
ARTICLE: https://sokointel.com/read/usmpc-08/
RESEARCH SNAPSHOT: 10 September 2026
Explain the mechanism with the cited article section, then relate it to the opening decision.
Narration: explain each step and its consequence for the opening decision.
ARTICLE SECTION: 9. Rebalancing: calendar, threshold or contribution first
Investor.gov describes rebalancing as restoring a portfolio to its target allocation after market movements cause drift [1]. It identifies both calendar-based and threshold-based approaches and notes that investors can rebalance by selling overweight positions, buying underweight positions, or redirecting new contributions [8].
A practical policy can combine these methods:
- monitor monthly;
- formally review quarterly;
- trade only when a band is breached or cash flows permit efficient correction; and
- use new contributions first before taxable sales where appropriate.
For a target \(w_i^\) and current weight \(w_i\), relative drift is:
\[
D_i=\frac{w_i-w_i^}{w_i^}.
\]
If the policy allows ±20% relative drift, a 10% semiconductor target has an 8%–12% range. A 60% SPYM target has a 48%–72% range, which may be too wide for a core sleeve. This illustrates why different sleeves can use different bands. A policy might use tighter absolute bands for the core and smaller, proportional bands for volatile satellites.
ARTICLE SECTION: 11. Rebalancing is a risk-control rule, not a return prediction
Rebalancing systematically trims relative winners and adds to relative losers. It can be uncomfortable because the investor is asked to sell what looks strongest and buy what looks weakest. Investor.gov explicitly notes that this can be psychologically difficult [1].
The purpose is not to guarantee a rebalancing bonus. It is to keep the portfolio near the intended risk profile. If a satellite doubles and grows from 10% to 20%, the portfolio is no longer the one originally approved. Rebalancing makes the risk decision again using policy rather than momentum.
The exception is when the policy thesis itself changes. If a fund changes benchmark, an investor’s time horizon shortens, or the option sleeve no longer fits liquidity needs, blindly returning to the old target is not disciplined. The correct process is to amend the policy first, document why, and then rebalance to the new targets.
Presentation assembled 25 September 2026. Educational source snapshot; no recording or publication is implied.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EPISODE USMPC-08: Integration, Rebalancing and Portfolio Governance
ARTICLE: https://sokointel.com/read/usmpc-08/
RESEARCH SNAPSHOT: 10 September 2026
Article worked example and saved workbook evidence; preserve their separate assumptions.
Equation: Tradeᵢ = target weightᵢ × current portfolio value − current sleeve valueᵢ
Substitution: Source SPYM: target USD 32,532.50 − current USD 31,625.00 = buy USD 907.50.
Interpretation: The four source rebalance trades net to zero before transaction costs.
ARTICLE SECTION: 13. Costs: distinguish known from uncertain
Fund expense ratios are relatively easy to verify from issuer pages. Trading costs and taxes are more account-specific. A robust model therefore separates:
Known/observable inputs: stated expense ratios, contract multiplier, target weights, current values.
Market-sensitive inputs: spreads, implied volatility, option premium, interest rates, current holdings weights.
Assumptions: expected returns, volatilities, correlations, stress shocks, tax rates.
Rules: rebalance bands, maximum sector weight, collateral ceiling, single-name cap.
Mixing those categories is a common modeling error. A current 0.19% SOXQ expense ratio is a sourced input [4]; a 9.5% semiconductor expected return is an assumption. They should not be formatted or described as if they had the same evidentiary status.
ARTICLE SECTION: A.7 Exact rebalance trade
\[
Trade_i = target weight_i × total portfolio value − current sleeve value_i [multiplication notation clarified from the source extraction].
\]
Presentation assembled 25 September 2026. Educational source snapshot; no recording or publication is implied.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EPISODE USMPC-08: Integration, Rebalancing and Portfolio Governance
ARTICLE: https://sokointel.com/read/usmpc-08/
RESEARCH SNAPSHOT: 10 September 2026
ACTUAL WORKBOOK CAPTURE
Workbook: C:\Users\Nevo\Downloads\financial material\US Markets and Portfolio Construction\US_Markets_Portfolio_Construction_Final_Workbook.xlsx
Sheet/range: 'P08 Rebalancing'!A11:F17
SHA-256: 5a040bdadf9c5682f5370a882c44aec18bb6359ea96bcd8121b634d35620ab38
Capture method: Microsoft Excel read-only PDF range export. Print headings retained. Source not saved.
Asset: Evidence/Workbooks/USMPC-08-01-p1.png
SCREEN RECORDING WALKTHROUGH
Read the row and column headings. Identify inputs, follow the dependent row and explain the units. Do not alter the source workbook while recording; use a copy for a new scenario.
Extracted evidence text:
11
12
13
14
15
16
17
A B C D E F
Sleeve Current value Target weight Target value Trade Action
SPYM (equity core) $31,625.00 55.0% $32,532.50 $907.50 BUY
AGG (bond core) $7,650.00 15.0% $8,872.50 $1,222.50 BUY
QQQM (growth tilt) $9,750.00 15.0% $8,872.50 ($877.50) SELL
Satellite blend $10,125.00 15.0% $8,872.50 ($1,252.50) SELL
$0.00
Rebalancing trade to restore target weights
Net (should be $0 -- a rebalance moves money between sleeves, not in or out)
Relevant article context:
ARTICLE SECTION: # Part 08: Integration, Rebalancing and Portfolio Governance
US Markets and Portfolio Construction, unified nine-part series. Research edition: 15 September 2026.
A portfolio becomes a durable policy when allocations, cash flows, rebalancing triggers and decision rights are documented together.
ARTICLE SECTION: 9. Rebalancing: calendar, threshold or contribution first
Investor.gov describes rebalancing as restoring a portfolio to its target allocation after market movements cause drift [1]. It identifies both calendar-based and threshold-based approaches and notes that investors can rebalance by selling overweight positions, buying underweight positions, or redirecting new contributions [8].
A practical policy can combine these methods:
- monitor monthly;
- formally review quarterly;
- trade only when a band is breached or cash flows permit efficient correction; and
- use new contributions first before taxable sales where appropriate.
For a target \(w_i^\) and current weight \(w_i\), relative drift is:
\[
D_i=\frac{w_i-w_i^}{w_i^}.
\]
If the policy allows ±20% relative drift, a 10% semiconductor target has an 8%–12% range. A 60% SPYM target has a 48%–72% range, which may be too wide for a core sleeve. This illustrates why different sleeves can use different bands. A policy might use tighter absolute bands for the core and smaller, proportional bands for volatile satellites.
Presentation assembled 25 September 2026. Educational source snapshot; no recording or publication is implied.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EPISODE USMPC-08: Integration, Rebalancing and Portfolio Governance
ARTICLE: https://sokointel.com/read/usmpc-08/
RESEARCH SNAPSHOT: 10 September 2026
Teaching sensitivity; hold other assumptions fixed unless a multi-input case is explicitly named.
Base: Current weights drift away from the four-sleeve targets.
Changed: Direct new cash toward underweight sleeves first.
Consequence: Recalculate residual trades on the new portfolio total; compare taxes and costs before selling.
ARTICLE SECTION: 7. Stress testing before optimization
Optimization can create precise answers from uncertain inputs. Stress testing is often more transparent. The investor defines a severe but interpretable market path and calculates the portfolio effect.
Consider this deterministic scenario:
| Sleeve | Weight | Stress return | Portfolio contribution |
|---|---:|---:|---:|
| SPYM | 60% | -30% | -18.00% |
| QQQM | 15% | -40% | -6.00% |
| Semiconductor ETF | 10% | -50% | -5.00% |
| Wheel/reserve | 15% | -25% | -3.75% |
| Portfolio | 100% | n/a | -32.75% |
The wheel/reserve stress assumes some cash cushioning and some assigned equity exposure. Another portfolio could have a different result. What matters is that the policy has a drawdown conversation before the drawdown occurs.
If -32.75% would cause the investor to abandon the plan, the portfolio is too aggressive for that loss capacity regardless of expected return estimates.
ARTICLE SECTION: 9. Rebalancing: calendar, threshold or contribution first
Investor.gov describes rebalancing as restoring a portfolio to its target allocation after market movements cause drift [1]. It identifies both calendar-based and threshold-based approaches and notes that investors can rebalance by selling overweight positions, buying underweight positions, or redirecting new contributions [8].
A practical policy can combine these methods:
- monitor monthly;
- formally review quarterly;
- trade only when a band is breached or cash flows permit efficient correction; and
- use new contributions first before taxable sales where appropriate.
For a target \(w_i^\) and current weight \(w_i\), relative drift is:
\[
D_i=\frac{w_i-w_i^}{w_i^}.
\]
If the policy allows ±20% relative drift, a 10% semiconductor target has an 8%–12% range. A 60% SPYM target has a 48%–72% range, which may be too wide for a core sleeve. This illustrates why different sleeves can use different bands. A policy might use tighter absolute bands for the core and smaller, proportional bands for volatile satellites.
Presentation assembled 25 September 2026. Educational source snapshot; no recording or publication is implied.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EPISODE USMPC-08: Integration, Rebalancing and Portfolio Governance
ARTICLE: https://sokointel.com/read/usmpc-08/
RESEARCH SNAPSHOT: 10 September 2026
REAL WEB CAPTURE
{
  "slug": "dca-portfolio",
  "url": "https://sokointel.com/calculators/dca-portfolio/",
  "captured_at": "2026-09-25T05:01:21.691Z",
  "inputs": [
    {
      "name": "total_cash",
      "value": "100000"
    },
    {
      "name": "deployment_months",
      "value": "6"
    },
    {
      "name": "percentage_commission",
      "value": "2.1"
    },
    {
      "name": "fixed_order_fee",
      "value": "0"
    },
    {
      "name": "minimum_order_fee",
      "value": "0"
    },
    {
      "name": "cash_reserve",
      "value": "0"
    },
    {
      "name": "default_withholding_tax",
      "value": "5"
    },
    {
      "name": "purchase_mode",
      "value": "monthly"
    },
    {
      "name": "holding_label_0",
      "value": "SCOM"
    },
    {
      "name": "holding_share_price_0",
      "value": "36.45"
    },
    {
      "name": "holding_target_weight_0",
      "value": "55"
    },
    {
      "name": "holding_dividend_per_share_0",
      "value": "2"
    },
    {
      "name": "holding_withholding_tax_0",
      "value": ""
    },
    {
      "name": "holding_sector_0",
      "value": ""
    },
    {
      "name": "holding_label_1",
      "value": "EQTY"
    },
    {
      "name": "holding_share_price_1",
      "value": "101.75"
    },
    {
      "name": "holding_target_weight_1",
      "value": "35"
    },
    {
      "name": "holding_dividend_per_share_1",
      "value": "5.75"
    },
    {
      "name": "holding_withholding_tax_1",
      "value": ""
    },
    {
      "name": "holding_sector_1",
      "value": ""
    },
    {
      "name": "holding_label_2",
      "value": "NSE"
    },
    {
      "name": "holding_share_price_2",
      "value": "27.65"
    },
    {
      "name": "holding_target_weight_2",
      "value": "10"
    },
    {
      "name": "holding_dividend_per_share_2",
      "value": "1"
    },
    {
      "name": "holding_withholding_tax_2",
      "value": ""
    },
    {
      "name": "holding_sector_2",
      "value": ""
    }
  ],
  "screenshots": [
    "dca-portfolio-inputs.png",
    "dca-portfolio-full.png",
    "dca-portfolio-results.png",
    "dca-portfolio-summary.png"
  ],
  "get_status": 200,
  "title": "DCA portfolio and dividend planner | Sokointel",
  "scenario": "Illustrative historical-price teaching scenario supplied in the project discussion; not current quotes.",
  "post_status": 200,
  "results_text": "6-MONTH MONTHLY PLAN\n\nBuying budget after reserve\nKES 100,000\nTotal deployed, including costs\nKES 99,867\nNet annual dividend estimate\nKES 4,978\nNet yield on original cash\n4.98%\nReview before ordering.\nSCOM: target weight is above 40%; review concentration risk.\nPortfolio allocation and income\nHolding\tTarget weight\tActual deployed weight\tShares\tSecurity value\tCosts\tGross dividend\tNet dividend\nSCOM\t55.00%\t55.04%\t1,477\tKES 53,836.65\tKES 1,130.57\tKES 2,954.00\tKES 2,806.30\nEQTY\t35.00%\t34.95%\t336\tKES 34,188.00\tKES 717.95\tKES 1,932.00\tKES 1,835.40\nNSE\t10.00%\t10.01%\t354\tKES 9,788.10\tKES 205.55\tKES 354.00\tKES 336.30\nCash and dividend reconciliation\nMeasure\tCalculated result\nTotal capital\tKES 100,000.00\nCash reserve retained\tKES 0.00\nSecurities purchased\tKES 97,812.75\nTransaction costs\tKES 2,054.07\nUncommitted cash after whole-share rounding\tKES 133.18\nGross annual dividend estimate\tKES 5,240.00\nDividend withholding estimate\tKES 262.00\nNet yield on deployed capital\t4.98%\nSee the monthly purchase schedule\nFollow the calculation\n𝐵\n=\n𝐶\n−\n𝑅\n,\n𝑇\n𝑖\n,\n𝑡\n=\n𝐵\n𝑚\n×\n𝑤\n𝑖\n×\n𝑡\n𝑁\n𝑖\n,\n𝑡\n=\n⌊\n𝐴\n𝑖\n,\n𝑡\n𝑃\n𝑖\n+\ncost per share\n𝑖\n,\n𝑡\n⌋\n,\n𝐷\n𝑖\n,\nnet\n=\n𝑆\n𝑖\n𝑑\n𝑖\n(\n1\n−\n𝜏\n𝑖\n)\nTake the research further.\n\nRead the full NSE dividend-growth case, then use its companion formula workbook for changing prices, dividend growth, reinvestment, rebalancing bands, dividend cuts, sector limits, and scenarios.\n\nRead the DCA research →",
  "alerts": [],
  "base": "Evidence/Web"
}
DEMONSTRATION SCOPE
Use target weights, reference prices and costs to form an affordable purchase plan. Follow the residual cash after integer-share rounding.
Stress losses, covariance and HHI belong in the workbook, not this purchase planner.
The calculator defaults may be a separate teaching example. Do not claim the displayed default equals the article or workbook case unless inputs and conventions have been reconciled. DCF uses FCFF discounted at WACC, subtracting net debt once; do not put after-interest owner earnings into that model. For financial companies use the separate capital model.
For the DCA dividend capture only: the original page renders a fraction as a percentage without multiplying by 100. The derived screenshot is an exact table crop excluding that card, not a retouched page. Correct yield = 1,015.5093/100,000 ×100 = 1.0155093%, approximately 1.02%. The protected tool was not changed.
The DCA portfolio calculator is limited to purchase/allocation mechanics and does not calculate a 30-company HHI, correlation or a stress loss. The compounding explorer is a constant-return contribution-timing model, not a sequence-of-returns withdrawal simulation.
Presentation assembled 25 September 2026. Educational source snapshot; no recording or publication is implied.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EPISODE USMPC-08: Integration, Rebalancing and Portfolio Governance
ARTICLE: https://sokointel.com/read/usmpc-08/
RESEARCH SNAPSHOT: 10 September 2026
Answer: Separate sleeves form one policy only when overlap, covariance, collateral, costs and rebalancing are considered together. A governance rule makes the portfolio maintainable.
Viewer task: Adopt review dates, drift triggers and a contribution-first rule in one investment policy.
Return to each opening research question and identify what remains conditional or unknown.
ARTICLE SECTION: 18. A quarterly portfolio review process
A disciplined quarterly review can:
1. update market values and sourced ETF facts;
2. recalculate weights, overlap and risk contributions;
3. test target-band breaches;
4. review committed option collateral and assignment exposure;
5. refresh scenarios only when the regime or assumptions materially change;
6. compare wheel results with simply holding the underlying;
7. rebalance with cash flows first where practical; and
8. archive the dated model and rationale.
The process is intentionally slower than the news cycle because the strategic core should not be redesigned around short-term headlines.
ARTICLE SECTION: A.10 Free tactical cash
\[
FreeCash=WheelCash-CommittedCollateral-OtherObligations.
\]
# Appendix B: Workbook control hierarchy
Inputs: portfolio value, target weights, current sleeve values, expected returns, volatilities, correlations, scenario shocks, option strikes, premiums and contract counts.
Sourced facts: ETF expense ratios, benchmarks, option multiplier and current issuer information. Each sourced fact should carry an as-of date and URL.
Calculated outputs: weighted fee, target-dollar values, rebalance trades, portfolio expected return under assumptions, covariance matrix, modeled volatility, component risk, stress returns, wheel collateral, effective basis and option payoff.
Policy flags: weight outside band, sector concentration above limit, collateral utilization above ceiling, free cash below floor, or source data older than the review interval.
# Appendix C: Publication and audit checklist
Before publishing an update to this series, verify each ETF fact against the issuer’s current website; verify index descriptions against the index provider; confirm any academic citation by DOI or publisher page; remove stale ticker or fee claims; label market data with an as-of date; recalculate every table from the workbook; test spreadsheet formulas for errors; confirm article word counts; ensure every in-text IEEE citation has a matching reference; archive the source URLs; and state clearly which numerical inputs are illustrative assumptions.
# Appendix D: Boundaries of the model
This workbook does not model personal taxes, foreign-exchange costs, U.S. estate-tax exposure, Kenyan tax treatment, broker-specific margin rules, assignment fees or real-time option Greeks. Those can materially change implementation for a cross-border investor. They should be added only with jurisdiction-specific, current sources. The absence of those layers is a model boundary, not an assumption that the costs are zero.
# References
[1] U.S. Securities and Exchange Commission, “Asset Allocation and Diversification,” Investor.gov, 2026. [Online]. Available: https://www.investor.gov/introduction-investing/getting-started/asset-allocation. [Accessed: Sep. 11, 2026].
[2] State Street Investment Management, “SPYM: State Street SPDR Portfolio S&amp;P 500 ETF,” 2026. [Online]. Available: https://www.ssga.com/us/en/intermediary/etfs/state-street-spdr-portfolio-sp-500-etf-spym. [Accessed: Sep. 11, 2026].
[3] Invesco, “Invesco NASDAQ 100 ETF (QQQM), Q2 2026,” Jun. 30, 2026. [Online]. Available: https://www.invesco.com/us-rest/contentdetail?contentId=5b4d8e58e0737710VgnVCM1000006e36b50aRCRD. [Accessed: Sep. 11, 2026].
[4] Invesco, “Invesco PHLX Semiconductor ETF (SOXQ),” 2026. [Online]. Available: https://www.invesco.com/us/en/financial-products/etfs/invesco-phlx-semiconductor-etf.html. [Accessed: Sep. 11, 2026].
[5] H. Markowitz, “Portfolio selection,” The Journal of Finance, vol. 7, no. 1, pp. 77–91, Mar. 1952, doi: 10.1111/j.1540-6261.1952.tb01525.x.
[6] E. Qian, “Risk parity portfolios: Efficient portfolios through true diversification,” PanAgora Asset Management, Sep. 2005. [Online]. Available: https://www.panagora.com/wp-content/uploads/2011/09/PanAgora-Risk-Parity-Portfolios-Efficient-Portfolios-Through-True-Diversification.pdf. [Accessed: Sep. 11, 2026].
[7] The Options Clearing Corporation, “Equity Options Product Specifications,” 2026. [Online]. Available: https://www.theocc.com/clearance-and-settlement/clearing/equity-options-product-specifications. [Accessed: Sep. 
Presentation assembled 25 September 2026. Educational source snapshot; no recording or publication is implied.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EPISODE USMPC-08: Integration, Rebalancing and Portfolio Governance
ARTICLE: https://sokointel.com/read/usmpc-08/
RESEARCH SNAPSHOT: 10 September 2026
SOURCE MATERIAL
All linked source URLs:
Additional content sources:
[]
Workbook provenance:
C:\Users\Nevo\Downloads\financial material\US Markets and Portfolio Construction\US_Markets_Portfolio_Construction_Final_Workbook.xlsx
'P08 Rebalancing'!A11:F17
5a040bdadf9c5682f5370a882c44aec18bb6359ea96bcd8121b634d35620ab38
Article catalog snapshot hash: e4605210b04811ea848b3d4bef140d9caaeb16174d1488e3d29f8d71eb6a9f45
Presentation assembled 25 September 2026. Educational source snapshot; no recording or publication is implied.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image" Target="../media/image-7-1.png"/><Relationship Id="rId2" Type="http://schemas.openxmlformats.org/officeDocument/2006/relationships/slideLayout" Target="../slideLayouts/slideLayout1.xml"/><Relationship Id="rId3"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image" Target="../media/image-9-1.png"/><Relationship Id="rId2" Type="http://schemas.openxmlformats.org/officeDocument/2006/relationships/slideLayout" Target="../slideLayouts/slideLayout1.xml"/><Relationship Id="rId3"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hyperlink" Target="https://sokointel.com/read/usmpc-08/" TargetMode="External"/><Relationship Id="rId2" Type="http://schemas.openxmlformats.org/officeDocument/2006/relationships/hyperlink" Target="https://sokointel.com/read/usmpc-08/" TargetMode="External"/><Relationship Id="rId3" Type="http://schemas.openxmlformats.org/officeDocument/2006/relationships/slideLayout" Target="../slideLayouts/slideLayout1.xml"/><Relationship Id="rId4" Type="http://schemas.openxmlformats.org/officeDocument/2006/relationships/notesSlide" Target="../notesSlides/notesSlide11.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163047"/>
        </a:solidFill>
      </p:bgPr>
    </p:bg>
    <p:spTree>
      <p:nvGrpSpPr>
        <p:cNvPr id="1" name=""/>
        <p:cNvGrpSpPr/>
        <p:nvPr/>
      </p:nvGrpSpPr>
      <p:grpSpPr>
        <a:xfrm>
          <a:off x="0" y="0"/>
          <a:ext cx="0" cy="0"/>
          <a:chOff x="0" y="0"/>
          <a:chExt cx="0" cy="0"/>
        </a:xfrm>
      </p:grpSpPr>
      <p:sp>
        <p:nvSpPr>
          <p:cNvPr id="2" name="Shape 0"/>
          <p:cNvSpPr/>
          <p:nvPr/>
        </p:nvSpPr>
        <p:spPr>
          <a:xfrm>
            <a:off x="0" y="0"/>
            <a:ext cx="146304" cy="6858000"/>
          </a:xfrm>
          <a:prstGeom prst="rect">
            <a:avLst/>
          </a:prstGeom>
          <a:solidFill>
            <a:srgbClr val="BB8432"/>
          </a:solidFill>
          <a:ln w="12700">
            <a:solidFill>
              <a:srgbClr val="BB8432">
                <a:alpha val="0"/>
              </a:srgbClr>
            </a:solidFill>
            <a:prstDash val="solid"/>
          </a:ln>
        </p:spPr>
      </p:sp>
      <p:sp>
        <p:nvSpPr>
          <p:cNvPr id="3" name="Text 1"/>
          <p:cNvSpPr/>
          <p:nvPr/>
        </p:nvSpPr>
        <p:spPr>
          <a:xfrm>
            <a:off x="685800" y="530352"/>
            <a:ext cx="10789920" cy="274320"/>
          </a:xfrm>
          <a:prstGeom prst="rect">
            <a:avLst/>
          </a:prstGeom>
          <a:noFill/>
          <a:ln/>
        </p:spPr>
        <p:txBody>
          <a:bodyPr wrap="square" lIns="0" tIns="0" rIns="0" bIns="0" rtlCol="0" anchor="t"/>
          <a:lstStyle/>
          <a:p>
            <a:pPr indent="0" marL="0">
              <a:spcAft>
                <a:spcPts val="600"/>
              </a:spcAft>
              <a:buNone/>
            </a:pPr>
            <a:r>
              <a:rPr lang="en-US" sz="1300" spc="200" kern="0" dirty="0">
                <a:solidFill>
                  <a:srgbClr val="B9DAD6"/>
                </a:solidFill>
                <a:latin typeface="Aptos" pitchFamily="34" charset="0"/>
                <a:ea typeface="Aptos" pitchFamily="34" charset="-122"/>
                <a:cs typeface="Aptos" pitchFamily="34" charset="-120"/>
              </a:rPr>
              <a:t>SOKOINTEL  /  RESEARCH EXPLAINED</a:t>
            </a:r>
            <a:endParaRPr lang="en-US" sz="1300" dirty="0"/>
          </a:p>
        </p:txBody>
      </p:sp>
      <p:sp>
        <p:nvSpPr>
          <p:cNvPr id="4" name="Text 2"/>
          <p:cNvSpPr/>
          <p:nvPr/>
        </p:nvSpPr>
        <p:spPr>
          <a:xfrm>
            <a:off x="685800" y="1371600"/>
            <a:ext cx="10789920" cy="1920240"/>
          </a:xfrm>
          <a:prstGeom prst="rect">
            <a:avLst/>
          </a:prstGeom>
          <a:noFill/>
          <a:ln/>
        </p:spPr>
        <p:txBody>
          <a:bodyPr wrap="square" lIns="0" tIns="0" rIns="0" bIns="0" rtlCol="0" anchor="t"/>
          <a:lstStyle/>
          <a:p>
            <a:pPr indent="0" marL="0">
              <a:spcAft>
                <a:spcPts val="600"/>
              </a:spcAft>
              <a:buNone/>
            </a:pPr>
            <a:r>
              <a:rPr lang="en-US" sz="4200" dirty="0">
                <a:solidFill>
                  <a:srgbClr val="FFFFFF"/>
                </a:solidFill>
                <a:latin typeface="Georgia" pitchFamily="34" charset="0"/>
                <a:ea typeface="Georgia" pitchFamily="34" charset="-122"/>
                <a:cs typeface="Georgia" pitchFamily="34" charset="-120"/>
              </a:rPr>
              <a:t>Integration, Rebalancing and Portfolio Governance</a:t>
            </a:r>
            <a:endParaRPr lang="en-US" sz="4200" dirty="0"/>
          </a:p>
        </p:txBody>
      </p:sp>
      <p:sp>
        <p:nvSpPr>
          <p:cNvPr id="5" name="Text 3"/>
          <p:cNvSpPr/>
          <p:nvPr/>
        </p:nvSpPr>
        <p:spPr>
          <a:xfrm>
            <a:off x="713232" y="3685032"/>
            <a:ext cx="9875520" cy="1234440"/>
          </a:xfrm>
          <a:prstGeom prst="rect">
            <a:avLst/>
          </a:prstGeom>
          <a:noFill/>
          <a:ln/>
        </p:spPr>
        <p:txBody>
          <a:bodyPr wrap="square" lIns="0" tIns="0" rIns="0" bIns="0" rtlCol="0" anchor="t"/>
          <a:lstStyle/>
          <a:p>
            <a:pPr indent="0" marL="0">
              <a:spcAft>
                <a:spcPts val="600"/>
              </a:spcAft>
              <a:buNone/>
            </a:pPr>
            <a:r>
              <a:rPr lang="en-US" sz="2400" dirty="0">
                <a:solidFill>
                  <a:srgbClr val="E3ECE8"/>
                </a:solidFill>
                <a:latin typeface="Aptos" pitchFamily="34" charset="0"/>
                <a:ea typeface="Aptos" pitchFamily="34" charset="-122"/>
                <a:cs typeface="Aptos" pitchFamily="34" charset="-120"/>
              </a:rPr>
              <a:t>An educational US-market portfolio, funded and maintained through an explicit policy rather than a prediction of the next winning fund.</a:t>
            </a:r>
            <a:endParaRPr lang="en-US" sz="2400" dirty="0"/>
          </a:p>
        </p:txBody>
      </p:sp>
      <p:sp>
        <p:nvSpPr>
          <p:cNvPr id="6" name="Text 4"/>
          <p:cNvSpPr/>
          <p:nvPr/>
        </p:nvSpPr>
        <p:spPr>
          <a:xfrm>
            <a:off x="713232" y="5971032"/>
            <a:ext cx="10789920" cy="420624"/>
          </a:xfrm>
          <a:prstGeom prst="rect">
            <a:avLst/>
          </a:prstGeom>
          <a:noFill/>
          <a:ln/>
        </p:spPr>
        <p:txBody>
          <a:bodyPr wrap="square" lIns="0" tIns="0" rIns="0" bIns="0" rtlCol="0" anchor="t"/>
          <a:lstStyle/>
          <a:p>
            <a:pPr indent="0" marL="0">
              <a:spcAft>
                <a:spcPts val="600"/>
              </a:spcAft>
              <a:buNone/>
            </a:pPr>
            <a:r>
              <a:rPr lang="en-US" sz="1200" dirty="0">
                <a:solidFill>
                  <a:srgbClr val="B9DAD6"/>
                </a:solidFill>
                <a:latin typeface="Aptos" pitchFamily="34" charset="0"/>
                <a:ea typeface="Aptos" pitchFamily="34" charset="-122"/>
                <a:cs typeface="Aptos" pitchFamily="34" charset="-120"/>
              </a:rPr>
              <a:t>USMPC-08   •   Dated source record • fictional calculations are labelled as illustrations</a:t>
            </a:r>
            <a:endParaRPr lang="en-US" sz="12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7F5EF"/>
        </a:solidFill>
      </p:bgPr>
    </p:bg>
    <p:spTree>
      <p:nvGrpSpPr>
        <p:cNvPr id="1" name=""/>
        <p:cNvGrpSpPr/>
        <p:nvPr/>
      </p:nvGrpSpPr>
      <p:grpSpPr>
        <a:xfrm>
          <a:off x="0" y="0"/>
          <a:ext cx="0" cy="0"/>
          <a:chOff x="0" y="0"/>
          <a:chExt cx="0" cy="0"/>
        </a:xfrm>
      </p:grpSpPr>
      <p:sp>
        <p:nvSpPr>
          <p:cNvPr id="2" name="Shape 0"/>
          <p:cNvSpPr/>
          <p:nvPr/>
        </p:nvSpPr>
        <p:spPr>
          <a:xfrm>
            <a:off x="0" y="0"/>
            <a:ext cx="12191695" cy="100584"/>
          </a:xfrm>
          <a:prstGeom prst="rect">
            <a:avLst/>
          </a:prstGeom>
          <a:solidFill>
            <a:srgbClr val="176F73"/>
          </a:solidFill>
          <a:ln w="12700">
            <a:solidFill>
              <a:srgbClr val="176F73">
                <a:alpha val="0"/>
              </a:srgbClr>
            </a:solidFill>
            <a:prstDash val="solid"/>
          </a:ln>
        </p:spPr>
      </p:sp>
      <p:sp>
        <p:nvSpPr>
          <p:cNvPr id="3" name="Text 1"/>
          <p:cNvSpPr/>
          <p:nvPr/>
        </p:nvSpPr>
        <p:spPr>
          <a:xfrm>
            <a:off x="502920" y="365760"/>
            <a:ext cx="11155680" cy="228600"/>
          </a:xfrm>
          <a:prstGeom prst="rect">
            <a:avLst/>
          </a:prstGeom>
          <a:noFill/>
          <a:ln/>
        </p:spPr>
        <p:txBody>
          <a:bodyPr wrap="square" lIns="0" tIns="0" rIns="0" bIns="0" rtlCol="0" anchor="t"/>
          <a:lstStyle/>
          <a:p>
            <a:pPr indent="0" marL="0">
              <a:spcAft>
                <a:spcPts val="600"/>
              </a:spcAft>
              <a:buNone/>
            </a:pPr>
            <a:r>
              <a:rPr lang="en-US" sz="1100" b="1" spc="150" kern="0" dirty="0">
                <a:solidFill>
                  <a:srgbClr val="176F73"/>
                </a:solidFill>
                <a:latin typeface="Aptos" pitchFamily="34" charset="0"/>
                <a:ea typeface="Aptos" pitchFamily="34" charset="-122"/>
                <a:cs typeface="Aptos" pitchFamily="34" charset="-120"/>
              </a:rPr>
              <a:t>THE DECISION</a:t>
            </a:r>
            <a:endParaRPr lang="en-US" sz="1100" dirty="0"/>
          </a:p>
        </p:txBody>
      </p:sp>
      <p:sp>
        <p:nvSpPr>
          <p:cNvPr id="4" name="Text 2"/>
          <p:cNvSpPr/>
          <p:nvPr/>
        </p:nvSpPr>
        <p:spPr>
          <a:xfrm>
            <a:off x="502920" y="859536"/>
            <a:ext cx="11155680" cy="941832"/>
          </a:xfrm>
          <a:prstGeom prst="rect">
            <a:avLst/>
          </a:prstGeom>
          <a:noFill/>
          <a:ln/>
        </p:spPr>
        <p:txBody>
          <a:bodyPr wrap="square" lIns="0" tIns="0" rIns="0" bIns="0" rtlCol="0" anchor="t"/>
          <a:lstStyle/>
          <a:p>
            <a:pPr indent="0" marL="0">
              <a:spcAft>
                <a:spcPts val="600"/>
              </a:spcAft>
              <a:buNone/>
            </a:pPr>
            <a:r>
              <a:rPr lang="en-US" sz="3400" dirty="0">
                <a:solidFill>
                  <a:srgbClr val="163047"/>
                </a:solidFill>
                <a:latin typeface="Georgia" pitchFamily="34" charset="0"/>
                <a:ea typeface="Georgia" pitchFamily="34" charset="-122"/>
                <a:cs typeface="Georgia" pitchFamily="34" charset="-120"/>
              </a:rPr>
              <a:t>The questions and the language</a:t>
            </a:r>
            <a:endParaRPr lang="en-US" sz="3400" dirty="0"/>
          </a:p>
        </p:txBody>
      </p:sp>
      <p:sp>
        <p:nvSpPr>
          <p:cNvPr id="5" name="Text 3"/>
          <p:cNvSpPr/>
          <p:nvPr/>
        </p:nvSpPr>
        <p:spPr>
          <a:xfrm>
            <a:off x="502920" y="6473952"/>
            <a:ext cx="2834640" cy="173736"/>
          </a:xfrm>
          <a:prstGeom prst="rect">
            <a:avLst/>
          </a:prstGeom>
          <a:noFill/>
          <a:ln/>
        </p:spPr>
        <p:txBody>
          <a:bodyPr wrap="square" lIns="0" tIns="0" rIns="0" bIns="0" rtlCol="0" anchor="t"/>
          <a:lstStyle/>
          <a:p>
            <a:pPr indent="0" marL="0">
              <a:spcAft>
                <a:spcPts val="600"/>
              </a:spcAft>
              <a:buNone/>
            </a:pPr>
            <a:r>
              <a:rPr lang="en-US" sz="900" spc="100" kern="0" dirty="0">
                <a:solidFill>
                  <a:srgbClr val="50616B"/>
                </a:solidFill>
                <a:latin typeface="Aptos" pitchFamily="34" charset="0"/>
                <a:ea typeface="Aptos" pitchFamily="34" charset="-122"/>
                <a:cs typeface="Aptos" pitchFamily="34" charset="-120"/>
              </a:rPr>
              <a:t>SOKOINTEL  /  USMPC-08</a:t>
            </a:r>
            <a:endParaRPr lang="en-US" sz="900" dirty="0"/>
          </a:p>
        </p:txBody>
      </p:sp>
      <p:sp>
        <p:nvSpPr>
          <p:cNvPr id="6" name="Text 4"/>
          <p:cNvSpPr/>
          <p:nvPr/>
        </p:nvSpPr>
        <p:spPr>
          <a:xfrm>
            <a:off x="3246120" y="6473952"/>
            <a:ext cx="7635240" cy="173736"/>
          </a:xfrm>
          <a:prstGeom prst="rect">
            <a:avLst/>
          </a:prstGeom>
          <a:noFill/>
          <a:ln/>
        </p:spPr>
        <p:txBody>
          <a:bodyPr wrap="square" lIns="0" tIns="0" rIns="0" bIns="0" rtlCol="0" anchor="t"/>
          <a:lstStyle/>
          <a:p>
            <a:pPr indent="0" marL="0">
              <a:spcAft>
                <a:spcPts val="600"/>
              </a:spcAft>
              <a:buNone/>
            </a:pPr>
            <a:r>
              <a:rPr lang="en-US" sz="900" dirty="0">
                <a:solidFill>
                  <a:srgbClr val="50616B"/>
                </a:solidFill>
                <a:latin typeface="Aptos" pitchFamily="34" charset="0"/>
                <a:ea typeface="Aptos" pitchFamily="34" charset="-122"/>
                <a:cs typeface="Aptos" pitchFamily="34" charset="-120"/>
              </a:rPr>
              <a:t>Source material and recording notes included</a:t>
            </a:r>
            <a:endParaRPr lang="en-US" sz="900" dirty="0"/>
          </a:p>
        </p:txBody>
      </p:sp>
      <p:sp>
        <p:nvSpPr>
          <p:cNvPr id="7" name="Text 5"/>
          <p:cNvSpPr/>
          <p:nvPr/>
        </p:nvSpPr>
        <p:spPr>
          <a:xfrm>
            <a:off x="11045952" y="6455664"/>
            <a:ext cx="594360" cy="210312"/>
          </a:xfrm>
          <a:prstGeom prst="rect">
            <a:avLst/>
          </a:prstGeom>
          <a:noFill/>
          <a:ln/>
        </p:spPr>
        <p:txBody>
          <a:bodyPr wrap="square" lIns="0" tIns="0" rIns="0" bIns="0" rtlCol="0" anchor="t"/>
          <a:lstStyle/>
          <a:p>
            <a:pPr algn="r" indent="0" marL="0">
              <a:spcAft>
                <a:spcPts val="600"/>
              </a:spcAft>
              <a:buNone/>
            </a:pPr>
            <a:r>
              <a:rPr lang="en-US" sz="1000" dirty="0">
                <a:solidFill>
                  <a:srgbClr val="176F73"/>
                </a:solidFill>
                <a:latin typeface="Aptos" pitchFamily="34" charset="0"/>
                <a:ea typeface="Aptos" pitchFamily="34" charset="-122"/>
                <a:cs typeface="Aptos" pitchFamily="34" charset="-120"/>
              </a:rPr>
              <a:t>02</a:t>
            </a:r>
            <a:endParaRPr lang="en-US" sz="1000" dirty="0"/>
          </a:p>
        </p:txBody>
      </p:sp>
      <p:sp>
        <p:nvSpPr>
          <p:cNvPr id="8" name="Text 6"/>
          <p:cNvSpPr/>
          <p:nvPr/>
        </p:nvSpPr>
        <p:spPr>
          <a:xfrm>
            <a:off x="594360" y="1847088"/>
            <a:ext cx="5897880" cy="4160520"/>
          </a:xfrm>
          <a:prstGeom prst="rect">
            <a:avLst/>
          </a:prstGeom>
          <a:noFill/>
          <a:ln/>
        </p:spPr>
        <p:txBody>
          <a:bodyPr wrap="square" lIns="0" tIns="0" rIns="0" bIns="0" rtlCol="0" anchor="t"/>
          <a:lstStyle/>
          <a:p>
            <a:pPr indent="0" marL="0">
              <a:spcAft>
                <a:spcPts val="600"/>
              </a:spcAft>
              <a:buNone/>
            </a:pPr>
            <a:endParaRPr lang="en-US" sz="2100" dirty="0"/>
          </a:p>
        </p:txBody>
      </p:sp>
      <p:sp>
        <p:nvSpPr>
          <p:cNvPr id="9" name="Shape 7"/>
          <p:cNvSpPr/>
          <p:nvPr/>
        </p:nvSpPr>
        <p:spPr>
          <a:xfrm>
            <a:off x="6867144" y="1810512"/>
            <a:ext cx="4727448" cy="4352544"/>
          </a:xfrm>
          <a:prstGeom prst="rect">
            <a:avLst/>
          </a:prstGeom>
          <a:solidFill>
            <a:srgbClr val="E9EFE7"/>
          </a:solidFill>
          <a:ln w="12700">
            <a:solidFill>
              <a:srgbClr val="E9EFE7">
                <a:alpha val="0"/>
              </a:srgbClr>
            </a:solidFill>
            <a:prstDash val="solid"/>
          </a:ln>
        </p:spPr>
      </p:sp>
      <p:sp>
        <p:nvSpPr>
          <p:cNvPr id="10" name="Text 8"/>
          <p:cNvSpPr/>
          <p:nvPr/>
        </p:nvSpPr>
        <p:spPr>
          <a:xfrm>
            <a:off x="7114032" y="2039112"/>
            <a:ext cx="4215384" cy="274320"/>
          </a:xfrm>
          <a:prstGeom prst="rect">
            <a:avLst/>
          </a:prstGeom>
          <a:noFill/>
          <a:ln/>
        </p:spPr>
        <p:txBody>
          <a:bodyPr wrap="square" lIns="0" tIns="0" rIns="0" bIns="0" rtlCol="0" anchor="t"/>
          <a:lstStyle/>
          <a:p>
            <a:pPr indent="0" marL="0">
              <a:spcAft>
                <a:spcPts val="600"/>
              </a:spcAft>
              <a:buNone/>
            </a:pPr>
            <a:r>
              <a:rPr lang="en-US" sz="1200" b="1" dirty="0">
                <a:solidFill>
                  <a:srgbClr val="176F73"/>
                </a:solidFill>
                <a:latin typeface="Aptos" pitchFamily="34" charset="0"/>
                <a:ea typeface="Aptos" pitchFamily="34" charset="-122"/>
                <a:cs typeface="Aptos" pitchFamily="34" charset="-120"/>
              </a:rPr>
              <a:t>TERMS &amp; UNITS</a:t>
            </a:r>
            <a:endParaRPr lang="en-US" sz="1200" dirty="0"/>
          </a:p>
        </p:txBody>
      </p:sp>
      <p:sp>
        <p:nvSpPr>
          <p:cNvPr id="11" name="Text 9"/>
          <p:cNvSpPr/>
          <p:nvPr/>
        </p:nvSpPr>
        <p:spPr>
          <a:xfrm>
            <a:off x="7114032" y="2578608"/>
            <a:ext cx="4178808" cy="603504"/>
          </a:xfrm>
          <a:prstGeom prst="rect">
            <a:avLst/>
          </a:prstGeom>
          <a:noFill/>
          <a:ln/>
        </p:spPr>
        <p:txBody>
          <a:bodyPr wrap="square" lIns="0" tIns="0" rIns="0" bIns="0" rtlCol="0" anchor="t"/>
          <a:lstStyle/>
          <a:p>
            <a:pPr indent="0" marL="0">
              <a:buNone/>
            </a:pPr>
            <a:r>
              <a:rPr lang="en-US" sz="1650" dirty="0">
                <a:solidFill>
                  <a:srgbClr val="163047"/>
                </a:solidFill>
                <a:latin typeface="Aptos" pitchFamily="34" charset="0"/>
                <a:ea typeface="Aptos" pitchFamily="34" charset="-122"/>
                <a:cs typeface="Aptos" pitchFamily="34" charset="-120"/>
              </a:rPr>
              <a:t>Target weight — policy allocation; decimal</a:t>
            </a:r>
            <a:endParaRPr lang="en-US" sz="1650" dirty="0"/>
          </a:p>
        </p:txBody>
      </p:sp>
      <p:sp>
        <p:nvSpPr>
          <p:cNvPr id="12" name="Text 10"/>
          <p:cNvSpPr/>
          <p:nvPr/>
        </p:nvSpPr>
        <p:spPr>
          <a:xfrm>
            <a:off x="7114032" y="3236976"/>
            <a:ext cx="4178808" cy="603504"/>
          </a:xfrm>
          <a:prstGeom prst="rect">
            <a:avLst/>
          </a:prstGeom>
          <a:noFill/>
          <a:ln/>
        </p:spPr>
        <p:txBody>
          <a:bodyPr wrap="square" lIns="0" tIns="0" rIns="0" bIns="0" rtlCol="0" anchor="t"/>
          <a:lstStyle/>
          <a:p>
            <a:pPr indent="0" marL="0">
              <a:buNone/>
            </a:pPr>
            <a:r>
              <a:rPr lang="en-US" sz="1650" dirty="0">
                <a:solidFill>
                  <a:srgbClr val="163047"/>
                </a:solidFill>
                <a:latin typeface="Aptos" pitchFamily="34" charset="0"/>
                <a:ea typeface="Aptos" pitchFamily="34" charset="-122"/>
                <a:cs typeface="Aptos" pitchFamily="34" charset="-120"/>
              </a:rPr>
              <a:t>Current value — marked sleeve value; USD</a:t>
            </a:r>
            <a:endParaRPr lang="en-US" sz="1650" dirty="0"/>
          </a:p>
        </p:txBody>
      </p:sp>
      <p:sp>
        <p:nvSpPr>
          <p:cNvPr id="13" name="Text 11"/>
          <p:cNvSpPr/>
          <p:nvPr/>
        </p:nvSpPr>
        <p:spPr>
          <a:xfrm>
            <a:off x="7114032" y="3895344"/>
            <a:ext cx="4178808" cy="603504"/>
          </a:xfrm>
          <a:prstGeom prst="rect">
            <a:avLst/>
          </a:prstGeom>
          <a:noFill/>
          <a:ln/>
        </p:spPr>
        <p:txBody>
          <a:bodyPr wrap="square" lIns="0" tIns="0" rIns="0" bIns="0" rtlCol="0" anchor="t"/>
          <a:lstStyle/>
          <a:p>
            <a:pPr indent="0" marL="0">
              <a:buNone/>
            </a:pPr>
            <a:r>
              <a:rPr lang="en-US" sz="1650" dirty="0">
                <a:solidFill>
                  <a:srgbClr val="163047"/>
                </a:solidFill>
                <a:latin typeface="Aptos" pitchFamily="34" charset="0"/>
                <a:ea typeface="Aptos" pitchFamily="34" charset="-122"/>
                <a:cs typeface="Aptos" pitchFamily="34" charset="-120"/>
              </a:rPr>
              <a:t>Target value — weight × total portfolio value; USD</a:t>
            </a:r>
            <a:endParaRPr lang="en-US" sz="1650" dirty="0"/>
          </a:p>
        </p:txBody>
      </p:sp>
      <p:sp>
        <p:nvSpPr>
          <p:cNvPr id="14" name="Text 12"/>
          <p:cNvSpPr/>
          <p:nvPr/>
        </p:nvSpPr>
        <p:spPr>
          <a:xfrm>
            <a:off x="7114032" y="4553712"/>
            <a:ext cx="4178808" cy="603504"/>
          </a:xfrm>
          <a:prstGeom prst="rect">
            <a:avLst/>
          </a:prstGeom>
          <a:noFill/>
          <a:ln/>
        </p:spPr>
        <p:txBody>
          <a:bodyPr wrap="square" lIns="0" tIns="0" rIns="0" bIns="0" rtlCol="0" anchor="t"/>
          <a:lstStyle/>
          <a:p>
            <a:pPr indent="0" marL="0">
              <a:buNone/>
            </a:pPr>
            <a:r>
              <a:rPr lang="en-US" sz="1650" dirty="0">
                <a:solidFill>
                  <a:srgbClr val="163047"/>
                </a:solidFill>
                <a:latin typeface="Aptos" pitchFamily="34" charset="0"/>
                <a:ea typeface="Aptos" pitchFamily="34" charset="-122"/>
                <a:cs typeface="Aptos" pitchFamily="34" charset="-120"/>
              </a:rPr>
              <a:t>Trade — target value less current value; USD</a:t>
            </a:r>
            <a:endParaRPr lang="en-US" sz="1650" dirty="0"/>
          </a:p>
        </p:txBody>
      </p:sp>
      <p:sp>
        <p:nvSpPr>
          <p:cNvPr id="15" name="Text 13"/>
          <p:cNvSpPr/>
          <p:nvPr/>
        </p:nvSpPr>
        <p:spPr>
          <a:xfrm>
            <a:off x="7114032" y="5212080"/>
            <a:ext cx="4178808" cy="603504"/>
          </a:xfrm>
          <a:prstGeom prst="rect">
            <a:avLst/>
          </a:prstGeom>
          <a:noFill/>
          <a:ln/>
        </p:spPr>
        <p:txBody>
          <a:bodyPr wrap="square" lIns="0" tIns="0" rIns="0" bIns="0" rtlCol="0" anchor="t"/>
          <a:lstStyle/>
          <a:p>
            <a:pPr indent="0" marL="0">
              <a:buNone/>
            </a:pPr>
            <a:r>
              <a:rPr lang="en-US" sz="1650" dirty="0">
                <a:solidFill>
                  <a:srgbClr val="163047"/>
                </a:solidFill>
                <a:latin typeface="Aptos" pitchFamily="34" charset="0"/>
                <a:ea typeface="Aptos" pitchFamily="34" charset="-122"/>
                <a:cs typeface="Aptos" pitchFamily="34" charset="-120"/>
              </a:rPr>
              <a:t>Drift — deviation of actual weight from the target</a:t>
            </a:r>
            <a:endParaRPr lang="en-US" sz="165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7F5EF"/>
        </a:solidFill>
      </p:bgPr>
    </p:bg>
    <p:spTree>
      <p:nvGrpSpPr>
        <p:cNvPr id="1" name=""/>
        <p:cNvGrpSpPr/>
        <p:nvPr/>
      </p:nvGrpSpPr>
      <p:grpSpPr>
        <a:xfrm>
          <a:off x="0" y="0"/>
          <a:ext cx="0" cy="0"/>
          <a:chOff x="0" y="0"/>
          <a:chExt cx="0" cy="0"/>
        </a:xfrm>
      </p:grpSpPr>
      <p:sp>
        <p:nvSpPr>
          <p:cNvPr id="2" name="Shape 0"/>
          <p:cNvSpPr/>
          <p:nvPr/>
        </p:nvSpPr>
        <p:spPr>
          <a:xfrm>
            <a:off x="0" y="0"/>
            <a:ext cx="12191695" cy="100584"/>
          </a:xfrm>
          <a:prstGeom prst="rect">
            <a:avLst/>
          </a:prstGeom>
          <a:solidFill>
            <a:srgbClr val="176F73"/>
          </a:solidFill>
          <a:ln w="12700">
            <a:solidFill>
              <a:srgbClr val="176F73">
                <a:alpha val="0"/>
              </a:srgbClr>
            </a:solidFill>
            <a:prstDash val="solid"/>
          </a:ln>
        </p:spPr>
      </p:sp>
      <p:sp>
        <p:nvSpPr>
          <p:cNvPr id="3" name="Text 1"/>
          <p:cNvSpPr/>
          <p:nvPr/>
        </p:nvSpPr>
        <p:spPr>
          <a:xfrm>
            <a:off x="502920" y="365760"/>
            <a:ext cx="11155680" cy="228600"/>
          </a:xfrm>
          <a:prstGeom prst="rect">
            <a:avLst/>
          </a:prstGeom>
          <a:noFill/>
          <a:ln/>
        </p:spPr>
        <p:txBody>
          <a:bodyPr wrap="square" lIns="0" tIns="0" rIns="0" bIns="0" rtlCol="0" anchor="t"/>
          <a:lstStyle/>
          <a:p>
            <a:pPr indent="0" marL="0">
              <a:spcAft>
                <a:spcPts val="600"/>
              </a:spcAft>
              <a:buNone/>
            </a:pPr>
            <a:r>
              <a:rPr lang="en-US" sz="1100" b="1" spc="150" kern="0" dirty="0">
                <a:solidFill>
                  <a:srgbClr val="176F73"/>
                </a:solidFill>
                <a:latin typeface="Aptos" pitchFamily="34" charset="0"/>
                <a:ea typeface="Aptos" pitchFamily="34" charset="-122"/>
                <a:cs typeface="Aptos" pitchFamily="34" charset="-120"/>
              </a:rPr>
              <a:t>FOLLOW THE MECHANISM</a:t>
            </a:r>
            <a:endParaRPr lang="en-US" sz="1100" dirty="0"/>
          </a:p>
        </p:txBody>
      </p:sp>
      <p:sp>
        <p:nvSpPr>
          <p:cNvPr id="4" name="Text 2"/>
          <p:cNvSpPr/>
          <p:nvPr/>
        </p:nvSpPr>
        <p:spPr>
          <a:xfrm>
            <a:off x="502920" y="859536"/>
            <a:ext cx="11155680" cy="941832"/>
          </a:xfrm>
          <a:prstGeom prst="rect">
            <a:avLst/>
          </a:prstGeom>
          <a:noFill/>
          <a:ln/>
        </p:spPr>
        <p:txBody>
          <a:bodyPr wrap="square" lIns="0" tIns="0" rIns="0" bIns="0" rtlCol="0" anchor="t"/>
          <a:lstStyle/>
          <a:p>
            <a:pPr indent="0" marL="0">
              <a:spcAft>
                <a:spcPts val="600"/>
              </a:spcAft>
              <a:buNone/>
            </a:pPr>
            <a:r>
              <a:rPr lang="en-US" sz="3400" dirty="0">
                <a:solidFill>
                  <a:srgbClr val="163047"/>
                </a:solidFill>
                <a:latin typeface="Georgia" pitchFamily="34" charset="0"/>
                <a:ea typeface="Georgia" pitchFamily="34" charset="-122"/>
                <a:cs typeface="Georgia" pitchFamily="34" charset="-120"/>
              </a:rPr>
              <a:t>Integrate all sleeves into one policy</a:t>
            </a:r>
            <a:endParaRPr lang="en-US" sz="3400" dirty="0"/>
          </a:p>
        </p:txBody>
      </p:sp>
      <p:sp>
        <p:nvSpPr>
          <p:cNvPr id="5" name="Text 3"/>
          <p:cNvSpPr/>
          <p:nvPr/>
        </p:nvSpPr>
        <p:spPr>
          <a:xfrm>
            <a:off x="502920" y="6473952"/>
            <a:ext cx="2834640" cy="173736"/>
          </a:xfrm>
          <a:prstGeom prst="rect">
            <a:avLst/>
          </a:prstGeom>
          <a:noFill/>
          <a:ln/>
        </p:spPr>
        <p:txBody>
          <a:bodyPr wrap="square" lIns="0" tIns="0" rIns="0" bIns="0" rtlCol="0" anchor="t"/>
          <a:lstStyle/>
          <a:p>
            <a:pPr indent="0" marL="0">
              <a:spcAft>
                <a:spcPts val="600"/>
              </a:spcAft>
              <a:buNone/>
            </a:pPr>
            <a:r>
              <a:rPr lang="en-US" sz="900" spc="100" kern="0" dirty="0">
                <a:solidFill>
                  <a:srgbClr val="50616B"/>
                </a:solidFill>
                <a:latin typeface="Aptos" pitchFamily="34" charset="0"/>
                <a:ea typeface="Aptos" pitchFamily="34" charset="-122"/>
                <a:cs typeface="Aptos" pitchFamily="34" charset="-120"/>
              </a:rPr>
              <a:t>SOKOINTEL  /  USMPC-08</a:t>
            </a:r>
            <a:endParaRPr lang="en-US" sz="900" dirty="0"/>
          </a:p>
        </p:txBody>
      </p:sp>
      <p:sp>
        <p:nvSpPr>
          <p:cNvPr id="6" name="Text 4"/>
          <p:cNvSpPr/>
          <p:nvPr/>
        </p:nvSpPr>
        <p:spPr>
          <a:xfrm>
            <a:off x="3246120" y="6473952"/>
            <a:ext cx="7635240" cy="173736"/>
          </a:xfrm>
          <a:prstGeom prst="rect">
            <a:avLst/>
          </a:prstGeom>
          <a:noFill/>
          <a:ln/>
        </p:spPr>
        <p:txBody>
          <a:bodyPr wrap="square" lIns="0" tIns="0" rIns="0" bIns="0" rtlCol="0" anchor="t"/>
          <a:lstStyle/>
          <a:p>
            <a:pPr indent="0" marL="0">
              <a:spcAft>
                <a:spcPts val="600"/>
              </a:spcAft>
              <a:buNone/>
            </a:pPr>
            <a:r>
              <a:rPr lang="en-US" sz="900" dirty="0">
                <a:solidFill>
                  <a:srgbClr val="50616B"/>
                </a:solidFill>
                <a:latin typeface="Aptos" pitchFamily="34" charset="0"/>
                <a:ea typeface="Aptos" pitchFamily="34" charset="-122"/>
                <a:cs typeface="Aptos" pitchFamily="34" charset="-120"/>
              </a:rPr>
              <a:t>Source material and recording notes included</a:t>
            </a:r>
            <a:endParaRPr lang="en-US" sz="900" dirty="0"/>
          </a:p>
        </p:txBody>
      </p:sp>
      <p:sp>
        <p:nvSpPr>
          <p:cNvPr id="7" name="Text 5"/>
          <p:cNvSpPr/>
          <p:nvPr/>
        </p:nvSpPr>
        <p:spPr>
          <a:xfrm>
            <a:off x="11045952" y="6455664"/>
            <a:ext cx="594360" cy="210312"/>
          </a:xfrm>
          <a:prstGeom prst="rect">
            <a:avLst/>
          </a:prstGeom>
          <a:noFill/>
          <a:ln/>
        </p:spPr>
        <p:txBody>
          <a:bodyPr wrap="square" lIns="0" tIns="0" rIns="0" bIns="0" rtlCol="0" anchor="t"/>
          <a:lstStyle/>
          <a:p>
            <a:pPr algn="r" indent="0" marL="0">
              <a:spcAft>
                <a:spcPts val="600"/>
              </a:spcAft>
              <a:buNone/>
            </a:pPr>
            <a:r>
              <a:rPr lang="en-US" sz="1000" dirty="0">
                <a:solidFill>
                  <a:srgbClr val="176F73"/>
                </a:solidFill>
                <a:latin typeface="Aptos" pitchFamily="34" charset="0"/>
                <a:ea typeface="Aptos" pitchFamily="34" charset="-122"/>
                <a:cs typeface="Aptos" pitchFamily="34" charset="-120"/>
              </a:rPr>
              <a:t>03</a:t>
            </a:r>
            <a:endParaRPr lang="en-US" sz="1000" dirty="0"/>
          </a:p>
        </p:txBody>
      </p:sp>
      <p:sp>
        <p:nvSpPr>
          <p:cNvPr id="8" name="Shape 6"/>
          <p:cNvSpPr/>
          <p:nvPr/>
        </p:nvSpPr>
        <p:spPr>
          <a:xfrm>
            <a:off x="658368" y="1865376"/>
            <a:ext cx="73152" cy="758952"/>
          </a:xfrm>
          <a:prstGeom prst="rect">
            <a:avLst/>
          </a:prstGeom>
          <a:solidFill>
            <a:srgbClr val="176F73"/>
          </a:solidFill>
          <a:ln w="12700">
            <a:solidFill>
              <a:srgbClr val="176F73">
                <a:alpha val="0"/>
              </a:srgbClr>
            </a:solidFill>
            <a:prstDash val="solid"/>
          </a:ln>
        </p:spPr>
      </p:sp>
      <p:sp>
        <p:nvSpPr>
          <p:cNvPr id="9" name="Text 7"/>
          <p:cNvSpPr/>
          <p:nvPr/>
        </p:nvSpPr>
        <p:spPr>
          <a:xfrm>
            <a:off x="841248" y="1865376"/>
            <a:ext cx="502920" cy="320040"/>
          </a:xfrm>
          <a:prstGeom prst="rect">
            <a:avLst/>
          </a:prstGeom>
          <a:noFill/>
          <a:ln/>
        </p:spPr>
        <p:txBody>
          <a:bodyPr wrap="square" lIns="0" tIns="0" rIns="0" bIns="0" rtlCol="0" anchor="t"/>
          <a:lstStyle/>
          <a:p>
            <a:pPr indent="0" marL="0">
              <a:spcAft>
                <a:spcPts val="600"/>
              </a:spcAft>
              <a:buNone/>
            </a:pPr>
            <a:r>
              <a:rPr lang="en-US" sz="1300" b="1" dirty="0">
                <a:solidFill>
                  <a:srgbClr val="BB8432"/>
                </a:solidFill>
                <a:latin typeface="Aptos" pitchFamily="34" charset="0"/>
                <a:ea typeface="Aptos" pitchFamily="34" charset="-122"/>
                <a:cs typeface="Aptos" pitchFamily="34" charset="-120"/>
              </a:rPr>
              <a:t>01</a:t>
            </a:r>
            <a:endParaRPr lang="en-US" sz="1300" dirty="0"/>
          </a:p>
        </p:txBody>
      </p:sp>
      <p:sp>
        <p:nvSpPr>
          <p:cNvPr id="10" name="Text 8"/>
          <p:cNvSpPr/>
          <p:nvPr/>
        </p:nvSpPr>
        <p:spPr>
          <a:xfrm>
            <a:off x="1435608" y="1865376"/>
            <a:ext cx="9921240" cy="1051560"/>
          </a:xfrm>
          <a:prstGeom prst="rect">
            <a:avLst/>
          </a:prstGeom>
          <a:noFill/>
          <a:ln/>
        </p:spPr>
        <p:txBody>
          <a:bodyPr wrap="square" lIns="0" tIns="0" rIns="0" bIns="0" rtlCol="0" anchor="t"/>
          <a:lstStyle/>
          <a:p>
            <a:pPr indent="0" marL="0">
              <a:spcAft>
                <a:spcPts val="600"/>
              </a:spcAft>
              <a:buNone/>
            </a:pPr>
            <a:r>
              <a:rPr lang="en-US" sz="2200" dirty="0">
                <a:solidFill>
                  <a:srgbClr val="163047"/>
                </a:solidFill>
                <a:latin typeface="Aptos" pitchFamily="34" charset="0"/>
                <a:ea typeface="Aptos" pitchFamily="34" charset="-122"/>
                <a:cs typeface="Aptos" pitchFamily="34" charset="-120"/>
              </a:rPr>
              <a:t>The illustrative allocation combines core equity, bonds, a growth tilt and a satellite.</a:t>
            </a:r>
            <a:endParaRPr lang="en-US" sz="2200" dirty="0"/>
          </a:p>
        </p:txBody>
      </p:sp>
      <p:sp>
        <p:nvSpPr>
          <p:cNvPr id="11" name="Shape 9"/>
          <p:cNvSpPr/>
          <p:nvPr/>
        </p:nvSpPr>
        <p:spPr>
          <a:xfrm>
            <a:off x="658368" y="3136392"/>
            <a:ext cx="73152" cy="758952"/>
          </a:xfrm>
          <a:prstGeom prst="rect">
            <a:avLst/>
          </a:prstGeom>
          <a:solidFill>
            <a:srgbClr val="176F73"/>
          </a:solidFill>
          <a:ln w="12700">
            <a:solidFill>
              <a:srgbClr val="176F73">
                <a:alpha val="0"/>
              </a:srgbClr>
            </a:solidFill>
            <a:prstDash val="solid"/>
          </a:ln>
        </p:spPr>
      </p:sp>
      <p:sp>
        <p:nvSpPr>
          <p:cNvPr id="12" name="Text 10"/>
          <p:cNvSpPr/>
          <p:nvPr/>
        </p:nvSpPr>
        <p:spPr>
          <a:xfrm>
            <a:off x="841248" y="3136392"/>
            <a:ext cx="502920" cy="320040"/>
          </a:xfrm>
          <a:prstGeom prst="rect">
            <a:avLst/>
          </a:prstGeom>
          <a:noFill/>
          <a:ln/>
        </p:spPr>
        <p:txBody>
          <a:bodyPr wrap="square" lIns="0" tIns="0" rIns="0" bIns="0" rtlCol="0" anchor="t"/>
          <a:lstStyle/>
          <a:p>
            <a:pPr indent="0" marL="0">
              <a:spcAft>
                <a:spcPts val="600"/>
              </a:spcAft>
              <a:buNone/>
            </a:pPr>
            <a:r>
              <a:rPr lang="en-US" sz="1300" b="1" dirty="0">
                <a:solidFill>
                  <a:srgbClr val="BB8432"/>
                </a:solidFill>
                <a:latin typeface="Aptos" pitchFamily="34" charset="0"/>
                <a:ea typeface="Aptos" pitchFamily="34" charset="-122"/>
                <a:cs typeface="Aptos" pitchFamily="34" charset="-120"/>
              </a:rPr>
              <a:t>02</a:t>
            </a:r>
            <a:endParaRPr lang="en-US" sz="1300" dirty="0"/>
          </a:p>
        </p:txBody>
      </p:sp>
      <p:sp>
        <p:nvSpPr>
          <p:cNvPr id="13" name="Text 11"/>
          <p:cNvSpPr/>
          <p:nvPr/>
        </p:nvSpPr>
        <p:spPr>
          <a:xfrm>
            <a:off x="1435608" y="3136392"/>
            <a:ext cx="9921240" cy="1051560"/>
          </a:xfrm>
          <a:prstGeom prst="rect">
            <a:avLst/>
          </a:prstGeom>
          <a:noFill/>
          <a:ln/>
        </p:spPr>
        <p:txBody>
          <a:bodyPr wrap="square" lIns="0" tIns="0" rIns="0" bIns="0" rtlCol="0" anchor="t"/>
          <a:lstStyle/>
          <a:p>
            <a:pPr indent="0" marL="0">
              <a:spcAft>
                <a:spcPts val="600"/>
              </a:spcAft>
              <a:buNone/>
            </a:pPr>
            <a:r>
              <a:rPr lang="en-US" sz="2200" dirty="0">
                <a:solidFill>
                  <a:srgbClr val="163047"/>
                </a:solidFill>
                <a:latin typeface="Aptos" pitchFamily="34" charset="0"/>
                <a:ea typeface="Aptos" pitchFamily="34" charset="-122"/>
                <a:cs typeface="Aptos" pitchFamily="34" charset="-120"/>
              </a:rPr>
              <a:t>Look-through holdings reveal overlap hidden by the four labels.</a:t>
            </a:r>
            <a:endParaRPr lang="en-US" sz="2200" dirty="0"/>
          </a:p>
        </p:txBody>
      </p:sp>
      <p:sp>
        <p:nvSpPr>
          <p:cNvPr id="14" name="Shape 12"/>
          <p:cNvSpPr/>
          <p:nvPr/>
        </p:nvSpPr>
        <p:spPr>
          <a:xfrm>
            <a:off x="658368" y="4407408"/>
            <a:ext cx="73152" cy="758952"/>
          </a:xfrm>
          <a:prstGeom prst="rect">
            <a:avLst/>
          </a:prstGeom>
          <a:solidFill>
            <a:srgbClr val="176F73"/>
          </a:solidFill>
          <a:ln w="12700">
            <a:solidFill>
              <a:srgbClr val="176F73">
                <a:alpha val="0"/>
              </a:srgbClr>
            </a:solidFill>
            <a:prstDash val="solid"/>
          </a:ln>
        </p:spPr>
      </p:sp>
      <p:sp>
        <p:nvSpPr>
          <p:cNvPr id="15" name="Text 13"/>
          <p:cNvSpPr/>
          <p:nvPr/>
        </p:nvSpPr>
        <p:spPr>
          <a:xfrm>
            <a:off x="841248" y="4407408"/>
            <a:ext cx="502920" cy="320040"/>
          </a:xfrm>
          <a:prstGeom prst="rect">
            <a:avLst/>
          </a:prstGeom>
          <a:noFill/>
          <a:ln/>
        </p:spPr>
        <p:txBody>
          <a:bodyPr wrap="square" lIns="0" tIns="0" rIns="0" bIns="0" rtlCol="0" anchor="t"/>
          <a:lstStyle/>
          <a:p>
            <a:pPr indent="0" marL="0">
              <a:spcAft>
                <a:spcPts val="600"/>
              </a:spcAft>
              <a:buNone/>
            </a:pPr>
            <a:r>
              <a:rPr lang="en-US" sz="1300" b="1" dirty="0">
                <a:solidFill>
                  <a:srgbClr val="BB8432"/>
                </a:solidFill>
                <a:latin typeface="Aptos" pitchFamily="34" charset="0"/>
                <a:ea typeface="Aptos" pitchFamily="34" charset="-122"/>
                <a:cs typeface="Aptos" pitchFamily="34" charset="-120"/>
              </a:rPr>
              <a:t>03</a:t>
            </a:r>
            <a:endParaRPr lang="en-US" sz="1300" dirty="0"/>
          </a:p>
        </p:txBody>
      </p:sp>
      <p:sp>
        <p:nvSpPr>
          <p:cNvPr id="16" name="Text 14"/>
          <p:cNvSpPr/>
          <p:nvPr/>
        </p:nvSpPr>
        <p:spPr>
          <a:xfrm>
            <a:off x="1435608" y="4407408"/>
            <a:ext cx="9921240" cy="1051560"/>
          </a:xfrm>
          <a:prstGeom prst="rect">
            <a:avLst/>
          </a:prstGeom>
          <a:noFill/>
          <a:ln/>
        </p:spPr>
        <p:txBody>
          <a:bodyPr wrap="square" lIns="0" tIns="0" rIns="0" bIns="0" rtlCol="0" anchor="t"/>
          <a:lstStyle/>
          <a:p>
            <a:pPr indent="0" marL="0">
              <a:spcAft>
                <a:spcPts val="600"/>
              </a:spcAft>
              <a:buNone/>
            </a:pPr>
            <a:r>
              <a:rPr lang="en-US" sz="2200" dirty="0">
                <a:solidFill>
                  <a:srgbClr val="163047"/>
                </a:solidFill>
                <a:latin typeface="Aptos" pitchFamily="34" charset="0"/>
                <a:ea typeface="Aptos" pitchFamily="34" charset="-122"/>
                <a:cs typeface="Aptos" pitchFamily="34" charset="-120"/>
              </a:rPr>
              <a:t>Options collateral and cash reserves share the same balance sheet.</a:t>
            </a:r>
            <a:endParaRPr lang="en-US" sz="2200" dirty="0"/>
          </a:p>
        </p:txBody>
      </p:sp>
      <p:sp>
        <p:nvSpPr>
          <p:cNvPr id="17" name="Text 15"/>
          <p:cNvSpPr/>
          <p:nvPr/>
        </p:nvSpPr>
        <p:spPr>
          <a:xfrm>
            <a:off x="594360" y="6053328"/>
            <a:ext cx="10972800" cy="274320"/>
          </a:xfrm>
          <a:prstGeom prst="rect">
            <a:avLst/>
          </a:prstGeom>
          <a:noFill/>
          <a:ln/>
        </p:spPr>
        <p:txBody>
          <a:bodyPr wrap="square" lIns="0" tIns="0" rIns="0" bIns="0" rtlCol="0" anchor="t"/>
          <a:lstStyle/>
          <a:p>
            <a:pPr indent="0" marL="0">
              <a:spcAft>
                <a:spcPts val="600"/>
              </a:spcAft>
              <a:buNone/>
            </a:pPr>
            <a:r>
              <a:rPr lang="en-US" sz="1000" dirty="0">
                <a:solidFill>
                  <a:srgbClr val="50616B"/>
                </a:solidFill>
                <a:latin typeface="Aptos" pitchFamily="34" charset="0"/>
                <a:ea typeface="Aptos" pitchFamily="34" charset="-122"/>
                <a:cs typeface="Aptos" pitchFamily="34" charset="-120"/>
              </a:rPr>
              <a:t>Dated source record • fictional calculations are labelled as illustrations</a:t>
            </a:r>
            <a:endParaRPr lang="en-US" sz="10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7F5EF"/>
        </a:solidFill>
      </p:bgPr>
    </p:bg>
    <p:spTree>
      <p:nvGrpSpPr>
        <p:cNvPr id="1" name=""/>
        <p:cNvGrpSpPr/>
        <p:nvPr/>
      </p:nvGrpSpPr>
      <p:grpSpPr>
        <a:xfrm>
          <a:off x="0" y="0"/>
          <a:ext cx="0" cy="0"/>
          <a:chOff x="0" y="0"/>
          <a:chExt cx="0" cy="0"/>
        </a:xfrm>
      </p:grpSpPr>
      <p:sp>
        <p:nvSpPr>
          <p:cNvPr id="2" name="Shape 0"/>
          <p:cNvSpPr/>
          <p:nvPr/>
        </p:nvSpPr>
        <p:spPr>
          <a:xfrm>
            <a:off x="0" y="0"/>
            <a:ext cx="12191695" cy="100584"/>
          </a:xfrm>
          <a:prstGeom prst="rect">
            <a:avLst/>
          </a:prstGeom>
          <a:solidFill>
            <a:srgbClr val="176F73"/>
          </a:solidFill>
          <a:ln w="12700">
            <a:solidFill>
              <a:srgbClr val="176F73">
                <a:alpha val="0"/>
              </a:srgbClr>
            </a:solidFill>
            <a:prstDash val="solid"/>
          </a:ln>
        </p:spPr>
      </p:sp>
      <p:sp>
        <p:nvSpPr>
          <p:cNvPr id="3" name="Text 1"/>
          <p:cNvSpPr/>
          <p:nvPr/>
        </p:nvSpPr>
        <p:spPr>
          <a:xfrm>
            <a:off x="502920" y="365760"/>
            <a:ext cx="11155680" cy="228600"/>
          </a:xfrm>
          <a:prstGeom prst="rect">
            <a:avLst/>
          </a:prstGeom>
          <a:noFill/>
          <a:ln/>
        </p:spPr>
        <p:txBody>
          <a:bodyPr wrap="square" lIns="0" tIns="0" rIns="0" bIns="0" rtlCol="0" anchor="t"/>
          <a:lstStyle/>
          <a:p>
            <a:pPr indent="0" marL="0">
              <a:spcAft>
                <a:spcPts val="600"/>
              </a:spcAft>
              <a:buNone/>
            </a:pPr>
            <a:r>
              <a:rPr lang="en-US" sz="1100" b="1" spc="150" kern="0" dirty="0">
                <a:solidFill>
                  <a:srgbClr val="176F73"/>
                </a:solidFill>
                <a:latin typeface="Aptos" pitchFamily="34" charset="0"/>
                <a:ea typeface="Aptos" pitchFamily="34" charset="-122"/>
                <a:cs typeface="Aptos" pitchFamily="34" charset="-120"/>
              </a:rPr>
              <a:t>FOLLOW THE MECHANISM</a:t>
            </a:r>
            <a:endParaRPr lang="en-US" sz="1100" dirty="0"/>
          </a:p>
        </p:txBody>
      </p:sp>
      <p:sp>
        <p:nvSpPr>
          <p:cNvPr id="4" name="Text 2"/>
          <p:cNvSpPr/>
          <p:nvPr/>
        </p:nvSpPr>
        <p:spPr>
          <a:xfrm>
            <a:off x="502920" y="859536"/>
            <a:ext cx="11155680" cy="941832"/>
          </a:xfrm>
          <a:prstGeom prst="rect">
            <a:avLst/>
          </a:prstGeom>
          <a:noFill/>
          <a:ln/>
        </p:spPr>
        <p:txBody>
          <a:bodyPr wrap="square" lIns="0" tIns="0" rIns="0" bIns="0" rtlCol="0" anchor="t"/>
          <a:lstStyle/>
          <a:p>
            <a:pPr indent="0" marL="0">
              <a:spcAft>
                <a:spcPts val="600"/>
              </a:spcAft>
              <a:buNone/>
            </a:pPr>
            <a:r>
              <a:rPr lang="en-US" sz="3400" dirty="0">
                <a:solidFill>
                  <a:srgbClr val="163047"/>
                </a:solidFill>
                <a:latin typeface="Georgia" pitchFamily="34" charset="0"/>
                <a:ea typeface="Georgia" pitchFamily="34" charset="-122"/>
                <a:cs typeface="Georgia" pitchFamily="34" charset="-120"/>
              </a:rPr>
              <a:t>Risk contributions need a joint model</a:t>
            </a:r>
            <a:endParaRPr lang="en-US" sz="3400" dirty="0"/>
          </a:p>
        </p:txBody>
      </p:sp>
      <p:sp>
        <p:nvSpPr>
          <p:cNvPr id="5" name="Text 3"/>
          <p:cNvSpPr/>
          <p:nvPr/>
        </p:nvSpPr>
        <p:spPr>
          <a:xfrm>
            <a:off x="502920" y="6473952"/>
            <a:ext cx="2834640" cy="173736"/>
          </a:xfrm>
          <a:prstGeom prst="rect">
            <a:avLst/>
          </a:prstGeom>
          <a:noFill/>
          <a:ln/>
        </p:spPr>
        <p:txBody>
          <a:bodyPr wrap="square" lIns="0" tIns="0" rIns="0" bIns="0" rtlCol="0" anchor="t"/>
          <a:lstStyle/>
          <a:p>
            <a:pPr indent="0" marL="0">
              <a:spcAft>
                <a:spcPts val="600"/>
              </a:spcAft>
              <a:buNone/>
            </a:pPr>
            <a:r>
              <a:rPr lang="en-US" sz="900" spc="100" kern="0" dirty="0">
                <a:solidFill>
                  <a:srgbClr val="50616B"/>
                </a:solidFill>
                <a:latin typeface="Aptos" pitchFamily="34" charset="0"/>
                <a:ea typeface="Aptos" pitchFamily="34" charset="-122"/>
                <a:cs typeface="Aptos" pitchFamily="34" charset="-120"/>
              </a:rPr>
              <a:t>SOKOINTEL  /  USMPC-08</a:t>
            </a:r>
            <a:endParaRPr lang="en-US" sz="900" dirty="0"/>
          </a:p>
        </p:txBody>
      </p:sp>
      <p:sp>
        <p:nvSpPr>
          <p:cNvPr id="6" name="Text 4"/>
          <p:cNvSpPr/>
          <p:nvPr/>
        </p:nvSpPr>
        <p:spPr>
          <a:xfrm>
            <a:off x="3246120" y="6473952"/>
            <a:ext cx="7635240" cy="173736"/>
          </a:xfrm>
          <a:prstGeom prst="rect">
            <a:avLst/>
          </a:prstGeom>
          <a:noFill/>
          <a:ln/>
        </p:spPr>
        <p:txBody>
          <a:bodyPr wrap="square" lIns="0" tIns="0" rIns="0" bIns="0" rtlCol="0" anchor="t"/>
          <a:lstStyle/>
          <a:p>
            <a:pPr indent="0" marL="0">
              <a:spcAft>
                <a:spcPts val="600"/>
              </a:spcAft>
              <a:buNone/>
            </a:pPr>
            <a:r>
              <a:rPr lang="en-US" sz="900" dirty="0">
                <a:solidFill>
                  <a:srgbClr val="50616B"/>
                </a:solidFill>
                <a:latin typeface="Aptos" pitchFamily="34" charset="0"/>
                <a:ea typeface="Aptos" pitchFamily="34" charset="-122"/>
                <a:cs typeface="Aptos" pitchFamily="34" charset="-120"/>
              </a:rPr>
              <a:t>Source material and recording notes included</a:t>
            </a:r>
            <a:endParaRPr lang="en-US" sz="900" dirty="0"/>
          </a:p>
        </p:txBody>
      </p:sp>
      <p:sp>
        <p:nvSpPr>
          <p:cNvPr id="7" name="Text 5"/>
          <p:cNvSpPr/>
          <p:nvPr/>
        </p:nvSpPr>
        <p:spPr>
          <a:xfrm>
            <a:off x="11045952" y="6455664"/>
            <a:ext cx="594360" cy="210312"/>
          </a:xfrm>
          <a:prstGeom prst="rect">
            <a:avLst/>
          </a:prstGeom>
          <a:noFill/>
          <a:ln/>
        </p:spPr>
        <p:txBody>
          <a:bodyPr wrap="square" lIns="0" tIns="0" rIns="0" bIns="0" rtlCol="0" anchor="t"/>
          <a:lstStyle/>
          <a:p>
            <a:pPr algn="r" indent="0" marL="0">
              <a:spcAft>
                <a:spcPts val="600"/>
              </a:spcAft>
              <a:buNone/>
            </a:pPr>
            <a:r>
              <a:rPr lang="en-US" sz="1000" dirty="0">
                <a:solidFill>
                  <a:srgbClr val="176F73"/>
                </a:solidFill>
                <a:latin typeface="Aptos" pitchFamily="34" charset="0"/>
                <a:ea typeface="Aptos" pitchFamily="34" charset="-122"/>
                <a:cs typeface="Aptos" pitchFamily="34" charset="-120"/>
              </a:rPr>
              <a:t>04</a:t>
            </a:r>
            <a:endParaRPr lang="en-US" sz="1000" dirty="0"/>
          </a:p>
        </p:txBody>
      </p:sp>
      <p:sp>
        <p:nvSpPr>
          <p:cNvPr id="8" name="Shape 6"/>
          <p:cNvSpPr/>
          <p:nvPr/>
        </p:nvSpPr>
        <p:spPr>
          <a:xfrm>
            <a:off x="658368" y="1865376"/>
            <a:ext cx="73152" cy="758952"/>
          </a:xfrm>
          <a:prstGeom prst="rect">
            <a:avLst/>
          </a:prstGeom>
          <a:solidFill>
            <a:srgbClr val="176F73"/>
          </a:solidFill>
          <a:ln w="12700">
            <a:solidFill>
              <a:srgbClr val="176F73">
                <a:alpha val="0"/>
              </a:srgbClr>
            </a:solidFill>
            <a:prstDash val="solid"/>
          </a:ln>
        </p:spPr>
      </p:sp>
      <p:sp>
        <p:nvSpPr>
          <p:cNvPr id="9" name="Text 7"/>
          <p:cNvSpPr/>
          <p:nvPr/>
        </p:nvSpPr>
        <p:spPr>
          <a:xfrm>
            <a:off x="841248" y="1865376"/>
            <a:ext cx="502920" cy="320040"/>
          </a:xfrm>
          <a:prstGeom prst="rect">
            <a:avLst/>
          </a:prstGeom>
          <a:noFill/>
          <a:ln/>
        </p:spPr>
        <p:txBody>
          <a:bodyPr wrap="square" lIns="0" tIns="0" rIns="0" bIns="0" rtlCol="0" anchor="t"/>
          <a:lstStyle/>
          <a:p>
            <a:pPr indent="0" marL="0">
              <a:spcAft>
                <a:spcPts val="600"/>
              </a:spcAft>
              <a:buNone/>
            </a:pPr>
            <a:r>
              <a:rPr lang="en-US" sz="1300" b="1" dirty="0">
                <a:solidFill>
                  <a:srgbClr val="BB8432"/>
                </a:solidFill>
                <a:latin typeface="Aptos" pitchFamily="34" charset="0"/>
                <a:ea typeface="Aptos" pitchFamily="34" charset="-122"/>
                <a:cs typeface="Aptos" pitchFamily="34" charset="-120"/>
              </a:rPr>
              <a:t>01</a:t>
            </a:r>
            <a:endParaRPr lang="en-US" sz="1300" dirty="0"/>
          </a:p>
        </p:txBody>
      </p:sp>
      <p:sp>
        <p:nvSpPr>
          <p:cNvPr id="10" name="Text 8"/>
          <p:cNvSpPr/>
          <p:nvPr/>
        </p:nvSpPr>
        <p:spPr>
          <a:xfrm>
            <a:off x="1435608" y="1865376"/>
            <a:ext cx="9921240" cy="1051560"/>
          </a:xfrm>
          <a:prstGeom prst="rect">
            <a:avLst/>
          </a:prstGeom>
          <a:noFill/>
          <a:ln/>
        </p:spPr>
        <p:txBody>
          <a:bodyPr wrap="square" lIns="0" tIns="0" rIns="0" bIns="0" rtlCol="0" anchor="t"/>
          <a:lstStyle/>
          <a:p>
            <a:pPr indent="0" marL="0">
              <a:spcAft>
                <a:spcPts val="600"/>
              </a:spcAft>
              <a:buNone/>
            </a:pPr>
            <a:r>
              <a:rPr lang="en-US" sz="2200" dirty="0">
                <a:solidFill>
                  <a:srgbClr val="163047"/>
                </a:solidFill>
                <a:latin typeface="Aptos" pitchFamily="34" charset="0"/>
                <a:ea typeface="Aptos" pitchFamily="34" charset="-122"/>
                <a:cs typeface="Aptos" pitchFamily="34" charset="-120"/>
              </a:rPr>
              <a:t>Volatility and correlations turn weights into portfolio variability.</a:t>
            </a:r>
            <a:endParaRPr lang="en-US" sz="2200" dirty="0"/>
          </a:p>
        </p:txBody>
      </p:sp>
      <p:sp>
        <p:nvSpPr>
          <p:cNvPr id="11" name="Shape 9"/>
          <p:cNvSpPr/>
          <p:nvPr/>
        </p:nvSpPr>
        <p:spPr>
          <a:xfrm>
            <a:off x="658368" y="3136392"/>
            <a:ext cx="73152" cy="758952"/>
          </a:xfrm>
          <a:prstGeom prst="rect">
            <a:avLst/>
          </a:prstGeom>
          <a:solidFill>
            <a:srgbClr val="176F73"/>
          </a:solidFill>
          <a:ln w="12700">
            <a:solidFill>
              <a:srgbClr val="176F73">
                <a:alpha val="0"/>
              </a:srgbClr>
            </a:solidFill>
            <a:prstDash val="solid"/>
          </a:ln>
        </p:spPr>
      </p:sp>
      <p:sp>
        <p:nvSpPr>
          <p:cNvPr id="12" name="Text 10"/>
          <p:cNvSpPr/>
          <p:nvPr/>
        </p:nvSpPr>
        <p:spPr>
          <a:xfrm>
            <a:off x="841248" y="3136392"/>
            <a:ext cx="502920" cy="320040"/>
          </a:xfrm>
          <a:prstGeom prst="rect">
            <a:avLst/>
          </a:prstGeom>
          <a:noFill/>
          <a:ln/>
        </p:spPr>
        <p:txBody>
          <a:bodyPr wrap="square" lIns="0" tIns="0" rIns="0" bIns="0" rtlCol="0" anchor="t"/>
          <a:lstStyle/>
          <a:p>
            <a:pPr indent="0" marL="0">
              <a:spcAft>
                <a:spcPts val="600"/>
              </a:spcAft>
              <a:buNone/>
            </a:pPr>
            <a:r>
              <a:rPr lang="en-US" sz="1300" b="1" dirty="0">
                <a:solidFill>
                  <a:srgbClr val="BB8432"/>
                </a:solidFill>
                <a:latin typeface="Aptos" pitchFamily="34" charset="0"/>
                <a:ea typeface="Aptos" pitchFamily="34" charset="-122"/>
                <a:cs typeface="Aptos" pitchFamily="34" charset="-120"/>
              </a:rPr>
              <a:t>02</a:t>
            </a:r>
            <a:endParaRPr lang="en-US" sz="1300" dirty="0"/>
          </a:p>
        </p:txBody>
      </p:sp>
      <p:sp>
        <p:nvSpPr>
          <p:cNvPr id="13" name="Text 11"/>
          <p:cNvSpPr/>
          <p:nvPr/>
        </p:nvSpPr>
        <p:spPr>
          <a:xfrm>
            <a:off x="1435608" y="3136392"/>
            <a:ext cx="9921240" cy="1051560"/>
          </a:xfrm>
          <a:prstGeom prst="rect">
            <a:avLst/>
          </a:prstGeom>
          <a:noFill/>
          <a:ln/>
        </p:spPr>
        <p:txBody>
          <a:bodyPr wrap="square" lIns="0" tIns="0" rIns="0" bIns="0" rtlCol="0" anchor="t"/>
          <a:lstStyle/>
          <a:p>
            <a:pPr indent="0" marL="0">
              <a:spcAft>
                <a:spcPts val="600"/>
              </a:spcAft>
              <a:buNone/>
            </a:pPr>
            <a:r>
              <a:rPr lang="en-US" sz="2200" dirty="0">
                <a:solidFill>
                  <a:srgbClr val="163047"/>
                </a:solidFill>
                <a:latin typeface="Aptos" pitchFamily="34" charset="0"/>
                <a:ea typeface="Aptos" pitchFamily="34" charset="-122"/>
                <a:cs typeface="Aptos" pitchFamily="34" charset="-120"/>
              </a:rPr>
              <a:t>A small volatile sleeve can contribute a larger share of risk.</a:t>
            </a:r>
            <a:endParaRPr lang="en-US" sz="2200" dirty="0"/>
          </a:p>
        </p:txBody>
      </p:sp>
      <p:sp>
        <p:nvSpPr>
          <p:cNvPr id="14" name="Shape 12"/>
          <p:cNvSpPr/>
          <p:nvPr/>
        </p:nvSpPr>
        <p:spPr>
          <a:xfrm>
            <a:off x="658368" y="4407408"/>
            <a:ext cx="73152" cy="758952"/>
          </a:xfrm>
          <a:prstGeom prst="rect">
            <a:avLst/>
          </a:prstGeom>
          <a:solidFill>
            <a:srgbClr val="176F73"/>
          </a:solidFill>
          <a:ln w="12700">
            <a:solidFill>
              <a:srgbClr val="176F73">
                <a:alpha val="0"/>
              </a:srgbClr>
            </a:solidFill>
            <a:prstDash val="solid"/>
          </a:ln>
        </p:spPr>
      </p:sp>
      <p:sp>
        <p:nvSpPr>
          <p:cNvPr id="15" name="Text 13"/>
          <p:cNvSpPr/>
          <p:nvPr/>
        </p:nvSpPr>
        <p:spPr>
          <a:xfrm>
            <a:off x="841248" y="4407408"/>
            <a:ext cx="502920" cy="320040"/>
          </a:xfrm>
          <a:prstGeom prst="rect">
            <a:avLst/>
          </a:prstGeom>
          <a:noFill/>
          <a:ln/>
        </p:spPr>
        <p:txBody>
          <a:bodyPr wrap="square" lIns="0" tIns="0" rIns="0" bIns="0" rtlCol="0" anchor="t"/>
          <a:lstStyle/>
          <a:p>
            <a:pPr indent="0" marL="0">
              <a:spcAft>
                <a:spcPts val="600"/>
              </a:spcAft>
              <a:buNone/>
            </a:pPr>
            <a:r>
              <a:rPr lang="en-US" sz="1300" b="1" dirty="0">
                <a:solidFill>
                  <a:srgbClr val="BB8432"/>
                </a:solidFill>
                <a:latin typeface="Aptos" pitchFamily="34" charset="0"/>
                <a:ea typeface="Aptos" pitchFamily="34" charset="-122"/>
                <a:cs typeface="Aptos" pitchFamily="34" charset="-120"/>
              </a:rPr>
              <a:t>03</a:t>
            </a:r>
            <a:endParaRPr lang="en-US" sz="1300" dirty="0"/>
          </a:p>
        </p:txBody>
      </p:sp>
      <p:sp>
        <p:nvSpPr>
          <p:cNvPr id="16" name="Text 14"/>
          <p:cNvSpPr/>
          <p:nvPr/>
        </p:nvSpPr>
        <p:spPr>
          <a:xfrm>
            <a:off x="1435608" y="4407408"/>
            <a:ext cx="9921240" cy="1051560"/>
          </a:xfrm>
          <a:prstGeom prst="rect">
            <a:avLst/>
          </a:prstGeom>
          <a:noFill/>
          <a:ln/>
        </p:spPr>
        <p:txBody>
          <a:bodyPr wrap="square" lIns="0" tIns="0" rIns="0" bIns="0" rtlCol="0" anchor="t"/>
          <a:lstStyle/>
          <a:p>
            <a:pPr indent="0" marL="0">
              <a:spcAft>
                <a:spcPts val="600"/>
              </a:spcAft>
              <a:buNone/>
            </a:pPr>
            <a:r>
              <a:rPr lang="en-US" sz="2200" dirty="0">
                <a:solidFill>
                  <a:srgbClr val="163047"/>
                </a:solidFill>
                <a:latin typeface="Aptos" pitchFamily="34" charset="0"/>
                <a:ea typeface="Aptos" pitchFamily="34" charset="-122"/>
                <a:cs typeface="Aptos" pitchFamily="34" charset="-120"/>
              </a:rPr>
              <a:t>Use scenario tables and review model assumptions before optimisation.</a:t>
            </a:r>
            <a:endParaRPr lang="en-US" sz="2200" dirty="0"/>
          </a:p>
        </p:txBody>
      </p:sp>
      <p:sp>
        <p:nvSpPr>
          <p:cNvPr id="17" name="Text 15"/>
          <p:cNvSpPr/>
          <p:nvPr/>
        </p:nvSpPr>
        <p:spPr>
          <a:xfrm>
            <a:off x="594360" y="6053328"/>
            <a:ext cx="10972800" cy="274320"/>
          </a:xfrm>
          <a:prstGeom prst="rect">
            <a:avLst/>
          </a:prstGeom>
          <a:noFill/>
          <a:ln/>
        </p:spPr>
        <p:txBody>
          <a:bodyPr wrap="square" lIns="0" tIns="0" rIns="0" bIns="0" rtlCol="0" anchor="t"/>
          <a:lstStyle/>
          <a:p>
            <a:pPr indent="0" marL="0">
              <a:spcAft>
                <a:spcPts val="600"/>
              </a:spcAft>
              <a:buNone/>
            </a:pPr>
            <a:r>
              <a:rPr lang="en-US" sz="1000" dirty="0">
                <a:solidFill>
                  <a:srgbClr val="50616B"/>
                </a:solidFill>
                <a:latin typeface="Aptos" pitchFamily="34" charset="0"/>
                <a:ea typeface="Aptos" pitchFamily="34" charset="-122"/>
                <a:cs typeface="Aptos" pitchFamily="34" charset="-120"/>
              </a:rPr>
              <a:t>Dated source record • fictional calculations are labelled as illustrations</a:t>
            </a:r>
            <a:endParaRPr lang="en-US" sz="10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7F5EF"/>
        </a:solidFill>
      </p:bgPr>
    </p:bg>
    <p:spTree>
      <p:nvGrpSpPr>
        <p:cNvPr id="1" name=""/>
        <p:cNvGrpSpPr/>
        <p:nvPr/>
      </p:nvGrpSpPr>
      <p:grpSpPr>
        <a:xfrm>
          <a:off x="0" y="0"/>
          <a:ext cx="0" cy="0"/>
          <a:chOff x="0" y="0"/>
          <a:chExt cx="0" cy="0"/>
        </a:xfrm>
      </p:grpSpPr>
      <p:sp>
        <p:nvSpPr>
          <p:cNvPr id="2" name="Shape 0"/>
          <p:cNvSpPr/>
          <p:nvPr/>
        </p:nvSpPr>
        <p:spPr>
          <a:xfrm>
            <a:off x="0" y="0"/>
            <a:ext cx="12191695" cy="100584"/>
          </a:xfrm>
          <a:prstGeom prst="rect">
            <a:avLst/>
          </a:prstGeom>
          <a:solidFill>
            <a:srgbClr val="176F73"/>
          </a:solidFill>
          <a:ln w="12700">
            <a:solidFill>
              <a:srgbClr val="176F73">
                <a:alpha val="0"/>
              </a:srgbClr>
            </a:solidFill>
            <a:prstDash val="solid"/>
          </a:ln>
        </p:spPr>
      </p:sp>
      <p:sp>
        <p:nvSpPr>
          <p:cNvPr id="3" name="Text 1"/>
          <p:cNvSpPr/>
          <p:nvPr/>
        </p:nvSpPr>
        <p:spPr>
          <a:xfrm>
            <a:off x="502920" y="365760"/>
            <a:ext cx="11155680" cy="228600"/>
          </a:xfrm>
          <a:prstGeom prst="rect">
            <a:avLst/>
          </a:prstGeom>
          <a:noFill/>
          <a:ln/>
        </p:spPr>
        <p:txBody>
          <a:bodyPr wrap="square" lIns="0" tIns="0" rIns="0" bIns="0" rtlCol="0" anchor="t"/>
          <a:lstStyle/>
          <a:p>
            <a:pPr indent="0" marL="0">
              <a:spcAft>
                <a:spcPts val="600"/>
              </a:spcAft>
              <a:buNone/>
            </a:pPr>
            <a:r>
              <a:rPr lang="en-US" sz="1100" b="1" spc="150" kern="0" dirty="0">
                <a:solidFill>
                  <a:srgbClr val="176F73"/>
                </a:solidFill>
                <a:latin typeface="Aptos" pitchFamily="34" charset="0"/>
                <a:ea typeface="Aptos" pitchFamily="34" charset="-122"/>
                <a:cs typeface="Aptos" pitchFamily="34" charset="-120"/>
              </a:rPr>
              <a:t>FOLLOW THE MECHANISM</a:t>
            </a:r>
            <a:endParaRPr lang="en-US" sz="1100" dirty="0"/>
          </a:p>
        </p:txBody>
      </p:sp>
      <p:sp>
        <p:nvSpPr>
          <p:cNvPr id="4" name="Text 2"/>
          <p:cNvSpPr/>
          <p:nvPr/>
        </p:nvSpPr>
        <p:spPr>
          <a:xfrm>
            <a:off x="502920" y="859536"/>
            <a:ext cx="11155680" cy="941832"/>
          </a:xfrm>
          <a:prstGeom prst="rect">
            <a:avLst/>
          </a:prstGeom>
          <a:noFill/>
          <a:ln/>
        </p:spPr>
        <p:txBody>
          <a:bodyPr wrap="square" lIns="0" tIns="0" rIns="0" bIns="0" rtlCol="0" anchor="t"/>
          <a:lstStyle/>
          <a:p>
            <a:pPr indent="0" marL="0">
              <a:spcAft>
                <a:spcPts val="600"/>
              </a:spcAft>
              <a:buNone/>
            </a:pPr>
            <a:r>
              <a:rPr lang="en-US" sz="3400" dirty="0">
                <a:solidFill>
                  <a:srgbClr val="163047"/>
                </a:solidFill>
                <a:latin typeface="Georgia" pitchFamily="34" charset="0"/>
                <a:ea typeface="Georgia" pitchFamily="34" charset="-122"/>
                <a:cs typeface="Georgia" pitchFamily="34" charset="-120"/>
              </a:rPr>
              <a:t>Rebalancing is a rule, not a prediction</a:t>
            </a:r>
            <a:endParaRPr lang="en-US" sz="3400" dirty="0"/>
          </a:p>
        </p:txBody>
      </p:sp>
      <p:sp>
        <p:nvSpPr>
          <p:cNvPr id="5" name="Text 3"/>
          <p:cNvSpPr/>
          <p:nvPr/>
        </p:nvSpPr>
        <p:spPr>
          <a:xfrm>
            <a:off x="502920" y="6473952"/>
            <a:ext cx="2834640" cy="173736"/>
          </a:xfrm>
          <a:prstGeom prst="rect">
            <a:avLst/>
          </a:prstGeom>
          <a:noFill/>
          <a:ln/>
        </p:spPr>
        <p:txBody>
          <a:bodyPr wrap="square" lIns="0" tIns="0" rIns="0" bIns="0" rtlCol="0" anchor="t"/>
          <a:lstStyle/>
          <a:p>
            <a:pPr indent="0" marL="0">
              <a:spcAft>
                <a:spcPts val="600"/>
              </a:spcAft>
              <a:buNone/>
            </a:pPr>
            <a:r>
              <a:rPr lang="en-US" sz="900" spc="100" kern="0" dirty="0">
                <a:solidFill>
                  <a:srgbClr val="50616B"/>
                </a:solidFill>
                <a:latin typeface="Aptos" pitchFamily="34" charset="0"/>
                <a:ea typeface="Aptos" pitchFamily="34" charset="-122"/>
                <a:cs typeface="Aptos" pitchFamily="34" charset="-120"/>
              </a:rPr>
              <a:t>SOKOINTEL  /  USMPC-08</a:t>
            </a:r>
            <a:endParaRPr lang="en-US" sz="900" dirty="0"/>
          </a:p>
        </p:txBody>
      </p:sp>
      <p:sp>
        <p:nvSpPr>
          <p:cNvPr id="6" name="Text 4"/>
          <p:cNvSpPr/>
          <p:nvPr/>
        </p:nvSpPr>
        <p:spPr>
          <a:xfrm>
            <a:off x="3246120" y="6473952"/>
            <a:ext cx="7635240" cy="173736"/>
          </a:xfrm>
          <a:prstGeom prst="rect">
            <a:avLst/>
          </a:prstGeom>
          <a:noFill/>
          <a:ln/>
        </p:spPr>
        <p:txBody>
          <a:bodyPr wrap="square" lIns="0" tIns="0" rIns="0" bIns="0" rtlCol="0" anchor="t"/>
          <a:lstStyle/>
          <a:p>
            <a:pPr indent="0" marL="0">
              <a:spcAft>
                <a:spcPts val="600"/>
              </a:spcAft>
              <a:buNone/>
            </a:pPr>
            <a:r>
              <a:rPr lang="en-US" sz="900" dirty="0">
                <a:solidFill>
                  <a:srgbClr val="50616B"/>
                </a:solidFill>
                <a:latin typeface="Aptos" pitchFamily="34" charset="0"/>
                <a:ea typeface="Aptos" pitchFamily="34" charset="-122"/>
                <a:cs typeface="Aptos" pitchFamily="34" charset="-120"/>
              </a:rPr>
              <a:t>Source material and recording notes included</a:t>
            </a:r>
            <a:endParaRPr lang="en-US" sz="900" dirty="0"/>
          </a:p>
        </p:txBody>
      </p:sp>
      <p:sp>
        <p:nvSpPr>
          <p:cNvPr id="7" name="Text 5"/>
          <p:cNvSpPr/>
          <p:nvPr/>
        </p:nvSpPr>
        <p:spPr>
          <a:xfrm>
            <a:off x="11045952" y="6455664"/>
            <a:ext cx="594360" cy="210312"/>
          </a:xfrm>
          <a:prstGeom prst="rect">
            <a:avLst/>
          </a:prstGeom>
          <a:noFill/>
          <a:ln/>
        </p:spPr>
        <p:txBody>
          <a:bodyPr wrap="square" lIns="0" tIns="0" rIns="0" bIns="0" rtlCol="0" anchor="t"/>
          <a:lstStyle/>
          <a:p>
            <a:pPr algn="r" indent="0" marL="0">
              <a:spcAft>
                <a:spcPts val="600"/>
              </a:spcAft>
              <a:buNone/>
            </a:pPr>
            <a:r>
              <a:rPr lang="en-US" sz="1000" dirty="0">
                <a:solidFill>
                  <a:srgbClr val="176F73"/>
                </a:solidFill>
                <a:latin typeface="Aptos" pitchFamily="34" charset="0"/>
                <a:ea typeface="Aptos" pitchFamily="34" charset="-122"/>
                <a:cs typeface="Aptos" pitchFamily="34" charset="-120"/>
              </a:rPr>
              <a:t>05</a:t>
            </a:r>
            <a:endParaRPr lang="en-US" sz="1000" dirty="0"/>
          </a:p>
        </p:txBody>
      </p:sp>
      <p:sp>
        <p:nvSpPr>
          <p:cNvPr id="8" name="Shape 6"/>
          <p:cNvSpPr/>
          <p:nvPr/>
        </p:nvSpPr>
        <p:spPr>
          <a:xfrm>
            <a:off x="658368" y="1865376"/>
            <a:ext cx="73152" cy="758952"/>
          </a:xfrm>
          <a:prstGeom prst="rect">
            <a:avLst/>
          </a:prstGeom>
          <a:solidFill>
            <a:srgbClr val="176F73"/>
          </a:solidFill>
          <a:ln w="12700">
            <a:solidFill>
              <a:srgbClr val="176F73">
                <a:alpha val="0"/>
              </a:srgbClr>
            </a:solidFill>
            <a:prstDash val="solid"/>
          </a:ln>
        </p:spPr>
      </p:sp>
      <p:sp>
        <p:nvSpPr>
          <p:cNvPr id="9" name="Text 7"/>
          <p:cNvSpPr/>
          <p:nvPr/>
        </p:nvSpPr>
        <p:spPr>
          <a:xfrm>
            <a:off x="841248" y="1865376"/>
            <a:ext cx="502920" cy="320040"/>
          </a:xfrm>
          <a:prstGeom prst="rect">
            <a:avLst/>
          </a:prstGeom>
          <a:noFill/>
          <a:ln/>
        </p:spPr>
        <p:txBody>
          <a:bodyPr wrap="square" lIns="0" tIns="0" rIns="0" bIns="0" rtlCol="0" anchor="t"/>
          <a:lstStyle/>
          <a:p>
            <a:pPr indent="0" marL="0">
              <a:spcAft>
                <a:spcPts val="600"/>
              </a:spcAft>
              <a:buNone/>
            </a:pPr>
            <a:r>
              <a:rPr lang="en-US" sz="1300" b="1" dirty="0">
                <a:solidFill>
                  <a:srgbClr val="BB8432"/>
                </a:solidFill>
                <a:latin typeface="Aptos" pitchFamily="34" charset="0"/>
                <a:ea typeface="Aptos" pitchFamily="34" charset="-122"/>
                <a:cs typeface="Aptos" pitchFamily="34" charset="-120"/>
              </a:rPr>
              <a:t>01</a:t>
            </a:r>
            <a:endParaRPr lang="en-US" sz="1300" dirty="0"/>
          </a:p>
        </p:txBody>
      </p:sp>
      <p:sp>
        <p:nvSpPr>
          <p:cNvPr id="10" name="Text 8"/>
          <p:cNvSpPr/>
          <p:nvPr/>
        </p:nvSpPr>
        <p:spPr>
          <a:xfrm>
            <a:off x="1435608" y="1865376"/>
            <a:ext cx="9921240" cy="1051560"/>
          </a:xfrm>
          <a:prstGeom prst="rect">
            <a:avLst/>
          </a:prstGeom>
          <a:noFill/>
          <a:ln/>
        </p:spPr>
        <p:txBody>
          <a:bodyPr wrap="square" lIns="0" tIns="0" rIns="0" bIns="0" rtlCol="0" anchor="t"/>
          <a:lstStyle/>
          <a:p>
            <a:pPr indent="0" marL="0">
              <a:spcAft>
                <a:spcPts val="600"/>
              </a:spcAft>
              <a:buNone/>
            </a:pPr>
            <a:r>
              <a:rPr lang="en-US" sz="2200" dirty="0">
                <a:solidFill>
                  <a:srgbClr val="163047"/>
                </a:solidFill>
                <a:latin typeface="Aptos" pitchFamily="34" charset="0"/>
                <a:ea typeface="Aptos" pitchFamily="34" charset="-122"/>
                <a:cs typeface="Aptos" pitchFamily="34" charset="-120"/>
              </a:rPr>
              <a:t>Choose calendar, threshold or contribution-first triggers.</a:t>
            </a:r>
            <a:endParaRPr lang="en-US" sz="2200" dirty="0"/>
          </a:p>
        </p:txBody>
      </p:sp>
      <p:sp>
        <p:nvSpPr>
          <p:cNvPr id="11" name="Shape 9"/>
          <p:cNvSpPr/>
          <p:nvPr/>
        </p:nvSpPr>
        <p:spPr>
          <a:xfrm>
            <a:off x="658368" y="3136392"/>
            <a:ext cx="73152" cy="758952"/>
          </a:xfrm>
          <a:prstGeom prst="rect">
            <a:avLst/>
          </a:prstGeom>
          <a:solidFill>
            <a:srgbClr val="176F73"/>
          </a:solidFill>
          <a:ln w="12700">
            <a:solidFill>
              <a:srgbClr val="176F73">
                <a:alpha val="0"/>
              </a:srgbClr>
            </a:solidFill>
            <a:prstDash val="solid"/>
          </a:ln>
        </p:spPr>
      </p:sp>
      <p:sp>
        <p:nvSpPr>
          <p:cNvPr id="12" name="Text 10"/>
          <p:cNvSpPr/>
          <p:nvPr/>
        </p:nvSpPr>
        <p:spPr>
          <a:xfrm>
            <a:off x="841248" y="3136392"/>
            <a:ext cx="502920" cy="320040"/>
          </a:xfrm>
          <a:prstGeom prst="rect">
            <a:avLst/>
          </a:prstGeom>
          <a:noFill/>
          <a:ln/>
        </p:spPr>
        <p:txBody>
          <a:bodyPr wrap="square" lIns="0" tIns="0" rIns="0" bIns="0" rtlCol="0" anchor="t"/>
          <a:lstStyle/>
          <a:p>
            <a:pPr indent="0" marL="0">
              <a:spcAft>
                <a:spcPts val="600"/>
              </a:spcAft>
              <a:buNone/>
            </a:pPr>
            <a:r>
              <a:rPr lang="en-US" sz="1300" b="1" dirty="0">
                <a:solidFill>
                  <a:srgbClr val="BB8432"/>
                </a:solidFill>
                <a:latin typeface="Aptos" pitchFamily="34" charset="0"/>
                <a:ea typeface="Aptos" pitchFamily="34" charset="-122"/>
                <a:cs typeface="Aptos" pitchFamily="34" charset="-120"/>
              </a:rPr>
              <a:t>02</a:t>
            </a:r>
            <a:endParaRPr lang="en-US" sz="1300" dirty="0"/>
          </a:p>
        </p:txBody>
      </p:sp>
      <p:sp>
        <p:nvSpPr>
          <p:cNvPr id="13" name="Text 11"/>
          <p:cNvSpPr/>
          <p:nvPr/>
        </p:nvSpPr>
        <p:spPr>
          <a:xfrm>
            <a:off x="1435608" y="3136392"/>
            <a:ext cx="9921240" cy="1051560"/>
          </a:xfrm>
          <a:prstGeom prst="rect">
            <a:avLst/>
          </a:prstGeom>
          <a:noFill/>
          <a:ln/>
        </p:spPr>
        <p:txBody>
          <a:bodyPr wrap="square" lIns="0" tIns="0" rIns="0" bIns="0" rtlCol="0" anchor="t"/>
          <a:lstStyle/>
          <a:p>
            <a:pPr indent="0" marL="0">
              <a:spcAft>
                <a:spcPts val="600"/>
              </a:spcAft>
              <a:buNone/>
            </a:pPr>
            <a:r>
              <a:rPr lang="en-US" sz="2200" dirty="0">
                <a:solidFill>
                  <a:srgbClr val="163047"/>
                </a:solidFill>
                <a:latin typeface="Aptos" pitchFamily="34" charset="0"/>
                <a:ea typeface="Aptos" pitchFamily="34" charset="-122"/>
                <a:cs typeface="Aptos" pitchFamily="34" charset="-120"/>
              </a:rPr>
              <a:t>Calculate target trades using current total value.</a:t>
            </a:r>
            <a:endParaRPr lang="en-US" sz="2200" dirty="0"/>
          </a:p>
        </p:txBody>
      </p:sp>
      <p:sp>
        <p:nvSpPr>
          <p:cNvPr id="14" name="Shape 12"/>
          <p:cNvSpPr/>
          <p:nvPr/>
        </p:nvSpPr>
        <p:spPr>
          <a:xfrm>
            <a:off x="658368" y="4407408"/>
            <a:ext cx="73152" cy="758952"/>
          </a:xfrm>
          <a:prstGeom prst="rect">
            <a:avLst/>
          </a:prstGeom>
          <a:solidFill>
            <a:srgbClr val="176F73"/>
          </a:solidFill>
          <a:ln w="12700">
            <a:solidFill>
              <a:srgbClr val="176F73">
                <a:alpha val="0"/>
              </a:srgbClr>
            </a:solidFill>
            <a:prstDash val="solid"/>
          </a:ln>
        </p:spPr>
      </p:sp>
      <p:sp>
        <p:nvSpPr>
          <p:cNvPr id="15" name="Text 13"/>
          <p:cNvSpPr/>
          <p:nvPr/>
        </p:nvSpPr>
        <p:spPr>
          <a:xfrm>
            <a:off x="841248" y="4407408"/>
            <a:ext cx="502920" cy="320040"/>
          </a:xfrm>
          <a:prstGeom prst="rect">
            <a:avLst/>
          </a:prstGeom>
          <a:noFill/>
          <a:ln/>
        </p:spPr>
        <p:txBody>
          <a:bodyPr wrap="square" lIns="0" tIns="0" rIns="0" bIns="0" rtlCol="0" anchor="t"/>
          <a:lstStyle/>
          <a:p>
            <a:pPr indent="0" marL="0">
              <a:spcAft>
                <a:spcPts val="600"/>
              </a:spcAft>
              <a:buNone/>
            </a:pPr>
            <a:r>
              <a:rPr lang="en-US" sz="1300" b="1" dirty="0">
                <a:solidFill>
                  <a:srgbClr val="BB8432"/>
                </a:solidFill>
                <a:latin typeface="Aptos" pitchFamily="34" charset="0"/>
                <a:ea typeface="Aptos" pitchFamily="34" charset="-122"/>
                <a:cs typeface="Aptos" pitchFamily="34" charset="-120"/>
              </a:rPr>
              <a:t>03</a:t>
            </a:r>
            <a:endParaRPr lang="en-US" sz="1300" dirty="0"/>
          </a:p>
        </p:txBody>
      </p:sp>
      <p:sp>
        <p:nvSpPr>
          <p:cNvPr id="16" name="Text 14"/>
          <p:cNvSpPr/>
          <p:nvPr/>
        </p:nvSpPr>
        <p:spPr>
          <a:xfrm>
            <a:off x="1435608" y="4407408"/>
            <a:ext cx="9921240" cy="1051560"/>
          </a:xfrm>
          <a:prstGeom prst="rect">
            <a:avLst/>
          </a:prstGeom>
          <a:noFill/>
          <a:ln/>
        </p:spPr>
        <p:txBody>
          <a:bodyPr wrap="square" lIns="0" tIns="0" rIns="0" bIns="0" rtlCol="0" anchor="t"/>
          <a:lstStyle/>
          <a:p>
            <a:pPr indent="0" marL="0">
              <a:spcAft>
                <a:spcPts val="600"/>
              </a:spcAft>
              <a:buNone/>
            </a:pPr>
            <a:r>
              <a:rPr lang="en-US" sz="2200" dirty="0">
                <a:solidFill>
                  <a:srgbClr val="163047"/>
                </a:solidFill>
                <a:latin typeface="Aptos" pitchFamily="34" charset="0"/>
                <a:ea typeface="Aptos" pitchFamily="34" charset="-122"/>
                <a:cs typeface="Aptos" pitchFamily="34" charset="-120"/>
              </a:rPr>
              <a:t>Document costs, taxes, liquidity and the person authorised to trade.</a:t>
            </a:r>
            <a:endParaRPr lang="en-US" sz="2200" dirty="0"/>
          </a:p>
        </p:txBody>
      </p:sp>
      <p:sp>
        <p:nvSpPr>
          <p:cNvPr id="17" name="Text 15"/>
          <p:cNvSpPr/>
          <p:nvPr/>
        </p:nvSpPr>
        <p:spPr>
          <a:xfrm>
            <a:off x="594360" y="6053328"/>
            <a:ext cx="10972800" cy="274320"/>
          </a:xfrm>
          <a:prstGeom prst="rect">
            <a:avLst/>
          </a:prstGeom>
          <a:noFill/>
          <a:ln/>
        </p:spPr>
        <p:txBody>
          <a:bodyPr wrap="square" lIns="0" tIns="0" rIns="0" bIns="0" rtlCol="0" anchor="t"/>
          <a:lstStyle/>
          <a:p>
            <a:pPr indent="0" marL="0">
              <a:spcAft>
                <a:spcPts val="600"/>
              </a:spcAft>
              <a:buNone/>
            </a:pPr>
            <a:r>
              <a:rPr lang="en-US" sz="1000" dirty="0">
                <a:solidFill>
                  <a:srgbClr val="50616B"/>
                </a:solidFill>
                <a:latin typeface="Aptos" pitchFamily="34" charset="0"/>
                <a:ea typeface="Aptos" pitchFamily="34" charset="-122"/>
                <a:cs typeface="Aptos" pitchFamily="34" charset="-120"/>
              </a:rPr>
              <a:t>Dated source record • fictional calculations are labelled as illustrations</a:t>
            </a:r>
            <a:endParaRPr lang="en-US" sz="10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7F5EF"/>
        </a:solidFill>
      </p:bgPr>
    </p:bg>
    <p:spTree>
      <p:nvGrpSpPr>
        <p:cNvPr id="1" name=""/>
        <p:cNvGrpSpPr/>
        <p:nvPr/>
      </p:nvGrpSpPr>
      <p:grpSpPr>
        <a:xfrm>
          <a:off x="0" y="0"/>
          <a:ext cx="0" cy="0"/>
          <a:chOff x="0" y="0"/>
          <a:chExt cx="0" cy="0"/>
        </a:xfrm>
      </p:grpSpPr>
      <p:sp>
        <p:nvSpPr>
          <p:cNvPr id="2" name="Shape 0"/>
          <p:cNvSpPr/>
          <p:nvPr/>
        </p:nvSpPr>
        <p:spPr>
          <a:xfrm>
            <a:off x="0" y="0"/>
            <a:ext cx="12191695" cy="100584"/>
          </a:xfrm>
          <a:prstGeom prst="rect">
            <a:avLst/>
          </a:prstGeom>
          <a:solidFill>
            <a:srgbClr val="176F73"/>
          </a:solidFill>
          <a:ln w="12700">
            <a:solidFill>
              <a:srgbClr val="176F73">
                <a:alpha val="0"/>
              </a:srgbClr>
            </a:solidFill>
            <a:prstDash val="solid"/>
          </a:ln>
        </p:spPr>
      </p:sp>
      <p:sp>
        <p:nvSpPr>
          <p:cNvPr id="3" name="Text 1"/>
          <p:cNvSpPr/>
          <p:nvPr/>
        </p:nvSpPr>
        <p:spPr>
          <a:xfrm>
            <a:off x="502920" y="365760"/>
            <a:ext cx="11155680" cy="228600"/>
          </a:xfrm>
          <a:prstGeom prst="rect">
            <a:avLst/>
          </a:prstGeom>
          <a:noFill/>
          <a:ln/>
        </p:spPr>
        <p:txBody>
          <a:bodyPr wrap="square" lIns="0" tIns="0" rIns="0" bIns="0" rtlCol="0" anchor="t"/>
          <a:lstStyle/>
          <a:p>
            <a:pPr indent="0" marL="0">
              <a:spcAft>
                <a:spcPts val="600"/>
              </a:spcAft>
              <a:buNone/>
            </a:pPr>
            <a:r>
              <a:rPr lang="en-US" sz="1100" b="1" spc="150" kern="0" dirty="0">
                <a:solidFill>
                  <a:srgbClr val="176F73"/>
                </a:solidFill>
                <a:latin typeface="Aptos" pitchFamily="34" charset="0"/>
                <a:ea typeface="Aptos" pitchFamily="34" charset="-122"/>
                <a:cs typeface="Aptos" pitchFamily="34" charset="-120"/>
              </a:rPr>
              <a:t>THE RELATIONSHIP</a:t>
            </a:r>
            <a:endParaRPr lang="en-US" sz="1100" dirty="0"/>
          </a:p>
        </p:txBody>
      </p:sp>
      <p:sp>
        <p:nvSpPr>
          <p:cNvPr id="4" name="Text 2"/>
          <p:cNvSpPr/>
          <p:nvPr/>
        </p:nvSpPr>
        <p:spPr>
          <a:xfrm>
            <a:off x="502920" y="859536"/>
            <a:ext cx="11155680" cy="941832"/>
          </a:xfrm>
          <a:prstGeom prst="rect">
            <a:avLst/>
          </a:prstGeom>
          <a:noFill/>
          <a:ln/>
        </p:spPr>
        <p:txBody>
          <a:bodyPr wrap="square" lIns="0" tIns="0" rIns="0" bIns="0" rtlCol="0" anchor="t"/>
          <a:lstStyle/>
          <a:p>
            <a:pPr indent="0" marL="0">
              <a:spcAft>
                <a:spcPts val="600"/>
              </a:spcAft>
              <a:buNone/>
            </a:pPr>
            <a:r>
              <a:rPr lang="en-US" sz="3400" dirty="0">
                <a:solidFill>
                  <a:srgbClr val="163047"/>
                </a:solidFill>
                <a:latin typeface="Georgia" pitchFamily="34" charset="0"/>
                <a:ea typeface="Georgia" pitchFamily="34" charset="-122"/>
                <a:cs typeface="Georgia" pitchFamily="34" charset="-120"/>
              </a:rPr>
              <a:t>Calculate the trade from the current total</a:t>
            </a:r>
            <a:endParaRPr lang="en-US" sz="3400" dirty="0"/>
          </a:p>
        </p:txBody>
      </p:sp>
      <p:sp>
        <p:nvSpPr>
          <p:cNvPr id="5" name="Text 3"/>
          <p:cNvSpPr/>
          <p:nvPr/>
        </p:nvSpPr>
        <p:spPr>
          <a:xfrm>
            <a:off x="502920" y="6473952"/>
            <a:ext cx="2834640" cy="173736"/>
          </a:xfrm>
          <a:prstGeom prst="rect">
            <a:avLst/>
          </a:prstGeom>
          <a:noFill/>
          <a:ln/>
        </p:spPr>
        <p:txBody>
          <a:bodyPr wrap="square" lIns="0" tIns="0" rIns="0" bIns="0" rtlCol="0" anchor="t"/>
          <a:lstStyle/>
          <a:p>
            <a:pPr indent="0" marL="0">
              <a:spcAft>
                <a:spcPts val="600"/>
              </a:spcAft>
              <a:buNone/>
            </a:pPr>
            <a:r>
              <a:rPr lang="en-US" sz="900" spc="100" kern="0" dirty="0">
                <a:solidFill>
                  <a:srgbClr val="50616B"/>
                </a:solidFill>
                <a:latin typeface="Aptos" pitchFamily="34" charset="0"/>
                <a:ea typeface="Aptos" pitchFamily="34" charset="-122"/>
                <a:cs typeface="Aptos" pitchFamily="34" charset="-120"/>
              </a:rPr>
              <a:t>SOKOINTEL  /  USMPC-08</a:t>
            </a:r>
            <a:endParaRPr lang="en-US" sz="900" dirty="0"/>
          </a:p>
        </p:txBody>
      </p:sp>
      <p:sp>
        <p:nvSpPr>
          <p:cNvPr id="6" name="Text 4"/>
          <p:cNvSpPr/>
          <p:nvPr/>
        </p:nvSpPr>
        <p:spPr>
          <a:xfrm>
            <a:off x="3246120" y="6473952"/>
            <a:ext cx="7635240" cy="173736"/>
          </a:xfrm>
          <a:prstGeom prst="rect">
            <a:avLst/>
          </a:prstGeom>
          <a:noFill/>
          <a:ln/>
        </p:spPr>
        <p:txBody>
          <a:bodyPr wrap="square" lIns="0" tIns="0" rIns="0" bIns="0" rtlCol="0" anchor="t"/>
          <a:lstStyle/>
          <a:p>
            <a:pPr indent="0" marL="0">
              <a:spcAft>
                <a:spcPts val="600"/>
              </a:spcAft>
              <a:buNone/>
            </a:pPr>
            <a:r>
              <a:rPr lang="en-US" sz="900" dirty="0">
                <a:solidFill>
                  <a:srgbClr val="50616B"/>
                </a:solidFill>
                <a:latin typeface="Aptos" pitchFamily="34" charset="0"/>
                <a:ea typeface="Aptos" pitchFamily="34" charset="-122"/>
                <a:cs typeface="Aptos" pitchFamily="34" charset="-120"/>
              </a:rPr>
              <a:t>Source material and recording notes included</a:t>
            </a:r>
            <a:endParaRPr lang="en-US" sz="900" dirty="0"/>
          </a:p>
        </p:txBody>
      </p:sp>
      <p:sp>
        <p:nvSpPr>
          <p:cNvPr id="7" name="Text 5"/>
          <p:cNvSpPr/>
          <p:nvPr/>
        </p:nvSpPr>
        <p:spPr>
          <a:xfrm>
            <a:off x="11045952" y="6455664"/>
            <a:ext cx="594360" cy="210312"/>
          </a:xfrm>
          <a:prstGeom prst="rect">
            <a:avLst/>
          </a:prstGeom>
          <a:noFill/>
          <a:ln/>
        </p:spPr>
        <p:txBody>
          <a:bodyPr wrap="square" lIns="0" tIns="0" rIns="0" bIns="0" rtlCol="0" anchor="t"/>
          <a:lstStyle/>
          <a:p>
            <a:pPr algn="r" indent="0" marL="0">
              <a:spcAft>
                <a:spcPts val="600"/>
              </a:spcAft>
              <a:buNone/>
            </a:pPr>
            <a:r>
              <a:rPr lang="en-US" sz="1000" dirty="0">
                <a:solidFill>
                  <a:srgbClr val="176F73"/>
                </a:solidFill>
                <a:latin typeface="Aptos" pitchFamily="34" charset="0"/>
                <a:ea typeface="Aptos" pitchFamily="34" charset="-122"/>
                <a:cs typeface="Aptos" pitchFamily="34" charset="-120"/>
              </a:rPr>
              <a:t>06</a:t>
            </a:r>
            <a:endParaRPr lang="en-US" sz="1000" dirty="0"/>
          </a:p>
        </p:txBody>
      </p:sp>
      <p:sp>
        <p:nvSpPr>
          <p:cNvPr id="8" name="Shape 6"/>
          <p:cNvSpPr/>
          <p:nvPr/>
        </p:nvSpPr>
        <p:spPr>
          <a:xfrm>
            <a:off x="594360" y="1847088"/>
            <a:ext cx="10972800" cy="1060704"/>
          </a:xfrm>
          <a:prstGeom prst="rect">
            <a:avLst/>
          </a:prstGeom>
          <a:solidFill>
            <a:srgbClr val="E9EFE7"/>
          </a:solidFill>
          <a:ln w="12700">
            <a:solidFill>
              <a:srgbClr val="E9EFE7">
                <a:alpha val="0"/>
              </a:srgbClr>
            </a:solidFill>
            <a:prstDash val="solid"/>
          </a:ln>
        </p:spPr>
      </p:sp>
      <p:sp>
        <p:nvSpPr>
          <p:cNvPr id="9" name="Text 7"/>
          <p:cNvSpPr/>
          <p:nvPr/>
        </p:nvSpPr>
        <p:spPr>
          <a:xfrm>
            <a:off x="868680" y="2011680"/>
            <a:ext cx="10424160" cy="777240"/>
          </a:xfrm>
          <a:prstGeom prst="rect">
            <a:avLst/>
          </a:prstGeom>
          <a:noFill/>
          <a:ln/>
        </p:spPr>
        <p:txBody>
          <a:bodyPr wrap="square" lIns="0" tIns="0" rIns="0" bIns="0" rtlCol="0" anchor="t"/>
          <a:lstStyle/>
          <a:p>
            <a:pPr algn="ctr" indent="0" marL="0">
              <a:spcAft>
                <a:spcPts val="600"/>
              </a:spcAft>
              <a:buNone/>
            </a:pPr>
            <a:r>
              <a:rPr lang="en-US" sz="2400" dirty="0">
                <a:solidFill>
                  <a:srgbClr val="176F73"/>
                </a:solidFill>
                <a:latin typeface="Cambria Math" pitchFamily="34" charset="0"/>
                <a:ea typeface="Cambria Math" pitchFamily="34" charset="-122"/>
                <a:cs typeface="Cambria Math" pitchFamily="34" charset="-120"/>
              </a:rPr>
              <a:t>Tradeᵢ = target weightᵢ × current portfolio value − current sleeve valueᵢ</a:t>
            </a:r>
            <a:endParaRPr lang="en-US" sz="2400" dirty="0"/>
          </a:p>
        </p:txBody>
      </p:sp>
      <p:sp>
        <p:nvSpPr>
          <p:cNvPr id="10" name="Text 8"/>
          <p:cNvSpPr/>
          <p:nvPr/>
        </p:nvSpPr>
        <p:spPr>
          <a:xfrm>
            <a:off x="777240" y="3291840"/>
            <a:ext cx="10698480" cy="1078992"/>
          </a:xfrm>
          <a:prstGeom prst="rect">
            <a:avLst/>
          </a:prstGeom>
          <a:noFill/>
          <a:ln/>
        </p:spPr>
        <p:txBody>
          <a:bodyPr wrap="square" lIns="0" tIns="0" rIns="0" bIns="0" rtlCol="0" anchor="t"/>
          <a:lstStyle/>
          <a:p>
            <a:pPr indent="0" marL="0">
              <a:spcAft>
                <a:spcPts val="600"/>
              </a:spcAft>
              <a:buNone/>
            </a:pPr>
            <a:r>
              <a:rPr lang="en-US" sz="2500" b="1" dirty="0">
                <a:solidFill>
                  <a:srgbClr val="163047"/>
                </a:solidFill>
                <a:latin typeface="Aptos" pitchFamily="34" charset="0"/>
                <a:ea typeface="Aptos" pitchFamily="34" charset="-122"/>
                <a:cs typeface="Aptos" pitchFamily="34" charset="-120"/>
              </a:rPr>
              <a:t>Source SPYM: target USD 32,532.50 − current USD 31,625.00 = buy USD 907.50.</a:t>
            </a:r>
            <a:endParaRPr lang="en-US" sz="2500" dirty="0"/>
          </a:p>
        </p:txBody>
      </p:sp>
      <p:sp>
        <p:nvSpPr>
          <p:cNvPr id="11" name="Text 9"/>
          <p:cNvSpPr/>
          <p:nvPr/>
        </p:nvSpPr>
        <p:spPr>
          <a:xfrm>
            <a:off x="777240" y="4654296"/>
            <a:ext cx="10652760" cy="1078992"/>
          </a:xfrm>
          <a:prstGeom prst="rect">
            <a:avLst/>
          </a:prstGeom>
          <a:noFill/>
          <a:ln/>
        </p:spPr>
        <p:txBody>
          <a:bodyPr wrap="square" lIns="0" tIns="0" rIns="0" bIns="0" rtlCol="0" anchor="t"/>
          <a:lstStyle/>
          <a:p>
            <a:pPr indent="0" marL="0">
              <a:spcAft>
                <a:spcPts val="600"/>
              </a:spcAft>
              <a:buNone/>
            </a:pPr>
            <a:r>
              <a:rPr lang="en-US" sz="2300" dirty="0">
                <a:solidFill>
                  <a:srgbClr val="163047"/>
                </a:solidFill>
                <a:latin typeface="Aptos" pitchFamily="34" charset="0"/>
                <a:ea typeface="Aptos" pitchFamily="34" charset="-122"/>
                <a:cs typeface="Aptos" pitchFamily="34" charset="-120"/>
              </a:rPr>
              <a:t>The four source rebalance trades net to zero before transaction costs.</a:t>
            </a:r>
            <a:endParaRPr lang="en-US" sz="2300" dirty="0"/>
          </a:p>
        </p:txBody>
      </p:sp>
      <p:sp>
        <p:nvSpPr>
          <p:cNvPr id="12" name="Text 10"/>
          <p:cNvSpPr/>
          <p:nvPr/>
        </p:nvSpPr>
        <p:spPr>
          <a:xfrm>
            <a:off x="594360" y="6053328"/>
            <a:ext cx="10972800" cy="274320"/>
          </a:xfrm>
          <a:prstGeom prst="rect">
            <a:avLst/>
          </a:prstGeom>
          <a:noFill/>
          <a:ln/>
        </p:spPr>
        <p:txBody>
          <a:bodyPr wrap="square" lIns="0" tIns="0" rIns="0" bIns="0" rtlCol="0" anchor="t"/>
          <a:lstStyle/>
          <a:p>
            <a:pPr indent="0" marL="0">
              <a:spcAft>
                <a:spcPts val="600"/>
              </a:spcAft>
              <a:buNone/>
            </a:pPr>
            <a:r>
              <a:rPr lang="en-US" sz="1000" dirty="0">
                <a:solidFill>
                  <a:srgbClr val="50616B"/>
                </a:solidFill>
                <a:latin typeface="Aptos" pitchFamily="34" charset="0"/>
                <a:ea typeface="Aptos" pitchFamily="34" charset="-122"/>
                <a:cs typeface="Aptos" pitchFamily="34" charset="-120"/>
              </a:rPr>
              <a:t>Dated source record • fictional calculations are labelled as illustrations</a:t>
            </a:r>
            <a:endParaRPr lang="en-US" sz="10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7F5EF"/>
        </a:solidFill>
      </p:bgPr>
    </p:bg>
    <p:spTree>
      <p:nvGrpSpPr>
        <p:cNvPr id="1" name=""/>
        <p:cNvGrpSpPr/>
        <p:nvPr/>
      </p:nvGrpSpPr>
      <p:grpSpPr>
        <a:xfrm>
          <a:off x="0" y="0"/>
          <a:ext cx="0" cy="0"/>
          <a:chOff x="0" y="0"/>
          <a:chExt cx="0" cy="0"/>
        </a:xfrm>
      </p:grpSpPr>
      <p:sp>
        <p:nvSpPr>
          <p:cNvPr id="2" name="Shape 0"/>
          <p:cNvSpPr/>
          <p:nvPr/>
        </p:nvSpPr>
        <p:spPr>
          <a:xfrm>
            <a:off x="0" y="0"/>
            <a:ext cx="12191695" cy="100584"/>
          </a:xfrm>
          <a:prstGeom prst="rect">
            <a:avLst/>
          </a:prstGeom>
          <a:solidFill>
            <a:srgbClr val="176F73"/>
          </a:solidFill>
          <a:ln w="12700">
            <a:solidFill>
              <a:srgbClr val="176F73">
                <a:alpha val="0"/>
              </a:srgbClr>
            </a:solidFill>
            <a:prstDash val="solid"/>
          </a:ln>
        </p:spPr>
      </p:sp>
      <p:sp>
        <p:nvSpPr>
          <p:cNvPr id="3" name="Text 1"/>
          <p:cNvSpPr/>
          <p:nvPr/>
        </p:nvSpPr>
        <p:spPr>
          <a:xfrm>
            <a:off x="502920" y="365760"/>
            <a:ext cx="11155680" cy="228600"/>
          </a:xfrm>
          <a:prstGeom prst="rect">
            <a:avLst/>
          </a:prstGeom>
          <a:noFill/>
          <a:ln/>
        </p:spPr>
        <p:txBody>
          <a:bodyPr wrap="square" lIns="0" tIns="0" rIns="0" bIns="0" rtlCol="0" anchor="t"/>
          <a:lstStyle/>
          <a:p>
            <a:pPr indent="0" marL="0">
              <a:spcAft>
                <a:spcPts val="600"/>
              </a:spcAft>
              <a:buNone/>
            </a:pPr>
            <a:r>
              <a:rPr lang="en-US" sz="1100" b="1" spc="150" kern="0" dirty="0">
                <a:solidFill>
                  <a:srgbClr val="176F73"/>
                </a:solidFill>
                <a:latin typeface="Aptos" pitchFamily="34" charset="0"/>
                <a:ea typeface="Aptos" pitchFamily="34" charset="-122"/>
                <a:cs typeface="Aptos" pitchFamily="34" charset="-120"/>
              </a:rPr>
              <a:t>WORKBOOK EVIDENCE</a:t>
            </a:r>
            <a:endParaRPr lang="en-US" sz="1100" dirty="0"/>
          </a:p>
        </p:txBody>
      </p:sp>
      <p:sp>
        <p:nvSpPr>
          <p:cNvPr id="4" name="Text 2"/>
          <p:cNvSpPr/>
          <p:nvPr/>
        </p:nvSpPr>
        <p:spPr>
          <a:xfrm>
            <a:off x="502920" y="859536"/>
            <a:ext cx="11155680" cy="941832"/>
          </a:xfrm>
          <a:prstGeom prst="rect">
            <a:avLst/>
          </a:prstGeom>
          <a:noFill/>
          <a:ln/>
        </p:spPr>
        <p:txBody>
          <a:bodyPr wrap="square" lIns="0" tIns="0" rIns="0" bIns="0" rtlCol="0" anchor="t"/>
          <a:lstStyle/>
          <a:p>
            <a:pPr indent="0" marL="0">
              <a:spcAft>
                <a:spcPts val="600"/>
              </a:spcAft>
              <a:buNone/>
            </a:pPr>
            <a:r>
              <a:rPr lang="en-US" sz="3400" dirty="0">
                <a:solidFill>
                  <a:srgbClr val="163047"/>
                </a:solidFill>
                <a:latin typeface="Georgia" pitchFamily="34" charset="0"/>
                <a:ea typeface="Georgia" pitchFamily="34" charset="-122"/>
                <a:cs typeface="Georgia" pitchFamily="34" charset="-120"/>
              </a:rPr>
              <a:t>P08 Rebalancing: follow the saved workbook</a:t>
            </a:r>
            <a:endParaRPr lang="en-US" sz="3400" dirty="0"/>
          </a:p>
        </p:txBody>
      </p:sp>
      <p:sp>
        <p:nvSpPr>
          <p:cNvPr id="5" name="Text 3"/>
          <p:cNvSpPr/>
          <p:nvPr/>
        </p:nvSpPr>
        <p:spPr>
          <a:xfrm>
            <a:off x="502920" y="6473952"/>
            <a:ext cx="2834640" cy="173736"/>
          </a:xfrm>
          <a:prstGeom prst="rect">
            <a:avLst/>
          </a:prstGeom>
          <a:noFill/>
          <a:ln/>
        </p:spPr>
        <p:txBody>
          <a:bodyPr wrap="square" lIns="0" tIns="0" rIns="0" bIns="0" rtlCol="0" anchor="t"/>
          <a:lstStyle/>
          <a:p>
            <a:pPr indent="0" marL="0">
              <a:spcAft>
                <a:spcPts val="600"/>
              </a:spcAft>
              <a:buNone/>
            </a:pPr>
            <a:r>
              <a:rPr lang="en-US" sz="900" spc="100" kern="0" dirty="0">
                <a:solidFill>
                  <a:srgbClr val="50616B"/>
                </a:solidFill>
                <a:latin typeface="Aptos" pitchFamily="34" charset="0"/>
                <a:ea typeface="Aptos" pitchFamily="34" charset="-122"/>
                <a:cs typeface="Aptos" pitchFamily="34" charset="-120"/>
              </a:rPr>
              <a:t>SOKOINTEL  /  USMPC-08</a:t>
            </a:r>
            <a:endParaRPr lang="en-US" sz="900" dirty="0"/>
          </a:p>
        </p:txBody>
      </p:sp>
      <p:sp>
        <p:nvSpPr>
          <p:cNvPr id="6" name="Text 4"/>
          <p:cNvSpPr/>
          <p:nvPr/>
        </p:nvSpPr>
        <p:spPr>
          <a:xfrm>
            <a:off x="3246120" y="6473952"/>
            <a:ext cx="7635240" cy="173736"/>
          </a:xfrm>
          <a:prstGeom prst="rect">
            <a:avLst/>
          </a:prstGeom>
          <a:noFill/>
          <a:ln/>
        </p:spPr>
        <p:txBody>
          <a:bodyPr wrap="square" lIns="0" tIns="0" rIns="0" bIns="0" rtlCol="0" anchor="t"/>
          <a:lstStyle/>
          <a:p>
            <a:pPr indent="0" marL="0">
              <a:spcAft>
                <a:spcPts val="600"/>
              </a:spcAft>
              <a:buNone/>
            </a:pPr>
            <a:r>
              <a:rPr lang="en-US" sz="900" dirty="0">
                <a:solidFill>
                  <a:srgbClr val="50616B"/>
                </a:solidFill>
                <a:latin typeface="Aptos" pitchFamily="34" charset="0"/>
                <a:ea typeface="Aptos" pitchFamily="34" charset="-122"/>
                <a:cs typeface="Aptos" pitchFamily="34" charset="-120"/>
              </a:rPr>
              <a:t>Source material and recording notes included</a:t>
            </a:r>
            <a:endParaRPr lang="en-US" sz="900" dirty="0"/>
          </a:p>
        </p:txBody>
      </p:sp>
      <p:sp>
        <p:nvSpPr>
          <p:cNvPr id="7" name="Text 5"/>
          <p:cNvSpPr/>
          <p:nvPr/>
        </p:nvSpPr>
        <p:spPr>
          <a:xfrm>
            <a:off x="11045952" y="6455664"/>
            <a:ext cx="594360" cy="210312"/>
          </a:xfrm>
          <a:prstGeom prst="rect">
            <a:avLst/>
          </a:prstGeom>
          <a:noFill/>
          <a:ln/>
        </p:spPr>
        <p:txBody>
          <a:bodyPr wrap="square" lIns="0" tIns="0" rIns="0" bIns="0" rtlCol="0" anchor="t"/>
          <a:lstStyle/>
          <a:p>
            <a:pPr algn="r" indent="0" marL="0">
              <a:spcAft>
                <a:spcPts val="600"/>
              </a:spcAft>
              <a:buNone/>
            </a:pPr>
            <a:r>
              <a:rPr lang="en-US" sz="1000" dirty="0">
                <a:solidFill>
                  <a:srgbClr val="176F73"/>
                </a:solidFill>
                <a:latin typeface="Aptos" pitchFamily="34" charset="0"/>
                <a:ea typeface="Aptos" pitchFamily="34" charset="-122"/>
                <a:cs typeface="Aptos" pitchFamily="34" charset="-120"/>
              </a:rPr>
              <a:t>07</a:t>
            </a:r>
            <a:endParaRPr lang="en-US" sz="1000" dirty="0"/>
          </a:p>
        </p:txBody>
      </p:sp>
      <p:sp>
        <p:nvSpPr>
          <p:cNvPr id="8" name="Shape 6"/>
          <p:cNvSpPr/>
          <p:nvPr/>
        </p:nvSpPr>
        <p:spPr>
          <a:xfrm>
            <a:off x="502920" y="1773936"/>
            <a:ext cx="11183112" cy="3840480"/>
          </a:xfrm>
          <a:prstGeom prst="rect">
            <a:avLst/>
          </a:prstGeom>
          <a:solidFill>
            <a:srgbClr val="FFFFFF"/>
          </a:solidFill>
          <a:ln w="12700">
            <a:solidFill>
              <a:srgbClr val="FFFFFF">
                <a:alpha val="0"/>
              </a:srgbClr>
            </a:solidFill>
            <a:prstDash val="solid"/>
          </a:ln>
        </p:spPr>
      </p:sp>
      <p:pic>
        <p:nvPicPr>
          <p:cNvPr id="9" name="Image 0" descr="C:\Users\Nevo\Downloads\financial material\Publishing and Video Production\Presentation Assets\Evidence\Workbooks\USMPC-08-01-p1.png">    </p:cNvPr>
          <p:cNvPicPr>
            <a:picLocks noChangeAspect="1"/>
          </p:cNvPicPr>
          <p:nvPr/>
        </p:nvPicPr>
        <p:blipFill>
          <a:blip r:embed="rId1"/>
          <a:stretch>
            <a:fillRect/>
          </a:stretch>
        </p:blipFill>
        <p:spPr>
          <a:xfrm>
            <a:off x="612648" y="2725988"/>
            <a:ext cx="10972800" cy="1936376"/>
          </a:xfrm>
          <a:prstGeom prst="rect">
            <a:avLst/>
          </a:prstGeom>
        </p:spPr>
      </p:pic>
      <p:sp>
        <p:nvSpPr>
          <p:cNvPr id="10" name="Text 7"/>
          <p:cNvSpPr/>
          <p:nvPr/>
        </p:nvSpPr>
        <p:spPr>
          <a:xfrm>
            <a:off x="612648" y="5769864"/>
            <a:ext cx="9326880" cy="320040"/>
          </a:xfrm>
          <a:prstGeom prst="rect">
            <a:avLst/>
          </a:prstGeom>
          <a:noFill/>
          <a:ln/>
        </p:spPr>
        <p:txBody>
          <a:bodyPr wrap="square" lIns="0" tIns="0" rIns="0" bIns="0" rtlCol="0" anchor="t"/>
          <a:lstStyle/>
          <a:p>
            <a:pPr indent="0" marL="0">
              <a:spcAft>
                <a:spcPts val="600"/>
              </a:spcAft>
              <a:buNone/>
            </a:pPr>
            <a:r>
              <a:rPr lang="en-US" sz="1800" b="1" dirty="0">
                <a:solidFill>
                  <a:srgbClr val="176F73"/>
                </a:solidFill>
                <a:latin typeface="Aptos" pitchFamily="34" charset="0"/>
                <a:ea typeface="Aptos" pitchFamily="34" charset="-122"/>
                <a:cs typeface="Aptos" pitchFamily="34" charset="-120"/>
              </a:rPr>
              <a:t>P08 Rebalancing!A11:F17</a:t>
            </a:r>
            <a:endParaRPr lang="en-US" sz="1800" dirty="0"/>
          </a:p>
        </p:txBody>
      </p:sp>
      <p:sp>
        <p:nvSpPr>
          <p:cNvPr id="11" name="Text 8"/>
          <p:cNvSpPr/>
          <p:nvPr/>
        </p:nvSpPr>
        <p:spPr>
          <a:xfrm>
            <a:off x="594360" y="6144768"/>
            <a:ext cx="10972800" cy="274320"/>
          </a:xfrm>
          <a:prstGeom prst="rect">
            <a:avLst/>
          </a:prstGeom>
          <a:noFill/>
          <a:ln/>
        </p:spPr>
        <p:txBody>
          <a:bodyPr wrap="square" lIns="0" tIns="0" rIns="0" bIns="0" rtlCol="0" anchor="t"/>
          <a:lstStyle/>
          <a:p>
            <a:pPr indent="0" marL="0">
              <a:spcAft>
                <a:spcPts val="600"/>
              </a:spcAft>
              <a:buNone/>
            </a:pPr>
            <a:r>
              <a:rPr lang="en-US" sz="1000" dirty="0">
                <a:solidFill>
                  <a:srgbClr val="50616B"/>
                </a:solidFill>
                <a:latin typeface="Aptos" pitchFamily="34" charset="0"/>
                <a:ea typeface="Aptos" pitchFamily="34" charset="-122"/>
                <a:cs typeface="Aptos" pitchFamily="34" charset="-120"/>
              </a:rPr>
              <a:t>Dated source record • fictional calculations are labelled as illustrations</a:t>
            </a:r>
            <a:endParaRPr lang="en-US" sz="10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7F5EF"/>
        </a:solidFill>
      </p:bgPr>
    </p:bg>
    <p:spTree>
      <p:nvGrpSpPr>
        <p:cNvPr id="1" name=""/>
        <p:cNvGrpSpPr/>
        <p:nvPr/>
      </p:nvGrpSpPr>
      <p:grpSpPr>
        <a:xfrm>
          <a:off x="0" y="0"/>
          <a:ext cx="0" cy="0"/>
          <a:chOff x="0" y="0"/>
          <a:chExt cx="0" cy="0"/>
        </a:xfrm>
      </p:grpSpPr>
      <p:sp>
        <p:nvSpPr>
          <p:cNvPr id="2" name="Shape 0"/>
          <p:cNvSpPr/>
          <p:nvPr/>
        </p:nvSpPr>
        <p:spPr>
          <a:xfrm>
            <a:off x="0" y="0"/>
            <a:ext cx="12191695" cy="100584"/>
          </a:xfrm>
          <a:prstGeom prst="rect">
            <a:avLst/>
          </a:prstGeom>
          <a:solidFill>
            <a:srgbClr val="176F73"/>
          </a:solidFill>
          <a:ln w="12700">
            <a:solidFill>
              <a:srgbClr val="176F73">
                <a:alpha val="0"/>
              </a:srgbClr>
            </a:solidFill>
            <a:prstDash val="solid"/>
          </a:ln>
        </p:spPr>
      </p:sp>
      <p:sp>
        <p:nvSpPr>
          <p:cNvPr id="3" name="Text 1"/>
          <p:cNvSpPr/>
          <p:nvPr/>
        </p:nvSpPr>
        <p:spPr>
          <a:xfrm>
            <a:off x="502920" y="365760"/>
            <a:ext cx="11155680" cy="228600"/>
          </a:xfrm>
          <a:prstGeom prst="rect">
            <a:avLst/>
          </a:prstGeom>
          <a:noFill/>
          <a:ln/>
        </p:spPr>
        <p:txBody>
          <a:bodyPr wrap="square" lIns="0" tIns="0" rIns="0" bIns="0" rtlCol="0" anchor="t"/>
          <a:lstStyle/>
          <a:p>
            <a:pPr indent="0" marL="0">
              <a:spcAft>
                <a:spcPts val="600"/>
              </a:spcAft>
              <a:buNone/>
            </a:pPr>
            <a:r>
              <a:rPr lang="en-US" sz="1100" b="1" spc="150" kern="0" dirty="0">
                <a:solidFill>
                  <a:srgbClr val="176F73"/>
                </a:solidFill>
                <a:latin typeface="Aptos" pitchFamily="34" charset="0"/>
                <a:ea typeface="Aptos" pitchFamily="34" charset="-122"/>
                <a:cs typeface="Aptos" pitchFamily="34" charset="-120"/>
              </a:rPr>
              <a:t>CHANGE THE ASSUMPTION</a:t>
            </a:r>
            <a:endParaRPr lang="en-US" sz="1100" dirty="0"/>
          </a:p>
        </p:txBody>
      </p:sp>
      <p:sp>
        <p:nvSpPr>
          <p:cNvPr id="4" name="Text 2"/>
          <p:cNvSpPr/>
          <p:nvPr/>
        </p:nvSpPr>
        <p:spPr>
          <a:xfrm>
            <a:off x="502920" y="859536"/>
            <a:ext cx="11155680" cy="941832"/>
          </a:xfrm>
          <a:prstGeom prst="rect">
            <a:avLst/>
          </a:prstGeom>
          <a:noFill/>
          <a:ln/>
        </p:spPr>
        <p:txBody>
          <a:bodyPr wrap="square" lIns="0" tIns="0" rIns="0" bIns="0" rtlCol="0" anchor="t"/>
          <a:lstStyle/>
          <a:p>
            <a:pPr indent="0" marL="0">
              <a:spcAft>
                <a:spcPts val="600"/>
              </a:spcAft>
              <a:buNone/>
            </a:pPr>
            <a:r>
              <a:rPr lang="en-US" sz="3400" dirty="0">
                <a:solidFill>
                  <a:srgbClr val="163047"/>
                </a:solidFill>
                <a:latin typeface="Georgia" pitchFamily="34" charset="0"/>
                <a:ea typeface="Georgia" pitchFamily="34" charset="-122"/>
                <a:cs typeface="Georgia" pitchFamily="34" charset="-120"/>
              </a:rPr>
              <a:t>Use new contributions before assuming a sale</a:t>
            </a:r>
            <a:endParaRPr lang="en-US" sz="3400" dirty="0"/>
          </a:p>
        </p:txBody>
      </p:sp>
      <p:sp>
        <p:nvSpPr>
          <p:cNvPr id="5" name="Text 3"/>
          <p:cNvSpPr/>
          <p:nvPr/>
        </p:nvSpPr>
        <p:spPr>
          <a:xfrm>
            <a:off x="502920" y="6473952"/>
            <a:ext cx="2834640" cy="173736"/>
          </a:xfrm>
          <a:prstGeom prst="rect">
            <a:avLst/>
          </a:prstGeom>
          <a:noFill/>
          <a:ln/>
        </p:spPr>
        <p:txBody>
          <a:bodyPr wrap="square" lIns="0" tIns="0" rIns="0" bIns="0" rtlCol="0" anchor="t"/>
          <a:lstStyle/>
          <a:p>
            <a:pPr indent="0" marL="0">
              <a:spcAft>
                <a:spcPts val="600"/>
              </a:spcAft>
              <a:buNone/>
            </a:pPr>
            <a:r>
              <a:rPr lang="en-US" sz="900" spc="100" kern="0" dirty="0">
                <a:solidFill>
                  <a:srgbClr val="50616B"/>
                </a:solidFill>
                <a:latin typeface="Aptos" pitchFamily="34" charset="0"/>
                <a:ea typeface="Aptos" pitchFamily="34" charset="-122"/>
                <a:cs typeface="Aptos" pitchFamily="34" charset="-120"/>
              </a:rPr>
              <a:t>SOKOINTEL  /  USMPC-08</a:t>
            </a:r>
            <a:endParaRPr lang="en-US" sz="900" dirty="0"/>
          </a:p>
        </p:txBody>
      </p:sp>
      <p:sp>
        <p:nvSpPr>
          <p:cNvPr id="6" name="Text 4"/>
          <p:cNvSpPr/>
          <p:nvPr/>
        </p:nvSpPr>
        <p:spPr>
          <a:xfrm>
            <a:off x="3246120" y="6473952"/>
            <a:ext cx="7635240" cy="173736"/>
          </a:xfrm>
          <a:prstGeom prst="rect">
            <a:avLst/>
          </a:prstGeom>
          <a:noFill/>
          <a:ln/>
        </p:spPr>
        <p:txBody>
          <a:bodyPr wrap="square" lIns="0" tIns="0" rIns="0" bIns="0" rtlCol="0" anchor="t"/>
          <a:lstStyle/>
          <a:p>
            <a:pPr indent="0" marL="0">
              <a:spcAft>
                <a:spcPts val="600"/>
              </a:spcAft>
              <a:buNone/>
            </a:pPr>
            <a:r>
              <a:rPr lang="en-US" sz="900" dirty="0">
                <a:solidFill>
                  <a:srgbClr val="50616B"/>
                </a:solidFill>
                <a:latin typeface="Aptos" pitchFamily="34" charset="0"/>
                <a:ea typeface="Aptos" pitchFamily="34" charset="-122"/>
                <a:cs typeface="Aptos" pitchFamily="34" charset="-120"/>
              </a:rPr>
              <a:t>Source material and recording notes included</a:t>
            </a:r>
            <a:endParaRPr lang="en-US" sz="900" dirty="0"/>
          </a:p>
        </p:txBody>
      </p:sp>
      <p:sp>
        <p:nvSpPr>
          <p:cNvPr id="7" name="Text 5"/>
          <p:cNvSpPr/>
          <p:nvPr/>
        </p:nvSpPr>
        <p:spPr>
          <a:xfrm>
            <a:off x="11045952" y="6455664"/>
            <a:ext cx="594360" cy="210312"/>
          </a:xfrm>
          <a:prstGeom prst="rect">
            <a:avLst/>
          </a:prstGeom>
          <a:noFill/>
          <a:ln/>
        </p:spPr>
        <p:txBody>
          <a:bodyPr wrap="square" lIns="0" tIns="0" rIns="0" bIns="0" rtlCol="0" anchor="t"/>
          <a:lstStyle/>
          <a:p>
            <a:pPr algn="r" indent="0" marL="0">
              <a:spcAft>
                <a:spcPts val="600"/>
              </a:spcAft>
              <a:buNone/>
            </a:pPr>
            <a:r>
              <a:rPr lang="en-US" sz="1000" dirty="0">
                <a:solidFill>
                  <a:srgbClr val="176F73"/>
                </a:solidFill>
                <a:latin typeface="Aptos" pitchFamily="34" charset="0"/>
                <a:ea typeface="Aptos" pitchFamily="34" charset="-122"/>
                <a:cs typeface="Aptos" pitchFamily="34" charset="-120"/>
              </a:rPr>
              <a:t>08</a:t>
            </a:r>
            <a:endParaRPr lang="en-US" sz="1000" dirty="0"/>
          </a:p>
        </p:txBody>
      </p:sp>
      <p:sp>
        <p:nvSpPr>
          <p:cNvPr id="8" name="Shape 6"/>
          <p:cNvSpPr/>
          <p:nvPr/>
        </p:nvSpPr>
        <p:spPr>
          <a:xfrm>
            <a:off x="594360" y="1883664"/>
            <a:ext cx="5321808" cy="1975104"/>
          </a:xfrm>
          <a:prstGeom prst="rect">
            <a:avLst/>
          </a:prstGeom>
          <a:solidFill>
            <a:srgbClr val="E9EFE7"/>
          </a:solidFill>
          <a:ln w="12700">
            <a:solidFill>
              <a:srgbClr val="E9EFE7">
                <a:alpha val="0"/>
              </a:srgbClr>
            </a:solidFill>
            <a:prstDash val="solid"/>
          </a:ln>
        </p:spPr>
      </p:sp>
      <p:sp>
        <p:nvSpPr>
          <p:cNvPr id="9" name="Shape 7"/>
          <p:cNvSpPr/>
          <p:nvPr/>
        </p:nvSpPr>
        <p:spPr>
          <a:xfrm>
            <a:off x="6190488" y="1883664"/>
            <a:ext cx="5321808" cy="1975104"/>
          </a:xfrm>
          <a:prstGeom prst="rect">
            <a:avLst/>
          </a:prstGeom>
          <a:solidFill>
            <a:srgbClr val="EFE6D5"/>
          </a:solidFill>
          <a:ln w="12700">
            <a:solidFill>
              <a:srgbClr val="EFE6D5">
                <a:alpha val="0"/>
              </a:srgbClr>
            </a:solidFill>
            <a:prstDash val="solid"/>
          </a:ln>
        </p:spPr>
      </p:sp>
      <p:sp>
        <p:nvSpPr>
          <p:cNvPr id="10" name="Text 8"/>
          <p:cNvSpPr/>
          <p:nvPr/>
        </p:nvSpPr>
        <p:spPr>
          <a:xfrm>
            <a:off x="868680" y="2139696"/>
            <a:ext cx="4754880" cy="228600"/>
          </a:xfrm>
          <a:prstGeom prst="rect">
            <a:avLst/>
          </a:prstGeom>
          <a:noFill/>
          <a:ln/>
        </p:spPr>
        <p:txBody>
          <a:bodyPr wrap="square" lIns="0" tIns="0" rIns="0" bIns="0" rtlCol="0" anchor="t"/>
          <a:lstStyle/>
          <a:p>
            <a:pPr indent="0" marL="0">
              <a:spcAft>
                <a:spcPts val="600"/>
              </a:spcAft>
              <a:buNone/>
            </a:pPr>
            <a:r>
              <a:rPr lang="en-US" sz="1200" b="1" dirty="0">
                <a:solidFill>
                  <a:srgbClr val="176F73"/>
                </a:solidFill>
                <a:latin typeface="Aptos" pitchFamily="34" charset="0"/>
                <a:ea typeface="Aptos" pitchFamily="34" charset="-122"/>
                <a:cs typeface="Aptos" pitchFamily="34" charset="-120"/>
              </a:rPr>
              <a:t>BASE / STARTING RECORD</a:t>
            </a:r>
            <a:endParaRPr lang="en-US" sz="1200" dirty="0"/>
          </a:p>
        </p:txBody>
      </p:sp>
      <p:sp>
        <p:nvSpPr>
          <p:cNvPr id="11" name="Text 9"/>
          <p:cNvSpPr/>
          <p:nvPr/>
        </p:nvSpPr>
        <p:spPr>
          <a:xfrm>
            <a:off x="868680" y="2624328"/>
            <a:ext cx="4754880" cy="1005840"/>
          </a:xfrm>
          <a:prstGeom prst="rect">
            <a:avLst/>
          </a:prstGeom>
          <a:noFill/>
          <a:ln/>
        </p:spPr>
        <p:txBody>
          <a:bodyPr wrap="square" lIns="0" tIns="0" rIns="0" bIns="0" rtlCol="0" anchor="t"/>
          <a:lstStyle/>
          <a:p>
            <a:pPr indent="0" marL="0">
              <a:spcAft>
                <a:spcPts val="600"/>
              </a:spcAft>
              <a:buNone/>
            </a:pPr>
            <a:r>
              <a:rPr lang="en-US" sz="2200" dirty="0">
                <a:solidFill>
                  <a:srgbClr val="163047"/>
                </a:solidFill>
                <a:latin typeface="Aptos" pitchFamily="34" charset="0"/>
                <a:ea typeface="Aptos" pitchFamily="34" charset="-122"/>
                <a:cs typeface="Aptos" pitchFamily="34" charset="-120"/>
              </a:rPr>
              <a:t>Current weights drift away from the four-sleeve targets.</a:t>
            </a:r>
            <a:endParaRPr lang="en-US" sz="2200" dirty="0"/>
          </a:p>
        </p:txBody>
      </p:sp>
      <p:sp>
        <p:nvSpPr>
          <p:cNvPr id="12" name="Text 10"/>
          <p:cNvSpPr/>
          <p:nvPr/>
        </p:nvSpPr>
        <p:spPr>
          <a:xfrm>
            <a:off x="6464808" y="2139696"/>
            <a:ext cx="4754880" cy="228600"/>
          </a:xfrm>
          <a:prstGeom prst="rect">
            <a:avLst/>
          </a:prstGeom>
          <a:noFill/>
          <a:ln/>
        </p:spPr>
        <p:txBody>
          <a:bodyPr wrap="square" lIns="0" tIns="0" rIns="0" bIns="0" rtlCol="0" anchor="t"/>
          <a:lstStyle/>
          <a:p>
            <a:pPr indent="0" marL="0">
              <a:spcAft>
                <a:spcPts val="600"/>
              </a:spcAft>
              <a:buNone/>
            </a:pPr>
            <a:r>
              <a:rPr lang="en-US" sz="1200" b="1" dirty="0">
                <a:solidFill>
                  <a:srgbClr val="80591D"/>
                </a:solidFill>
                <a:latin typeface="Aptos" pitchFamily="34" charset="0"/>
                <a:ea typeface="Aptos" pitchFamily="34" charset="-122"/>
                <a:cs typeface="Aptos" pitchFamily="34" charset="-120"/>
              </a:rPr>
              <a:t>CHANGED CASE / NEW EVIDENCE</a:t>
            </a:r>
            <a:endParaRPr lang="en-US" sz="1200" dirty="0"/>
          </a:p>
        </p:txBody>
      </p:sp>
      <p:sp>
        <p:nvSpPr>
          <p:cNvPr id="13" name="Text 11"/>
          <p:cNvSpPr/>
          <p:nvPr/>
        </p:nvSpPr>
        <p:spPr>
          <a:xfrm>
            <a:off x="6464808" y="2624328"/>
            <a:ext cx="4754880" cy="1005840"/>
          </a:xfrm>
          <a:prstGeom prst="rect">
            <a:avLst/>
          </a:prstGeom>
          <a:noFill/>
          <a:ln/>
        </p:spPr>
        <p:txBody>
          <a:bodyPr wrap="square" lIns="0" tIns="0" rIns="0" bIns="0" rtlCol="0" anchor="t"/>
          <a:lstStyle/>
          <a:p>
            <a:pPr indent="0" marL="0">
              <a:spcAft>
                <a:spcPts val="600"/>
              </a:spcAft>
              <a:buNone/>
            </a:pPr>
            <a:r>
              <a:rPr lang="en-US" sz="2200" dirty="0">
                <a:solidFill>
                  <a:srgbClr val="163047"/>
                </a:solidFill>
                <a:latin typeface="Aptos" pitchFamily="34" charset="0"/>
                <a:ea typeface="Aptos" pitchFamily="34" charset="-122"/>
                <a:cs typeface="Aptos" pitchFamily="34" charset="-120"/>
              </a:rPr>
              <a:t>Direct new cash toward underweight sleeves first.</a:t>
            </a:r>
            <a:endParaRPr lang="en-US" sz="2200" dirty="0"/>
          </a:p>
        </p:txBody>
      </p:sp>
      <p:sp>
        <p:nvSpPr>
          <p:cNvPr id="14" name="Text 12"/>
          <p:cNvSpPr/>
          <p:nvPr/>
        </p:nvSpPr>
        <p:spPr>
          <a:xfrm>
            <a:off x="749808" y="4379976"/>
            <a:ext cx="10716768" cy="1271016"/>
          </a:xfrm>
          <a:prstGeom prst="rect">
            <a:avLst/>
          </a:prstGeom>
          <a:noFill/>
          <a:ln/>
        </p:spPr>
        <p:txBody>
          <a:bodyPr wrap="square" lIns="0" tIns="0" rIns="0" bIns="0" rtlCol="0" anchor="t"/>
          <a:lstStyle/>
          <a:p>
            <a:pPr indent="0" marL="0">
              <a:spcAft>
                <a:spcPts val="600"/>
              </a:spcAft>
              <a:buNone/>
            </a:pPr>
            <a:r>
              <a:rPr lang="en-US" sz="2500" dirty="0">
                <a:solidFill>
                  <a:srgbClr val="163047"/>
                </a:solidFill>
                <a:latin typeface="Aptos" pitchFamily="34" charset="0"/>
                <a:ea typeface="Aptos" pitchFamily="34" charset="-122"/>
                <a:cs typeface="Aptos" pitchFamily="34" charset="-120"/>
              </a:rPr>
              <a:t>Recalculate residual trades on the new portfolio total; compare taxes and costs before selling.</a:t>
            </a:r>
            <a:endParaRPr lang="en-US" sz="2500" dirty="0"/>
          </a:p>
        </p:txBody>
      </p:sp>
      <p:sp>
        <p:nvSpPr>
          <p:cNvPr id="15" name="Text 13"/>
          <p:cNvSpPr/>
          <p:nvPr/>
        </p:nvSpPr>
        <p:spPr>
          <a:xfrm>
            <a:off x="594360" y="6053328"/>
            <a:ext cx="10972800" cy="274320"/>
          </a:xfrm>
          <a:prstGeom prst="rect">
            <a:avLst/>
          </a:prstGeom>
          <a:noFill/>
          <a:ln/>
        </p:spPr>
        <p:txBody>
          <a:bodyPr wrap="square" lIns="0" tIns="0" rIns="0" bIns="0" rtlCol="0" anchor="t"/>
          <a:lstStyle/>
          <a:p>
            <a:pPr indent="0" marL="0">
              <a:spcAft>
                <a:spcPts val="600"/>
              </a:spcAft>
              <a:buNone/>
            </a:pPr>
            <a:r>
              <a:rPr lang="en-US" sz="1000" dirty="0">
                <a:solidFill>
                  <a:srgbClr val="50616B"/>
                </a:solidFill>
                <a:latin typeface="Aptos" pitchFamily="34" charset="0"/>
                <a:ea typeface="Aptos" pitchFamily="34" charset="-122"/>
                <a:cs typeface="Aptos" pitchFamily="34" charset="-120"/>
              </a:rPr>
              <a:t>Sensitivity or evidence comparison; interpretation depends on the stated assumptions.</a:t>
            </a:r>
            <a:endParaRPr lang="en-US" sz="10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7F5EF"/>
        </a:solidFill>
      </p:bgPr>
    </p:bg>
    <p:spTree>
      <p:nvGrpSpPr>
        <p:cNvPr id="1" name=""/>
        <p:cNvGrpSpPr/>
        <p:nvPr/>
      </p:nvGrpSpPr>
      <p:grpSpPr>
        <a:xfrm>
          <a:off x="0" y="0"/>
          <a:ext cx="0" cy="0"/>
          <a:chOff x="0" y="0"/>
          <a:chExt cx="0" cy="0"/>
        </a:xfrm>
      </p:grpSpPr>
      <p:sp>
        <p:nvSpPr>
          <p:cNvPr id="2" name="Shape 0"/>
          <p:cNvSpPr/>
          <p:nvPr/>
        </p:nvSpPr>
        <p:spPr>
          <a:xfrm>
            <a:off x="0" y="0"/>
            <a:ext cx="12191695" cy="100584"/>
          </a:xfrm>
          <a:prstGeom prst="rect">
            <a:avLst/>
          </a:prstGeom>
          <a:solidFill>
            <a:srgbClr val="176F73"/>
          </a:solidFill>
          <a:ln w="12700">
            <a:solidFill>
              <a:srgbClr val="176F73">
                <a:alpha val="0"/>
              </a:srgbClr>
            </a:solidFill>
            <a:prstDash val="solid"/>
          </a:ln>
        </p:spPr>
      </p:sp>
      <p:sp>
        <p:nvSpPr>
          <p:cNvPr id="3" name="Text 1"/>
          <p:cNvSpPr/>
          <p:nvPr/>
        </p:nvSpPr>
        <p:spPr>
          <a:xfrm>
            <a:off x="502920" y="365760"/>
            <a:ext cx="11155680" cy="228600"/>
          </a:xfrm>
          <a:prstGeom prst="rect">
            <a:avLst/>
          </a:prstGeom>
          <a:noFill/>
          <a:ln/>
        </p:spPr>
        <p:txBody>
          <a:bodyPr wrap="square" lIns="0" tIns="0" rIns="0" bIns="0" rtlCol="0" anchor="t"/>
          <a:lstStyle/>
          <a:p>
            <a:pPr indent="0" marL="0">
              <a:spcAft>
                <a:spcPts val="600"/>
              </a:spcAft>
              <a:buNone/>
            </a:pPr>
            <a:r>
              <a:rPr lang="en-US" sz="1100" b="1" spc="150" kern="0" dirty="0">
                <a:solidFill>
                  <a:srgbClr val="176F73"/>
                </a:solidFill>
                <a:latin typeface="Aptos" pitchFamily="34" charset="0"/>
                <a:ea typeface="Aptos" pitchFamily="34" charset="-122"/>
                <a:cs typeface="Aptos" pitchFamily="34" charset="-120"/>
              </a:rPr>
              <a:t>SAVED WEB DEMONSTRATION</a:t>
            </a:r>
            <a:endParaRPr lang="en-US" sz="1100" dirty="0"/>
          </a:p>
        </p:txBody>
      </p:sp>
      <p:sp>
        <p:nvSpPr>
          <p:cNvPr id="4" name="Text 2"/>
          <p:cNvSpPr/>
          <p:nvPr/>
        </p:nvSpPr>
        <p:spPr>
          <a:xfrm>
            <a:off x="502920" y="859536"/>
            <a:ext cx="11155680" cy="941832"/>
          </a:xfrm>
          <a:prstGeom prst="rect">
            <a:avLst/>
          </a:prstGeom>
          <a:noFill/>
          <a:ln/>
        </p:spPr>
        <p:txBody>
          <a:bodyPr wrap="square" lIns="0" tIns="0" rIns="0" bIns="0" rtlCol="0" anchor="t"/>
          <a:lstStyle/>
          <a:p>
            <a:pPr indent="0" marL="0">
              <a:spcAft>
                <a:spcPts val="600"/>
              </a:spcAft>
              <a:buNone/>
            </a:pPr>
            <a:r>
              <a:rPr lang="en-US" sz="3400" dirty="0">
                <a:solidFill>
                  <a:srgbClr val="163047"/>
                </a:solidFill>
                <a:latin typeface="Georgia" pitchFamily="34" charset="0"/>
                <a:ea typeface="Georgia" pitchFamily="34" charset="-122"/>
                <a:cs typeface="Georgia" pitchFamily="34" charset="-120"/>
              </a:rPr>
              <a:t>A focused calculator demonstration</a:t>
            </a:r>
            <a:endParaRPr lang="en-US" sz="3400" dirty="0"/>
          </a:p>
        </p:txBody>
      </p:sp>
      <p:sp>
        <p:nvSpPr>
          <p:cNvPr id="5" name="Text 3"/>
          <p:cNvSpPr/>
          <p:nvPr/>
        </p:nvSpPr>
        <p:spPr>
          <a:xfrm>
            <a:off x="502920" y="6473952"/>
            <a:ext cx="2834640" cy="173736"/>
          </a:xfrm>
          <a:prstGeom prst="rect">
            <a:avLst/>
          </a:prstGeom>
          <a:noFill/>
          <a:ln/>
        </p:spPr>
        <p:txBody>
          <a:bodyPr wrap="square" lIns="0" tIns="0" rIns="0" bIns="0" rtlCol="0" anchor="t"/>
          <a:lstStyle/>
          <a:p>
            <a:pPr indent="0" marL="0">
              <a:spcAft>
                <a:spcPts val="600"/>
              </a:spcAft>
              <a:buNone/>
            </a:pPr>
            <a:r>
              <a:rPr lang="en-US" sz="900" spc="100" kern="0" dirty="0">
                <a:solidFill>
                  <a:srgbClr val="50616B"/>
                </a:solidFill>
                <a:latin typeface="Aptos" pitchFamily="34" charset="0"/>
                <a:ea typeface="Aptos" pitchFamily="34" charset="-122"/>
                <a:cs typeface="Aptos" pitchFamily="34" charset="-120"/>
              </a:rPr>
              <a:t>SOKOINTEL  /  USMPC-08</a:t>
            </a:r>
            <a:endParaRPr lang="en-US" sz="900" dirty="0"/>
          </a:p>
        </p:txBody>
      </p:sp>
      <p:sp>
        <p:nvSpPr>
          <p:cNvPr id="6" name="Text 4"/>
          <p:cNvSpPr/>
          <p:nvPr/>
        </p:nvSpPr>
        <p:spPr>
          <a:xfrm>
            <a:off x="3246120" y="6473952"/>
            <a:ext cx="7635240" cy="173736"/>
          </a:xfrm>
          <a:prstGeom prst="rect">
            <a:avLst/>
          </a:prstGeom>
          <a:noFill/>
          <a:ln/>
        </p:spPr>
        <p:txBody>
          <a:bodyPr wrap="square" lIns="0" tIns="0" rIns="0" bIns="0" rtlCol="0" anchor="t"/>
          <a:lstStyle/>
          <a:p>
            <a:pPr indent="0" marL="0">
              <a:spcAft>
                <a:spcPts val="600"/>
              </a:spcAft>
              <a:buNone/>
            </a:pPr>
            <a:r>
              <a:rPr lang="en-US" sz="900" dirty="0">
                <a:solidFill>
                  <a:srgbClr val="50616B"/>
                </a:solidFill>
                <a:latin typeface="Aptos" pitchFamily="34" charset="0"/>
                <a:ea typeface="Aptos" pitchFamily="34" charset="-122"/>
                <a:cs typeface="Aptos" pitchFamily="34" charset="-120"/>
              </a:rPr>
              <a:t>Source material and recording notes included</a:t>
            </a:r>
            <a:endParaRPr lang="en-US" sz="900" dirty="0"/>
          </a:p>
        </p:txBody>
      </p:sp>
      <p:sp>
        <p:nvSpPr>
          <p:cNvPr id="7" name="Text 5"/>
          <p:cNvSpPr/>
          <p:nvPr/>
        </p:nvSpPr>
        <p:spPr>
          <a:xfrm>
            <a:off x="11045952" y="6455664"/>
            <a:ext cx="594360" cy="210312"/>
          </a:xfrm>
          <a:prstGeom prst="rect">
            <a:avLst/>
          </a:prstGeom>
          <a:noFill/>
          <a:ln/>
        </p:spPr>
        <p:txBody>
          <a:bodyPr wrap="square" lIns="0" tIns="0" rIns="0" bIns="0" rtlCol="0" anchor="t"/>
          <a:lstStyle/>
          <a:p>
            <a:pPr algn="r" indent="0" marL="0">
              <a:spcAft>
                <a:spcPts val="600"/>
              </a:spcAft>
              <a:buNone/>
            </a:pPr>
            <a:r>
              <a:rPr lang="en-US" sz="1000" dirty="0">
                <a:solidFill>
                  <a:srgbClr val="176F73"/>
                </a:solidFill>
                <a:latin typeface="Aptos" pitchFamily="34" charset="0"/>
                <a:ea typeface="Aptos" pitchFamily="34" charset="-122"/>
                <a:cs typeface="Aptos" pitchFamily="34" charset="-120"/>
              </a:rPr>
              <a:t>09</a:t>
            </a:r>
            <a:endParaRPr lang="en-US" sz="1000" dirty="0"/>
          </a:p>
        </p:txBody>
      </p:sp>
      <p:pic>
        <p:nvPicPr>
          <p:cNvPr id="8" name="Image 0" descr="C:\Users\Nevo\Downloads\financial material\Publishing and Video Production\Presentation Assets\Evidence\Web\dca-portfolio-summary.png">    </p:cNvPr>
          <p:cNvPicPr>
            <a:picLocks noChangeAspect="1"/>
          </p:cNvPicPr>
          <p:nvPr/>
        </p:nvPicPr>
        <p:blipFill>
          <a:blip r:embed="rId1"/>
          <a:stretch>
            <a:fillRect/>
          </a:stretch>
        </p:blipFill>
        <p:spPr>
          <a:xfrm>
            <a:off x="1204093" y="1810512"/>
            <a:ext cx="6159743" cy="4334256"/>
          </a:xfrm>
          <a:prstGeom prst="rect">
            <a:avLst/>
          </a:prstGeom>
        </p:spPr>
      </p:pic>
      <p:sp>
        <p:nvSpPr>
          <p:cNvPr id="9" name="Shape 6"/>
          <p:cNvSpPr/>
          <p:nvPr/>
        </p:nvSpPr>
        <p:spPr>
          <a:xfrm>
            <a:off x="8275320" y="1865376"/>
            <a:ext cx="3291840" cy="4160520"/>
          </a:xfrm>
          <a:prstGeom prst="rect">
            <a:avLst/>
          </a:prstGeom>
          <a:solidFill>
            <a:srgbClr val="E9EFE7"/>
          </a:solidFill>
          <a:ln w="12700">
            <a:solidFill>
              <a:srgbClr val="E9EFE7">
                <a:alpha val="0"/>
              </a:srgbClr>
            </a:solidFill>
            <a:prstDash val="solid"/>
          </a:ln>
        </p:spPr>
      </p:sp>
      <p:sp>
        <p:nvSpPr>
          <p:cNvPr id="10" name="Text 7"/>
          <p:cNvSpPr/>
          <p:nvPr/>
        </p:nvSpPr>
        <p:spPr>
          <a:xfrm>
            <a:off x="8513064" y="2112264"/>
            <a:ext cx="2798064" cy="274320"/>
          </a:xfrm>
          <a:prstGeom prst="rect">
            <a:avLst/>
          </a:prstGeom>
          <a:noFill/>
          <a:ln/>
        </p:spPr>
        <p:txBody>
          <a:bodyPr wrap="square" lIns="0" tIns="0" rIns="0" bIns="0" rtlCol="0" anchor="t"/>
          <a:lstStyle/>
          <a:p>
            <a:pPr indent="0" marL="0">
              <a:spcAft>
                <a:spcPts val="600"/>
              </a:spcAft>
              <a:buNone/>
            </a:pPr>
            <a:r>
              <a:rPr lang="en-US" sz="1200" b="1" dirty="0">
                <a:solidFill>
                  <a:srgbClr val="176F73"/>
                </a:solidFill>
                <a:latin typeface="Aptos" pitchFamily="34" charset="0"/>
                <a:ea typeface="Aptos" pitchFamily="34" charset="-122"/>
                <a:cs typeface="Aptos" pitchFamily="34" charset="-120"/>
              </a:rPr>
              <a:t>WHAT THIS TOOL DOES</a:t>
            </a:r>
            <a:endParaRPr lang="en-US" sz="1200" dirty="0"/>
          </a:p>
        </p:txBody>
      </p:sp>
      <p:sp>
        <p:nvSpPr>
          <p:cNvPr id="11" name="Text 8"/>
          <p:cNvSpPr/>
          <p:nvPr/>
        </p:nvSpPr>
        <p:spPr>
          <a:xfrm>
            <a:off x="8513064" y="2633472"/>
            <a:ext cx="2798064" cy="1847088"/>
          </a:xfrm>
          <a:prstGeom prst="rect">
            <a:avLst/>
          </a:prstGeom>
          <a:noFill/>
          <a:ln/>
        </p:spPr>
        <p:txBody>
          <a:bodyPr wrap="square" lIns="0" tIns="0" rIns="0" bIns="0" rtlCol="0" anchor="t"/>
          <a:lstStyle/>
          <a:p>
            <a:pPr indent="0" marL="0">
              <a:spcAft>
                <a:spcPts val="600"/>
              </a:spcAft>
              <a:buNone/>
            </a:pPr>
            <a:r>
              <a:rPr lang="en-US" sz="1900" dirty="0">
                <a:solidFill>
                  <a:srgbClr val="163047"/>
                </a:solidFill>
                <a:latin typeface="Aptos" pitchFamily="34" charset="0"/>
                <a:ea typeface="Aptos" pitchFamily="34" charset="-122"/>
                <a:cs typeface="Aptos" pitchFamily="34" charset="-120"/>
              </a:rPr>
              <a:t>Use target weights, reference prices and costs to form an affordable purchase plan. Follow the residual cash after integer-share rounding.</a:t>
            </a:r>
            <a:endParaRPr lang="en-US" sz="1900" dirty="0"/>
          </a:p>
        </p:txBody>
      </p:sp>
      <p:sp>
        <p:nvSpPr>
          <p:cNvPr id="12" name="Text 9"/>
          <p:cNvSpPr/>
          <p:nvPr/>
        </p:nvSpPr>
        <p:spPr>
          <a:xfrm>
            <a:off x="8513064" y="4617720"/>
            <a:ext cx="2798064" cy="1188720"/>
          </a:xfrm>
          <a:prstGeom prst="rect">
            <a:avLst/>
          </a:prstGeom>
          <a:noFill/>
          <a:ln/>
        </p:spPr>
        <p:txBody>
          <a:bodyPr wrap="square" lIns="0" tIns="0" rIns="0" bIns="0" rtlCol="0" anchor="t"/>
          <a:lstStyle/>
          <a:p>
            <a:pPr indent="0" marL="0">
              <a:spcAft>
                <a:spcPts val="600"/>
              </a:spcAft>
              <a:buNone/>
            </a:pPr>
            <a:r>
              <a:rPr lang="en-US" sz="1650" b="1" dirty="0">
                <a:solidFill>
                  <a:srgbClr val="163047"/>
                </a:solidFill>
                <a:latin typeface="Aptos" pitchFamily="34" charset="0"/>
                <a:ea typeface="Aptos" pitchFamily="34" charset="-122"/>
                <a:cs typeface="Aptos" pitchFamily="34" charset="-120"/>
              </a:rPr>
              <a:t>Stress losses, covariance and HHI belong in the workbook, not this purchase planner.</a:t>
            </a:r>
            <a:endParaRPr lang="en-US" sz="1650" dirty="0"/>
          </a:p>
        </p:txBody>
      </p:sp>
      <p:sp>
        <p:nvSpPr>
          <p:cNvPr id="13" name="Text 10"/>
          <p:cNvSpPr/>
          <p:nvPr/>
        </p:nvSpPr>
        <p:spPr>
          <a:xfrm>
            <a:off x="594360" y="6199632"/>
            <a:ext cx="10972800" cy="274320"/>
          </a:xfrm>
          <a:prstGeom prst="rect">
            <a:avLst/>
          </a:prstGeom>
          <a:noFill/>
          <a:ln/>
        </p:spPr>
        <p:txBody>
          <a:bodyPr wrap="square" lIns="0" tIns="0" rIns="0" bIns="0" rtlCol="0" anchor="t"/>
          <a:lstStyle/>
          <a:p>
            <a:pPr indent="0" marL="0">
              <a:spcAft>
                <a:spcPts val="600"/>
              </a:spcAft>
              <a:buNone/>
            </a:pPr>
            <a:r>
              <a:rPr lang="en-US" sz="1000" dirty="0">
                <a:solidFill>
                  <a:srgbClr val="50616B"/>
                </a:solidFill>
                <a:latin typeface="Aptos" pitchFamily="34" charset="0"/>
                <a:ea typeface="Aptos" pitchFamily="34" charset="-122"/>
                <a:cs typeface="Aptos" pitchFamily="34" charset="-120"/>
              </a:rPr>
              <a:t>Saved production page • /calculators/dca-portfolio/ • captured 2026-09-25</a:t>
            </a:r>
            <a:endParaRPr lang="en-US" sz="10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7F5EF"/>
        </a:solidFill>
      </p:bgPr>
    </p:bg>
    <p:spTree>
      <p:nvGrpSpPr>
        <p:cNvPr id="1" name=""/>
        <p:cNvGrpSpPr/>
        <p:nvPr/>
      </p:nvGrpSpPr>
      <p:grpSpPr>
        <a:xfrm>
          <a:off x="0" y="0"/>
          <a:ext cx="0" cy="0"/>
          <a:chOff x="0" y="0"/>
          <a:chExt cx="0" cy="0"/>
        </a:xfrm>
      </p:grpSpPr>
      <p:sp>
        <p:nvSpPr>
          <p:cNvPr id="2" name="Shape 0"/>
          <p:cNvSpPr/>
          <p:nvPr/>
        </p:nvSpPr>
        <p:spPr>
          <a:xfrm>
            <a:off x="0" y="0"/>
            <a:ext cx="12191695" cy="100584"/>
          </a:xfrm>
          <a:prstGeom prst="rect">
            <a:avLst/>
          </a:prstGeom>
          <a:solidFill>
            <a:srgbClr val="176F73"/>
          </a:solidFill>
          <a:ln w="12700">
            <a:solidFill>
              <a:srgbClr val="176F73">
                <a:alpha val="0"/>
              </a:srgbClr>
            </a:solidFill>
            <a:prstDash val="solid"/>
          </a:ln>
        </p:spPr>
      </p:sp>
      <p:sp>
        <p:nvSpPr>
          <p:cNvPr id="3" name="Text 1"/>
          <p:cNvSpPr/>
          <p:nvPr/>
        </p:nvSpPr>
        <p:spPr>
          <a:xfrm>
            <a:off x="502920" y="365760"/>
            <a:ext cx="11155680" cy="228600"/>
          </a:xfrm>
          <a:prstGeom prst="rect">
            <a:avLst/>
          </a:prstGeom>
          <a:noFill/>
          <a:ln/>
        </p:spPr>
        <p:txBody>
          <a:bodyPr wrap="square" lIns="0" tIns="0" rIns="0" bIns="0" rtlCol="0" anchor="t"/>
          <a:lstStyle/>
          <a:p>
            <a:pPr indent="0" marL="0">
              <a:spcAft>
                <a:spcPts val="600"/>
              </a:spcAft>
              <a:buNone/>
            </a:pPr>
            <a:r>
              <a:rPr lang="en-US" sz="1100" b="1" spc="150" kern="0" dirty="0">
                <a:solidFill>
                  <a:srgbClr val="176F73"/>
                </a:solidFill>
                <a:latin typeface="Aptos" pitchFamily="34" charset="0"/>
                <a:ea typeface="Aptos" pitchFamily="34" charset="-122"/>
                <a:cs typeface="Aptos" pitchFamily="34" charset="-120"/>
              </a:rPr>
              <a:t>ANSWER THE OPENING QUESTION</a:t>
            </a:r>
            <a:endParaRPr lang="en-US" sz="1100" dirty="0"/>
          </a:p>
        </p:txBody>
      </p:sp>
      <p:sp>
        <p:nvSpPr>
          <p:cNvPr id="4" name="Text 2"/>
          <p:cNvSpPr/>
          <p:nvPr/>
        </p:nvSpPr>
        <p:spPr>
          <a:xfrm>
            <a:off x="502920" y="859536"/>
            <a:ext cx="11155680" cy="941832"/>
          </a:xfrm>
          <a:prstGeom prst="rect">
            <a:avLst/>
          </a:prstGeom>
          <a:noFill/>
          <a:ln/>
        </p:spPr>
        <p:txBody>
          <a:bodyPr wrap="square" lIns="0" tIns="0" rIns="0" bIns="0" rtlCol="0" anchor="t"/>
          <a:lstStyle/>
          <a:p>
            <a:pPr indent="0" marL="0">
              <a:spcAft>
                <a:spcPts val="600"/>
              </a:spcAft>
              <a:buNone/>
            </a:pPr>
            <a:r>
              <a:rPr lang="en-US" sz="3400" dirty="0">
                <a:solidFill>
                  <a:srgbClr val="163047"/>
                </a:solidFill>
                <a:latin typeface="Georgia" pitchFamily="34" charset="0"/>
                <a:ea typeface="Georgia" pitchFamily="34" charset="-122"/>
                <a:cs typeface="Georgia" pitchFamily="34" charset="-120"/>
              </a:rPr>
              <a:t>What the evidence lets us conclude</a:t>
            </a:r>
            <a:endParaRPr lang="en-US" sz="3400" dirty="0"/>
          </a:p>
        </p:txBody>
      </p:sp>
      <p:sp>
        <p:nvSpPr>
          <p:cNvPr id="5" name="Text 3"/>
          <p:cNvSpPr/>
          <p:nvPr/>
        </p:nvSpPr>
        <p:spPr>
          <a:xfrm>
            <a:off x="502920" y="6473952"/>
            <a:ext cx="2834640" cy="173736"/>
          </a:xfrm>
          <a:prstGeom prst="rect">
            <a:avLst/>
          </a:prstGeom>
          <a:noFill/>
          <a:ln/>
        </p:spPr>
        <p:txBody>
          <a:bodyPr wrap="square" lIns="0" tIns="0" rIns="0" bIns="0" rtlCol="0" anchor="t"/>
          <a:lstStyle/>
          <a:p>
            <a:pPr indent="0" marL="0">
              <a:spcAft>
                <a:spcPts val="600"/>
              </a:spcAft>
              <a:buNone/>
            </a:pPr>
            <a:r>
              <a:rPr lang="en-US" sz="900" spc="100" kern="0" dirty="0">
                <a:solidFill>
                  <a:srgbClr val="50616B"/>
                </a:solidFill>
                <a:latin typeface="Aptos" pitchFamily="34" charset="0"/>
                <a:ea typeface="Aptos" pitchFamily="34" charset="-122"/>
                <a:cs typeface="Aptos" pitchFamily="34" charset="-120"/>
              </a:rPr>
              <a:t>SOKOINTEL  /  USMPC-08</a:t>
            </a:r>
            <a:endParaRPr lang="en-US" sz="900" dirty="0"/>
          </a:p>
        </p:txBody>
      </p:sp>
      <p:sp>
        <p:nvSpPr>
          <p:cNvPr id="6" name="Text 4"/>
          <p:cNvSpPr/>
          <p:nvPr/>
        </p:nvSpPr>
        <p:spPr>
          <a:xfrm>
            <a:off x="3246120" y="6473952"/>
            <a:ext cx="7635240" cy="173736"/>
          </a:xfrm>
          <a:prstGeom prst="rect">
            <a:avLst/>
          </a:prstGeom>
          <a:noFill/>
          <a:ln/>
        </p:spPr>
        <p:txBody>
          <a:bodyPr wrap="square" lIns="0" tIns="0" rIns="0" bIns="0" rtlCol="0" anchor="t"/>
          <a:lstStyle/>
          <a:p>
            <a:pPr indent="0" marL="0">
              <a:spcAft>
                <a:spcPts val="600"/>
              </a:spcAft>
              <a:buNone/>
            </a:pPr>
            <a:r>
              <a:rPr lang="en-US" sz="900" dirty="0">
                <a:solidFill>
                  <a:srgbClr val="50616B"/>
                </a:solidFill>
                <a:latin typeface="Aptos" pitchFamily="34" charset="0"/>
                <a:ea typeface="Aptos" pitchFamily="34" charset="-122"/>
                <a:cs typeface="Aptos" pitchFamily="34" charset="-120"/>
              </a:rPr>
              <a:t>Source material and recording notes included</a:t>
            </a:r>
            <a:endParaRPr lang="en-US" sz="900" dirty="0"/>
          </a:p>
        </p:txBody>
      </p:sp>
      <p:sp>
        <p:nvSpPr>
          <p:cNvPr id="7" name="Text 5"/>
          <p:cNvSpPr/>
          <p:nvPr/>
        </p:nvSpPr>
        <p:spPr>
          <a:xfrm>
            <a:off x="11045952" y="6455664"/>
            <a:ext cx="594360" cy="210312"/>
          </a:xfrm>
          <a:prstGeom prst="rect">
            <a:avLst/>
          </a:prstGeom>
          <a:noFill/>
          <a:ln/>
        </p:spPr>
        <p:txBody>
          <a:bodyPr wrap="square" lIns="0" tIns="0" rIns="0" bIns="0" rtlCol="0" anchor="t"/>
          <a:lstStyle/>
          <a:p>
            <a:pPr algn="r" indent="0" marL="0">
              <a:spcAft>
                <a:spcPts val="600"/>
              </a:spcAft>
              <a:buNone/>
            </a:pPr>
            <a:r>
              <a:rPr lang="en-US" sz="1000" dirty="0">
                <a:solidFill>
                  <a:srgbClr val="176F73"/>
                </a:solidFill>
                <a:latin typeface="Aptos" pitchFamily="34" charset="0"/>
                <a:ea typeface="Aptos" pitchFamily="34" charset="-122"/>
                <a:cs typeface="Aptos" pitchFamily="34" charset="-120"/>
              </a:rPr>
              <a:t>10</a:t>
            </a:r>
            <a:endParaRPr lang="en-US" sz="1000" dirty="0"/>
          </a:p>
        </p:txBody>
      </p:sp>
      <p:sp>
        <p:nvSpPr>
          <p:cNvPr id="8" name="Text 6"/>
          <p:cNvSpPr/>
          <p:nvPr/>
        </p:nvSpPr>
        <p:spPr>
          <a:xfrm>
            <a:off x="713232" y="1856232"/>
            <a:ext cx="10762488" cy="1865376"/>
          </a:xfrm>
          <a:prstGeom prst="rect">
            <a:avLst/>
          </a:prstGeom>
          <a:noFill/>
          <a:ln/>
        </p:spPr>
        <p:txBody>
          <a:bodyPr wrap="square" lIns="0" tIns="0" rIns="0" bIns="0" rtlCol="0" anchor="t"/>
          <a:lstStyle/>
          <a:p>
            <a:pPr indent="0" marL="0">
              <a:spcAft>
                <a:spcPts val="600"/>
              </a:spcAft>
              <a:buNone/>
            </a:pPr>
            <a:r>
              <a:rPr lang="en-US" sz="2700" dirty="0">
                <a:solidFill>
                  <a:srgbClr val="163047"/>
                </a:solidFill>
                <a:latin typeface="Aptos" pitchFamily="34" charset="0"/>
                <a:ea typeface="Aptos" pitchFamily="34" charset="-122"/>
                <a:cs typeface="Aptos" pitchFamily="34" charset="-120"/>
              </a:rPr>
              <a:t>Separate sleeves form one policy only when overlap, covariance, collateral, costs and rebalancing are considered together. A governance rule makes the portfolio maintainable.</a:t>
            </a:r>
            <a:endParaRPr lang="en-US" sz="2700" dirty="0"/>
          </a:p>
        </p:txBody>
      </p:sp>
      <p:sp>
        <p:nvSpPr>
          <p:cNvPr id="9" name="Shape 7"/>
          <p:cNvSpPr/>
          <p:nvPr/>
        </p:nvSpPr>
        <p:spPr>
          <a:xfrm>
            <a:off x="612648" y="4087368"/>
            <a:ext cx="10963656" cy="2002536"/>
          </a:xfrm>
          <a:prstGeom prst="rect">
            <a:avLst/>
          </a:prstGeom>
          <a:solidFill>
            <a:srgbClr val="E9EFE7"/>
          </a:solidFill>
          <a:ln w="12700">
            <a:solidFill>
              <a:srgbClr val="E9EFE7">
                <a:alpha val="0"/>
              </a:srgbClr>
            </a:solidFill>
            <a:prstDash val="solid"/>
          </a:ln>
        </p:spPr>
      </p:sp>
      <p:sp>
        <p:nvSpPr>
          <p:cNvPr id="10" name="Text 8"/>
          <p:cNvSpPr/>
          <p:nvPr/>
        </p:nvSpPr>
        <p:spPr>
          <a:xfrm>
            <a:off x="877824" y="4352544"/>
            <a:ext cx="10332720" cy="256032"/>
          </a:xfrm>
          <a:prstGeom prst="rect">
            <a:avLst/>
          </a:prstGeom>
          <a:noFill/>
          <a:ln/>
        </p:spPr>
        <p:txBody>
          <a:bodyPr wrap="square" lIns="0" tIns="0" rIns="0" bIns="0" rtlCol="0" anchor="t"/>
          <a:lstStyle/>
          <a:p>
            <a:pPr indent="0" marL="0">
              <a:spcAft>
                <a:spcPts val="600"/>
              </a:spcAft>
              <a:buNone/>
            </a:pPr>
            <a:r>
              <a:rPr lang="en-US" sz="1200" b="1" dirty="0">
                <a:solidFill>
                  <a:srgbClr val="176F73"/>
                </a:solidFill>
                <a:latin typeface="Aptos" pitchFamily="34" charset="0"/>
                <a:ea typeface="Aptos" pitchFamily="34" charset="-122"/>
                <a:cs typeface="Aptos" pitchFamily="34" charset="-120"/>
              </a:rPr>
              <a:t>YOUR NEXT RECORD</a:t>
            </a:r>
            <a:endParaRPr lang="en-US" sz="1200" dirty="0"/>
          </a:p>
        </p:txBody>
      </p:sp>
      <p:sp>
        <p:nvSpPr>
          <p:cNvPr id="11" name="Text 9"/>
          <p:cNvSpPr/>
          <p:nvPr/>
        </p:nvSpPr>
        <p:spPr>
          <a:xfrm>
            <a:off x="877824" y="4800600"/>
            <a:ext cx="10287000" cy="1097280"/>
          </a:xfrm>
          <a:prstGeom prst="rect">
            <a:avLst/>
          </a:prstGeom>
          <a:noFill/>
          <a:ln/>
        </p:spPr>
        <p:txBody>
          <a:bodyPr wrap="square" lIns="0" tIns="0" rIns="0" bIns="0" rtlCol="0" anchor="t"/>
          <a:lstStyle/>
          <a:p>
            <a:pPr indent="0" marL="0">
              <a:spcAft>
                <a:spcPts val="600"/>
              </a:spcAft>
              <a:buNone/>
            </a:pPr>
            <a:r>
              <a:rPr lang="en-US" sz="2300" dirty="0">
                <a:solidFill>
                  <a:srgbClr val="163047"/>
                </a:solidFill>
                <a:latin typeface="Aptos" pitchFamily="34" charset="0"/>
                <a:ea typeface="Aptos" pitchFamily="34" charset="-122"/>
                <a:cs typeface="Aptos" pitchFamily="34" charset="-120"/>
              </a:rPr>
              <a:t>Adopt review dates, drift triggers and a contribution-first rule in one investment policy.</a:t>
            </a:r>
            <a:endParaRPr lang="en-US" sz="23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F7F5EF"/>
        </a:solidFill>
      </p:bgPr>
    </p:bg>
    <p:spTree>
      <p:nvGrpSpPr>
        <p:cNvPr id="1" name=""/>
        <p:cNvGrpSpPr/>
        <p:nvPr/>
      </p:nvGrpSpPr>
      <p:grpSpPr>
        <a:xfrm>
          <a:off x="0" y="0"/>
          <a:ext cx="0" cy="0"/>
          <a:chOff x="0" y="0"/>
          <a:chExt cx="0" cy="0"/>
        </a:xfrm>
      </p:grpSpPr>
      <p:sp>
        <p:nvSpPr>
          <p:cNvPr id="2" name="Shape 0"/>
          <p:cNvSpPr/>
          <p:nvPr/>
        </p:nvSpPr>
        <p:spPr>
          <a:xfrm>
            <a:off x="0" y="0"/>
            <a:ext cx="12191695" cy="100584"/>
          </a:xfrm>
          <a:prstGeom prst="rect">
            <a:avLst/>
          </a:prstGeom>
          <a:solidFill>
            <a:srgbClr val="176F73"/>
          </a:solidFill>
          <a:ln w="12700">
            <a:solidFill>
              <a:srgbClr val="176F73">
                <a:alpha val="0"/>
              </a:srgbClr>
            </a:solidFill>
            <a:prstDash val="solid"/>
          </a:ln>
        </p:spPr>
      </p:sp>
      <p:sp>
        <p:nvSpPr>
          <p:cNvPr id="3" name="Text 1"/>
          <p:cNvSpPr/>
          <p:nvPr/>
        </p:nvSpPr>
        <p:spPr>
          <a:xfrm>
            <a:off x="502920" y="365760"/>
            <a:ext cx="11155680" cy="228600"/>
          </a:xfrm>
          <a:prstGeom prst="rect">
            <a:avLst/>
          </a:prstGeom>
          <a:noFill/>
          <a:ln/>
        </p:spPr>
        <p:txBody>
          <a:bodyPr wrap="square" lIns="0" tIns="0" rIns="0" bIns="0" rtlCol="0" anchor="t"/>
          <a:lstStyle/>
          <a:p>
            <a:pPr indent="0" marL="0">
              <a:spcAft>
                <a:spcPts val="600"/>
              </a:spcAft>
              <a:buNone/>
            </a:pPr>
            <a:r>
              <a:rPr lang="en-US" sz="1100" b="1" spc="150" kern="0" dirty="0">
                <a:solidFill>
                  <a:srgbClr val="176F73"/>
                </a:solidFill>
                <a:latin typeface="Aptos" pitchFamily="34" charset="0"/>
                <a:ea typeface="Aptos" pitchFamily="34" charset="-122"/>
                <a:cs typeface="Aptos" pitchFamily="34" charset="-120"/>
              </a:rPr>
              <a:t>SOURCE RECORD</a:t>
            </a:r>
            <a:endParaRPr lang="en-US" sz="1100" dirty="0"/>
          </a:p>
        </p:txBody>
      </p:sp>
      <p:sp>
        <p:nvSpPr>
          <p:cNvPr id="4" name="Text 2"/>
          <p:cNvSpPr/>
          <p:nvPr/>
        </p:nvSpPr>
        <p:spPr>
          <a:xfrm>
            <a:off x="502920" y="859536"/>
            <a:ext cx="11155680" cy="941832"/>
          </a:xfrm>
          <a:prstGeom prst="rect">
            <a:avLst/>
          </a:prstGeom>
          <a:noFill/>
          <a:ln/>
        </p:spPr>
        <p:txBody>
          <a:bodyPr wrap="square" lIns="0" tIns="0" rIns="0" bIns="0" rtlCol="0" anchor="t"/>
          <a:lstStyle/>
          <a:p>
            <a:pPr indent="0" marL="0">
              <a:spcAft>
                <a:spcPts val="600"/>
              </a:spcAft>
              <a:buNone/>
            </a:pPr>
            <a:r>
              <a:rPr lang="en-US" sz="3400" dirty="0">
                <a:solidFill>
                  <a:srgbClr val="163047"/>
                </a:solidFill>
                <a:latin typeface="Georgia" pitchFamily="34" charset="0"/>
                <a:ea typeface="Georgia" pitchFamily="34" charset="-122"/>
                <a:cs typeface="Georgia" pitchFamily="34" charset="-120"/>
              </a:rPr>
              <a:t>Sources, dates and companion material</a:t>
            </a:r>
            <a:endParaRPr lang="en-US" sz="3400" dirty="0"/>
          </a:p>
        </p:txBody>
      </p:sp>
      <p:sp>
        <p:nvSpPr>
          <p:cNvPr id="5" name="Text 3"/>
          <p:cNvSpPr/>
          <p:nvPr/>
        </p:nvSpPr>
        <p:spPr>
          <a:xfrm>
            <a:off x="502920" y="6473952"/>
            <a:ext cx="2834640" cy="173736"/>
          </a:xfrm>
          <a:prstGeom prst="rect">
            <a:avLst/>
          </a:prstGeom>
          <a:noFill/>
          <a:ln/>
        </p:spPr>
        <p:txBody>
          <a:bodyPr wrap="square" lIns="0" tIns="0" rIns="0" bIns="0" rtlCol="0" anchor="t"/>
          <a:lstStyle/>
          <a:p>
            <a:pPr indent="0" marL="0">
              <a:spcAft>
                <a:spcPts val="600"/>
              </a:spcAft>
              <a:buNone/>
            </a:pPr>
            <a:r>
              <a:rPr lang="en-US" sz="900" spc="100" kern="0" dirty="0">
                <a:solidFill>
                  <a:srgbClr val="50616B"/>
                </a:solidFill>
                <a:latin typeface="Aptos" pitchFamily="34" charset="0"/>
                <a:ea typeface="Aptos" pitchFamily="34" charset="-122"/>
                <a:cs typeface="Aptos" pitchFamily="34" charset="-120"/>
              </a:rPr>
              <a:t>SOKOINTEL  /  USMPC-08</a:t>
            </a:r>
            <a:endParaRPr lang="en-US" sz="900" dirty="0"/>
          </a:p>
        </p:txBody>
      </p:sp>
      <p:sp>
        <p:nvSpPr>
          <p:cNvPr id="6" name="Text 4"/>
          <p:cNvSpPr/>
          <p:nvPr/>
        </p:nvSpPr>
        <p:spPr>
          <a:xfrm>
            <a:off x="3246120" y="6473952"/>
            <a:ext cx="7635240" cy="173736"/>
          </a:xfrm>
          <a:prstGeom prst="rect">
            <a:avLst/>
          </a:prstGeom>
          <a:noFill/>
          <a:ln/>
        </p:spPr>
        <p:txBody>
          <a:bodyPr wrap="square" lIns="0" tIns="0" rIns="0" bIns="0" rtlCol="0" anchor="t"/>
          <a:lstStyle/>
          <a:p>
            <a:pPr indent="0" marL="0">
              <a:spcAft>
                <a:spcPts val="600"/>
              </a:spcAft>
              <a:buNone/>
            </a:pPr>
            <a:r>
              <a:rPr lang="en-US" sz="900" dirty="0">
                <a:solidFill>
                  <a:srgbClr val="50616B"/>
                </a:solidFill>
                <a:latin typeface="Aptos" pitchFamily="34" charset="0"/>
                <a:ea typeface="Aptos" pitchFamily="34" charset="-122"/>
                <a:cs typeface="Aptos" pitchFamily="34" charset="-120"/>
              </a:rPr>
              <a:t>Source material and recording notes included</a:t>
            </a:r>
            <a:endParaRPr lang="en-US" sz="900" dirty="0"/>
          </a:p>
        </p:txBody>
      </p:sp>
      <p:sp>
        <p:nvSpPr>
          <p:cNvPr id="7" name="Text 5"/>
          <p:cNvSpPr/>
          <p:nvPr/>
        </p:nvSpPr>
        <p:spPr>
          <a:xfrm>
            <a:off x="11045952" y="6455664"/>
            <a:ext cx="594360" cy="210312"/>
          </a:xfrm>
          <a:prstGeom prst="rect">
            <a:avLst/>
          </a:prstGeom>
          <a:noFill/>
          <a:ln/>
        </p:spPr>
        <p:txBody>
          <a:bodyPr wrap="square" lIns="0" tIns="0" rIns="0" bIns="0" rtlCol="0" anchor="t"/>
          <a:lstStyle/>
          <a:p>
            <a:pPr algn="r" indent="0" marL="0">
              <a:spcAft>
                <a:spcPts val="600"/>
              </a:spcAft>
              <a:buNone/>
            </a:pPr>
            <a:r>
              <a:rPr lang="en-US" sz="1000" dirty="0">
                <a:solidFill>
                  <a:srgbClr val="176F73"/>
                </a:solidFill>
                <a:latin typeface="Aptos" pitchFamily="34" charset="0"/>
                <a:ea typeface="Aptos" pitchFamily="34" charset="-122"/>
                <a:cs typeface="Aptos" pitchFamily="34" charset="-120"/>
              </a:rPr>
              <a:t>11</a:t>
            </a:r>
            <a:endParaRPr lang="en-US" sz="1000" dirty="0"/>
          </a:p>
        </p:txBody>
      </p:sp>
      <p:sp>
        <p:nvSpPr>
          <p:cNvPr id="8" name="Text 6">
            <a:hlinkClick r:id="rId1" tooltip=""/>
          </p:cNvPr>
          <p:cNvSpPr/>
          <p:nvPr/>
        </p:nvSpPr>
        <p:spPr>
          <a:xfrm>
            <a:off x="658368" y="1847088"/>
            <a:ext cx="10881360" cy="548640"/>
          </a:xfrm>
          <a:prstGeom prst="rect">
            <a:avLst/>
          </a:prstGeom>
          <a:noFill/>
          <a:ln/>
        </p:spPr>
        <p:txBody>
          <a:bodyPr wrap="square" lIns="0" tIns="0" rIns="0" bIns="0" rtlCol="0" anchor="t"/>
          <a:lstStyle/>
          <a:p>
            <a:pPr indent="0" marL="0">
              <a:spcAft>
                <a:spcPts val="600"/>
              </a:spcAft>
              <a:buNone/>
            </a:pPr>
            <a:r>
              <a:rPr lang="en-US" sz="2300" u="sng" dirty="0">
                <a:solidFill>
                  <a:srgbClr val="176F73"/>
                </a:solidFill>
                <a:latin typeface="Aptos" pitchFamily="34" charset="0"/>
                <a:ea typeface="Aptos" pitchFamily="34" charset="-122"/>
                <a:cs typeface="Aptos" pitchFamily="34" charset="-120"/>
                <a:hlinkClick r:id="rId1" invalidUrl="" action="" tgtFrame="" tooltip="" history="1" highlightClick="0" endSnd="0">
                  <a:extLst>
                    <a:ext uri="{A12FA001-AC4F-418D-AE19-62706E023703}">
                      <ahyp:hlinkClr xmlns:ahyp="http://schemas.microsoft.com/office/drawing/2018/hyperlinkcolor" val="tx"/>
                    </a:ext>
                  </a:extLst>
                </a:hlinkClick>
              </a:rPr>
              <a:t>Read the episode: sokointel.com/read/usmpc-08/</a:t>
            </a:r>
            <a:endParaRPr lang="en-US" sz="2300" dirty="0"/>
          </a:p>
        </p:txBody>
      </p:sp>
      <p:sp>
        <p:nvSpPr>
          <p:cNvPr id="9" name="Text 7">
            <a:hlinkClick r:id="rId2" tooltip=""/>
          </p:cNvPr>
          <p:cNvSpPr/>
          <p:nvPr/>
        </p:nvSpPr>
        <p:spPr>
          <a:xfrm>
            <a:off x="694944" y="2697480"/>
            <a:ext cx="10835640" cy="475488"/>
          </a:xfrm>
          <a:prstGeom prst="rect">
            <a:avLst/>
          </a:prstGeom>
          <a:noFill/>
          <a:ln/>
        </p:spPr>
        <p:txBody>
          <a:bodyPr wrap="square" lIns="0" tIns="0" rIns="0" bIns="0" rtlCol="0" anchor="t"/>
          <a:lstStyle/>
          <a:p>
            <a:pPr indent="0" marL="0">
              <a:spcAft>
                <a:spcPts val="600"/>
              </a:spcAft>
              <a:buNone/>
            </a:pPr>
            <a:r>
              <a:rPr lang="en-US" sz="1700" u="sng" dirty="0">
                <a:solidFill>
                  <a:srgbClr val="163047"/>
                </a:solidFill>
                <a:latin typeface="Aptos" pitchFamily="34" charset="0"/>
                <a:ea typeface="Aptos" pitchFamily="34" charset="-122"/>
                <a:cs typeface="Aptos" pitchFamily="34" charset="-120"/>
                <a:hlinkClick r:id="rId2" invalidUrl="" action="" tgtFrame="" tooltip="" history="1" highlightClick="0" endSnd="0">
                  <a:extLst>
                    <a:ext uri="{A12FA001-AC4F-418D-AE19-62706E023703}">
                      <ahyp:hlinkClr xmlns:ahyp="http://schemas.microsoft.com/office/drawing/2018/hyperlinkcolor" val="tx"/>
                    </a:ext>
                  </a:extLst>
                </a:hlinkClick>
              </a:rPr>
              <a:t>1. Source article: Integration, Rebalancing and Portfolio Governance</a:t>
            </a:r>
            <a:endParaRPr lang="en-US" sz="1700" dirty="0"/>
          </a:p>
        </p:txBody>
      </p:sp>
      <p:sp>
        <p:nvSpPr>
          <p:cNvPr id="10" name="Text 8"/>
          <p:cNvSpPr/>
          <p:nvPr/>
        </p:nvSpPr>
        <p:spPr>
          <a:xfrm>
            <a:off x="694944" y="3273552"/>
            <a:ext cx="10835640" cy="475488"/>
          </a:xfrm>
          <a:prstGeom prst="rect">
            <a:avLst/>
          </a:prstGeom>
          <a:noFill/>
          <a:ln/>
        </p:spPr>
        <p:txBody>
          <a:bodyPr wrap="square" lIns="0" tIns="0" rIns="0" bIns="0" rtlCol="0" anchor="t"/>
          <a:lstStyle/>
          <a:p>
            <a:pPr indent="0" marL="0">
              <a:spcAft>
                <a:spcPts val="600"/>
              </a:spcAft>
              <a:buNone/>
            </a:pPr>
            <a:r>
              <a:rPr lang="en-US" sz="1700" dirty="0">
                <a:solidFill>
                  <a:srgbClr val="163047"/>
                </a:solidFill>
                <a:latin typeface="Aptos" pitchFamily="34" charset="0"/>
                <a:ea typeface="Aptos" pitchFamily="34" charset="-122"/>
                <a:cs typeface="Aptos" pitchFamily="34" charset="-120"/>
              </a:rPr>
              <a:t>2. Companion workbook: US_Markets_Portfolio_Construction_Final_Workbook</a:t>
            </a:r>
            <a:endParaRPr lang="en-US" sz="1700" dirty="0"/>
          </a:p>
        </p:txBody>
      </p:sp>
      <p:sp>
        <p:nvSpPr>
          <p:cNvPr id="11" name="Text 9"/>
          <p:cNvSpPr/>
          <p:nvPr/>
        </p:nvSpPr>
        <p:spPr>
          <a:xfrm>
            <a:off x="694944" y="3849624"/>
            <a:ext cx="10835640" cy="475488"/>
          </a:xfrm>
          <a:prstGeom prst="rect">
            <a:avLst/>
          </a:prstGeom>
          <a:noFill/>
          <a:ln/>
        </p:spPr>
        <p:txBody>
          <a:bodyPr wrap="square" lIns="0" tIns="0" rIns="0" bIns="0" rtlCol="0" anchor="t"/>
          <a:lstStyle/>
          <a:p>
            <a:pPr indent="0" marL="0">
              <a:spcAft>
                <a:spcPts val="600"/>
              </a:spcAft>
              <a:buNone/>
            </a:pPr>
            <a:r>
              <a:rPr lang="en-US" sz="1700" dirty="0">
                <a:solidFill>
                  <a:srgbClr val="163047"/>
                </a:solidFill>
                <a:latin typeface="Aptos" pitchFamily="34" charset="0"/>
                <a:ea typeface="Aptos" pitchFamily="34" charset="-122"/>
                <a:cs typeface="Aptos" pitchFamily="34" charset="-120"/>
              </a:rPr>
              <a:t>3. Exact source ranges: 'P08 Rebalancing'!A11:F17</a:t>
            </a:r>
            <a:endParaRPr lang="en-US" sz="1700" dirty="0"/>
          </a:p>
        </p:txBody>
      </p:sp>
      <p:sp>
        <p:nvSpPr>
          <p:cNvPr id="12" name="Text 10"/>
          <p:cNvSpPr/>
          <p:nvPr/>
        </p:nvSpPr>
        <p:spPr>
          <a:xfrm>
            <a:off x="694944" y="4425696"/>
            <a:ext cx="10835640" cy="475488"/>
          </a:xfrm>
          <a:prstGeom prst="rect">
            <a:avLst/>
          </a:prstGeom>
          <a:noFill/>
          <a:ln/>
        </p:spPr>
        <p:txBody>
          <a:bodyPr wrap="square" lIns="0" tIns="0" rIns="0" bIns="0" rtlCol="0" anchor="t"/>
          <a:lstStyle/>
          <a:p>
            <a:pPr indent="0" marL="0">
              <a:spcAft>
                <a:spcPts val="600"/>
              </a:spcAft>
              <a:buNone/>
            </a:pPr>
            <a:r>
              <a:rPr lang="en-US" sz="1700" dirty="0">
                <a:solidFill>
                  <a:srgbClr val="163047"/>
                </a:solidFill>
                <a:latin typeface="Aptos" pitchFamily="34" charset="0"/>
                <a:ea typeface="Aptos" pitchFamily="34" charset="-122"/>
                <a:cs typeface="Aptos" pitchFamily="34" charset="-120"/>
              </a:rPr>
              <a:t>4. Source dates and assumptions: retain the period labels in the article and captured workbook; full provenance in notes.</a:t>
            </a:r>
            <a:endParaRPr lang="en-US" sz="1700" dirty="0"/>
          </a:p>
        </p:txBody>
      </p:sp>
      <p:sp>
        <p:nvSpPr>
          <p:cNvPr id="13" name="Text 11"/>
          <p:cNvSpPr/>
          <p:nvPr/>
        </p:nvSpPr>
        <p:spPr>
          <a:xfrm>
            <a:off x="694944" y="5321808"/>
            <a:ext cx="10789920" cy="713232"/>
          </a:xfrm>
          <a:prstGeom prst="rect">
            <a:avLst/>
          </a:prstGeom>
          <a:noFill/>
          <a:ln/>
        </p:spPr>
        <p:txBody>
          <a:bodyPr wrap="square" lIns="0" tIns="0" rIns="0" bIns="0" rtlCol="0" anchor="t"/>
          <a:lstStyle/>
          <a:p>
            <a:pPr indent="0" marL="0">
              <a:spcAft>
                <a:spcPts val="600"/>
              </a:spcAft>
              <a:buNone/>
            </a:pPr>
            <a:r>
              <a:rPr lang="en-US" sz="1800" dirty="0">
                <a:solidFill>
                  <a:srgbClr val="50616B"/>
                </a:solidFill>
                <a:latin typeface="Aptos" pitchFamily="34" charset="0"/>
                <a:ea typeface="Aptos" pitchFamily="34" charset="-122"/>
                <a:cs typeface="Aptos" pitchFamily="34" charset="-120"/>
              </a:rPr>
              <a:t>Full source references, workbook paths, cell ranges and capture metadata are preserved in speaker notes and the episode manifest.</a:t>
            </a:r>
            <a:endParaRPr lang="en-US" sz="18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Georgia"/>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11</Slides>
  <Notes>11</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11</vt:i4>
      </vt:variant>
    </vt:vector>
  </HeadingPairs>
  <TitlesOfParts>
    <vt:vector size="14"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vector>
  </TitlesOfParts>
  <Company>Sokointel</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Integration, Rebalancing and Portfolio Governance</dc:title>
  <dc:subject>Integration, Rebalancing and Portfolio Governance</dc:subject>
  <dc:creator>Sokointel</dc:creator>
  <cp:lastModifiedBy>Sokointel</cp:lastModifiedBy>
  <cp:revision>1</cp:revision>
  <dcterms:created xsi:type="dcterms:W3CDTF">2026-09-25T13:59:18Z</dcterms:created>
  <dcterms:modified xsi:type="dcterms:W3CDTF">2026-09-25T13:59:18Z</dcterms:modified>
</cp:coreProperties>
</file>