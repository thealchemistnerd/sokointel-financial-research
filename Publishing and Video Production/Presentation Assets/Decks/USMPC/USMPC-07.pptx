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USMPC-07: Options Income as a Tactical Sleeve
ARTICLE: https://sokointel.com/read/usmpc-07/
RESEARCH SNAPSHOT: 10 September 2026
OPENING NARRATION
An educational US-market portfolio, funded and maintained through an explicit policy rather than a prediction of the next winning fund.
Dated source record • fictional calculations are labelled as illustrations
Introduce the decision before defining the technical terms.
ARTICLE SECTION: 18. Governance checklist before each option cycle
Before opening a cash-secured put, document the underlying thesis, strike, premium, expiration, collateral, effective basis, maximum post-assignment position weight and the reason you are willing to own the shares. Before writing a covered call, document share basis, call strike, maximum sale price, upside surrendered, and whether you are genuinely willing to lose the shares.
After expiration or assignment, record realized premium and mark-to-market equity P&amp;L separately. Do not report only cumulative premium. This prevents a common accounting illusion in which the strategy appears profitable because cash premiums are visible while an assigned stock loss sits unrealized.
ARTICLE SECTION: A.5 Collateral utilization
\[
Utilization=\frac{Total\ CSP\ strike\ collateral}{Wheel\ sleeve\ capital}.
\]
A policy can set a utilization ceiling below 100% to preserve operational liquidity.
# Appendix B: Workbook fields for each trade
Record trade ID, underlying, option type, dates, contracts, strike, premium, multiplier, fees, collateral, share basis, assignment status, called-away proceeds, cycle P&amp;L, benchmark return, and rule exceptions. Keep option and share P&amp;L separate.
# Appendix C: Failure modes to test
Test worthless puts, assignment with recovery, assignment followed by further decline, stock rallying through the call strike, and higher volatility or spreads that make closing or rolling costly. These paths show why wheel returns are path dependent.
# References
[1] U.S. Securities and Exchange Commission, Office of Investor Education and Advocacy, “An Introduction to Options: Investor Bulletin,” updated Jul. 16, 2026. [Online]. Available: https://www.investor.gov/introduction-investing/general-resources/news-alerts/alerts-bulletins/investor-bulletins-63. [Accessed: Sep. 11, 2026].
[2] The Options Clearing Corporation, “Equity Options Product Specifications,” 2026. [Online]. Available: https://www.theocc.com/clearance-and-settlement/clearing/equity-options-product-specifications. [Accessed: Sep. 11, 2026].
[3] The Options Industry Council, “Cash-Secured Put,” 2026. [Online]. Available: https://www.optionseducation.org/strategies/all-strategies/cash-secured-put. [Accessed: Sep. 11, 2026].
[4] The Options Industry Council, “Covered Call (Buy/Write),” 2026. [Online]. Available: https://www.optionseducation.org/strategies/all-strategies/covered-call-buy-write. [Accessed: Sep. 11, 2026].
[5] Charles Schwab, “Three Things to Know About the Wheel Strategy,” May 6, 2025. [Online]. Available: https://www.schwab.com/learn/story/three-things-to-know-about-wheel-strategy. [Accessed: Sep. 11, 2026].
[6] State Street Investment Management, “SPYM: State Street SPDR Portfolio S&amp;P 500 ETF,” 2026. [Online]. Available: https://www.ssga.com/us/en/intermediary/etfs/state-street-spdr-portfolio-sp-500-etf-spym. [Accessed: Sep. 11, 2026].
[7] Invesco, “What’s new about QQQ?” Dec. 22, 2025. [Online]. Available: https://www.invesco.com/qqq-etf/en/market-outlook/whats-new-about-qqq.html. [Accessed: Sep. 11, 2026].
[8] Invesco, “Invesco NASDAQ 100 ETF (QQQM), Q2 2026,” Jun. 30, 2026. [Online]. Available: https://www.invesco.com/us-rest/contentdetail?contentId=5b4d8e58e0737710VgnVCM1000006e36b50aRCRD. [Accessed: Sep. 11, 2026].
[9] U.S. Securities and Exchange Commission, “Understanding Margin Accounts,” Investor.gov. [Online]. Available: https://www.investor.gov/introduction-investing/general-resources/news-alerts/alerts-bulletins/investor-bulletins-29. [Accessed: Sep. 11, 2026].
[10] U.S. Securities and Exchange Commission, “Opening an Options Trading Account,” Investor.gov, updated Jul. 16, 2026. [Online]. Available: https://www.investor.gov/introduction-investing/general-resources/news-alerts/alerts-bulletins/investor-bulletins-77. [Accessed: Sep. 11, 2026].
[11] The Options Clearing Corporation, “Characteristics and Risks of Standardized Options,” 2026. [Online]. Available: https://www.theocc.com/company-information/documents-and-archives/options-disclosure-document. [Accessed: Sep. 11, 2026].
[12] Internal Revenue Service, "Publication 550: Investment Income and Expenses," 2026. [Online]. Available: https://www.irs.gov/pub/irs-pdf/p550.pdf. [Accessed: Sep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USMPC-07: Options Income as a Tactical Sleeve
ARTICLE: https://sokointel.com/read/usmpc-07/
RESEARCH SNAPSHOT: 10 September 2026
Read the questions naturally and define terms in context.
Strike — contracted exercise price; USD/share
Premium — cash received for the option; USD/share
Contract — 100 shares in this teaching example
Collateral — cash committed to the potential purchase
Payoff — result at expiration before fees and tax
Research question mapping: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USMPC-07: Options Income as a Tactical Sleeve
ARTICLE: https://sokointel.com/read/usmpc-07/
RESEARCH SNAPSHOT: 10 September 2026
Explain the mechanism with the cited article section, then relate it to the opening decision.
Narration: explain each step and its consequence for the opening decision.
ARTICLE SECTION: 12. Strike selection is a risk decision, not an income target
Investors sometimes choose strikes by asking, “How much premium do I want this month?” That reverses the correct logic. The strike determines the price at which ownership or sale becomes acceptable; premium is compensation for taking that obligation.
For puts, a lower strike generally provides more downside distance but receives less premium, all else equal. For covered calls, a higher strike preserves more upside but usually receives less premium. Volatility, time to expiration, interest rates and dividends also affect option prices.
A written policy can specify:
- eligible underlyings;
- maximum contract count;
- maximum collateral as a percentage of portfolio value;
- minimum free-cash reserve;
- whether assignment is always accepted or sometimes managed before expiration;
- maximum single-name look-through exposure after assignment; and
- whether calls may be written on strategic core holdings.
The last point matters. Writing calls on a holding that the investor is unwilling to sell can create a behavioral conflict during a rally.
ARTICLE SECTION: Calculation table 2: covered call after put assignment
Continue the earlier example. Shares have effective basis $92.60. The investor sells one $100 call for $2.00.
| Stock at call expiration | Call outcome | Share value / sale | Call premium | Total P&amp;L from $92.60 basis |
|---:|---|---:|---:|---:|
| $70 | Expires worthless | $7,000 | +$200 | -$2,060 |
| $90 | Expires worthless | $9,000 | +$200 | -$60 |
| $95 | Expires worthless | $9,500 | +$200 | +$440 |
| $100 | At/above strike | ~$10,000 sale if assigned | +$200 | +$940 |
| $110 | Shares called at $100 | $10,000 | +$200 | +$940 |
| $130 | Shares called at $100 | $10,000 | +$200 | +$940 |
The final two rows demonstrate the covered call’s central trade-off. Once called away at $100, the investor no longer participates in upside above the strike during that option cycle. The premium compensated the investor for accepting that cap.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USMPC-07: Options Income as a Tactical Sleeve
ARTICLE: https://sokointel.com/read/usmpc-07/
RESEARCH SNAPSHOT: 10 September 2026
Explain the mechanism with the cited article section, then relate it to the opening decision.
Narration: explain each step and its consequence for the opening decision.
ARTICLE SECTION: Calculation table 3: contract concentration
| Put strike | Cash collateral for 1 contract | % of a $25,000 wheel sleeve |
|---:|---:|---:|
| $50 | $5,000 | 20% |
| $100 | $10,000 | 40% |
| $150 | $15,000 | 60% |
| $250 | $25,000 | 100% |
| $400 | $40,000 | 160%: cannot be fully cash secured by the sleeve alone |
A wheel strategy can therefore create position-size risk through the contract multiplier, even before market risk is considered.
ARTICLE SECTION: 8. Why capital size matters
Standard option contracts normally control 100 shares [2]. That creates lumpy capital requirements. At a $95 put strike, one cash-secured contract requires approximately $9,500 of strike collateral. At a $300 strike, one contract requires $30,000.
This matters for portfolio construction. A $25,000 tactical sleeve cannot run a fully cash-secured wheel on every high-priced ETF without allowing one contract to dominate the sleeve. Smaller-share-price vehicles can improve granularity, but nominal share price alone should not override liquidity and benchmark considerations.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USMPC-07: Options Income as a Tactical Sleeve
ARTICLE: https://sokointel.com/read/usmpc-07/
RESEARCH SNAPSHOT: 10 September 2026
Explain the mechanism with the cited article section, then relate it to the opening decision.
Narration: explain each step and its consequence for the opening decision.
ARTICLE SECTION: 6. Full-cycle wheel accounting
Suppose the original put premium is $240, the investor is assigned at $95, then sells a $100 covered call for $200, and the shares are eventually called away at $100.
Cash flows are:
1. Put premium: +$240.
2. Assignment purchase: -$9,500.
3. Call premium: +$200.
4. Call-away sale: +$10,000.
Net profit:
\[
240-9500+200+10000=\$940.
\]
Capital measured against the $9,500 strike collateral gives a simple cycle return of:
\[
\frac{940}{9500}=9.89\%.
\]
That is a realized return for this hypothetical path, not a general return expectation. If instead the shares fall to $70 and the call expires, the account has received $440 of total premiums but owns stock worth $7,000 after paying $9,500. Mark-to-market P&amp;L is approximately -$2,060, exactly as the table shows.
The wheel does not remove the need to analyze the underlying security.
ARTICLE SECTION: 18. Governance checklist before each option cycle
Before opening a cash-secured put, document the underlying thesis, strike, premium, expiration, collateral, effective basis, maximum post-assignment position weight and the reason you are willing to own the shares. Before writing a covered call, document share basis, call strike, maximum sale price, upside surrendered, and whether you are genuinely willing to lose the shares.
After expiration or assignment, record realized premium and mark-to-market equity P&amp;L separately. Do not report only cumulative premium. This prevents a common accounting illusion in which the strategy appears profitable because cash premiums are visible while an assigned stock loss sits unrealized.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USMPC-07: Options Income as a Tactical Sleeve
ARTICLE: https://sokointel.com/read/usmpc-07/
RESEARCH SNAPSHOT: 10 September 2026
Article worked example and saved workbook evidence; preserve their separate assumptions.
Equation: Put payoff per share = premium − max(strike − ending price, 0)
Substitution: Strike USD 90; premium USD 2; one contract → collateral USD 9,000 and premium USD 200.
Interpretation: Assigned break-even is USD 88/share before fees and tax; the short put retains substantial downside.
ARTICLE SECTION: 4. Premium yield is not annual return
A common presentation error is to annualize a 30-day option premium mechanically and call the result an expected annual return.
In the example, premium divided by strike collateral is:
\[
Yield_{30d}=\frac{240}{9500}=2.526\%.
\]
A naïve simple annualization would be:
\[
2.526\%\times\frac{365}{30}=30.7\%.
\]
That number is not a forecasted annual portfolio return. It assumes the same premium can be earned repeatedly, ignores losses and assignment, ignores changing volatility, ignores idle days, ignores transaction costs, and assumes capital can always be redeployed at the same economics. Annualized premium yield can be a standardized comparison metric, but it should never be presented as guaranteed income.
A more honest wheel workbook tracks realized cash flows, assignment basis, open share P&amp;L, call-away proceeds and total capital at risk.
ARTICLE SECTION: 6. Full-cycle wheel accounting
Suppose the original put premium is $240, the investor is assigned at $95, then sells a $100 covered call for $200, and the shares are eventually called away at $100.
Cash flows are:
1. Put premium: +$240.
2. Assignment purchase: -$9,500.
3. Call premium: +$200.
4. Call-away sale: +$10,000.
Net profit:
\[
240-9500+200+10000=\$940.
\]
Capital measured against the $9,500 strike collateral gives a simple cycle return of:
\[
\frac{940}{9500}=9.89\%.
\]
That is a realized return for this hypothetical path, not a general return expectation. If instead the shares fall to $70 and the call expires, the account has received $440 of total premiums but owns stock worth $7,000 after paying $9,500. Mark-to-market P&amp;L is approximately -$2,060, exactly as the table shows.
The wheel does not remove the need to analyze the underlying security.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USMPC-07: Options Income as a Tactical Sleeve
ARTICLE: https://sokointel.com/read/usmpc-07/
RESEARCH SNAPSHOT: 10 September 2026
ACTUAL WORKBOOK CAPTURE
Workbook: C:\Users\Nevo\Downloads\financial material\US Markets and Portfolio Construction\US_Markets_Portfolio_Construction_Final_Workbook.xlsx
Sheet/range: 'P07 Options Sleeve'!A3:B13
SHA-256: 5a040bdadf9c5682f5370a882c44aec18bb6359ea96bcd8121b634d35620ab38
Capture method: Microsoft Excel read-only PDF range export. Print headings retained. Source not saved.
Asset: Evidence/Workbooks/USMPC-07-01-p1.png
SCREEN RECORDING WALKTHROUGH
Read the row and column headings. Identify inputs, follow the dependent row and explain the units. Do not alter the source workbook while recording; use a copy for a new scenario.
Extracted evidence text:
3
4
5
6
7
8
9
10
11
12
13
A B
Stage 1: Cash-secured put
Current stock price $100.00
Put strike $90.00
Put premium (per share) $2.00
Contracts 1
Collateral required (strike x 100 x contracts) $9,000.00
Premium collected (premium x 100 x contracts) $200.00
Breakeven if assigned (strike - premium) $88.00
Return on collateral if put expires worthless 2.22%
Naive annualized (x12, no compounding, illustrative only) 26.7%
Relevant article context:
ARTICLE SECTION: # Part 07: Options Income as a Tactical Sleeve
US Markets and Portfolio Construction, unified nine-part series. Research edition: 15 September 2026.
Options income changes a portfolio's payoff profile and operating burden. It needs a separate mandate, collateral rule and stress test.
ARTICLE SECTION: 9. SPYM/QQQM as investment holdings versus options underlyings
Long-term ETF selection and options implementation answer different operational questions. A low-cost ETF can be attractive for buy-and-hold accumulation yet have a thinner options market than a flagship trading vehicle. State Street reports that options are available on SPYM [6], but availability is only the first filter. A trader should also inspect live bid-ask spreads, open interest, volume and strike availability before entering a contract.
For the Nasdaq-100, QQQ’s long-established trading ecosystem may be more useful for active derivatives than QQQM even though QQQM has the lower expense ratio. Invesco modernized QQQ in 2025 and reduced its expense ratio to 0.18%, while QQQM’s stated fee remains 0.15% [7], [8]. This is another example of separating the long-term holding vehicle from the tactical instrument.
The portfolio does not need one ticker to perform every job.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USMPC-07: Options Income as a Tactical Sleeve
ARTICLE: https://sokointel.com/read/usmpc-07/
RESEARCH SNAPSHOT: 10 September 2026
ACTUAL WORKBOOK CAPTURE
Workbook: C:\Users\Nevo\Downloads\financial material\US Markets and Portfolio Construction\US_Markets_Portfolio_Construction_Final_Workbook.xlsx
Sheet/range: 'P07 Options Sleeve'!A16:B22
SHA-256: 5a040bdadf9c5682f5370a882c44aec18bb6359ea96bcd8121b634d35620ab38
Capture method: Microsoft Excel read-only PDF range export. Print headings retained. Source not saved.
Asset: Evidence/Workbooks/USMPC-07-02-p1.png
SCREEN RECORDING WALKTHROUGH
Read the row and column headings. Identify inputs, follow the dependent row and explain the units. Do not alter the source workbook while recording; use a copy for a new scenario.
Extracted evidence text:
16
17
18
19
20
21
22
A B
Stage 2: If assigned → covered call
Effective cost basis after assignment (=B11) $88.00
Covered call strike $95.00
Covered call premium (per share) $1.50
Effective sale price if called away (strike+premium) $96.50
Combined gain per share across full cycle $8.50
Combined gain, 100 shares $850.00
Relevant article context:
ARTICLE SECTION: # Part 07: Options Income as a Tactical Sleeve
US Markets and Portfolio Construction, unified nine-part series. Research edition: 15 September 2026.
Options income changes a portfolio's payoff profile and operating burden. It needs a separate mandate, collateral rule and stress test.
ARTICLE SECTION: 9. SPYM/QQQM as investment holdings versus options underlyings
Long-term ETF selection and options implementation answer different operational questions. A low-cost ETF can be attractive for buy-and-hold accumulation yet have a thinner options market than a flagship trading vehicle. State Street reports that options are available on SPYM [6], but availability is only the first filter. A trader should also inspect live bid-ask spreads, open interest, volume and strike availability before entering a contract.
For the Nasdaq-100, QQQ’s long-established trading ecosystem may be more useful for active derivatives than QQQM even though QQQM has the lower expense ratio. Invesco modernized QQQ in 2025 and reduced its expense ratio to 0.18%, while QQQM’s stated fee remains 0.15% [7], [8]. This is another example of separating the long-term holding vehicle from the tactical instrument.
The portfolio does not need one ticker to perform every job.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USMPC-07: Options Income as a Tactical Sleeve
ARTICLE: https://sokointel.com/read/usmpc-07/
RESEARCH SNAPSHOT: 10 September 2026
Teaching sensitivity; hold other assumptions fixed unless a multi-input case is explicitly named.
Base: The USD 90 put collects USD 2/share.
Changed: The underlying ends at USD 70.
Consequence: Payoff = 2 − (90 − 70) = USD −18/share, or USD −1,800 for one contract, before costs.
ARTICLE SECTION: 4. Premium yield is not annual return
A common presentation error is to annualize a 30-day option premium mechanically and call the result an expected annual return.
In the example, premium divided by strike collateral is:
\[
Yield_{30d}=\frac{240}{9500}=2.526\%.
\]
A naïve simple annualization would be:
\[
2.526\%\times\frac{365}{30}=30.7\%.
\]
That number is not a forecasted annual portfolio return. It assumes the same premium can be earned repeatedly, ignores losses and assignment, ignores changing volatility, ignores idle days, ignores transaction costs, and assumes capital can always be redeployed at the same economics. Annualized premium yield can be a standardized comparison metric, but it should never be presented as guaranteed income.
A more honest wheel workbook tracks realized cash flows, assignment basis, open share P&amp;L, call-away proceeds and total capital at risk.
ARTICLE SECTION: Calculation table 2: covered call after put assignment
Continue the earlier example. Shares have effective basis $92.60. The investor sells one $100 call for $2.00.
| Stock at call expiration | Call outcome | Share value / sale | Call premium | Total P&amp;L from $92.60 basis |
|---:|---|---:|---:|---:|
| $70 | Expires worthless | $7,000 | +$200 | -$2,060 |
| $90 | Expires worthless | $9,000 | +$200 | -$60 |
| $95 | Expires worthless | $9,500 | +$200 | +$440 |
| $100 | At/above strike | ~$10,000 sale if assigned | +$200 | +$940 |
| $110 | Shares called at $100 | $10,000 | +$200 | +$940 |
| $130 | Shares called at $100 | $10,000 | +$200 | +$940 |
The final two rows demonstrate the covered call’s central trade-off. Once called away at $100, the investor no longer participates in upside above the strike during that option cycle. The premium compensated the investor for accepting that cap.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USMPC-07: Options Income as a Tactical Sleeve
ARTICLE: https://sokointel.com/read/usmpc-07/
RESEARCH SNAPSHOT: 10 September 2026
Answer: Option premium is compensation for an obligation. A tactical sleeve needs suitable underlying ownership, sufficient collateral and a complete downside-and-assignment plan.
Viewer task: Define eligible underlyings, collateral reserve and the response to a loss-and-assignment scenario.
Return to each opening research question and identify what remains conditional or unknown.
ARTICLE SECTION: 12. Strike selection is a risk decision, not an income target
Investors sometimes choose strikes by asking, “How much premium do I want this month?” That reverses the correct logic. The strike determines the price at which ownership or sale becomes acceptable; premium is compensation for taking that obligation.
For puts, a lower strike generally provides more downside distance but receives less premium, all else equal. For covered calls, a higher strike preserves more upside but usually receives less premium. Volatility, time to expiration, interest rates and dividends also affect option prices.
A written policy can specify:
- eligible underlyings;
- maximum contract count;
- maximum collateral as a percentage of portfolio value;
- minimum free-cash reserve;
- whether assignment is always accepted or sometimes managed before expiration;
- maximum single-name look-through exposure after assignment; and
- whether calls may be written on strategic core holdings.
The last point matters. Writing calls on a holding that the investor is unwilling to sell can create a behavioral conflict during a rally.
ARTICLE SECTION: 9. SPYM/QQQM as investment holdings versus options underlyings
Long-term ETF selection and options implementation answer different operational questions. A low-cost ETF can be attractive for buy-and-hold accumulation yet have a thinner options market than a flagship trading vehicle. State Street reports that options are available on SPYM [6], but availability is only the first filter. A trader should also inspect live bid-ask spreads, open interest, volume and strike availability before entering a contract.
For the Nasdaq-100, QQQ’s long-established trading ecosystem may be more useful for active derivatives than QQQM even though QQQM has the lower expense ratio. Invesco modernized QQQ in 2025 and reduced its expense ratio to 0.18%, while QQQM’s stated fee remains 0.15% [7], [8]. This is another example of separating the long-term holding vehicle from the tactical instrument.
The portfolio does not need one ticker to perform every job.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USMPC-07: Options Income as a Tactical Sleeve
ARTICLE: https://sokointel.com/read/usmpc-07/
RESEARCH SNAPSHOT: 10 September 2026
SOURCE MATERIAL
All linked source URLs:
Additional content sources:
[]
Workbook provenance:
C:\Users\Nevo\Downloads\financial material\US Markets and Portfolio Construction\US_Markets_Portfolio_Construction_Final_Workbook.xlsx
'P07 Options Sleeve'!A3:B13
5a040bdadf9c5682f5370a882c44aec18bb6359ea96bcd8121b634d35620ab38
C:\Users\Nevo\Downloads\financial material\US Markets and Portfolio Construction\US_Markets_Portfolio_Construction_Final_Workbook.xlsx
'P07 Options Sleeve'!A16:B22
5a040bdadf9c5682f5370a882c44aec18bb6359ea96bcd8121b634d35620ab38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sokointel.com/read/usmpc-07/" TargetMode="External"/><Relationship Id="rId2" Type="http://schemas.openxmlformats.org/officeDocument/2006/relationships/hyperlink" Target="https://sokointel.com/read/usmpc-07/"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Options Income as a Tactical Sleeve</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An educational US-market portfolio, funded and maintained through an explicit policy rather than a prediction of the next winning fund.</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USMPC-07   •   Dated source record • fictional calculations are labelled as illustrations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USMPC-07</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Strike — contracted exercise price; USD/share</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Premium — cash received for the option; USD/share</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Contract — 100 shares in this teaching example</a:t>
            </a:r>
            <a:endParaRPr lang="en-US" sz="1650" dirty="0"/>
          </a:p>
        </p:txBody>
      </p:sp>
      <p:sp>
        <p:nvSpPr>
          <p:cNvPr id="14" name="Text 12"/>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Collateral — cash committed to the potential purchase</a:t>
            </a:r>
            <a:endParaRPr lang="en-US" sz="1650" dirty="0"/>
          </a:p>
        </p:txBody>
      </p:sp>
      <p:sp>
        <p:nvSpPr>
          <p:cNvPr id="15" name="Text 13"/>
          <p:cNvSpPr/>
          <p:nvPr/>
        </p:nvSpPr>
        <p:spPr>
          <a:xfrm>
            <a:off x="7114032" y="5212080"/>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Payoff — result at expiration before fees and tax</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premium pays for an obligation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USMPC-07</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cash-secured put may require buying the underlying at the strike.</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covered call limits upside while retaining downside ownership risk.</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The underlying must be suitable even if assignment occurs.</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Contract size creates concentration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USMPC-07</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One standard contract represents 100 shares in the source example.</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Cash collateral is committed capital, not freely available reserve.</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small premium cannot offset an arbitrarily large underlying loss.</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Evaluate the complete cycle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USMPC-07</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Include premiums, underlying price change, costs and taxes.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Do not annualise one favourable cycle as an expected return.</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Benchmark the strategy against a consistent underlying and cash alternative.</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put premium does not remove downside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USMPC-07</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400" dirty="0">
                <a:solidFill>
                  <a:srgbClr val="176F73"/>
                </a:solidFill>
                <a:latin typeface="Cambria Math" pitchFamily="34" charset="0"/>
                <a:ea typeface="Cambria Math" pitchFamily="34" charset="-122"/>
                <a:cs typeface="Cambria Math" pitchFamily="34" charset="-120"/>
              </a:rPr>
              <a:t>Put payoff per share = premium − max(strike − ending price, 0)</a:t>
            </a:r>
            <a:endParaRPr lang="en-US" sz="24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Strike USD 90; premium USD 2; one contract → collateral USD 9,000 and premium USD 200.</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Assigned break-even is USD 88/share before fees and tax; the short put retains substantial downside.</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P07 Options Sleeve: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USMPC-07</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USMPC-07-01-p1.png">    </p:cNvPr>
          <p:cNvPicPr>
            <a:picLocks noChangeAspect="1"/>
          </p:cNvPicPr>
          <p:nvPr/>
        </p:nvPicPr>
        <p:blipFill>
          <a:blip r:embed="rId1"/>
          <a:stretch>
            <a:fillRect/>
          </a:stretch>
        </p:blipFill>
        <p:spPr>
          <a:xfrm>
            <a:off x="1882658" y="1874520"/>
            <a:ext cx="8432779" cy="3639312"/>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P07 Options Sleeve!A3:B13</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P07 Options Sleeve: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USMPC-07</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USMPC-07-02-p1.png">    </p:cNvPr>
          <p:cNvPicPr>
            <a:picLocks noChangeAspect="1"/>
          </p:cNvPicPr>
          <p:nvPr/>
        </p:nvPicPr>
        <p:blipFill>
          <a:blip r:embed="rId1"/>
          <a:stretch>
            <a:fillRect/>
          </a:stretch>
        </p:blipFill>
        <p:spPr>
          <a:xfrm>
            <a:off x="612648" y="2059156"/>
            <a:ext cx="10972800" cy="3270040"/>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P07 Options Sleeve!A16:B22</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Assignment can overwhelm the collected premium</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USMPC-07</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The USD 90 put collects USD 2/share.</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The underlying ends at USD 70.</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Payoff = 2 − (90 − 70) = USD −18/share, or USD −1,800 for one contract, before costs.</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USMPC-07</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Option premium is compensation for an obligation. A tactical sleeve needs suitable underlying ownership, sufficient collateral and a complete downside-and-assignment plan.</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Define eligible underlyings, collateral reserve and the response to a loss-and-assignment scenario.</a:t>
            </a:r>
            <a:endParaRPr lang="en-US" sz="2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USMPC-07</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sokointel.com/read/usmpc-07/</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Source article: Options Income as a Tactical Sleeve</a:t>
            </a:r>
            <a:endParaRPr lang="en-US" sz="1700" dirty="0"/>
          </a:p>
        </p:txBody>
      </p:sp>
      <p:sp>
        <p:nvSpPr>
          <p:cNvPr id="10" name="Text 8"/>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dirty="0">
                <a:solidFill>
                  <a:srgbClr val="163047"/>
                </a:solidFill>
                <a:latin typeface="Aptos" pitchFamily="34" charset="0"/>
                <a:ea typeface="Aptos" pitchFamily="34" charset="-122"/>
                <a:cs typeface="Aptos" pitchFamily="34" charset="-120"/>
              </a:rPr>
              <a:t>2. Companion workbook: US_Markets_Portfolio_Construction_Final_Workbook</a:t>
            </a:r>
            <a:endParaRPr lang="en-US" sz="1700" dirty="0"/>
          </a:p>
        </p:txBody>
      </p:sp>
      <p:sp>
        <p:nvSpPr>
          <p:cNvPr id="11" name="Text 9"/>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dirty="0">
                <a:solidFill>
                  <a:srgbClr val="163047"/>
                </a:solidFill>
                <a:latin typeface="Aptos" pitchFamily="34" charset="0"/>
                <a:ea typeface="Aptos" pitchFamily="34" charset="-122"/>
                <a:cs typeface="Aptos" pitchFamily="34" charset="-120"/>
              </a:rPr>
              <a:t>3. Exact source ranges: 'P07 Options Sleeve'!A3:B13; 'P07 Options Sleeve'!A16:B22</a:t>
            </a:r>
            <a:endParaRPr lang="en-US" sz="1700" dirty="0"/>
          </a:p>
        </p:txBody>
      </p:sp>
      <p:sp>
        <p:nvSpPr>
          <p:cNvPr id="12" name="Text 10"/>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dirty="0">
                <a:solidFill>
                  <a:srgbClr val="163047"/>
                </a:solidFill>
                <a:latin typeface="Aptos" pitchFamily="34" charset="0"/>
                <a:ea typeface="Aptos" pitchFamily="34" charset="-122"/>
                <a:cs typeface="Aptos" pitchFamily="34" charset="-120"/>
              </a:rPr>
              <a:t>4. Source dates and assumptions: retain the period labels in the article and captured workbook; full provenance in notes.</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Options Income as a Tactical Sleeve</dc:title>
  <dc:subject>Options Income as a Tactical Sleeve</dc:subject>
  <dc:creator>Sokointel</dc:creator>
  <cp:lastModifiedBy>Sokointel</cp:lastModifiedBy>
  <cp:revision>1</cp:revision>
  <dcterms:created xsi:type="dcterms:W3CDTF">2026-09-25T13:59:18Z</dcterms:created>
  <dcterms:modified xsi:type="dcterms:W3CDTF">2026-09-25T13:59:18Z</dcterms:modified>
</cp:coreProperties>
</file>