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OPENING NARRATION
An educational US-market portfolio, funded and maintained through an explicit policy rather than a prediction of the next winning fund.
Dated source record • fictional calculations are labelled as illustrations
Introduce the decision before defining the technical terms.
ARTICLE SECTION: Technical companion
For an opening investment (P), regular contribution (C), net annual return (r-e), and (n) annual periods, the recurring-contribution model uses:
\[
FV_n = P(1+r-e)^n + C\frac{(1+r-e)^n-1}{r-e}.
\]
The cost, compounding and withholding appendix develops the assumptions and cross-checks.
ARTICLE SECTION: # Part 2: Choosing the Wrapper and Understanding the Full Cost
US Markets and Portfolio Construction, unified nine-part series. Research edition: 15 September 2026.
When preparing this material, the author returned to a familiar comparison: if two funds follow the same index, why would an investor buy the more expensive one? The answer depends on what the investor needs the fund to do. Holding a position for twenty years and trading an option around that position next month are different uses of capital.
Part 1 separated the market from the benchmark and the fund. This part examines the fund itself. We will distinguish ownership structures, explain how ETF prices relate to underlying assets, and put the expense ratio into a wider cost framework. That prepares us to choose a portfolio architecture without letting an attractive ticker determine the entire design.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Read the questions naturally and define terms in context.
P — initial principal; USD
r — assumed gross annual return; decimal
e — recurring annual expense ratio; decimal
n — investment horizon; years
FV — ending value before excluded tax/transaction costs; USD
Research question mapping: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Explain the mechanism with the cited article section, then relate it to the opening decision.
Narration: explain each step and its consequence for the opening decision.
ARTICLE SECTION: Legal structure can change without changing the benchmark
Invesco announced QQQ's conversion from a unit investment trust to an open-end fund in December 2025, alongside a reduction in total expenses from 0.20% to 0.18%. Its Nasdaq-100 objective remained in place. QQQM also follows that benchmark and has a stated 0.15% total expense ratio. QQQ and QQQM are separate funds, rather than share classes of one fund. Invesco modernization announcement, Invesco product table. For the investor, the relevant decision is whether a difference in execution, option-market access, tax consequences of switching or broker availability justifies the recurring fee difference. A long-term holder might reasonably favour lower holding costs. An active derivatives user might value a different trading ecosystem. Neither use case determines the correct weight of Nasdaq-100 exposure in the portfolio. A ticker change also deserves careful treatment in data work. Research should identify the continuing fund by its legal and security identifiers, not assume a new ticker establishes a new investment history. Any historical series must document predecessor names, benchmark changes and corporate actions before its performance is compared.
ARTICLE SECTION: Why the creation and redemption mechanism matters
An authorized participant can exchange an eligible basket of securities or cash for newly created ETF shares under the fund's procedures. Redemption reverses that process. If the ETF price departs sufficiently from the value of the underlying basket, the economics of creating or redeeming shares can encourage trading that narrows the difference. This mechanism links the exchange price to the assets. It does not guarantee a fixed spread or eliminate dislocations. The basket may itself be expensive to trade, markets may be operating on different hours, and authorized participants need compensation for risk and transaction costs. In-kind transactions can also reduce the need for the fund to sell appreciated holdings to meet redemptions. That is one reason many equity ETFs can be tax efficient at the fund level. Cash redemptions, portfolio turnover and the nature of the assets can change the outcome. An investor should not infer that every ETF distribution is tax free or that selling ETF shares cannot produce a taxable gain. The more useful conclusion is specific: inspect the fund's mandate, transaction process and distribution history. The word ETF describes a trading structure; it does not settle every economic or tax question.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Explain the mechanism with the cited article section, then relate it to the opening decision.
Narration: explain each step and its consequence for the opening decision.
ARTICLE SECTION: Four layers of cost
| Layer | What is measured | Frequency | Useful evidence |
|---|---|---|---|
| Fund operating expenses | Expenses paid from fund assets | Recurring | Prospectus and fee table |
| Implementation | Spread, commission and market impact | Each trade | Executed price, quote and broker schedule |
| Tracking | Difference between fund and benchmark return | Over the measurement period | Matching NAV and benchmark total-return series |
| Investor-specific friction | Tax, currency conversion, custody and transfers | Depends on account and activity | Statements, fee schedules and applicable rules |
Tracking difference already incorporates the fund's operating expenses in a reported net fund return. Deducting the expense ratio again from that net return would count the same cost twice. Tracking error is different from tracking difference. The former usually measures variability in the fund-minus-benchmark return; the latter measures the return gap itself. A fund can lag by a small, stable amount and have low tracking error. Another can occasionally outperform and occasionally underperform by larger amounts, with a smaller average gap but higher tracking error. Currency conversion can dominate a very small ETF fee saving. If an investor saves a few dollars a year on fund expenses but repeatedly incurs a large conversion spread on small transfers, the total implementation process deserves attention. The correct unit of analysis is the path from the investor's original currency to eventual spendable proceeds.
ARTICLE SECTION: # Part 2: Choosing the Wrapper and Understanding the Full Cost
US Markets and Portfolio Construction, unified nine-part series. Research edition: 15 September 2026.
When preparing this material, the author returned to a familiar comparison: if two funds follow the same index, why would an investor buy the more expensive one? The answer depends on what the investor needs the fund to do. Holding a position for twenty years and trading an option around that position next month are different uses of capital.
Part 1 separated the market from the benchmark and the fund. This part examines the fund itself. We will distinguish ownership structures, explain how ETF prices relate to underlying assets, and put the expense ratio into a wider cost framework. That prepares us to choose a portfolio architecture without letting an attractive ticker determine the entire design.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Explain the mechanism with the cited article section, then relate it to the opening decision.
Narration: explain each step and its consequence for the opening decision.
ARTICLE SECTION: A dated fee comparison
The following figures were checked on 12 September 2026. They are stated annual fund expenses, with the definitions retained from the source. Future values in the next table are calculations, not issuer forecasts.
| Fund | Exposure | Stated annual expense | Definition and source |
|---|---|---:|---|
| SPYM | S&amp;P 500 | 0.02% | Gross, State Street |
| QQQM | Nasdaq-100 | 0.15% | Total, Invesco |
| QQQ | Nasdaq-100 | 0.18% | Total, Invesco |
| AGG | US aggregate investment-grade bonds | 0.03% | Prospectus expense, iShares |
The first three rows do not all represent the same equity universe. The bond row represents a different asset class. Comparing expenses is useful; treating a common assumed return as evidence that these exposures are interchangeable would go beyond what the comparison establishes. Other S&amp;P 500 vehicles, including VOO, IVV and SPY, can enter the same due-diligence process. The decision should use each fund's current prospectus, the broker's actual access terms and the cost of changing an existing holding. A capital gain triggered by switching funds may exceed many years of a small expense saving.
ARTICLE SECTION: Legal structure can change without changing the benchmark
Invesco announced QQQ's conversion from a unit investment trust to an open-end fund in December 2025, alongside a reduction in total expenses from 0.20% to 0.18%. Its Nasdaq-100 objective remained in place. QQQM also follows that benchmark and has a stated 0.15% total expense ratio. QQQ and QQQM are separate funds, rather than share classes of one fund. Invesco modernization announcement, Invesco product table. For the investor, the relevant decision is whether a difference in execution, option-market access, tax consequences of switching or broker availability justifies the recurring fee difference. A long-term holder might reasonably favour lower holding costs. An active derivatives user might value a different trading ecosystem. Neither use case determines the correct weight of Nasdaq-100 exposure in the portfolio. A ticker change also deserves careful treatment in data work. Research should identify the continuing fund by its legal and security identifiers, not assume a new ticker establishes a new investment history. Any historical series must document predecessor names, benchmark changes and corporate actions before its performance is compared.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Article worked example and saved workbook evidence; preserve their separate assumptions.
Equation: FV = P × (1 + r − e)ⁿ
Substitution: USD 10,000 at 8% gross less 0.020% annual fee → USD 100,069.03 after 30 years.
Interpretation: Under the same gross-return assumption, the source 0.750% fee case ends at USD 81,643.01.
ARTICLE SECTION: Legal structure can change without changing the benchmark
Invesco announced QQQ's conversion from a unit investment trust to an open-end fund in December 2025, alongside a reduction in total expenses from 0.20% to 0.18%. Its Nasdaq-100 objective remained in place. QQQM also follows that benchmark and has a stated 0.15% total expense ratio. QQQ and QQQM are separate funds, rather than share classes of one fund. Invesco modernization announcement, Invesco product table. For the investor, the relevant decision is whether a difference in execution, option-market access, tax consequences of switching or broker availability justifies the recurring fee difference. A long-term holder might reasonably favour lower holding costs. An active derivatives user might value a different trading ecosystem. Neither use case determines the correct weight of Nasdaq-100 exposure in the portfolio. A ticker change also deserves careful treatment in data work. Research should identify the continuing fund by its legal and security identifiers, not assume a new ticker establishes a new investment history. Any historical series must document predecessor names, benchmark changes and corporate actions before its performance is compared.
ARTICLE SECTION: Four layers of cost
| Layer | What is measured | Frequency | Useful evidence |
|---|---|---|---|
| Fund operating expenses | Expenses paid from fund assets | Recurring | Prospectus and fee table |
| Implementation | Spread, commission and market impact | Each trade | Executed price, quote and broker schedule |
| Tracking | Difference between fund and benchmark return | Over the measurement period | Matching NAV and benchmark total-return series |
| Investor-specific friction | Tax, currency conversion, custody and transfers | Depends on account and activity | Statements, fee schedules and applicable rules |
Tracking difference already incorporates the fund's operating expenses in a reported net fund return. Deducting the expense ratio again from that net return would count the same cost twice. Tracking error is different from tracking difference. The former usually measures variability in the fund-minus-benchmark return; the latter measures the return gap itself. A fund can lag by a small, stable amount and have low tracking error. Another can occasionally outperform and occasionally underperform by larger amounts, with a smaller average gap but higher tracking error. Currency conversion can dominate a very small ETF fee saving. If an investor saves a few dollars a year on fund expenses but repeatedly incurs a large conversion spread on small transfers, the total implementation process deserves attention. The correct unit of analysis is the path from the investor's original currency to eventual spendable proceeds.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ACTUAL WORKBOOK CAPTURE
Workbook: C:\Users\Nevo\Downloads\financial material\US Markets and Portfolio Construction\US_Markets_Portfolio_Construction_Final_Workbook.xlsx
Sheet/range: 'P02 Cost &amp; Ownership'!A4:G13
SHA-256: 5a040bdadf9c5682f5370a882c44aec18bb6359ea96bcd8121b634d35620ab38
Capture method: Microsoft Excel read-only PDF range export. Print headings retained. Source not saved.
Asset: Evidence/Workbooks/USMPC-02-01-p1.png
SCREEN RECORDING WALKTHROUGH
Read the row and column headings. Identify inputs, follow the dependent row and explain the units. Do not alter the source workbook while recording; use a copy for a new scenario.
Extracted evidence text:
4
5
6
7
8
9
10
11
12
13
A B C D E F G
Initial principal ($) $10,000
Assumed gross annual return (before fees)8.0%
Vehicle
Expense 
ratio
Net return 
(r−e)
Value after 
10y
Value after 
20y
Value after 
30y
30y cost vs. 
cheapest
SPYM (S&amp;P 500) 0.020% 7.980% $21,549.30 $46,437.25 $100,069.03 $0.00
VOO / IVV (S&amp;P 500) 0.030% 7.970% $21,529.35 $46,351.31 $99,791.38 $277.65
SPY (S&amp;P 500, UIT) 0.095% 7.906% $21,401.09 $45,800.65 $98,018.36 $2,050.67
QQQM (Nasdaq-100) 0.150% 7.850% $21,291.27 $45,331.80 $96,517.15 $3,551.88
QQQ (Nasdaq-100) 0.180% 7.820% $21,232.12 $45,080.27 $95,714.96 $4,354.07
Illustrative actively managed fund 0.750% 7.250% $20,135.99 $40,545.81 $81,643.01 $18,426.02
Equation 1.1: FV = P × (1 + r − e)^n. r and the horizon (10/20/30y) are the only 
assumptions; everything else on this sheet is a live formula.
Relevant article context:
ARTICLE SECTION: # Part 2: Choosing the Wrapper and Understanding the Full Cost
US Markets and Portfolio Construction, unified nine-part series. Research edition: 15 September 2026.
When preparing this material, the author returned to a familiar comparison: if two funds follow the same index, why would an investor buy the more expensive one? The answer depends on what the investor needs the fund to do. Holding a position for twenty years and trading an option around that position next month are different uses of capital.
Part 1 separated the market from the benchmark and the fund. This part examines the fund itself. We will distinguish ownership structures, explain how ETF prices relate to underlying assets, and put the expense ratio into a wider cost framework. That prepares us to choose a portfolio architecture without letting an attractive ticker determine the entire design.
ARTICLE SECTION: Four layers of cost
| Layer | What is measured | Frequency | Useful evidence |
|---|---|---|---|
| Fund operating expenses | Expenses paid from fund assets | Recurring | Prospectus and fee table |
| Implementation | Spread, commission and market impact | Each trade | Executed price, quote and broker schedule |
| Tracking | Difference between fund and benchmark return | Over the measurement period | Matching NAV and benchmark total-return series |
| Investor-specific friction | Tax, currency conversion, custody and transfers | Depends on account and activity | Statements, fee schedules and applicable rules |
Tracking difference already incorporates the fund's operating expenses in a reported net fund return. Deducting the expense ratio again from that net return would count the same cost twice. Tracking error is different from tracking difference. The former usually measures variability in the fund-minus-benchmark return; the latter measures the return gap itself. A fund can lag by a small, stable amount and have low tracking error. Another can occasionally outperform and occasionally underperform by larger amounts, with a smaller average gap but higher tracking error. Currency conversion can dominate a very small ETF fee saving. If an investor saves a few dollars a year on fund expenses but repeatedly incurs a large conversion spread on small transfers, the total implementation process deserves attention. The correct unit of analysis is the path from the investor's original currency to eventual spendable proceeds.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Teaching sensitivity; hold other assumptions fixed unless a multi-input case is explicitly named.
Base: Source 30-year ending value at 0.020% fee: USD 100,069.03.
Changed: Source active-fund illustration at 0.750% fee: USD 81,643.01.
Consequence: Fee-only gap is USD 18,426.02. This holds gross returns equal and is not a performance forecast.
ARTICLE SECTION: Three ways to hold an exposure
A direct shareholding makes the investor responsible for company selection and position size. A mutual fund pools investors' capital and ordinarily transacts at a calculated end-of-day net asset value. An ETF also pools capital, but its shares trade on an exchange during the trading session.
| Vehicle | How the investor transacts | Principal decision | Additional operational consideration |
|---|---|---|---|
| Individual stock | Exchange purchase or sale | Which business and valuation justify ownership? | Company risk, corporate actions and position size |
| Mutual fund | Subscription or redemption under fund rules | Does the mandate suit the desired exposure? | Cutoff times, fees and distribution policy |
| ETF | Exchange purchase or sale | Does the benchmark and wrapper suit the role? | Spread, premium or discount, order execution |
| Direct bond | Purchase of a specified debt claim | Can the issuer pay, and does maturity fit the liability? | Lot size, accrued interest and sale liquidity |
| Bond ETF | Exchange purchase of a changing bond portfolio | Does credit quality and duration fit the purpose? | Fund duration persists as holdings turn over |
An ETF's net asset value is:
\[ NAV=\frac{\text{assets}-\text{liabilities}}{\text{shares outstanding}}. \]
Its exchange price is determined by buyers and sellers. The two values are connected, but they are not the same observation. The SEC explains that ordinary investors trade ETF shares at market prices, while authorized participants transact with funds in larger creation units. SEC ETF bulletin. A mutual fund's daily pricing can be entirely adequate for an investor who does not need intraday execution. The ETF format adds flexibility, while also placing an execution decision in the investor's hands. Flexibility has value only if it is used sensibly.
ARTICLE SECTION: Legal structure can change without changing the benchmark
Invesco announced QQQ's conversion from a unit investment trust to an open-end fund in December 2025, alongside a reduction in total expenses from 0.20% to 0.18%. Its Nasdaq-100 objective remained in place. QQQM also follows that benchmark and has a stated 0.15% total expense ratio. QQQ and QQQM are separate funds, rather than share classes of one fund. Invesco modernization announcement, Invesco product table. For the investor, the relevant decision is whether a difference in execution, option-market access, tax consequences of switching or broker availability justifies the recurring fee difference. A long-term holder might reasonably favour lower holding costs. An active derivatives user might value a different trading ecosystem. Neither use case determines the correct weight of Nasdaq-100 exposure in the portfolio. A ticker change also deserves careful treatment in data work. Research should identify the continuing fund by its legal and security identifiers, not assume a new ticker establishes a new investment history. Any historical series must document predecessor names, benchmark changes and corporate actions before its performance is compared.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REAL WEB CAPTURE
{
  "slug": "global-funding",
  "url": "https://sokointel.com/calculators/global-funding/",
  "captured_at": "2026-09-25T05:01:35.774Z",
  "inputs": [
    {
      "name": "starting_amount",
      "value": "1000"
    },
    {
      "name": "transfer_fee",
      "value": "12"
    },
    {
      "name": "fx_friction",
      "value": "0.3"
    },
    {
      "name": "dealing_commission",
      "value": "1"
    },
    {
      "name": "annual_return",
      "value": "7"
    },
    {
      "name": "annual_fund_charge",
      "value": "0.2"
    },
    {
      "name": "years",
      "value": "10"
    }
  ],
  "screenshots": [
    "global-funding-inputs.png",
    "global-funding-full.png",
    "global-funding-results.png",
    "global-funding-summary.png"
  ],
  "get_status": 200,
  "title": "Global funding planner | Sokointel",
  "post_status": 200,
  "results_text": "YOUR WORKED SCENARIO\n\nAmount invested after funding costs\n984.00\nValue after 10 years\n1,899.80\nTotal funding cost\n16.00\nNet annual return assumption\n6.80%\nFollow the calculation.\nMeasure\tCalculated result\nConversion friction\t3.00\nBank and transfer charges\t12.00\nInvestment dealing commission\t1.00\nFormulae used\n𝐴\n0\n=\n𝑆\n−\n𝑇\n−\n𝑋\n−\n𝐷\n𝐹\n𝑉\n=\n𝐴\n0\n(\n1\n+\n𝑟\nnet\n)\n𝑡\n\nUse one currency throughout the form. The result clarifies how each quoted cost changes the amount that begins compounding.\n\nTake the research further.\n\nUse the full article and companion resources to put this calculation into its wider business, household, or portfolio context. The workbook keeps the deeper scenario modelling, data record and audit trail.\n\nRead the global-funding research →",
  "alerts": [],
  "base": "Evidence/Web"
}
DEMONSTRATION SCOPE
Compare funding and FX charges for the same amount and route. Check the customer, account ownership and currency assumptions.
Fund domicile, residence and tax treatment require the separate article record.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Answer: What the investor retains depends on recurring costs, execution, tax and funding together. A low stated fee helps only within an exposure and ownership structure that fits the investor.
Viewer task: Record eligible wrappers and the full cost path, including funding, execution, tax and exit.
Return to each opening research question and identify what remains conditional or unknown.
ARTICLE SECTION: A practical wrapper decision
Start with a specified exposure. Identify eligible funds and compare their index definitions, legal structure and fee definitions. Then examine execution for the actual intended order. Finally include the investor's tax position, conversion costs and custody arrangements.
| Intended use | Primary question | Evidence that could change the choice |
|---|---|---|
| Long-term accumulation | Which suitable wrapper minimizes recurring friction? | Fee change, tracking deterioration or broker charges |
| Large occasional trade | Can the order execute near underlying value? | Spread, depth and market impact |
| Repeated options activity | Does the required contract trade efficiently? | Strike-level quotes, volume, open interest and deliverable |
| Existing appreciated holding | Is switching worthwhile after tax and trading costs? | Tax lots and expected holding period |
| Cross-border account | Is the wrapper suitable for the investor's legal status? | Residence, treaty entitlement and estate exposure |
The next part uses these building blocks to define core, core-plus, core-satellite and other portfolio architectures. Those labels become useful when they state who may take which risks, and how much of the portfolio those decisions can affect.
ARTICLE SECTION: Three ways to hold an exposure
A direct shareholding makes the investor responsible for company selection and position size. A mutual fund pools investors' capital and ordinarily transacts at a calculated end-of-day net asset value. An ETF also pools capital, but its shares trade on an exchange during the trading session.
| Vehicle | How the investor transacts | Principal decision | Additional operational consideration |
|---|---|---|---|
| Individual stock | Exchange purchase or sale | Which business and valuation justify ownership? | Company risk, corporate actions and position size |
| Mutual fund | Subscription or redemption under fund rules | Does the mandate suit the desired exposure? | Cutoff times, fees and distribution policy |
| ETF | Exchange purchase or sale | Does the benchmark and wrapper suit the role? | Spread, premium or discount, order execution |
| Direct bond | Purchase of a specified debt claim | Can the issuer pay, and does maturity fit the liability? | Lot size, accrued interest and sale liquidity |
| Bond ETF | Exchange purchase of a changing bond portfolio | Does credit quality and duration fit the purpose? | Fund duration persists as holdings turn over |
An ETF's net asset value is:
\[ NAV=\frac{\text{assets}-\text{liabilities}}{\text{shares outstanding}}. \]
Its exchange price is determined by buyers and sellers. The two values are connected, but they are not the same observation. The SEC explains that ordinary investors trade ETF shares at market prices, while authorized participants transact with funds in larger creation units. SEC ETF bulletin. A mutual fund's daily pricing can be entirely adequate for an investor who does not need intraday execution. The ETF format adds flexibility, while also placing an execution decision in the investor's hands. Flexibility has value only if it is used sensibly.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USMPC-02: Choosing the Wrapper and Understanding the Full Cost
ARTICLE: https://sokointel.com/read/usmpc-02/
RESEARCH SNAPSHOT: 10 September 2026
SOURCE MATERIAL
All linked source URLs:
SEC ETF bulletin: https://www.investor.gov/introduction-investing/general-resources/news-alerts/alerts-bulletins/investor-bulletins-24
Invesco modernization announcement: https://www.invesco.com/qqq-etf/en/market-outlook/whats-new-about-qqq.html
Invesco product table: https://www.invesco.com/us/en/solutions/innovation-suite.html
State Street: https://www.ssga.com/us/en/individual/etfs/state-street-spdr-portfolio-sp-500-etf-spym
iShares: https://www.ishares.com/us/products/239458/ishares-core-total-us-bond-market-etf
SOXX: https://www.ishares.com/us/products/239705/SOX
XSD: https://www.ssga.com/us/en/intermediary/etfs/state-street-spdr-sp-semiconductor-etf-xsd
Additional content sources:
[]
Workbook provenance:
C:\Users\Nevo\Downloads\financial material\US Markets and Portfolio Construction\US_Markets_Portfolio_Construction_Final_Workbook.xlsx
'P02 Cost &amp; Ownership'!A4:G13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usmpc-02/" TargetMode="External"/><Relationship Id="rId2" Type="http://schemas.openxmlformats.org/officeDocument/2006/relationships/hyperlink" Target="https://www.investor.gov/introduction-investing/general-resources/news-alerts/alerts-bulletins/investor-bulletins-24" TargetMode="External"/><Relationship Id="rId3" Type="http://schemas.openxmlformats.org/officeDocument/2006/relationships/hyperlink" Target="https://www.invesco.com/qqq-etf/en/market-outlook/whats-new-about-qqq.html" TargetMode="External"/><Relationship Id="rId4" Type="http://schemas.openxmlformats.org/officeDocument/2006/relationships/hyperlink" Target="https://www.invesco.com/us/en/solutions/innovation-suite.html" TargetMode="External"/><Relationship Id="rId5" Type="http://schemas.openxmlformats.org/officeDocument/2006/relationships/hyperlink" Target="https://www.ssga.com/us/en/individual/etfs/state-street-spdr-portfolio-sp-500-etf-spym"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Choosing the Wrapper and Understanding the Full Cost</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educational US-market portfolio, funded and maintained through an explicit policy rather than a prediction of the next winning fund.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USMPC-02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 — initial principal; USD</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 — assumed gross annual return; decimal</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e — recurring annual expense ratio; decimal</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n — investment horizon; years</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FV — ending value before excluded tax/transaction costs; USD</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wrapper changes implementation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Direct shares, mutual funds and ETFs package ownership differently.</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Creation and redemption connect ETF shares with the underlying basket.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Legal structure, dealing mechanics and investor eligibility belong in the comparison.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Count four layers of cost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fund expense ratio compounds inside the investment.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Spread, commissions and market impact affect execution.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Tax, currency conversion and funding affect what the household retains.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Make the fee comparison comparable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Keep the gross return, horizon and contributions the same.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Date each published fee and benchmark description.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Different exposures cannot be ranked solely by expense ratio.</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recurring fee compounds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FV = P × (1 + r − e)ⁿ</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USD 10,000 at 8% gross less 0.020% annual fee → USD 100,069.03 after 30 years.</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Under the same gross-return assumption, the source 0.750% fee case ends at USD 81,643.01.</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P02 Cost &amp; Ownership: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2-01-p1.png">    </p:cNvPr>
          <p:cNvPicPr>
            <a:picLocks noChangeAspect="1"/>
          </p:cNvPicPr>
          <p:nvPr/>
        </p:nvPicPr>
        <p:blipFill>
          <a:blip r:embed="rId1"/>
          <a:stretch>
            <a:fillRect/>
          </a:stretch>
        </p:blipFill>
        <p:spPr>
          <a:xfrm>
            <a:off x="612648" y="2148656"/>
            <a:ext cx="10972800" cy="3091041"/>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P02 Cost &amp; Ownership!A4:G13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Keep the exposure assumption; change only the fee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Source 30-year ending value at 0.020% fee: USD 100,069.03.</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Source active-fund illustration at 0.750% fee: USD 81,643.01.</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Fee-only gap is USD 18,426.02. This holds gross returns equal and is not a performance forecast.</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global-funding-summary.png">    </p:cNvPr>
          <p:cNvPicPr>
            <a:picLocks noChangeAspect="1"/>
          </p:cNvPicPr>
          <p:nvPr/>
        </p:nvPicPr>
        <p:blipFill>
          <a:blip r:embed="rId1"/>
          <a:stretch>
            <a:fillRect/>
          </a:stretch>
        </p:blipFill>
        <p:spPr>
          <a:xfrm>
            <a:off x="2091340" y="1810512"/>
            <a:ext cx="4385247"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Compare funding and FX charges for the same amount and route. Check the customer, account ownership and currency assumptions.</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Fund domicile, residence and tax treatment require the separate article record.</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/calculators/global-funding/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What the investor retains depends on recurring costs, execution, tax and funding together. A low stated fee helps only within an exposure and ownership structure that fits the investor.</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Record eligible wrappers and the full cost path, including funding, execution, tax and exit.</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sokointel.com/read/usmpc-02/</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SEC ETF bulletin</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Invesco modernization announcement</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Invesco product table</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State Street</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the Wrapper and Understanding the Full Cost</dc:title>
  <dc:subject>Choosing the Wrapper and Understanding the Full Cost</dc:subject>
  <dc:creator>Sokointel</dc:creator>
  <cp:lastModifiedBy>Sokointel</cp:lastModifiedBy>
  <cp:revision>1</cp:revision>
  <dcterms:created xsi:type="dcterms:W3CDTF">2026-09-25T13:49:39Z</dcterms:created>
  <dcterms:modified xsi:type="dcterms:W3CDTF">2026-09-25T13:49:39Z</dcterms:modified>
</cp:coreProperties>
</file>