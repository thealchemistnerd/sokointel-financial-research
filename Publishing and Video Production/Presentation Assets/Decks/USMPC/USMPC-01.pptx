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1: Understanding the Market Before Choosing a Fund
US Markets and Portfolio Construction, unified nine-part series. Research edition: 15 September 2026.
At the beginning of this research, the author presented a practical question: how can an investor combine a low-cost US equity foundation with a few deliberate ideas, without turning a portfolio into a collection of unrelated purchases? SPYM, QQQM, semiconductor funds and an options strategy all appeared in the discussion. Before any of them can be assigned a percentage, the words behind the products need to mean something.
A portfolio is a collection of claims on economic activity, arranged to finance a purpose. That purpose might be retirement spending, a future dollar expense, or long-term capital growth. A list of attractive securities is the beginning of research; a portfolio policy connects those securities to a time horizon, a tolerable loss and a source of cash when money is needed.
This series develops that connection in stages. We first define markets and instruments, then examine costs and legal structures. Only after that groundwork do we compare portfolio architectures and build a core. Satellites, risk measurement, options, tax, implementation and retirement follow. The sequence gives every calculation a reason to exist.
ARTICLE SECTION: A market, an exchange and an index are different things
The US equity market consists of publicly traded ownership claims in businesses. An exchange is a venue on which securities trade. An index is a rule for selecting and weighting some of those securities. An exchange-traded fund, or ETF, is an investment vehicle that may seek to follow such an index.These distinctions become useful immediately. Buying a fund listed in the United States does not establish that every company it owns is American. Buying a Nasdaq-100 fund does not mean owning every company listed on Nasdaq. Buying three different ETFs does not establish that their underlying holdings differ.
| Term | Meaning | Practical consequence |
|---|---|---|
| Company | The business issuing an ownership claim | Earnings, balance-sheet strength and governance affect that claim |
| Security | The particular share, bond or contract owned | One company can issue several securities |
| Exchange | A marketplace for trading securities | Listing and trading currency are implementation details |
| Index | Rules defining an investment universe and weights | The rulebook determines the exposure being followed |
| Fund | A pooled investment vehicle | Its mandate, fees and legal structure affect the investor |
| Portfolio | The investor's combined holdings and obligations | Risk must be assessed across all the pieces |
| Benchmark | A reference against which a decision is assessed | A relevant comparison makes performance interpretable |
A good first research question is therefore: which economic universe is this product intended to represent? The ticker comes after the answer.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Read the questions naturally and define terms in context.
Total return — price change plus distributions; stated reinvestment basis
Benchmark — rule-defined market measurement
Drawdown — loss from a prior peak; %
Liquidity — ability to transact at a usable price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Explain the mechanism with the cited article section, then relate it to the opening decision.
Narration: explain each step and its consequence for the opening decision.
ARTICLE SECTION: A market, an exchange and an index are different things
The US equity market consists of publicly traded ownership claims in businesses. An exchange is a venue on which securities trade. An index is a rule for selecting and weighting some of those securities. An exchange-traded fund, or ETF, is an investment vehicle that may seek to follow such an index.These distinctions become useful immediately. Buying a fund listed in the United States does not establish that every company it owns is American. Buying a Nasdaq-100 fund does not mean owning every company listed on Nasdaq. Buying three different ETFs does not establish that their underlying holdings differ.
| Term | Meaning | Practical consequence |
|---|---|---|
| Company | The business issuing an ownership claim | Earnings, balance-sheet strength and governance affect that claim |
| Security | The particular share, bond or contract owned | One company can issue several securities |
| Exchange | A marketplace for trading securities | Listing and trading currency are implementation details |
| Index | Rules defining an investment universe and weights | The rulebook determines the exposure being followed |
| Fund | A pooled investment vehicle | Its mandate, fees and legal structure affect the investor |
| Portfolio | The investor's combined holdings and obligations | Risk must be assessed across all the pieces |
| Benchmark | A reference against which a decision is assessed | A relevant comparison makes performance interpretable |
A good first research question is therefore: which economic universe is this product intended to represent? The ticker comes after the answer.
ARTICLE SECTION: # Part 1: Understanding the Market Before Choosing a Fund
US Markets and Portfolio Construction, unified nine-part series. Research edition: 15 September 2026.
At the beginning of this research, the author presented a practical question: how can an investor combine a low-cost US equity foundation with a few deliberate ideas, without turning a portfolio into a collection of unrelated purchases? SPYM, QQQM, semiconductor funds and an options strategy all appeared in the discussion. Before any of them can be assigned a percentage, the words behind the products need to mean something.
A portfolio is a collection of claims on economic activity, arranged to finance a purpose. That purpose might be retirement spending, a future dollar expense, or long-term capital growth. A list of attractive securities is the beginning of research; a portfolio policy connects those securities to a time horizon, a tolerable loss and a source of cash when money is needed.
This series develops that connection in stages. We first define markets and instruments, then examine costs and legal structures. Only after that groundwork do we compare portfolio architectures and build a core. Satellites, risk measurement, options, tax, implementation and retirement follow. The sequence gives every calculation a reason to exist.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Explain the mechanism with the cited article section, then relate it to the opening decision.
Narration: explain each step and its consequence for the opening decision.
ARTICLE SECTION: Four benchmarks, four different measurements
The S&amp;P 500 is designed to represent US large-cap equities and uses float-adjusted market-capitalization weights. The Nasdaq-100 selects large non-financial Nasdaq-listed companies and modifies market-cap weights. The Dow Jones Industrial Average is a price-weighted selection of 30 companies. The Russell family provides broader size-based US equity universes. These are different measurements of the market, with different exclusions and maintenance rules. See the primary descriptions from S&amp;P Dow Jones Indices, Nasdaq and FTSE Russell.
| Benchmark | Main question it answers | Weighting idea | What the label does not promise |
|---|---|---|---|
| S&amp;P 500 | How are leading US large companies performing? | Float-adjusted market capitalization | Equal influence for every company |
| Nasdaq-100 | How are large eligible non-financial Nasdaq listings performing? | Modified market capitalization | A complete US market or pure technology exposure |
| Dow Jones Industrial Average | How is a selected group of major companies performing? | Share price, with a divisor | Influence proportional to company size |
| Russell 3000 | How is a broad US equity universe performing? | Float-adjusted market capitalization | Identical exposure to a large-cap-only benchmark |
| Russell 2000 | How are smaller companies within the Russell universe performing? | Float-adjusted market capitalization | Low risk merely because individual businesses are smaller |
Float adjustment counts shares available to public investors rather than assuming that every issued share is readily tradable. If the investable market value of one constituent is twice another's, a straightforward capitalization-weighted calculation gives it approximately twice the weight. Capping rules and eligibility decisions can modify that relationship.A price-weighted index behaves differently. If two constituents move by the same percentage, the security with the higher share price makes a larger point contribution. A stock split can therefore require a divisor adjustment even though no shareholder wealth is created. The index is answering a different question, and should be judged against that question.Index maintenance also matters. Reconstitution changes membership; rebalancing resets weights under the methodology. They are related processes, but are not synonyms. FTSE Russell moved its US index family to semiannual reconstitution from 2026. The operative schedule should be checked before using an annual-reconstitution assumption in research. FTSE Russell announcement.
ARTICLE SECTION: A market, an exchange and an index are different things
The US equity market consists of publicly traded ownership claims in businesses. An exchange is a venue on which securities trade. An index is a rule for selecting and weighting some of those securities. An exchange-traded fund, or ETF, is an investment vehicle that may seek to follow such an index.These distinctions become useful immediately. Buying a fund listed in the United States does not establish that every company it owns is American. Buying a Nasdaq-100 fund does not mean owning every company listed on Nasdaq. Buying three different ETFs does not establish that their underlying holdings differ.
| Term | Meaning | Practical consequence |
|---|---|---|
| Company | The business issuing an ownership claim | Earnings, balance-sheet strength and governance affect that claim |
| Security | The particular share, bond or contract owned | One company can issue several securities |
| Exchange | A marketplace for trading securities | Listing and trading currency are implementation details |
| Index | Rules defining an investment universe and weights | The rulebook determines the exposure being followed |
| Fund | A pooled investment vehicle | Its mandate, fees and legal structure affect the investor |
| Portfolio | The investor's combined holdings and obligations | Risk must be assessed across all the pieces |
| Benchmark | A reference against which a decision is assessed | A relevant comparison makes performance interpretable |
A good first research question is therefore: which economic universe is this product intended to represent? The ticker comes after the answer.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Explain the mechanism with the cited article section, then relate it to the opening decision.
Narration: explain each step and its consequence for the opening decision.
ARTICLE SECTION: Risk has several dimensions
Volatility describes variability of returns. It is useful, measurable and central to portfolio mathematics. It is not a complete description of what an investor can lose.Drawdown measures a decline from a previous peak. Liquidity risk concerns the ability to transact at an acceptable price. Inflation reduces purchasing power. Currency changes alter what a dollar asset can buy in another currency. Concentration increases dependence on particular businesses or economic drivers. Sequence risk arises when withdrawals interact with the timing of returns.
| Risk | What can go wrong | Example of a relevant control |
|---|---|---|
| Market risk | Many securities decline together | Match risky-asset weight to the spending horizon |
| Business concentration | A few issuers drive the outcome | Aggregate company exposure across funds |
| Liquidity risk | An urgent sale receives a poor execution price | Keep near-term spending capital accessible |
| Interest-rate risk | Bond values respond to changing yields | Match duration to the role of the bond sleeve |
| Inflation risk | Nominal wealth buys less | Model spending in real terms |
| Currency risk | Assets and liabilities are in different currencies | Identify the currency of each planned expense |
| Behavioural risk | The investor abandons the policy under pressure | Write decision rules before a drawdown |
| Model risk | Estimated relationships fail | Use sensitivity analysis and scenarios |
Someone saving for an expense next year faces a different problem from someone accumulating for retirement in thirty years, even if both describe themselves as comfortable with risk. Willingness to watch prices fluctuate and financial capacity to absorb a loss should be evaluated separately.
ARTICLE SECTION: # Part 1: Understanding the Market Before Choosing a Fund
US Markets and Portfolio Construction, unified nine-part series. Research edition: 15 September 2026.
At the beginning of this research, the author presented a practical question: how can an investor combine a low-cost US equity foundation with a few deliberate ideas, without turning a portfolio into a collection of unrelated purchases? SPYM, QQQM, semiconductor funds and an options strategy all appeared in the discussion. Before any of them can be assigned a percentage, the words behind the products need to mean something.
A portfolio is a collection of claims on economic activity, arranged to finance a purpose. That purpose might be retirement spending, a future dollar expense, or long-term capital growth. A list of attractive securities is the beginning of research; a portfolio policy connects those securities to a time horizon, a tolerable loss and a source of cash when money is needed.
This series develops that connection in stages. We first define markets and instruments, then examine costs and legal structures. Only after that groundwork do we compare portfolio architectures and build a core. Satellites, risk measurement, options, tax, implementation and retirement follow. The sequence gives every calculation a reason to exist.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Article worked example and saved workbook evidence; preserve their separate assumptions.
Equation: Ending value = beginning value × (1 + total return)
Substitution: Teaching input: USD 10,000 × 1.08 = USD 10,800.
Interpretation: An 8% illustrative total return says nothing by itself about the next period or the investor’s spending-currency return.
ARTICLE SECTION: What an equity return pays for
A shareholder receives the residual economic claim after operating expenses, lenders and other senior obligations. A profitable business can retain earnings to expand, repay debt, repurchase shares or distribute dividends. The investor's return combines cash received with the change in the market value of the claim.For one holding period, with the dividend paid at the end and no other cash flows:
\[ R=\frac{P_1-P_0+D_1}{P_0}. \]
Here \(P_0\) is the purchase price, \(P_1\) the ending price and \(D_1\) the distribution per share. This simple equation is enough to explain why dividend yield and total return answer different questions. A distribution can arrive while the share price falls by a larger amount.It also explains why a business can grow while its shares disappoint. The market price reflects expectations about future cash generation. If expectations at purchase were unusually demanding, respectable business results may still fail to justify the valuation paid. Conversely, a mature business can produce satisfactory shareholder returns if its price already reflects modest expectations.
| Observation | What it tells us | Additional question |
|---|---|---|
| Revenue grew | Sales increased | Did margins and cash generation improve? |
| Earnings grew | Accounting profit increased | How much reinvestment and financial risk supported it? |
| Dividend increased | More cash was distributed per share | Can the payment be sustained? |
| Share price rose | The market valued the claim more highly | Was the change driven by cash flows or valuation? |
| ETF distributions were high | Cash left the fund for shareholders | What happened to total return and tax? |
For an ETF, a published total-return series normally incorporates a specified reinvestment convention. A raw price series may exclude distributions. Comparing one fund's total return with another's price return produces a misleading result even when every number was copied accurately.
ARTICLE SECTION: Risk has several dimensions
Volatility describes variability of returns. It is useful, measurable and central to portfolio mathematics. It is not a complete description of what an investor can lose.Drawdown measures a decline from a previous peak. Liquidity risk concerns the ability to transact at an acceptable price. Inflation reduces purchasing power. Currency changes alter what a dollar asset can buy in another currency. Concentration increases dependence on particular businesses or economic drivers. Sequence risk arises when withdrawals interact with the timing of returns.
| Risk | What can go wrong | Example of a relevant control |
|---|---|---|
| Market risk | Many securities decline together | Match risky-asset weight to the spending horizon |
| Business concentration | A few issuers drive the outcome | Aggregate company exposure across funds |
| Liquidity risk | An urgent sale receives a poor execution price | Keep near-term spending capital accessible |
| Interest-rate risk | Bond values respond to changing yields | Match duration to the role of the bond sleeve |
| Inflation risk | Nominal wealth buys less | Model spending in real terms |
| Currency risk | Assets and liabilities are in different currencies | Identify the currency of each planned expense |
| Behavioural risk | The investor abandons the policy under pressure | Write decision rules before a drawdown |
| Model risk | Estimated relationships fail | Use sensitivity analysis and scenarios |
Someone saving for an expense next year faces a different problem from someone accumulating for retirement in thirty years, even if both describe themselves as comfortable with risk. Willingness to watch prices fluctuate and financial capacity to absorb a loss should be evaluated separately.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ACTUAL WORKBOOK CAPTURE
Workbook: C:\Users\Nevo\Downloads\financial material\US Markets and Portfolio Construction\US_Markets_Portfolio_Construction_Final_Workbook.xlsx
Sheet/range: 'P01 Guide &amp; Map'!A3:B12
SHA-256: 5a040bdadf9c5682f5370a882c44aec18bb6359ea96bcd8121b634d35620ab38
Capture method: Microsoft Excel read-only PDF range export. Print headings retained. Source not saved.
Asset: Evidence/Workbooks/USMPC-01-01-p1.png
SCREEN RECORDING WALKTHROUGH
Read the row and column headings. Identify inputs, follow the dependent row and explain the units. Do not alter the source workbook while recording; use a copy for a new scenario.
Extracted evidence text:
3
4
5
6
7
8
9
10
11
12
A B
Part Workbook coverage
Part 01: Foundations This guide provides the decision sequence and maps every model to the research progression.
Part 02: Cost and ownership P02 Cost &amp; Ownership models expense-ratio compounding across investment vehicles.
Part 03: Cross-border access P03 Cross-Border Tax models withholding and nonresident estate-tax exposure.
Part 04: Portfolio architecture
P04 Diversification and P04 Blended Cost model variance, correlation and blended expense 
ratios.
Part 05: Core construction
P05 Core Concentration measures overlap and concentration using the Herfindahl-Hirschman 
Index.
Part 06: Satellite exposure
P06 Portfolio Risk calculates covariance-matrix portfolio variance for multi-asset and satellite 
allocations.
Part 07: Tactical sleeves and tax
P07 Options Sleeve and P07 Tax &amp; Location model an options cycle, dividend tax, wash sales 
and capital-gains brackets.
Part 08: Governance
P08 Rebalancing compares drift, threshold rules and disciplined portfolio 
maintenance.
Part 09: Funding and withdrawals
P09 DCA &amp; Contributions, P09 Sequence Risk and P09 Full Case Study connect 
contributions, rebalancing, fees and withdrawals.
Relevant article context:
ARTICLE SECTION: # Part 1: Understanding the Market Before Choosing a Fund
US Markets and Portfolio Construction, unified nine-part series. Research edition: 15 September 2026.
At the beginning of this research, the author presented a practical question: how can an investor combine a low-cost US equity foundation with a few deliberate ideas, without turning a portfolio into a collection of unrelated purchases? SPYM, QQQM, semiconductor funds and an options strategy all appeared in the discussion. Before any of them can be assigned a percentage, the words behind the products need to mean something.
A portfolio is a collection of claims on economic activity, arranged to finance a purpose. That purpose might be retirement spending, a future dollar expense, or long-term capital growth. A list of attractive securities is the beginning of research; a portfolio policy connects those securities to a time horizon, a tolerable loss and a source of cash when money is needed.
This series develops that connection in stages. We first define markets and instruments, then examine costs and legal structures. Only after that groundwork do we compare portfolio architectures and build a core. Satellites, risk measurement, options, tax, implementation and retirement follow. The sequence gives every calculation a reason to exist.
ARTICLE SECTION: A market, an exchange and an index are different things
The US equity market consists of publicly traded ownership claims in businesses. An exchange is a venue on which securities trade. An index is a rule for selecting and weighting some of those securities. An exchange-traded fund, or ETF, is an investment vehicle that may seek to follow such an index.These distinctions become useful immediately. Buying a fund listed in the United States does not establish that every company it owns is American. Buying a Nasdaq-100 fund does not mean owning every company listed on Nasdaq. Buying three different ETFs does not establish that their underlying holdings differ.
| Term | Meaning | Practical consequence |
|---|---|---|
| Company | The business issuing an ownership claim | Earnings, balance-sheet strength and governance affect that claim |
| Security | The particular share, bond or contract owned | One company can issue several securities |
| Exchange | A marketplace for trading securities | Listing and trading currency are implementation details |
| Index | Rules defining an investment universe and weights | The rulebook determines the exposure being followed |
| Fund | A pooled investment vehicle | Its mandate, fees and legal structure affect the investor |
| Portfolio | The investor's combined holdings and obligations | Risk must be assessed across all the pieces |
| Benchmark | A reference against which a decision is assessed | A relevant comparison makes performance interpretable |
A good first research question is therefore: which economic universe is this product intended to represent? The ticker comes after the answer.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Teaching sensitivity; hold other assumptions fixed unless a multi-input case is explicitly named.
Base: Teaching balance falls from USD 10,000 to USD 8,000: −20%.
Changed: Recover from USD 8,000 to the original USD 10,000.
Consequence: Required return is 10,000/8,000 − 1 = 25%, before withdrawals or costs.
ARTICLE SECTION: Four benchmarks, four different measurements
The S&amp;P 500 is designed to represent US large-cap equities and uses float-adjusted market-capitalization weights. The Nasdaq-100 selects large non-financial Nasdaq-listed companies and modifies market-cap weights. The Dow Jones Industrial Average is a price-weighted selection of 30 companies. The Russell family provides broader size-based US equity universes. These are different measurements of the market, with different exclusions and maintenance rules. See the primary descriptions from S&amp;P Dow Jones Indices, Nasdaq and FTSE Russell.
| Benchmark | Main question it answers | Weighting idea | What the label does not promise |
|---|---|---|---|
| S&amp;P 500 | How are leading US large companies performing? | Float-adjusted market capitalization | Equal influence for every company |
| Nasdaq-100 | How are large eligible non-financial Nasdaq listings performing? | Modified market capitalization | A complete US market or pure technology exposure |
| Dow Jones Industrial Average | How is a selected group of major companies performing? | Share price, with a divisor | Influence proportional to company size |
| Russell 3000 | How is a broad US equity universe performing? | Float-adjusted market capitalization | Identical exposure to a large-cap-only benchmark |
| Russell 2000 | How are smaller companies within the Russell universe performing? | Float-adjusted market capitalization | Low risk merely because individual businesses are smaller |
Float adjustment counts shares available to public investors rather than assuming that every issued share is readily tradable. If the investable market value of one constituent is twice another's, a straightforward capitalization-weighted calculation gives it approximately twice the weight. Capping rules and eligibility decisions can modify that relationship.A price-weighted index behaves differently. If two constituents move by the same percentage, the security with the higher share price makes a larger point contribution. A stock split can therefore require a divisor adjustment even though no shareholder wealth is created. The index is answering a different question, and should be judged against that question.Index maintenance also matters. Reconstitution changes membership; rebalancing resets weights under the methodology. They are related processes, but are not synonyms. FTSE Russell moved its US index family to semiannual reconstitution from 2026. The operative schedule should be checked before using an annual-reconstitution assumption in research. FTSE Russell announcement.
ARTICLE SECTION: # Part 1: Understanding the Market Before Choosing a Fund
US Markets and Portfolio Construction, unified nine-part series. Research edition: 15 September 2026.
At the beginning of this research, the author presented a practical question: how can an investor combine a low-cost US equity foundation with a few deliberate ideas, without turning a portfolio into a collection of unrelated purchases? SPYM, QQQM, semiconductor funds and an options strategy all appeared in the discussion. Before any of them can be assigned a percentage, the words behind the products need to mean something.
A portfolio is a collection of claims on economic activity, arranged to finance a purpose. That purpose might be retirement spending, a future dollar expense, or long-term capital growth. A list of attractive securities is the beginning of research; a portfolio policy connects those securities to a time horizon, a tolerable loss and a source of cash when money is needed.
This series develops that connection in stages. We first define markets and instruments, then examine costs and legal structures. Only after that groundwork do we compare portfolio architectures and build a core. Satellites, risk measurement, options, tax, implementation and retirement follow. The sequence gives every calculation a reason to exist.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Answer: The economic claim, benchmark and ownership vehicle answer different questions. Define the investor’s job for the money before combining them into a portfolio.
Viewer task: Write purpose, spending currency, time horizon and acceptable loss before choosing a fund.
Return to each opening research question and identify what remains conditional or unknown.
ARTICLE SECTION: The literature provides a language for decisions
Harry Markowitz's portfolio-selection work formalized a powerful insight: the risk of a portfolio depends on how its holdings move together. A volatile holding may have a different effect when added to two different portfolios. This is why a security cannot be assessed only in isolation. Markowitz, “Portfolio Selection,” 1952.William Sharpe's arithmetic of active management supplies a different discipline. Within a consistently defined market, active and passive dollars together own that market. Before costs, the active aggregate matches the market aggregate; higher active costs reduce the aggregate net result. The argument allows individual outperformance while requiring a reason to expect it. Sharpe, 1991.Factor research asks whether recurring characteristics help explain differences in returns. Value, size and profitability-related characteristics are examples of systematic exposures that can be studied rather than renamed after a winning fund. Empirical patterns vary across samples and can endure long periods of disappointing performance. Fama and French, 199390023-5).These contributions are useful because they answer distinct questions. Markowitz helps combine risks. Sharpe disciplines expectations about paid discretion. Factor research helps name exposures. None supplies a universal allocation for a household with particular liabilities, tax residence and spending needs.
ARTICLE SECTION: A market, an exchange and an index are different things
The US equity market consists of publicly traded ownership claims in businesses. An exchange is a venue on which securities trade. An index is a rule for selecting and weighting some of those securities. An exchange-traded fund, or ETF, is an investment vehicle that may seek to follow such an index.These distinctions become useful immediately. Buying a fund listed in the United States does not establish that every company it owns is American. Buying a Nasdaq-100 fund does not mean owning every company listed on Nasdaq. Buying three different ETFs does not establish that their underlying holdings differ.
| Term | Meaning | Practical consequence |
|---|---|---|
| Company | The business issuing an ownership claim | Earnings, balance-sheet strength and governance affect that claim |
| Security | The particular share, bond or contract owned | One company can issue several securities |
| Exchange | A marketplace for trading securities | Listing and trading currency are implementation details |
| Index | Rules defining an investment universe and weights | The rulebook determines the exposure being followed |
| Fund | A pooled investment vehicle | Its mandate, fees and legal structure affect the investor |
| Portfolio | The investor's combined holdings and obligations | Risk must be assessed across all the pieces |
| Benchmark | A reference against which a decision is assessed | A relevant comparison makes performance interpretable |
A good first research question is therefore: which economic universe is this product intended to represent? The ticker comes after the answer.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USMPC-01: Understanding the Market Before Choosing a Fund
ARTICLE: https://sokointel.com/read/usmpc-01/
RESEARCH SNAPSHOT: 10 September 2026
SOURCE MATERIAL
All linked source URLs:
S&amp;P Dow Jones Indices: https://www.spglobal.com/spdji/en/indices/equity/sp-500/
Nasdaq: https://indexes.nasdaq.com/Index/Overview/NDX
FTSE Russell: https://www.lseg.com/en/ftse-russell/indices/russell-us
FTSE Russell announcement: https://www.lseg.com/en/media-centre/press-releases/ftse-russell/2025/russell-us-indexes-move-to-semi-annual-reconstitution
Markowitz, “Portfolio Selection,” 1952: https://doi.org/10.1111/j.1540-6261.1952.tb01525.x
Sharpe, 1991: https://web.stanford.edu/~wfsharpe/art/active/active.htm
Fama and French, 1993: https://doi.org/10.1016/0304-405X(93
Additional content sources:
[]
Workbook provenance:
C:\Users\Nevo\Downloads\financial material\US Markets and Portfolio Construction\US_Markets_Portfolio_Construction_Final_Workbook.xlsx
'P01 Guide &amp; Map'!A3:B12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usmpc-01/" TargetMode="External"/><Relationship Id="rId2" Type="http://schemas.openxmlformats.org/officeDocument/2006/relationships/hyperlink" Target="https://www.spglobal.com/spdji/en/indices/equity/sp-500/" TargetMode="External"/><Relationship Id="rId3" Type="http://schemas.openxmlformats.org/officeDocument/2006/relationships/hyperlink" Target="https://indexes.nasdaq.com/Index/Overview/NDX" TargetMode="External"/><Relationship Id="rId4" Type="http://schemas.openxmlformats.org/officeDocument/2006/relationships/hyperlink" Target="https://www.lseg.com/en/ftse-russell/indices/russell-us" TargetMode="External"/><Relationship Id="rId5" Type="http://schemas.openxmlformats.org/officeDocument/2006/relationships/hyperlink" Target="https://www.lseg.com/en/media-centre/press-releases/ftse-russell/2025/russell-us-indexes-move-to-semi-annual-reconstitution"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Understanding the Market Before Choosing a Fund</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Total return — price change plus distributions; stated reinvestment basis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Benchmark — rule-defined market measurement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Drawdown — loss from a prior peak; %</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Liquidity — ability to transact at a usable price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Start with the economic claim</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company operates a business; a security defines an investor claim.</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exchange is a trading venue, while an index is a rule-based measurement.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fund holds assets under a mandate; a portfolio combines claims for a purpose.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Benchmarks answer different questions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large-company benchmark differs from a broad market or growth-heavy benchmark.</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Weighting rules affect whose returns dominate the result.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Compare total return, currency and time period on a consistent basis.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Risk has more than one dimension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Volatility measures variability, while a drawdown describes a peak-to-trough loss.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Liquidity affects whether an investor can transact at a useful price.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Match horizon, spending currency and acceptable loss before selecting a wrapper.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return changes a starting claim</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Ending value = beginning value × (1 + total return)</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Teaching input: USD 10,000 × 1.08 = USD 10,800.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An 8% illustrative total return says nothing by itself about the next period or the investor’s spending-currency return.</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P01 Guide &amp; Map: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1-01-p1.png">    </p:cNvPr>
          <p:cNvPicPr>
            <a:picLocks noChangeAspect="1"/>
          </p:cNvPicPr>
          <p:nvPr/>
        </p:nvPicPr>
        <p:blipFill>
          <a:blip r:embed="rId1"/>
          <a:stretch>
            <a:fillRect/>
          </a:stretch>
        </p:blipFill>
        <p:spPr>
          <a:xfrm>
            <a:off x="2525861" y="1874520"/>
            <a:ext cx="7146374"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P01 Guide &amp; Map!A3:B12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drawdown needs a larger percentage recovery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Teaching balance falls from USD 10,000 to USD 8,000: −20%.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Recover from USD 8,000 to the original USD 10,000.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Required return is 10,000/8,000 − 1 = 25%, before withdrawals or costs.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The economic claim, benchmark and ownership vehicle answer different questions. Define the investor’s job for the money before combining them into a portfolio.</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Write purpose, spending currency, time horizon and acceptable loss before choosing a fund.</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S&amp;P Dow Jones Indices</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Nasdaq</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FTSE Russell</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FTSE Russell announcement</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the Market Before Choosing a Fund</dc:title>
  <dc:subject>Understanding the Market Before Choosing a Fund</dc:subject>
  <dc:creator>Sokointel</dc:creator>
  <cp:lastModifiedBy>Sokointel</cp:lastModifiedBy>
  <cp:revision>1</cp:revision>
  <dcterms:created xsi:type="dcterms:W3CDTF">2026-09-25T13:49:39Z</dcterms:created>
  <dcterms:modified xsi:type="dcterms:W3CDTF">2026-09-25T13:49:39Z</dcterms:modified>
</cp:coreProperties>
</file>