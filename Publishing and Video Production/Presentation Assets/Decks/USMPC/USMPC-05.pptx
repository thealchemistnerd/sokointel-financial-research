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USMPC-05: Building a Broad Core and Measuring Overlap
ARTICLE: https://sokointel.com/read/usmpc-05/
RESEARCH SNAPSHOT: 10 September 2026
OPENING NARRATION
An educational US-market portfolio, funded and maintained through an explicit policy rather than a prediction of the next winning fund.
Dated source record • fictional calculations are labelled as illustrations
Introduce the decision before defining the technical terms.
ARTICLE SECTION: # Part 05: Building a Broad Core and Measuring Overlap
US Markets and Portfolio Construction, unified nine-part series. Research edition: 15 September 2026.
A broad market fund, a growth index and a headline fee can look simple. This chapter identifies the benchmark, overlap, concentration and full portfolio job behind each choice.
ARTICLE SECTION: Series scope
A portfolio is easier to manage when every holding has a job. The starting job in this series is core exposure: a low-cost, rules-based allocation intended to capture a large share of the long-run return of U.S. listed equities without requiring repeated security selection. Two widely available examples are SPYM, which tracks the S&amp;P 500, and QQQM, which tracks the Nasdaq-100. This article uses dated issuer and index information to compare their economic exposure, cost and role in a portfolio.
As of September 2026, State Street reports a 0.02% gross expense ratio for SPYM and describes it as a low-cost S&amp;P 500 portfolio building block [1]. S&amp;P Dow Jones Indices describes the S&amp;P 500 as a float-adjusted market-capitalization-weighted index covering roughly 80% of available U.S. market capitalization [2]. Invesco reports a 0.15% total expense ratio for QQQM, while Nasdaq describes the Nasdaq-100 as 100 of the largest non-financial Nasdaq-listed companies, using a modified market-cap weighting process [3], [4]. Those facts make the pair inexpensive and transparent, but they do not make the exposures interchangeable.
This is educational portfolio-construction analysis, not a recommendation to buy or sell a security. Returns, volatility and scenario assumptions used below are illustrative inputs for showing the mathematics. They are not forecasts.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USMPC-05: Building a Broad Core and Measuring Overlap
ARTICLE: https://sokointel.com/read/usmpc-05/
RESEARCH SNAPSHOT: 10 September 2026
Read the questions naturally and define terms in context.
wᵢ — look-through weight of company i
HHI — sum of squared company weights
Effective N — 1/HHI; equally weighted equivalent count
Active weight — exposure above or below the benchmark
Research question mapping: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USMPC-05: Building a Broad Core and Measuring Overlap
ARTICLE: https://sokointel.com/read/usmpc-05/
RESEARCH SNAPSHOT: 10 September 2026
Explain the mechanism with the cited article section, then relate it to the opening decision.
Narration: explain each step and its consequence for the opening decision.
ARTICLE SECTION: 3. QQQM as a deliberate growth tilt
QQQM’s role is more specific. Invesco’s June 2026 fund material reports a 0.15% total expense ratio and identifies the Nasdaq-100 as its underlying index [3]. Nasdaq’s current description states that the index comprises 100 large non-financial Nasdaq-listed companies and uses modified market-cap weighting [4]. It is therefore concentrated by design in a narrower opportunity set than the S&amp;P 500.
The narrower set can be useful when the portfolio objective includes an explicit tilt toward large innovative and growth-oriented businesses. But the same feature creates concentration risk. Adding QQQM to SPYM is not equivalent to adding a diversifying asset class such as high-quality bonds, international equities or cash equivalents. In many market environments, SPYM and QQQM can be driven by the same U.S. mega-cap companies, rates, earnings expectations and risk appetite.
That means the correct mental model is core + tilt, not core + independent diversifier.
A 60% SPYM / 15% QQQM structure can therefore be written as:
\[
w_{US}=w_{SPYM}+w_{QQQM}=0.60+0.15=0.75
\]
but its economic factor exposure is more concentrated than that arithmetic suggests. If a company has weight \(a\) in SPYM and weight \(b\) in QQQM, its look-through portfolio weight from these two sleeves is:
\[
w_{company}=0.60a+0.15b.
\]
This equation is simple but important. The duplicated exposure is additive. The workbook accompanying this series includes an editable overlap/tilt worksheet so that holdings data can be updated rather than hard-coded forever.
ARTICLE SECTION: 1. Start with the benchmark, not the ticker
A common mistake is to compare ETFs only by fee, price per share or brand. The more fundamental question is: what economic exposure does the benchmark deliver? The ticker is a wrapper around an index mandate.
SPYM seeks to track the S&amp;P 500 before fees and expenses [1]. The S&amp;P 500 is a broad large-cap U.S. equity benchmark. In late August 2026, the index remained meaningfully concentrated in its largest constituents: S&amp;P Dow Jones Indices reported that the top ten represented 37.8% of the index [2]. That concentration is an important reminder that “500 stocks” does not mean “500 equal-sized bets.” Market-cap weighting intentionally gives the largest companies the largest weights.
QQQM, by contrast, tracks the Nasdaq-100 [3]. Nasdaq defines the index around 100 large non-financial companies listed on Nasdaq and notes that it is heavily weighted toward technology while also containing consumer discretionary, healthcare and other sectors [4]. It is therefore better understood as a large-cap growth/innovation tilt than as a complete substitute for broad U.S. equity exposure. The absence of financial companies is structural, not temporary.
That difference gives a useful construction principle:
&gt; A broad-market core and a growth index can coexist, but the second allocation should be treated as an intentional tilt because many of its largest companies are already present in the broad core.
If 60% of a portfolio is in SPYM and 15% is in QQQM, the portfolio is not “75% diversified U.S. equities” in the naïve sense of two independent sleeves. It is 60% broad U.S. large-cap beta plus an additional 15% tilt toward the Nasdaq-100 universe. The overlap can increase exposure to the same mega-cap growth companies. That may be desirable, but it should be an explicit decision rather than an accidental by-product of owning two famous ETFs.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USMPC-05: Building a Broad Core and Measuring Overlap
ARTICLE: https://sokointel.com/read/usmpc-05/
RESEARCH SNAPSHOT: 10 September 2026
Explain the mechanism with the cited article section, then relate it to the opening decision.
Narration: explain each step and its consequence for the opening decision.
ARTICLE SECTION: A.2 Look-through company exposure
If company X is 8% of SPYM and 12% of QQQM:
\[
w_X=(0.60)(0.08)+(0.15)(0.12)=0.066=6.6\%.
\]
This is why duplicated constituents should be evaluated at the portfolio level rather than fund by fund.
ARTICLE SECTION: 10. Concentration and the false comfort of broad labels
The S&amp;P 500 is broad, but it is not equally weighted. Nasdaq-100 is diversified across many companies, but it is not a total-market index. As of August 31, 2026, S&amp;P Dow Jones Indices reported a 37.8% top-ten concentration for the S&amp;P 500 and an information-technology sector weight of 37.9% [2]. Those numbers will change, so they belong in a dated research snapshot rather than a permanent policy assumption.
The portfolio implication is that adding QQQM and then adding a semiconductor ETF can compound exposure to similar drivers. A useful governance test is to classify every satellite as one of three things:
1. Diversifier: intended to behave differently from the core in important states of the world.
2. Return tilt: intentionally increases exposure to a factor, sector or theme already partly present.
3. Payoff modifier: changes the distribution of outcomes, such as an options overlay that exchanges some upside for premium.
QQQM is primarily a return tilt relative to SPYM. Calling it a diversifier would overstate what the second ticker accomplishes.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USMPC-05: Building a Broad Core and Measuring Overlap
ARTICLE: https://sokointel.com/read/usmpc-05/
RESEARCH SNAPSHOT: 10 September 2026
Explain the mechanism with the cited article section, then relate it to the opening decision.
Narration: explain each step and its consequence for the opening decision.
ARTICLE SECTION: A.1 Weighted expense ratio
For a portfolio with fund weights \(w_i\) and expense ratios \(e_i\):
\[
e_p=\sum_i w_ie_i.
\]
For 60% SPYM, 15% QQQM and 25% cash with an assumed zero product expense:
\[
e_p=(0.60)(0.0002)+(0.15)(0.0015)=0.000345=0.0345\%.
\]
On $100,000, that corresponds to approximately $34.50 of annual fund expenses attributable to those two sleeves, before any expenses on the remaining 25% and ignoring tracking difference and transaction costs.
ARTICLE SECTION: 3. QQQM as a deliberate growth tilt
QQQM’s role is more specific. Invesco’s June 2026 fund material reports a 0.15% total expense ratio and identifies the Nasdaq-100 as its underlying index [3]. Nasdaq’s current description states that the index comprises 100 large non-financial Nasdaq-listed companies and uses modified market-cap weighting [4]. It is therefore concentrated by design in a narrower opportunity set than the S&amp;P 500.
The narrower set can be useful when the portfolio objective includes an explicit tilt toward large innovative and growth-oriented businesses. But the same feature creates concentration risk. Adding QQQM to SPYM is not equivalent to adding a diversifying asset class such as high-quality bonds, international equities or cash equivalents. In many market environments, SPYM and QQQM can be driven by the same U.S. mega-cap companies, rates, earnings expectations and risk appetite.
That means the correct mental model is core + tilt, not core + independent diversifier.
A 60% SPYM / 15% QQQM structure can therefore be written as:
\[
w_{US}=w_{SPYM}+w_{QQQM}=0.60+0.15=0.75
\]
but its economic factor exposure is more concentrated than that arithmetic suggests. If a company has weight \(a\) in SPYM and weight \(b\) in QQQM, its look-through portfolio weight from these two sleeves is:
\[
w_{company}=0.60a+0.15b.
\]
This equation is simple but important. The duplicated exposure is additive. The workbook accompanying this series includes an editable overlap/tilt worksheet so that holdings data can be updated rather than hard-coded forever.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USMPC-05: Building a Broad Core and Measuring Overlap
ARTICLE: https://sokointel.com/read/usmpc-05/
RESEARCH SNAPSHOT: 10 September 2026
Article worked example and saved workbook evidence; preserve their separate assumptions.
Equation: HHI = Σwᵢ²; effective N = 1/HHI
Substitution: 30 equal weights: HHI = 0.03333; effective N = 30.
Interpretation: Unequal weights reduce the effective count even if the nominal holding count is unchanged.
ARTICLE SECTION: Calculation table 2: annual fee dollars at different account sizes
| Portfolio value | SPYM at 0.02% | QQQM at 0.15% | QQQ at 0.18% |
|---:|---:|---:|---:|
| $10,000 | $2 | $15 | $18 |
| $50,000 | $10 | $75 | $90 |
| $100,000 | $20 | $150 | $180 |
| $500,000 | $100 | $750 | $900 |
| $1,000,000 | $200 | $1,500 | $1,800 |
These are simple annualized expense-ratio equivalents, not invoices charged separately to an account. They help quantify scale: the difference between 0.02% and 0.15% is $1,300 per year on $1 million, before compounding. That is worth optimizing after the benchmark choice is correct.
ARTICLE SECTION: 10. Concentration and the false comfort of broad labels
The S&amp;P 500 is broad, but it is not equally weighted. Nasdaq-100 is diversified across many companies, but it is not a total-market index. As of August 31, 2026, S&amp;P Dow Jones Indices reported a 37.8% top-ten concentration for the S&amp;P 500 and an information-technology sector weight of 37.9% [2]. Those numbers will change, so they belong in a dated research snapshot rather than a permanent policy assumption.
The portfolio implication is that adding QQQM and then adding a semiconductor ETF can compound exposure to similar drivers. A useful governance test is to classify every satellite as one of three things:
1. Diversifier: intended to behave differently from the core in important states of the world.
2. Return tilt: intentionally increases exposure to a factor, sector or theme already partly present.
3. Payoff modifier: changes the distribution of outcomes, such as an options overlay that exchanges some upside for premium.
QQQM is primarily a return tilt relative to SPYM. Calling it a diversifier would overstate what the second ticker accomplishes.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USMPC-05: Building a Broad Core and Measuring Overlap
ARTICLE: https://sokointel.com/read/usmpc-05/
RESEARCH SNAPSHOT: 10 September 2026
ACTUAL WORKBOOK CAPTURE
Workbook: C:\Users\Nevo\Downloads\financial material\US Markets and Portfolio Construction\US_Markets_Portfolio_Construction_Final_Workbook.xlsx
Sheet/range: 'P05 Core Concentration'!A33:B42
SHA-256: 5a040bdadf9c5682f5370a882c44aec18bb6359ea96bcd8121b634d35620ab38
Capture method: Microsoft Excel read-only PDF range export. Print headings retained. Source not saved.
Asset: Evidence/Workbooks/USMPC-05-01-p1.png
SCREEN RECORDING WALKTHROUGH
Read the row and column headings. Identify inputs, follow the dependent row and explain the units. Do not alter the source workbook while recording; use a copy for a new scenario.
Extracted evidence text:
33
34
35
36
37
38
39
40
41
42
A B
29 3.333%
30 3.333%
Sum of weights (should be 100%) 100.0%
HHI (=SUMSQ of weights) 0.0333
Effective N (=1/HHI) 30.0
Nominal count of nonzero holdings 30
Reference: equal-weight effective N at different nominal N (Appendix 3, A3.1)
Relevant article context:
ARTICLE SECTION: 2. SPYM as the broad core
State Street’s current product page reports that SPYM’s benchmark is the S&amp;P 500, its gross expense ratio is 0.02%, and options are available on the fund [1]. The product was formerly known under a different ticker in the historical research trail, which explains why older notes and web pages may use SPLG. For present-day implementation, the current ticker and current prospectus information should control.
The S&amp;P 500 itself is designed to represent leading U.S. large-cap companies and uses float-adjusted market capitalization weighting [2]. This matters operationally. A cap-weighted core automatically lets winners become larger positions and lets declining firms become smaller positions unless index rules remove them. The investor does not need to rebalance every company back to an arbitrary equal weight.
The main strengths of SPYM as a core are therefore structural rather than predictive:
- very low stated fund expenses;
- broad large-cap U.S. coverage through a widely followed benchmark;
- transparent index methodology;
- high diversification relative to single-stock portfolios; and
- low ongoing decision load once the target allocation is established.
The limitations are equally important. SPYM is still an equity fund, so it can experience severe drawdowns. It is not a complete global portfolio, it does not provide dedicated small-cap exposure, and current S&amp;P 500 concentration means mega-cap companies can dominate results. An investor who calls it “safe” simply because it holds hundreds of companies is confusing diversification with capital protection. The SEC notes that ETF prices fluctuate and may trade above or below net asset value, while equity investments remain exposed to market risk [5].
ARTICLE SECTION: 10. Concentration and the false comfort of broad labels
The S&amp;P 500 is broad, but it is not equally weighted. Nasdaq-100 is diversified across many companies, but it is not a total-market index. As of August 31, 2026, S&amp;P Dow Jones Indices reported a 37.8% top-ten concentration for the S&amp;P 500 and an information-technology sector weight of 37.9% [2]. Those numbers will change, so they belong in a dated research snapshot rather than a permanent policy assumption.
The portfolio implication is that adding QQQM and then adding a semiconductor ETF can compound exposure to similar drivers. A useful governance test is to classify every satellite as one of three things:
1. Diversifier: intended to behave differently from the core in important states of the world.
2. Return tilt: intentionally increases exposure to a factor, sector or theme already partly present.
3. Payoff modifier: changes the distribution of outcomes, such as an options overlay that exchanges some upside for premium.
QQQM is primarily a return tilt relative to SPYM. Calling it a diversifier would overstate what the second ticker accomplishes.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USMPC-05: Building a Broad Core and Measuring Overlap
ARTICLE: https://sokointel.com/read/usmpc-05/
RESEARCH SNAPSHOT: 10 September 2026
Teaching sensitivity; hold other assumptions fixed unless a multi-input case is explicitly named.
Base: Thirty equally weighted holdings have effective N of 30.
Changed: Increase a few weights and reduce the rest while retaining 30 names.
Consequence: HHI increases and effective N falls. Inspect common holdings across funds before interpreting the fund count.
ARTICLE SECTION: Calculation table 2: annual fee dollars at different account sizes
| Portfolio value | SPYM at 0.02% | QQQM at 0.15% | QQQ at 0.18% |
|---:|---:|---:|---:|
| $10,000 | $2 | $15 | $18 |
| $50,000 | $10 | $75 | $90 |
| $100,000 | $20 | $150 | $180 |
| $500,000 | $100 | $750 | $900 |
| $1,000,000 | $200 | $1,500 | $1,800 |
These are simple annualized expense-ratio equivalents, not invoices charged separately to an account. They help quantify scale: the difference between 0.02% and 0.15% is $1,300 per year on $1 million, before compounding. That is worth optimizing after the benchmark choice is correct.
ARTICLE SECTION: 10. Concentration and the false comfort of broad labels
The S&amp;P 500 is broad, but it is not equally weighted. Nasdaq-100 is diversified across many companies, but it is not a total-market index. As of August 31, 2026, S&amp;P Dow Jones Indices reported a 37.8% top-ten concentration for the S&amp;P 500 and an information-technology sector weight of 37.9% [2]. Those numbers will change, so they belong in a dated research snapshot rather than a permanent policy assumption.
The portfolio implication is that adding QQQM and then adding a semiconductor ETF can compound exposure to similar drivers. A useful governance test is to classify every satellite as one of three things:
1. Diversifier: intended to behave differently from the core in important states of the world.
2. Return tilt: intentionally increases exposure to a factor, sector or theme already partly present.
3. Payoff modifier: changes the distribution of outcomes, such as an options overlay that exchanges some upside for premium.
QQQM is primarily a return tilt relative to SPYM. Calling it a diversifier would overstate what the second ticker accomplishes.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USMPC-05: Building a Broad Core and Measuring Overlap
ARTICLE: https://sokointel.com/read/usmpc-05/
RESEARCH SNAPSHOT: 10 September 2026
REAL WEB CAPTURE
{
  "slug": "dca-portfolio",
  "url": "https://sokointel.com/calculators/dca-portfolio/",
  "captured_at": "2026-09-25T05:01:21.691Z",
  "inputs": [
    {
      "name": "total_cash",
      "value": "100000"
    },
    {
      "name": "deployment_months",
      "value": "6"
    },
    {
      "name": "percentage_commission",
      "value": "2.1"
    },
    {
      "name": "fixed_order_fee",
      "value": "0"
    },
    {
      "name": "minimum_order_fee",
      "value": "0"
    },
    {
      "name": "cash_reserve",
      "value": "0"
    },
    {
      "name": "default_withholding_tax",
      "value": "5"
    },
    {
      "name": "purchase_mode",
      "value": "monthly"
    },
    {
      "name": "holding_label_0",
      "value": "SCOM"
    },
    {
      "name": "holding_share_price_0",
      "value": "36.45"
    },
    {
      "name": "holding_target_weight_0",
      "value": "55"
    },
    {
      "name": "holding_dividend_per_share_0",
      "value": "2"
    },
    {
      "name": "holding_withholding_tax_0",
      "value": ""
    },
    {
      "name": "holding_sector_0",
      "value": ""
    },
    {
      "name": "holding_label_1",
      "value": "EQTY"
    },
    {
      "name": "holding_share_price_1",
      "value": "101.75"
    },
    {
      "name": "holding_target_weight_1",
      "value": "35"
    },
    {
      "name": "holding_dividend_per_share_1",
      "value": "5.75"
    },
    {
      "name": "holding_withholding_tax_1",
      "value": ""
    },
    {
      "name": "holding_sector_1",
      "value": ""
    },
    {
      "name": "holding_label_2",
      "value": "NSE"
    },
    {
      "name": "holding_share_price_2",
      "value": "27.65"
    },
    {
      "name": "holding_target_weight_2",
      "value": "10"
    },
    {
      "name": "holding_dividend_per_share_2",
      "value": "1"
    },
    {
      "name": "holding_withholding_tax_2",
      "value": ""
    },
    {
      "name": "holding_sector_2",
      "value": ""
    }
  ],
  "screenshots": [
    "dca-portfolio-inputs.png",
    "dca-portfolio-full.png",
    "dca-portfolio-results.png",
    "dca-portfolio-summary.png"
  ],
  "get_status": 200,
  "title": "DCA portfolio and dividend planner | Sokointel",
  "scenario": "Illustrative historical-price teaching scenario supplied in the project discussion; not current quotes.",
  "post_status": 200,
  "results_text": "6-MONTH MONTHLY PLAN\n\nBuying budget after reserve\nKES 100,000\nTotal deployed, including costs\nKES 99,867\nNet annual dividend estimate\nKES 4,978\nNet yield on original cash\n4.98%\nReview before ordering.\nSCOM: target weight is above 40%; review concentration risk.\nPortfolio allocation and income\nHolding\tTarget weight\tActual deployed weight\tShares\tSecurity value\tCosts\tGross dividend\tNet dividend\nSCOM\t55.00%\t55.04%\t1,477\tKES 53,836.65\tKES 1,130.57\tKES 2,954.00\tKES 2,806.30\nEQTY\t35.00%\t34.95%\t336\tKES 34,188.00\tKES 717.95\tKES 1,932.00\tKES 1,835.40\nNSE\t10.00%\t10.01%\t354\tKES 9,788.10\tKES 205.55\tKES 354.00\tKES 336.30\nCash and dividend reconciliation\nMeasure\tCalculated result\nTotal capital\tKES 100,000.00\nCash reserve retained\tKES 0.00\nSecurities purchased\tKES 97,812.75\nTransaction costs\tKES 2,054.07\nUncommitted cash after whole-share rounding\tKES 133.18\nGross annual dividend estimate\tKES 5,240.00\nDividend withholding estimate\tKES 262.00\nNet yield on deployed capital\t4.98%\nSee the monthly purchase schedule\nFollow the calculation\n𝐵\n=\n𝐶\n−\n𝑅\n,\n𝑇\n𝑖\n,\n𝑡\n=\n𝐵\n𝑚\n×\n𝑤\n𝑖\n×\n𝑡\n𝑁\n𝑖\n,\n𝑡\n=\n⌊\n𝐴\n𝑖\n,\n𝑡\n𝑃\n𝑖\n+\ncost per share\n𝑖\n,\n𝑡\n⌋\n,\n𝐷\n𝑖\n,\nnet\n=\n𝑆\n𝑖\n𝑑\n𝑖\n(\n1\n−\n𝜏\n𝑖\n)\nTake the research further.\n\nRead the full NSE dividend-growth case, then use its companion formula workbook for changing prices, dividend growth, reinvestment, rebalancing bands, dividend cuts, sector limits, and scenarios.\n\nRead the DCA research →",
  "alerts": [],
  "base": "Evidence/Web"
}
DEMONSTRATION SCOPE
Use target weights, reference prices and costs to form an affordable purchase plan. Follow the residual cash after integer-share rounding.
Stress losses, covariance and HHI belong in the workbook, not this purchase planner.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USMPC-05: Building a Broad Core and Measuring Overlap
ARTICLE: https://sokointel.com/read/usmpc-05/
RESEARCH SNAPSHOT: 10 September 2026
Answer: A broad core and a growth fund can form a deliberate tilt rather than independent diversification. Look-through weights and a review rule make that intention visible.
Viewer task: Document the core, intended tilt, look-through exposure and maximum active weight.
Return to each opening research question and identify what remains conditional or unknown.
ARTICLE SECTION: 9. Liquidity is part of total implementation cost
Expense ratios are visible, but transaction costs also matter. ETF shares trade in secondary markets, and the SEC notes that market price can differ from NAV [5]. The relevant implementation variables include bid-ask spread, market depth, order size and execution method.
For a long-term accumulator making periodic purchases, a one- or two-basis-point spread may be economically minor relative to decades of fund expenses. For an options trader or institutional-sized tactical position, market depth can matter much more. This explains why the “cheapest ETF” and the “best trading vehicle” need not be the same ticker.
State Street’s own comparison of SPY and SPYM frames the distinction similarly: SPYM is positioned as a low-cost long-term S&amp;P 500 building block, while SPY’s trading ecosystem can matter to frequent or tactical users [9]. That is an implementation argument, not evidence that one benchmark is superior. The funds target the same S&amp;P 500 exposure.
ARTICLE SECTION: 12. Decision framework: SPYM, QQQM or both?
The choice can be summarized without pretending there is one universally correct allocation.
| Question | If “yes,” implication |
|---|---|
| Do I want broad U.S. large-cap market exposure as the foundation? | SPYM is designed for that role. |
| Do I deliberately want more Nasdaq-100/growth exposure than the S&amp;P 500 already provides? | QQQM can be sized as a tilt. |
| Do I need the deepest tactical trading ecosystem on the Nasdaq-100? | Compare QQQ implementation benefits with QQQM’s lower expense ratio using current data. |
| Am I adding QQQM because recent performance is exciting? | Revisit the thesis; that is performance chasing, not policy design. |
| Have I measured overlap with any sector satellite? | Do so before adding more technology concentration. |
| Is my time horizon short or my loss capacity low? | Reconsider how much of the portfolio belongs in equities at all. |
The critical distinction is between product selection and asset allocation. Product selection asks which wrapper efficiently delivers a chosen exposure. Asset allocation asks how much exposure belongs in the portfolio. The second question normally has the larger impact on risk.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USMPC-05: Building a Broad Core and Measuring Overlap
ARTICLE: https://sokointel.com/read/usmpc-05/
RESEARCH SNAPSHOT: 10 September 2026
SOURCE MATERIAL
All linked source URLs:
Additional content sources:
[]
Workbook provenance:
C:\Users\Nevo\Downloads\financial material\US Markets and Portfolio Construction\US_Markets_Portfolio_Construction_Final_Workbook.xlsx
'P05 Core Concentration'!A33:B42
5a040bdadf9c5682f5370a882c44aec18bb6359ea96bcd8121b634d35620ab38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usmpc-05/" TargetMode="External"/><Relationship Id="rId2" Type="http://schemas.openxmlformats.org/officeDocument/2006/relationships/hyperlink" Target="https://sokointel.com/read/usmpc-05/"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Building a Broad Core and Measuring Overlap</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An educational US-market portfolio, funded and maintained through an explicit policy rather than a prediction of the next winning fund.</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USMPC-05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wᵢ — look-through weight of company i</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HHI — sum of squared company weights</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Effective N — 1/HHI; equally weighted equivalent count</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Active weight — exposure above or below the benchmark</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benchmark comes before the ticker</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SPYM provides S&amp;P 500 exposure in the source comparison.</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QQQM adds a deliberate Nasdaq-100 growth tilt.</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second fund may increase exposure to companies already held.</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Look through the labels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Multiply fund weights by each underlying company weight.</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Aggregate shared companies before assessing concentration.</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Use HHI and effective holding count as diagnostics, not complete risk measures.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Contributions can repair drift</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Send new cash to underweight sleeves before assuming a sale is needed.</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Track spreads and liquidity alongside published fund fees.</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Document the intended tilt and a maximum active weight.</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Concentration has an effective count</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800" dirty="0">
                <a:solidFill>
                  <a:srgbClr val="176F73"/>
                </a:solidFill>
                <a:latin typeface="Cambria Math" pitchFamily="34" charset="0"/>
                <a:ea typeface="Cambria Math" pitchFamily="34" charset="-122"/>
                <a:cs typeface="Cambria Math" pitchFamily="34" charset="-120"/>
              </a:rPr>
              <a:t>HHI = Σwᵢ²; effective N = 1/HHI</a:t>
            </a:r>
            <a:endParaRPr lang="en-US" sz="28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30 equal weights: HHI = 0.03333; effective N = 30.</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Unequal weights reduce the effective count even if the nominal holding count is unchanged.</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P05 Core Concentration: follow the saved workbook</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USMPC-05-01-p1.png">    </p:cNvPr>
          <p:cNvPicPr>
            <a:picLocks noChangeAspect="1"/>
          </p:cNvPicPr>
          <p:nvPr/>
        </p:nvPicPr>
        <p:blipFill>
          <a:blip r:embed="rId1"/>
          <a:stretch>
            <a:fillRect/>
          </a:stretch>
        </p:blipFill>
        <p:spPr>
          <a:xfrm>
            <a:off x="3306737" y="1874520"/>
            <a:ext cx="5584622" cy="3639312"/>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P05 Core Concentration!A33:B42</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An equal nominal count can mask different concentration</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Thirty equally weighted holdings have effective N of 30.</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Increase a few weights and reduce the rest while retaining 30 names.</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HHI increases and effective N falls. Inspect common holdings across funds before interpreting the fund count.</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SAVED WEB DEMONSTRATION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pic>
        <p:nvPicPr>
          <p:cNvPr id="8" name="Image 0" descr="C:\Users\Nevo\Downloads\financial material\Publishing and Video Production\Presentation Assets\Evidence\Web\dca-portfolio-summary.png">    </p:cNvPr>
          <p:cNvPicPr>
            <a:picLocks noChangeAspect="1"/>
          </p:cNvPicPr>
          <p:nvPr/>
        </p:nvPicPr>
        <p:blipFill>
          <a:blip r:embed="rId1"/>
          <a:stretch>
            <a:fillRect/>
          </a:stretch>
        </p:blipFill>
        <p:spPr>
          <a:xfrm>
            <a:off x="1204093" y="1810512"/>
            <a:ext cx="6159743" cy="4334256"/>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Use target weights, reference prices and costs to form an affordable purchase plan. Follow the residual cash after integer-share rounding.</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Stress losses, covariance and HHI belong in the workbook, not this purchase planner.</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Saved production page • /calculators/dca-portfolio/ • captured 2026-09-25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A broad core and a growth fund can form a deliberate tilt rather than independent diversification. Look-through weights and a review rule make that intention visible.</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Document the core, intended tilt, look-through exposure and maximum active weight.</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USMPC-05</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sokointel.com/read/usmpc-05/</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Source article: Building a Broad Core and Measuring Overlap</a:t>
            </a:r>
            <a:endParaRPr lang="en-US" sz="1700" dirty="0"/>
          </a:p>
        </p:txBody>
      </p:sp>
      <p:sp>
        <p:nvSpPr>
          <p:cNvPr id="10" name="Text 8"/>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2. Companion workbook: US_Markets_Portfolio_Construction_Final_Workbook</a:t>
            </a:r>
            <a:endParaRPr lang="en-US" sz="1700" dirty="0"/>
          </a:p>
        </p:txBody>
      </p:sp>
      <p:sp>
        <p:nvSpPr>
          <p:cNvPr id="11" name="Text 9"/>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3. Exact source ranges: 'P05 Core Concentration'!A33:B42</a:t>
            </a:r>
            <a:endParaRPr lang="en-US" sz="1700" dirty="0"/>
          </a:p>
        </p:txBody>
      </p:sp>
      <p:sp>
        <p:nvSpPr>
          <p:cNvPr id="12" name="Text 10"/>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dirty="0">
                <a:solidFill>
                  <a:srgbClr val="163047"/>
                </a:solidFill>
                <a:latin typeface="Aptos" pitchFamily="34" charset="0"/>
                <a:ea typeface="Aptos" pitchFamily="34" charset="-122"/>
                <a:cs typeface="Aptos" pitchFamily="34" charset="-120"/>
              </a:rPr>
              <a:t>4. Source dates and assumptions: retain the period labels in the article and captured workbook; full provenance in notes.</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Broad Core and Measuring Overlap</dc:title>
  <dc:subject>Building a Broad Core and Measuring Overlap</dc:subject>
  <dc:creator>Sokointel</dc:creator>
  <cp:lastModifiedBy>Sokointel</cp:lastModifiedBy>
  <cp:revision>1</cp:revision>
  <dcterms:created xsi:type="dcterms:W3CDTF">2026-09-25T13:59:18Z</dcterms:created>
  <dcterms:modified xsi:type="dcterms:W3CDTF">2026-09-25T13:59:18Z</dcterms:modified>
</cp:coreProperties>
</file>