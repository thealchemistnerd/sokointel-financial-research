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Table 4: Ten-year accumulation case study after blended fund expenses
The companion workbook models a $50,000 opening balance, $500 contributed at month-end, an illustrative 8.00% gross annual return and the 0.095% blended expense ratio from the growth-oriented allocation. The equivalent monthly net rate is therefore 0.6354%. The model does not forecast returns or include tax, trading costs, rebalancing trades or inflation.
| End of year | Projected balance after fund expenses | Cumulative contributions | Growth after fund expenses |
| ---: | ---: | ---: | ---: |
| 1 | $60,162.90 | $56,000.00 | $4,162.90 |
| 3 | $82,959.89 | $68,000.00 | $14,959.89 |
| 5 | $109,499.81 | $80,000.00 | $29,499.81 |
| 7 | $140,397.18 | $92,000.00 | $48,397.18 |
| 10 | $196,510.08 | $110,000.00 | $86,510.08 |
The expense-aware ending balance is $196,510.08. This makes the fee treatment explicit instead of showing a gross-return projection beside a fee that does not affect the calculation. As spending approaches, the sequence-risk result is one reason to increase the visibility of liquidity reserves and the bond sleeve gradually, rather than making a single abrupt allocation change on a retirement date.
ARTICLE SECTION: # Part 09: Long-Term Maintenance, Withdrawals and Review
US Markets and Portfolio Construction, unified nine-part series. Research edition: 15 September 2026.
A market portfolio has to work in a household as well as on an allocation chart. This final part joins investment implementation to contribution patterns, reserves, withdrawals, taxes and review rules.
The earlier parts establish market language, wrapper economics, cross-border ownership, portfolio architecture, core overlap, thematic satellites, options mechanics and rebalancing governance. This final chapter connects that analysis to the household cash flows that make a policy workable: regular contributions, lump sums, liquidity reserves, withdrawals, taxes, behavioural discipline and periodic review.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Read the questions naturally and define terms in context.
Withdrawal — cash removed at the stated date; USD
Sequence risk — effect of return order with investor cash flows
Real wealth — nominal wealth adjusted for inflation
Reserve — accessible money for near-term spending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Explain the mechanism with the cited article section, then relate it to the opening decision.
Narration: explain each step and its consequence for the opening decision.
ARTICLE SECTION: Table 1: Lump sum versus DCA under two illustrative one-year scenarios
| Scenario | Lump sum ($6,000 upfront) ending value | DCA ($500/month multiplied by 12) ending value | Lump sum advantage |
|---|---|---|---|
| Steady rise (illustrative +1%/month) | $6,760.95 | $6,404.66 | +$356.29 |
| Dip in months 1–2, then recovery (illustrative) | $6,618.62 | $6,554.34 | +$64.28 |
Both illustrative scenarios in Table 1 favor the lump sum, consistent with Vanguard's finding, but the gap narrows considerably in the scenario where a decline happens early, since DCA's gradual entry allows some of the later contributions to buy in at the lower, post-decline prices rather than the higher starting price. This is the entire case for DCA in a single sentence: it does not raise expected returns relative to a lump sum, but it reduces the specific regret of investing everything immediately before a decline, and it is the only realistic option in any case for money that arrives gradually, such as a salary, rather than all at once. Vanguard's own conclusion is not that DCA is irrational, but that an investor choosing it is deliberately trading expected return for a smoother emotional path into a full position, a trade psychologically real enough that Vanguard's paper explicitly validates it as a reasonable choice for an investor who would otherwise be tempted to delay investing indefinitely rather than commit a lump sum at all [1].
A middle path worth naming is a compressed DCA schedule: spreading a lump sum over three to six months rather than the full twelve Vanguard's research tested, which captures a meaningful share of the psychological benefit of gradual entry while limiting the expected-return cost, since most of the "opportunity cost of waiting" in the twelve-month case comes from the later months of the schedule rather than the first few. None of this changes the more important practical point for most investors following this series: money arriving from ongoing income, rather than a single windfall, is not choosing between DCA and lump-sum investing. It is invested as received, which is DCA by construction. Table 1 therefore addresses a genuine lump sum already sitting in cash.
ARTICLE SECTION: Table 3: Identical average return, different outcome, purely from timing
Consider two hypothetical retirees, each starting with $1,000,000, each withdrawing a fixed $45,000 per year (a simplified illustration that does not adjust for inflation, in order to isolate the sequencing effect alone), and each experiencing the exact same ten annual returns: eight years, averaging positively, plus two sharp decline years of -20% and -15%, differing only in when the two decline years occur:
| Year | Retiree A (decline years 1–2) | Retiree B (decline years 9–10) |
|---|---|---|
| 0 | $1,000,000 | $1,000,000 |
| 2 | $596,750 | $1,137,500 |
| 5 | $646,952 | $1,249,176 |
| 8 | $653,279 | $1,439,549 |
| 10 | $666,446 | $895,643 |
Both retirees experience an identical average annual return of 3.30% over the ten years and take an identical fixed withdrawal every year. The only difference is whether the two decline years land at the start or the end of the sequence. Retiree A ends with $666,446; Retiree B ends with $895,643, a gap of $229,197 that comes entirely from timing, not from any difference in average performance [4]. This is the central, somewhat unsettling fact behind every "safe withdrawal rate" debate: a withdrawal rate that would have been perfectly sustainable against the average historical return can still fail against the specific sequence a real retiree actually lives through, which is why the research in this area tests every historical starting year individually rather than relying on a single average.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Explain the mechanism with the cited article section, then relate it to the opening decision.
Narration: explain each step and its consequence for the opening decision.
ARTICLE SECTION: Table 3: Identical average return, different outcome, purely from timing
Consider two hypothetical retirees, each starting with $1,000,000, each withdrawing a fixed $45,000 per year (a simplified illustration that does not adjust for inflation, in order to isolate the sequencing effect alone), and each experiencing the exact same ten annual returns: eight years, averaging positively, plus two sharp decline years of -20% and -15%, differing only in when the two decline years occur:
| Year | Retiree A (decline years 1–2) | Retiree B (decline years 9–10) |
|---|---|---|
| 0 | $1,000,000 | $1,000,000 |
| 2 | $596,750 | $1,137,500 |
| 5 | $646,952 | $1,249,176 |
| 8 | $653,279 | $1,439,549 |
| 10 | $666,446 | $895,643 |
Both retirees experience an identical average annual return of 3.30% over the ten years and take an identical fixed withdrawal every year. The only difference is whether the two decline years land at the start or the end of the sequence. Retiree A ends with $666,446; Retiree B ends with $895,643, a gap of $229,197 that comes entirely from timing, not from any difference in average performance [4]. This is the central, somewhat unsettling fact behind every "safe withdrawal rate" debate: a withdrawal rate that would have been perfectly sustainable against the average historical return can still fail against the specific sequence a real retiree actually lives through, which is why the research in this area tests every historical starting year individually rather than relying on a single average.
ARTICLE SECTION: # Part 09: Long-Term Maintenance, Withdrawals and Review
US Markets and Portfolio Construction, unified nine-part series. Research edition: 15 September 2026.
A market portfolio has to work in a household as well as on an allocation chart. This final part joins investment implementation to contribution patterns, reserves, withdrawals, taxes and review rules.
The earlier parts establish market language, wrapper economics, cross-border ownership, portfolio architecture, core overlap, thematic satellites, options mechanics and rebalancing governance. This final chapter connects that analysis to the household cash flows that make a policy workable: regular contributions, lump sums, liquidity reserves, withdrawals, taxes, behavioural discipline and periodic review.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Explain the mechanism with the cited article section, then relate it to the opening decision.
Narration: explain each step and its consequence for the opening decision.
ARTICLE SECTION: # Part 09: Long-Term Maintenance, Withdrawals and Review
US Markets and Portfolio Construction, unified nine-part series. Research edition: 15 September 2026.
A market portfolio has to work in a household as well as on an allocation chart. This final part joins investment implementation to contribution patterns, reserves, withdrawals, taxes and review rules.
The earlier parts establish market language, wrapper economics, cross-border ownership, portfolio architecture, core overlap, thematic satellites, options mechanics and rebalancing governance. This final chapter connects that analysis to the household cash flows that make a policy workable: regular contributions, lump sums, liquidity reserves, withdrawals, taxes, behavioural discipline and periodic review.
ARTICLE SECTION: Table 2: Illustrative one-year drift on the $50,000 core-satellite portfolio (from Part 4)
| Sleeve | Starting weight | Illustrative 1-year return | Ending weight (before rebalancing) | Drift |
|---|---|---|---|---|
| SPYM (equity core) | 55.0% | +15% | 53.5% | -1.53 pp |
| AGG (bond core) | 15.0% | +2% | 12.9% | -2.07 pp |
| QQQM (growth tilt) | 15.0% | +30% | 16.5% | +1.48 pp |
| Satellite blend | 15.0% | +35% | 17.1% | +2.12 pp |
Portfolio value grew from $50,000 to $59,150 under this illustrative set of returns, and the satellite sleeve's weight drifted from its 15.0% target to 17.1%, still inside a 20% combined-satellite ceiling in this particular illustration, but this is precisely the mechanical satellite-creep process Part 4 warned about: a satellite sleeve that simply performs well, with no new conviction added by the investor at all, mechanically grows its share of the portfolio purely through price appreciation. Restoring the original target weights on this $59,150 base requires selling $877.50 from QQQM and $1,252.50 from the satellite blend, while buying $907.50 of SPYM and $1,222.50 of AGG. This disciplined trade involves selling some of what just performed best and buying some of what lagged. That is why rebalancing is behaviorally harder to execute than it is mathematically simple to describe.
Rebalancing by selling appreciated positions can create a capital gain in a taxable account. Directing new contributions toward underweight sleeves can reduce sales and turnover while contributions remain large relative to the portfolio. The method becomes less powerful as the portfolio grows, so it complements rather than replaces a calendar or threshold rule. The workbook shows the exact target trade and the amount that a new contribution can absorb before a sale is required.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Article worked example and saved workbook evidence; preserve their separate assumptions.
Equation: Closing balance = opening balance × (1 + return) − withdrawal
Substitution: USD 1m with bad years first ends at USD 666,446; the reordered path ends at USD 895,643.
Interpretation: The source uses the same returns with USD 45,000 withdrawn annually at year end.
ARTICLE SECTION: Sequence-of-returns risk and the debate over safe withdrawal rates
Everything so far in this part concerns building up a portfolio; the mathematics changes once an investor begins withdrawing from it, because a withdrawal taken during a market decline permanently removes shares that can no longer participate in the eventual recovery, a phenomenon called sequence-of-returns risk. The point is easiest to see by holding the average return fixed and varying only the order in which it occurs.
ARTICLE SECTION: # Part 09: Long-Term Maintenance, Withdrawals and Review
US Markets and Portfolio Construction, unified nine-part series. Research edition: 15 September 2026.
A market portfolio has to work in a household as well as on an allocation chart. This final part joins investment implementation to contribution patterns, reserves, withdrawals, taxes and review rules.
The earlier parts establish market language, wrapper economics, cross-border ownership, portfolio architecture, core overlap, thematic satellites, options mechanics and rebalancing governance. This final chapter connects that analysis to the household cash flows that make a policy workable: regular contributions, lump sums, liquidity reserves, withdrawals, taxes, behavioural discipline and periodic review.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ACTUAL WORKBOOK CAPTURE
Workbook: C:\Users\Nevo\Downloads\financial material\US Markets and Portfolio Construction\US_Markets_Portfolio_Construction_Final_Workbook.xlsx
Sheet/range: 'P09 Sequence Risk'!A7:E18
SHA-256: 5a040bdadf9c5682f5370a882c44aec18bb6359ea96bcd8121b634d35620ab38
Capture method: Microsoft Excel read-only PDF range export. Print headings retained. Source not saved.
Asset: Evidence/Workbooks/USMPC-09-01-p1.png
SCREEN RECORDING WALKTHROUGH
Read the row and column headings. Identify inputs, follow the dependent row and explain the units. Do not alter the source workbook while recording; use a copy for a new scenario.
Extracted evidence text:
7
8
9
10
11
12
13
14
15
16
17
18
A B C D E
Year
Retiree A return 
(bad years first) Retiree A value
Retiree B return 
(bad years last) Retiree B value
0 $1,000,000.00 $1,000,000.00
1 -20.0% $755,000.00 12.0% $1,075,000.00
2 -15.0% $596,750.00 10.0% $1,137,500.00
3 12.0% $623,360.00 8.0% $1,183,500.00
4 10.0% $640,696.00 6.0% $1,209,510.00
5 8.0% $646,951.68 7.0% $1,249,175.70
6 6.0% $640,768.78 9.0% $1,316,601.51
7 7.0% $640,622.60 5.0% $1,337,431.59
8 9.0% $653,278.63 11.0% $1,439,549.06
9 5.0% $640,942.56 -20.0% $1,106,639.25
10 11.0% $666,446.24 -15.0% $895,643.36
Relevant article context:
ARTICLE SECTION: Sequence-of-returns risk and the debate over safe withdrawal rates
Everything so far in this part concerns building up a portfolio; the mathematics changes once an investor begins withdrawing from it, because a withdrawal taken during a market decline permanently removes shares that can no longer participate in the eventual recovery, a phenomenon called sequence-of-returns risk. The point is easiest to see by holding the average return fixed and varying only the order in which it occurs.
ARTICLE SECTION: Where the safe-withdrawal-rate research currently stands
Withdrawal-rate research gives conditional planning ranges, not a universal spending promise. Bengen's 1994 historical analysis reported a 4.15% initial rate for its stated portfolio, withdrawal and thirty-year horizon assumptions, the origin of the familiar rounded 4% rule [5]. Morningstar's 2025 forward-looking study estimated a 3.9% maximum starting rate under a different set of capital-market, horizon and probability-of-success assumptions [6]. The figures answer different questions, so they should be used as sensitivity cases rather than competing universal constants. A real spending plan must state its portfolio, time horizon, tax position, other income, inflation rule and willingness to reduce spending after weak returns.
A flexible withdrawal rule can reduce spending after a poor sequence and allow it to recover after strong returns. A liquidity-bucket approach can hold near-term spending in cash or short-duration instruments, a further spending horizon in the bond core, and long-horizon capital in equities. These methods do not eliminate market risk. They reduce the chance that a near-term cash requirement forces an equity sale after a drawdown.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Teaching sensitivity; hold other assumptions fixed unless a multi-input case is explicitly named.
Base: Bad years first: ending wealth USD 666,446.24.
Changed: Same returns reordered; bad years last: USD 895,643.36.
Consequence: The difference is USD 229,197.12 under the source withdrawal schedule, despite the same set of returns.
ARTICLE SECTION: Sequence-of-returns risk and the debate over safe withdrawal rates
Everything so far in this part concerns building up a portfolio; the mathematics changes once an investor begins withdrawing from it, because a withdrawal taken during a market decline permanently removes shares that can no longer participate in the eventual recovery, a phenomenon called sequence-of-returns risk. The point is easiest to see by holding the average return fixed and varying only the order in which it occurs.
ARTICLE SECTION: Table 4: Ten-year accumulation case study after blended fund expenses
The companion workbook models a $50,000 opening balance, $500 contributed at month-end, an illustrative 8.00% gross annual return and the 0.095% blended expense ratio from the growth-oriented allocation. The equivalent monthly net rate is therefore 0.6354%. The model does not forecast returns or include tax, trading costs, rebalancing trades or inflation.
| End of year | Projected balance after fund expenses | Cumulative contributions | Growth after fund expenses |
| ---: | ---: | ---: | ---: |
| 1 | $60,162.90 | $56,000.00 | $4,162.90 |
| 3 | $82,959.89 | $68,000.00 | $14,959.89 |
| 5 | $109,499.81 | $80,000.00 | $29,499.81 |
| 7 | $140,397.18 | $92,000.00 | $48,397.18 |
| 10 | $196,510.08 | $110,000.00 | $86,510.08 |
The expense-aware ending balance is $196,510.08. This makes the fee treatment explicit instead of showing a gross-return projection beside a fee that does not affect the calculation. As spending approaches, the sequence-risk result is one reason to increase the visibility of liquidity reserves and the bond sleeve gradually, rather than making a single abrupt allocation change on a retirement date.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REAL WEB CAPTURE
{
  "slug": "lab",
  "url": "https://sokointel.com/lab/",
  "captured_at": "2026-09-25T05:01:00.765Z",
  "inputs": [
    {
      "name": "opening_balance",
      "value": "100000"
    },
    {
      "name": "regular_payment",
      "value": "10000"
    },
    {
      "name": "goal_amount",
      "value": "2000000"
    },
    {
      "name": "annual_rate",
      "value": "8"
    },
    {
      "name": "payments_per_year",
      "value": "12"
    },
    {
      "name": "annual_inflation",
      "value": "5"
    },
    {
      "name": "years",
      "value": "10"
    },
    {
      "name": "perpetuity_cash_flow",
      "value": "120000"
    },
    {
      "name": "perpetuity_growth",
      "value": "0"
    }
  ],
  "screenshots": [
    "lab-inputs.png",
    "lab-full.png",
    "lab-results.png",
    "lab-summary.png"
  ],
  "get_status": 200,
  "title": "Compounding and cash-flow explorer | Sokointel",
  "post_status": 200,
  "results_text": "120 PAYMENT PERIODS / 10 YEARS\n\nFuture value, end-of-period contributions\nKES 2,017,135\nFuture value, beginning-of-period contributions\nKES 2,028,724\nPresent value of the stated target\nKES 926,387\nRequired end-of-period sinking-fund contribution\nKES 9,905\nChoose the relationship that fits the decision.\nRelationship\tResult\tPractical use\nFuture value of a lump sum\tKES 215,892\tWhat an amount already invested could become.\nFuture value, ordinary annuity\tKES 1,801,243\tSavings paid at the end of each month, quarter or year.\nFuture value, annuity due\tKES 1,812,832\tContributions made at the beginning of each period, such as rent or a pre-funded savings instruction.\nPresent value, ordinary annuity\tKES 834,324\tToday’s value of a known stream paid at each period-end.\nPresent value, annuity due\tKES 839,692\tToday’s value when the first cash flow arrives immediately.\nRequired annuity-due sinking-fund contribution\tKES 9,842\tHow much to set aside at each period-start to meet the stated future goal.\nPerpetuity view\nLevel perpetuity value\nKES 1,500,000\nGrowing perpetuity value\nKES 1,500,000\n\nThe level value assumes the stated annual cash flow continues indefinitely without growth. Perpetuity outputs are useful for understanding long-lived income streams and terminal-value logic, but they are especially sensitive to the discount-rate and growth assumptions.\n\nFollow the calculation.\nFormulae used\n𝑖\n=\n(\n1\n+\n𝑟\n)\n1\n/\n𝑚\n−\n1\n,\n𝑛\n=\n𝑚\n×\n𝑡\n𝐹\n𝑉\nordinary\n=\n𝑃\n𝑀\n𝑇\n×\n(\n1\n+\n𝑖\n)\n𝑛\n−\n1\n𝑖\n,\n𝐹\n𝑉\ndue\n=\n𝐹\n𝑉\nordinary\n(\n1\n+\n𝑖\n)\n𝑃\n𝑉\nordinary\n=\n𝑃\n𝑀\n𝑇\n×\n1\n−\n(\n1\n+\n𝑖\n)\n−\n𝑛\n𝑖\n,\n𝑃\n𝑉\ndue\n=\n𝑃\n𝑉\nordinary\n(\n1\n+\n𝑖\n)\n𝑃\n𝑀\n𝑇\nsinking\n=\n𝐺\n−\n𝑃\n𝑉\n(\n1\n+\n𝑖\n)\n𝑛\n(\n1\n+\n𝑖\n)\n𝑛\n−\n1\n𝑖\n,\n𝑃\n𝑉\nperpetuity\n=\n𝐶\n1\n𝑟\n−\n𝑔\n\nWhen the periodic rate is zero, the annuity factors become the number of payment periods. The calculator handles that case directly rather than dividing by zero.\n\nChange the rate, not the story.\n\nOnly the effective annual return changes in these three scenarios. Regular contribution, target, inflation and time stay the same.\n\nEffective annual return\tFuture value, ordinary contributions\tIn today’s purchasing power\n6.00%\tKES 1,803,819\tKES 1,107,389\n8.00%\tKES 2,017,135\tKES 1,238,346\n10.00%\tKES 2,258,013\tKES 1,386,224\nInspect each year\nUse a schedule when the obligation is a loan.\n\nThe mortgage planner models a repayment schedule, interest split, final balance, and the effect of an extra monthly payment. Use the companion workbooks for variable rates, irregular cash flows, tax, and full scenario analysis.\n\nOpen the loan repayment planner →",
  "alerts": [],
  "base": "Evidence/Web"
}
DEMONSTRATION SCOPE
Compare a lump sum and scheduled contributions under a constant annual return. Inspect beginning versus end-of-period payment timing.
Return sequences, withdrawals and stochastic pension paths require the workbook.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Answer: Contribution and withdrawal timing connect investments to the household. Sequence tests, accessible reserves and scheduled reviews help keep the portfolio useful when life changes.
Viewer task: Add near-term spending, reserve sequencing and withdrawal review dates to the portfolio policy.
Return to each opening research question and identify what remains conditional or unknown.
ARTICLE SECTION: # Part 09: Long-Term Maintenance, Withdrawals and Review
US Markets and Portfolio Construction, unified nine-part series. Research edition: 15 September 2026.
A market portfolio has to work in a household as well as on an allocation chart. This final part joins investment implementation to contribution patterns, reserves, withdrawals, taxes and review rules.
The earlier parts establish market language, wrapper economics, cross-border ownership, portfolio architecture, core overlap, thematic satellites, options mechanics and rebalancing governance. This final chapter connects that analysis to the household cash flows that make a policy workable: regular contributions, lump sums, liquidity reserves, withdrawals, taxes, behavioural discipline and periodic review.
ARTICLE SECTION: Common implementation failures
Three failures are common. First, an allocation is treated as a one-time purchase rather than a policy that must be reassessed when time horizon, cash needs or capacity for loss changes. Second, an investor applies the rebalancing rule only after losses but hesitates to trim a strong satellite. Third, the investor abandons the policy during a sharp decline. Each failure turns a written allocation into a discretionary response at the point when discipline matters most.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USMPC-09: Long-Term Maintenance, Withdrawals and Review
ARTICLE: https://sokointel.com/read/usmpc-09/
RESEARCH SNAPSHOT: 10 September 2026
SOURCE MATERIAL
[1] Vanguard, "Cost Averaging: Invest Now or Temporarily Hold Your Cash?" [Online]. Available: https://corporate.vanguard.com/content/dam/corp/research/pdf/cost_averaging_invest_now_or_temporarily_hold_your_cash.pdf. Accessed: Sep. 11, 2026.
[2] Vanguard, "Rational Rebalancing: An Analytical Approach to Multiasset Portfolio Rebalancing Strategies." [Online]. Available: https://www.vanguardsouthamerica.com/content/dam/intl/americas/documents/latam/en/2022/10/mx-sa-2558523-rational-rebalancing-an-analytical-approach.pdf. Accessed: Sep. 11, 2026.
[3] Vanguard, "The Rebalancing Edge: Optimizing Target-Date Fund Rebalancing Through Threshold-Based Strategies." [Online]. Available: https://corporate.vanguard.com/content/dam/corp/research/pdf/the_rebalancing_edge_optimizing_target_date_fund_rebalancing_through_threshold_based_strategies.pdf. Accessed: Sep. 11, 2026.
[4] Author's calculation; methodology and full derivation in Appendix 5.
[5] W. P. Bengen, “Determining Withdrawal Rates Using Historical Data,” Journal of Financial Planning, Oct. 1994. [Online]. Available: https://www.financialplanningassociation.org/learning/publications/journal/OCT94-determining-withdrawal-rates-using-historical-data. [Accessed: Sep. 15, 2026].
[6] A. C. Arnott, C. Benz and J. Kephart, The State of Retirement Income: 2025. Morningstar, 2025. [Online]. Available: https://www.morningstar.com/content/cs-assets/v3/assets/blt9415ea4cc4157833/bltb73b87c5d0c70ead/692f43f57737a31596684522/working_file_11.19_FINAL_REVISE.pdf. [Accessed: Sep. 15, 2026].
Companion appendix: Appendix 5: Sequencing, Rebalancing, and the Full Case-Study Workbook Mapping.
All linked source URLs:
Vanguard, "Cost Averaging: Invest Now or Temporarily Hold Your Cash?" [Online]. Available:: https://corporate.vanguard.com/content/dam/corp/research/pdf/cost_averaging_invest_now_or_temporarily_hold_your_cash.pdf
Vanguard, "Rational Rebalancing: An Analytical Approach to Multiasset Portfolio Rebalancing Strategies." [Online]. Available:: https://www.vanguardsouthamerica.com/content/dam/intl/americas/documents/latam/en/2022/10/mx-sa-2558523-rational-rebalancing-an-analytical-approach.pdf
Vanguard, "The Rebalancing Edge: Optimizing Target-Date Fund Rebalancing Through Threshold-Based Strategies." [Online]. Available:: https://corporate.vanguard.com/content/dam/corp/research/pdf/the_rebalancing_edge_optimizing_target_date_fund_rebalancing_through_threshold_based_strategies.pdf
W. P. Bengen, “Determining Withdrawal Rates Using Historical Data,” Journal of Financial Planning, Oct. 1994. [Online]. Available:: https://www.financialplanningassociation.org/learning/publications/journal/OCT94-determining-withdrawal-rates-using-historical-data
A. C. Arnott, C. Benz and J. Kephart, The State of Retirement Income: 2025. Morningstar, 2025. [Online]. Available:: https://www.morningstar.com/content/cs-assets/v3/assets/blt9415ea4cc4157833/bltb73b87c5d0c70ead/692f43f57737a31596684522/working_file_11.19_FINAL_REVISE.pdf
Additional content sources:
[]
Workbook provenance:
C:\Users\Nevo\Downloads\financial material\US Markets and Portfolio Construction\US_Markets_Portfolio_Construction_Final_Workbook.xlsx
'P09 Sequence Risk'!A7:E18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9/" TargetMode="External"/><Relationship Id="rId2" Type="http://schemas.openxmlformats.org/officeDocument/2006/relationships/hyperlink" Target="https://corporate.vanguard.com/content/dam/corp/research/pdf/cost_averaging_invest_now_or_temporarily_hold_your_cash.pdf" TargetMode="External"/><Relationship Id="rId3" Type="http://schemas.openxmlformats.org/officeDocument/2006/relationships/hyperlink" Target="https://www.vanguardsouthamerica.com/content/dam/intl/americas/documents/latam/en/2022/10/mx-sa-2558523-rational-rebalancing-an-analytical-approach.pdf" TargetMode="External"/><Relationship Id="rId4" Type="http://schemas.openxmlformats.org/officeDocument/2006/relationships/hyperlink" Target="https://corporate.vanguard.com/content/dam/corp/research/pdf/the_rebalancing_edge_optimizing_target_date_fund_rebalancing_through_threshold_based_strategies.pdf" TargetMode="External"/><Relationship Id="rId5" Type="http://schemas.openxmlformats.org/officeDocument/2006/relationships/hyperlink" Target="https://www.financialplanningassociation.org/learning/publications/journal/OCT94-determining-withdrawal-rates-using-historical-data"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Long-Term Maintenance, Withdrawals and Review</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USMPC-09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Withdrawal — cash removed at the stated date; USD</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Sequence risk — effect of return order with investor cash flows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Real wealth — nominal wealth adjusted for inflation</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Reserve — accessible money for near-term spending</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Funding has its own timing decision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Lump-sum investment and staged contributions expose cash at different dates.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the total amount and comparison horizon consistent.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useful choice depends on cash needs, risk capacity and implementation.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Withdrawals make return order matter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same set of annual returns can produce different ending balances.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Early losses plus withdrawals leave fewer assets to recover.</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Test reserves, flexible spending and rebalancing together.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Maintenance is a household process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Revisit income, contributions, beneficiaries and near-term spending.</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documented policy changes from reactions to recent performance.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Preserve a review calendar and a decision record.</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Withdrawals change the sequence outcome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Closing balance = opening balance × (1 + return) − withdrawal</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USD 1m with bad years first ends at USD 666,446; the reordered path ends at USD 895,643.</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source uses the same returns with USD 45,000 withdrawn annually at year end.</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P09 Sequence Risk: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9-01-p1.png">    </p:cNvPr>
          <p:cNvPicPr>
            <a:picLocks noChangeAspect="1"/>
          </p:cNvPicPr>
          <p:nvPr/>
        </p:nvPicPr>
        <p:blipFill>
          <a:blip r:embed="rId1"/>
          <a:stretch>
            <a:fillRect/>
          </a:stretch>
        </p:blipFill>
        <p:spPr>
          <a:xfrm>
            <a:off x="612648" y="2167173"/>
            <a:ext cx="10972800" cy="305400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P09 Sequence Risk!A7:E18</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Return order matters after spending begins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Bad years first: ending wealth USD 666,446.24.</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Same returns reordered; bad years last: USD 895,643.36.</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 difference is USD 229,197.12 under the source withdrawal schedule, despite the same set of returns.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lab-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a lump sum and scheduled contributions under a constant annual return. Inspect beginning versus end-of-period payment timing.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Return sequences, withdrawals and stochastic pension paths require the workbook.</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/lab/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Contribution and withdrawal timing connect investments to the household. Sequence tests, accessible reserves and scheduled reviews help keep the portfolio useful when life changes.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Add near-term spending, reserve sequencing and withdrawal review dates to the portfolio policy.</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USMPC-09</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sokointel.com/read/usmpc-09/</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Vanguard, "Cost Averaging: Invest Now or Temporarily Hold Your Cash?" [Online]. Available: • 2026</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Vanguard, "Rational Rebalancing: An Analytical Approach to Multiasset Portfolio Rebalancing Strategies." [Online]. Available: • 2022</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Vanguard, "The Rebalancing Edge: Optimizing Target-Date Fund Rebalancing Through Threshold-Based Strategies." [Online]. Avail • 2026</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W. P. Bengen, “Determining Withdrawal Rates Using Historical Data,” Journal of Financial Planning, Oct. 1994. [Online]. Avail • 1994</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Maintenance, Withdrawals and Review</dc:title>
  <dc:subject>Long-Term Maintenance, Withdrawals and Review</dc:subject>
  <dc:creator>Sokointel</dc:creator>
  <cp:lastModifiedBy>Sokointel</cp:lastModifiedBy>
  <cp:revision>1</cp:revision>
  <dcterms:created xsi:type="dcterms:W3CDTF">2026-09-25T13:49:40Z</dcterms:created>
  <dcterms:modified xsi:type="dcterms:W3CDTF">2026-09-25T13:49:40Z</dcterms:modified>
</cp:coreProperties>
</file>