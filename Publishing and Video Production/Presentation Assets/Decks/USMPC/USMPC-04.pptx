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USMPC-04: Portfolio Architecture Before Fund Selection
ARTICLE: https://sokointel.com/read/usmpc-04/
RESEARCH SNAPSHOT: 10 September 2026
OPENING NARRATION
An educational US-market portfolio, funded and maintained through an explicit policy rather than a prediction of the next winning fund.
Dated source record • fictional calculations are labelled as illustrations
Introduce the decision before defining the technical terms.
ARTICLE SECTION: # Part 04: Portfolio Architecture Before Fund Selection
US Markets and Portfolio Construction, unified nine-part series. Research edition: 15 September 2026.
Before comparing funds, define the job the portfolio must do. This chapter develops strategic core, core-plus, core-satellite, factor tilt, barbell, tactical and high-conviction variants as distinct governance choices. The directional nested-ring visual represents a hierarchy of decision rights, not a recommended allocation.
!Directional rings representing a portfolio core, bounded extensions, deliberate tilts and small satellites.
| Visual layer, centre outward | Portfolio role | Governance question |
| --- | --- | --- |
| Core | Broad, low-cost market exposure | What long-horizon exposure is indispensable? |
| Core-plus | A bounded change within the core | Why is this still part of the foundation? |
| Deliberate tilt | A stated preference with a measurable size | What evidence would reverse the preference? |
| Factor tilt | Exposure to a documented return characteristic | Which factor, implementation and tracking error are accepted? |
| Satellite | A small, separately accountable conviction | What loss and concentration budget applies? |
ARTICLE SECTION: Series scope
Part 1 established a practical distinction between a broad core and a deliberate tilt. The next question is more structural: if core-satellite and core-plus are only two ways to organize a portfolio, what other architectures exist, and when do they make sense?
Asset classes use investment vocabulary in different ways. Terms such as core, core-plus, value-add and opportunistic are widely used in private real estate and infrastructure to describe increasing levels of leverage, operating intensity and business-plan risk. In a liquid ETF portfolio, however, the more useful architecture labels are things such as strategic allocation, core-satellite, factor tilt, barbell, concentrated/high-conviction, risk parity, portable alpha and tactical allocation. Reusing a real-estate risk ladder as if it were a universal equity taxonomy can create false precision.
The objective is to identify the economic logic behind each architecture, show the mathematics that makes the differences visible, and build rules for deciding whether a new sleeve genuinely changes the portfolio.
This is educational analysis. Illustrative weights and expected returns are model assumptions, not forecasts or recommendations.
!A map of portfolio architectures, showing the relationship among strategic core, extensions, tilts and satellites.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USMPC-04: Portfolio Architecture Before Fund Selection
ARTICLE: https://sokointel.com/read/usmpc-04/
RESEARCH SNAPSHOT: 10 September 2026
Read the questions naturally and define terms in context.
w — portfolio capital weight; decimal
σ — annualised standard deviation; decimal
ρ — correlation between the two return series
Variance — squared standard deviation
Loss budget — acceptable portfolio impact of the stress
Research question mapping: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USMPC-04: Portfolio Architecture Before Fund Selection
ARTICLE: https://sokointel.com/read/usmpc-04/
RESEARCH SNAPSHOT: 10 September 2026
Explain the mechanism with the cited article section, then relate it to the opening decision.
Narration: explain each step and its consequence for the opening decision.
ARTICLE SECTION: 3. Core-satellite
Core-satellite keeps most capital in a low-cost market portfolio and allocates a smaller amount to higher-conviction sleeves. The attraction is governance. The investor can isolate experimentation, sector tilts or active management without allowing those decisions to dominate the entire portfolio.
Suppose the policy is 75% strategic core and 25% satellites. If the core has expected return \(\mu_c\), satellite return \(\mu_s\), and the sleeves have weights \(w_c\) and \(w_s\), then expected portfolio return is:
\[
E[R_p]=w_c\mu_c+w_s\mu_s.
\]
But risk is not a weighted average of volatilities. For two sleeves:
\[
\sigma_p^2=w_c^2\sigma_c^2+w_s^2\sigma_s^2+2w_cw_s\sigma_c\sigma_s\rho_{cs}.
\]
That covariance term explains why a technology satellite can raise portfolio risk more than its 10% weight suggests when the core is already technology-heavy.
The illustrative policies can use a U.S. core using SPYM and QQQM, plus satellites such as semiconductor ETFs and an options wheel. That can be coherent if the jobs are explicit. SPYM is broad beta; QQQM is a growth tilt; a semiconductor ETF is a narrower sector tilt; the wheel is a payoff-management strategy. The architecture fails if every satellite is justified by the same thesis, “technology will outperform,” because apparent sleeve diversification masks a single underlying bet.
ARTICLE SECTION: A.5 Satellite loss budget
\[
w_{satellite,max}=\frac{L_{portfolio,max}}{|L_{satellite,stress}|}.
\]
This converts a tolerated portfolio loss into a maximum satellite weight under a specified stress scenario.
# Appendix B: Architecture review worksheet
For each sleeve, document: purpose; benchmark; target weight; minimum and maximum weight; expected holding period; source of expected return; principal risk; correlation thesis; liquidity requirement; fee; turnover; tax considerations; rebalancing trigger; thesis-break condition; and whether the sleeve is strategic, tactical, diversifying, return-seeking or payoff-modifying. A sleeve with no distinct answer should be challenged as redundant.
# Appendix C: Workbook implementation
The companion workbook implements a four-sleeve covariance model, component risk calculations, target-versus-current allocation, relative drift bands and deterministic scenario testing. Expected-return, volatility and correlation entries are deliberately editable assumptions. They are not presented as historical estimates. This keeps the model useful even when market conditions change and prevents dated assumptions from masquerading as permanent facts.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USMPC-04: Portfolio Architecture Before Fund Selection
ARTICLE: https://sokointel.com/read/usmpc-04/
RESEARCH SNAPSHOT: 10 September 2026
Explain the mechanism with the cited article section, then relate it to the opening decision.
Narration: explain each step and its consequence for the opening decision.
ARTICLE SECTION: A bond sleeve changes portfolio behaviour
A bond allocation is not merely a lower-return version of equities. It introduces contractual cash flows, interest-rate sensitivity, credit risk and, in many portfolio designs, a source of liquidity for known spending. A broad aggregate-bond ETF such as AGG or BND can be an implementation vehicle for that role, but duration, credit quality and the investor's withdrawal horizon still determine whether the sleeve is suitable [13], [14].
| Portfolio role | What the bond sleeve is intended to do | Main risk to monitor |
| --- | --- | --- |
| Liquidity reserve | Fund spending due in the next few years | Credit quality, duration and forced-sale risk |
| Diversifier | Reduce dependence on correlated equity outcomes | Correlation can rise in stressed markets |
| Income sleeve | Provide contractual interest payments | Yield changes and reinvestment risk |
| Rebalancing source | Supply capital after an equity decline | A bond fund can also decline when yields rise |
In a two-sleeve illustration, a 70% equity allocation with 16% volatility and a 30% bond allocation with 6% volatility has a portfolio volatility of about 11.52% when their correlation is 0.10. The result comes from covariance, not from averaging the two volatilities. Appendix 2 shows the calculation and the sensitivity to the correlation assumption.
ARTICLE SECTION: A.1 Portfolio expected return
\[
E[R_p]=\sum_{i=1}^{N}w_iE[R_i].
\]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USMPC-04: Portfolio Architecture Before Fund Selection
ARTICLE: https://sokointel.com/read/usmpc-04/
RESEARCH SNAPSHOT: 10 September 2026
Explain the mechanism with the cited article section, then relate it to the opening decision.
Narration: explain each step and its consequence for the opening decision.
ARTICLE SECTION: 14. Architecture should constrain behavior
A good portfolio architecture is partly a behavioral technology. During a rally, it limits how much a successful satellite can grow before rebalancing. During a crash, it prevents a defensive reserve from being reclassified impulsively as “dry powder for one more speculative bet.” During a period of underperformance, it requires the investor to compare outcomes with a pre-defined thesis instead of with the best-performing asset on social media.
That is why written rules matter. Investor.gov and FINRA both emphasize the relationship among goals, risk, asset allocation and diversification [8], [9]. A portfolio policy can be concise: target weights, allowable ranges, eligible instruments, review dates, maximum position size, liquidity floor and conditions for changing the strategic allocation.
ARTICLE SECTION: A.5 Satellite loss budget
\[
w_{satellite,max}=\frac{L_{portfolio,max}}{|L_{satellite,stress}|}.
\]
This converts a tolerated portfolio loss into a maximum satellite weight under a specified stress scenario.
# Appendix B: Architecture review worksheet
For each sleeve, document: purpose; benchmark; target weight; minimum and maximum weight; expected holding period; source of expected return; principal risk; correlation thesis; liquidity requirement; fee; turnover; tax considerations; rebalancing trigger; thesis-break condition; and whether the sleeve is strategic, tactical, diversifying, return-seeking or payoff-modifying. A sleeve with no distinct answer should be challenged as redundant.
# Appendix C: Workbook implementation
The companion workbook implements a four-sleeve covariance model, component risk calculations, target-versus-current allocation, relative drift bands and deterministic scenario testing. Expected-return, volatility and correlation entries are deliberately editable assumptions. They are not presented as historical estimates. This keeps the model useful even when market conditions change and prevents dated assumptions from masquerading as permanent facts.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USMPC-04: Portfolio Architecture Before Fund Selection
ARTICLE: https://sokointel.com/read/usmpc-04/
RESEARCH SNAPSHOT: 10 September 2026
Article worked example and saved workbook evidence; preserve their separate assumptions.
Equation: σₚ² = w₁²σ₁² + w₂²σ₂² + 2w₁w₂σ₁σ₂ρ
Substitution: 70% equity / 30% bonds; 16% / 6% volatility; correlation 0.10 → portfolio σ 11.52%.
Interpretation: The naive linear average is 13.00%; covariance explains the difference.
ARTICLE SECTION: 7. Risk parity
Risk parity shifts the design target from equal capital allocation to more balanced risk contribution. Edward Qian’s early formulation describes risk-parity portfolios as allocating market risk across asset classes rather than allowing the highest-volatility asset to dominate [5].
For portfolio covariance matrix \(\Sigma\) and weight vector \(w\), portfolio volatility is:
\[
\sigma_p=\sqrt{w'\Sigma w}.
\]
The marginal contribution to risk of asset \(i\) is:
\[
MCR_i=\frac{(\Sigma w)_i}{\sigma_p},
\]
and total risk contribution is:
\[
RC_i=w_iMCR_i.
\]
A risk-parity target attempts to make the \(RC_i\) values similar, subject to constraints. This often produces larger capital weights in lower-volatility assets and smaller weights in high-volatility equities. Some institutional implementations then use leverage to raise total portfolio risk, which introduces financing and deleveraging risks that may be inappropriate for many individuals.
The idea that transfers well to a personal portfolio is not necessarily leverage; it is the risk-contribution diagnostic. The workbook in this series calculates marginal and component risk using editable volatility and correlation assumptions so an investor can see whether a 10% satellite is quietly contributing 25% of modeled risk.
ARTICLE SECTION: A.4 Component contribution to risk
\[
RC_i=w_iMCR_i.
\]
The sum of component risk contributions equals portfolio volatility under this decomposition.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USMPC-04: Portfolio Architecture Before Fund Selection
ARTICLE: https://sokointel.com/read/usmpc-04/
RESEARCH SNAPSHOT: 10 September 2026
ACTUAL WORKBOOK CAPTURE
Workbook: C:\Users\Nevo\Downloads\financial material\US Markets and Portfolio Construction\US_Markets_Portfolio_Construction_Final_Workbook.xlsx
Sheet/range: 'P04 Diversification'!A3:B12
SHA-256: 5a040bdadf9c5682f5370a882c44aec18bb6359ea96bcd8121b634d35620ab38
Capture method: Microsoft Excel read-only PDF range export. Print headings retained. Source not saved.
Asset: Evidence/Workbooks/USMPC-04-01-p1.png
SCREEN RECORDING WALKTHROUGH
Read the row and column headings. Identify inputs, follow the dependent row and explain the units. Do not alter the source workbook while recording; use a copy for a new scenario.
Extracted evidence text:
3
4
5
6
7
8
9
10
11
12
A B
Equity weight (w1) 70.0%
Bond weight (w2, = 1-w1) 30.0%
Equity volatility (sigma1) 16.0%
Bond volatility (sigma2) 6.0%
Correlation (rho) 10.0%
Portfolio variance 0.01327
Portfolio standard deviation 11.52%
Naive linear-weighted SD 13.00%
Diversification benefit 1.48%
Relevant article context:
ARTICLE SECTION: 3. Core-satellite
Core-satellite keeps most capital in a low-cost market portfolio and allocates a smaller amount to higher-conviction sleeves. The attraction is governance. The investor can isolate experimentation, sector tilts or active management without allowing those decisions to dominate the entire portfolio.
Suppose the policy is 75% strategic core and 25% satellites. If the core has expected return \(\mu_c\), satellite return \(\mu_s\), and the sleeves have weights \(w_c\) and \(w_s\), then expected portfolio return is:
\[
E[R_p]=w_c\mu_c+w_s\mu_s.
\]
But risk is not a weighted average of volatilities. For two sleeves:
\[
\sigma_p^2=w_c^2\sigma_c^2+w_s^2\sigma_s^2+2w_cw_s\sigma_c\sigma_s\rho_{cs}.
\]
That covariance term explains why a technology satellite can raise portfolio risk more than its 10% weight suggests when the core is already technology-heavy.
The illustrative policies can use a U.S. core using SPYM and QQQM, plus satellites such as semiconductor ETFs and an options wheel. That can be coherent if the jobs are explicit. SPYM is broad beta; QQQM is a growth tilt; a semiconductor ETF is a narrower sector tilt; the wheel is a payoff-management strategy. The architecture fails if every satellite is justified by the same thesis, “technology will outperform,” because apparent sleeve diversification masks a single underlying bet.
ARTICLE SECTION: 5. Factor-tilted core
A factor architecture keeps a diversified base but systematically overweights characteristics such as value, size, profitability/quality or momentum. Fama and French’s 1993 paper documented common risk factors in stock and bond returns and helped establish the empirical foundation for systematic factor analysis [4]. Factor investing does not require predicting individual companies; it changes exposure rules at the portfolio level.
For a factor-tilted core, a simplified return model is:
\[
R_p=\alpha+\beta_M R_M+\beta_V R_V+\beta_S R_S+\epsilon,
\]
where \(R_M\) is the market factor and the additional terms represent chosen factor exposures. The central governance question becomes: which factor is being paid for, and how long can the portfolio tolerate underperformance?
Factor tilts are not free diversification. They can lag broad benchmarks for years. If an investor abandons the tilt after a long drought, the architecture can produce the worst of both worlds: active risk on the way down and benchmark chasing on the way back up.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USMPC-04: Portfolio Architecture Before Fund Selection
ARTICLE: https://sokointel.com/read/usmpc-04/
RESEARCH SNAPSHOT: 10 September 2026
Teaching sensitivity; hold other assumptions fixed unless a multi-input case is explicitly named.
Base: Teaching sleeve weight 10%; assumed loss 50%.
Changed: Raise the sleeve weight to 20% with the same 50% loss.
Consequence: Its portfolio loss contribution doubles from 5 to 10 percentage points, before other positions move.
ARTICLE SECTION: A.5 Satellite loss budget
\[
w_{satellite,max}=\frac{L_{portfolio,max}}{|L_{satellite,stress}|}.
\]
This converts a tolerated portfolio loss into a maximum satellite weight under a specified stress scenario.
# Appendix B: Architecture review worksheet
For each sleeve, document: purpose; benchmark; target weight; minimum and maximum weight; expected holding period; source of expected return; principal risk; correlation thesis; liquidity requirement; fee; turnover; tax considerations; rebalancing trigger; thesis-break condition; and whether the sleeve is strategic, tactical, diversifying, return-seeking or payoff-modifying. A sleeve with no distinct answer should be challenged as redundant.
# Appendix C: Workbook implementation
The companion workbook implements a four-sleeve covariance model, component risk calculations, target-versus-current allocation, relative drift bands and deterministic scenario testing. Expected-return, volatility and correlation entries are deliberately editable assumptions. They are not presented as historical estimates. This keeps the model useful even when market conditions change and prevents dated assumptions from masquerading as permanent facts.
ARTICLE SECTION: Calculation table 1: concentration loss mapping
| Position weight | Position drawdown | Portfolio impact before correlations |
|---:|---:|---:|
| 5% | -50% | -2.5% |
| 10% | -50% | -5.0% |
| 20% | -50% | -10.0% |
| 30% | -50% | -15.0% |
The table makes the risk budget visible. A “high-conviction 20% position” is also a willingness to accept a 10% portfolio loss if that holding halves, before considering knock-on correlation effects.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USMPC-04: Portfolio Architecture Before Fund Selection
ARTICLE: https://sokointel.com/read/usmpc-04/
RESEARCH SNAPSHOT: 10 September 2026
REAL WEB CAPTURE
{
  "slug": "dca-portfolio",
  "url": "https://sokointel.com/calculators/dca-portfolio/",
  "captured_at": "2026-09-25T05:01:21.691Z",
  "inputs": [
    {
      "name": "total_cash",
      "value": "100000"
    },
    {
      "name": "deployment_months",
      "value": "6"
    },
    {
      "name": "percentage_commission",
      "value": "2.1"
    },
    {
      "name": "fixed_order_fee",
      "value": "0"
    },
    {
      "name": "minimum_order_fee",
      "value": "0"
    },
    {
      "name": "cash_reserve",
      "value": "0"
    },
    {
      "name": "default_withholding_tax",
      "value": "5"
    },
    {
      "name": "purchase_mode",
      "value": "monthly"
    },
    {
      "name": "holding_label_0",
      "value": "SCOM"
    },
    {
      "name": "holding_share_price_0",
      "value": "36.45"
    },
    {
      "name": "holding_target_weight_0",
      "value": "55"
    },
    {
      "name": "holding_dividend_per_share_0",
      "value": "2"
    },
    {
      "name": "holding_withholding_tax_0",
      "value": ""
    },
    {
      "name": "holding_sector_0",
      "value": ""
    },
    {
      "name": "holding_label_1",
      "value": "EQTY"
    },
    {
      "name": "holding_share_price_1",
      "value": "101.75"
    },
    {
      "name": "holding_target_weight_1",
      "value": "35"
    },
    {
      "name": "holding_dividend_per_share_1",
      "value": "5.75"
    },
    {
      "name": "holding_withholding_tax_1",
      "value": ""
    },
    {
      "name": "holding_sector_1",
      "value": ""
    },
    {
      "name": "holding_label_2",
      "value": "NSE"
    },
    {
      "name": "holding_share_price_2",
      "value": "27.65"
    },
    {
      "name": "holding_target_weight_2",
      "value": "10"
    },
    {
      "name": "holding_dividend_per_share_2",
      "value": "1"
    },
    {
      "name": "holding_withholding_tax_2",
      "value": ""
    },
    {
      "name": "holding_sector_2",
      "value": ""
    }
  ],
  "screenshots": [
    "dca-portfolio-inputs.png",
    "dca-portfolio-full.png",
    "dca-portfolio-results.png",
    "dca-portfolio-summary.png"
  ],
  "get_status": 200,
  "title": "DCA portfolio and dividend planner | Sokointel",
  "scenario": "Illustrative historical-price teaching scenario supplied in the project discussion; not current quotes.",
  "post_status": 200,
  "results_text": "6-MONTH MONTHLY PLAN\n\nBuying budget after reserve\nKES 100,000\nTotal deployed, including costs\nKES 99,867\nNet annual dividend estimate\nKES 4,978\nNet yield on original cash\n4.98%\nReview before ordering.\nSCOM: target weight is above 40%; review concentration risk.\nPortfolio allocation and income\nHolding\tTarget weight\tActual deployed weight\tShares\tSecurity value\tCosts\tGross dividend\tNet dividend\nSCOM\t55.00%\t55.04%\t1,477\tKES 53,836.65\tKES 1,130.57\tKES 2,954.00\tKES 2,806.30\nEQTY\t35.00%\t34.95%\t336\tKES 34,188.00\tKES 717.95\tKES 1,932.00\tKES 1,835.40\nNSE\t10.00%\t10.01%\t354\tKES 9,788.10\tKES 205.55\tKES 354.00\tKES 336.30\nCash and dividend reconciliation\nMeasure\tCalculated result\nTotal capital\tKES 100,000.00\nCash reserve retained\tKES 0.00\nSecurities purchased\tKES 97,812.75\nTransaction costs\tKES 2,054.07\nUncommitted cash after whole-share rounding\tKES 133.18\nGross annual dividend estimate\tKES 5,240.00\nDividend withholding estimate\tKES 262.00\nNet yield on deployed capital\t4.98%\nSee the monthly purchase schedule\nFollow the calculation\n𝐵\n=\n𝐶\n−\n𝑅\n,\n𝑇\n𝑖\n,\n𝑡\n=\n𝐵\n𝑚\n×\n𝑤\n𝑖\n×\n𝑡\n𝑁\n𝑖\n,\n𝑡\n=\n⌊\n𝐴\n𝑖\n,\n𝑡\n𝑃\n𝑖\n+\ncost per share\n𝑖\n,\n𝑡\n⌋\n,\n𝐷\n𝑖\n,\nnet\n=\n𝑆\n𝑖\n𝑑\n𝑖\n(\n1\n−\n𝜏\n𝑖\n)\nTake the research further.\n\nRead the full NSE dividend-growth case, then use its companion formula workbook for changing prices, dividend growth, reinvestment, rebalancing bands, dividend cuts, sector limits, and scenarios.\n\nRead the DCA research →",
  "alerts": [],
  "base": "Evidence/Web"
}
DEMONSTRATION SCOPE
Use target weights, reference prices and costs to form an affordable purchase plan. Follow the residual cash after integer-share rounding.
Stress losses, covariance and HHI belong in the workbook, not this purchase planner.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USMPC-04: Portfolio Architecture Before Fund Selection
ARTICLE: https://sokointel.com/read/usmpc-04/
RESEARCH SNAPSHOT: 10 September 2026
Answer: A portfolio architecture assigns jobs and limits to each sleeve. It becomes useful when risk budgets, funding and governance constrain later security choices.
Viewer task: Choose an architecture and write each sleeve’s purpose, target, loss budget and review authority.
Return to each opening research question and identify what remains conditional or unknown.
ARTICLE SECTION: Implementation note
Architecture should be reviewed whenever the investor’s objectives, liabilities, liquidity needs or time horizon change materially. A new ETF, factor or tactical idea should enter the portfolio only after its role, benchmark, risk budget, funding source and rebalancing rule are specified. This keeps product selection subordinate to portfolio design and prevents a watchlist from becoming an accidental strategy. The expected reason for holding it should also be documented.
# References
[1] H. Markowitz, “Portfolio selection,” The Journal of Finance, vol. 7, no. 1, pp. 77–91, Mar. 1952, doi: 10.1111/j.1540-6261.1952.tb01525.x.
[2] State Street Investment Management, “SPYM: State Street SPDR Portfolio S&amp;P 500 ETF,” 2026. [Online]. Available: https://www.ssga.com/us/en/intermediary/etfs/state-street-spdr-portfolio-sp-500-etf-spym. [Accessed: Sep. 11, 2026].
[3] S&amp;P Dow Jones Indices, “S&amp;P 500,” 2026. [Online]. Available: https://www.spglobal.com/spdji/en/indices/equity/sp-500/. [Accessed: Sep. 11, 2026].
[4] E. F. Fama and K. R. French, “Common risk factors in the returns on stocks and bonds,” Journal of Financial Economics, vol. 33, no. 1, pp. 3–56, Feb. 1993, doi: 10.1016/0304-405X(93)90023-5.
[5] E. Qian, “Risk parity portfolios: Efficient portfolios through true diversification,” PanAgora Asset Management, Sep. 2005. [Online]. Available: https://www.panagora.com/wp-content/uploads/2011/09/PanAgora-Risk-Parity-Portfolios-Efficient-Portfolios-Through-True-Diversification.pdf. [Accessed: Sep. 11, 2026].
[6] W. F. Sharpe, “The arithmetic of active management,” Financial Analysts Journal, vol. 47, no. 1, pp. 7–9, Jan.–Feb. 1991, doi: 10.2469/faj.v47.n1.7.
[7] F. Black and R. Litterman, “Global portfolio optimization,” Financial Analysts Journal, vol. 48, no. 5, pp. 28–43, Sep.–Oct. 1992, doi: 10.2469/faj.v48.n5.28.
[8] Financial Industry Regulatory Authority, “Asset Allocation and Diversification,” 2026. [Online]. Available: https://www.finra.org/investors/investing/investing-basics/asset-allocation-diversification. [Accessed: Sep. 11, 2026].
[9] U.S. Securities and Exchange Commission, “Tips for 2026 Investors,” Investor.gov, Mar. 31, 2026. [Online]. Available: https://www.investor.gov/introduction-investing/general-resources/news-alerts/alerts-bulletins/investor-bulletins/investorgov-tips-2026-investor-bulletin. [Accessed: Sep. 11, 2026].
[13] BlackRock, "iShares Core U.S. Aggregate Bond ETF (AGG)," 2026. [Online]. Available: https://www.blackrock.com/us/individual/products/239458/ishares-core-total-us-bond-market-etf. [Accessed: Sep. 15, 2026].
[14] Vanguard, "Vanguard Total Bond Market ETF (BND)," 2026. [Online]. Available: https://advisors.vanguard.com/investments/products/bnd/vanguard-total-bond-market-etf. [Accessed: Sep. 15, 2026].
ARTICLE SECTION: 1. Architecture is the layer above security selection
Portfolio construction has at least three levels:
1. Objective: What problem is the capital supposed to solve?
2. Architecture: How will risk and decision rights be divided across sleeves?
3. Implementation: Which securities, ETFs, funds or derivatives deliver those sleeves?
Investors often start at level three. They discover a fund, compare fees, and only later ask how it fits with everything else. A stronger process starts with architecture. Markowitz’s portfolio-selection framework formalized the idea that portfolio risk depends not only on each asset’s standalone risk, but on covariance among holdings [1]. That immediately implies that “more holdings” is not a complete design principle.
The architecture should answer questions such as: Which return sources are strategic and which are tactical? How much active risk is allowed? Which sleeve is permitted to deviate from the market? What happens after a 30% drawdown? How often is the policy reviewed? When can a satellite be removed?
Without those rules, a portfolio can drift from an intentional system into a collection of overlapping convictions.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USMPC-04: Portfolio Architecture Before Fund Selection
ARTICLE: https://sokointel.com/read/usmpc-04/
RESEARCH SNAPSHOT: 10 September 2026
SOURCE MATERIAL
All linked source URLs:
Additional content sources:
[]
Workbook provenance:
C:\Users\Nevo\Downloads\financial material\US Markets and Portfolio Construction\US_Markets_Portfolio_Construction_Final_Workbook.xlsx
'P04 Diversification'!A3:B12
5a040bdadf9c5682f5370a882c44aec18bb6359ea96bcd8121b634d35620ab38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usmpc-04/" TargetMode="External"/><Relationship Id="rId2" Type="http://schemas.openxmlformats.org/officeDocument/2006/relationships/hyperlink" Target="https://sokointel.com/read/usmpc-04/"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Portfolio Architecture Before Fund Selection</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An educational US-market portfolio, funded and maintained through an explicit policy rather than a prediction of the next winning fund.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USMPC-04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w — portfolio capital weight; decimal</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σ — annualised standard deviation; decimal</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ρ — correlation between the two return series</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Variance — squared standard deviation</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Loss budget — acceptable portfolio impact of the stress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Define jobs before tickers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strategic core carries the enduring policy exposure.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satellite takes a limited, explicit active risk.</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Every sleeve needs a target, loss budget and decision authority.</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Diversification depends on joint movement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Mixing equity and bonds changes both volatility and expected behaviour.</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Portfolio standard deviation is not a weighted average of individual volatilities.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Correlation assumptions need a stress test when regimes change.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Architecture should constrain behaviour</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Core-satellite, factor tilts and barbell designs make different commitments.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concentrated sleeve needs a credible maximum-loss budget.</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Choose a policy that the investor can fund, explain and maintain.</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Joint risk is not a weighted-average volatility</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σₚ² = w₁²σ₁² + w₂²σ₂² + 2w₁w₂σ₁σ₂ρ</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70% equity / 30% bonds; 16% / 6% volatility; correlation 0.10 → portfolio σ 11.52%.</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naive linear average is 13.00%; covariance explains the difference.</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P04 Diversification: follow the saved workbook</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USMPC-04-01-p1.png">    </p:cNvPr>
          <p:cNvPicPr>
            <a:picLocks noChangeAspect="1"/>
          </p:cNvPicPr>
          <p:nvPr/>
        </p:nvPicPr>
        <p:blipFill>
          <a:blip r:embed="rId1"/>
          <a:stretch>
            <a:fillRect/>
          </a:stretch>
        </p:blipFill>
        <p:spPr>
          <a:xfrm>
            <a:off x="3367044" y="1874520"/>
            <a:ext cx="5464009" cy="363931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P04 Diversification!A3:B12</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concentrated sleeve spends the loss budget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Teaching sleeve weight 10%; assumed loss 50%.</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Raise the sleeve weight to 20% with the same 50% loss.</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Its portfolio loss contribution doubles from 5 to 10 percentage points, before other positions move.</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dca-portfolio-summary.png">    </p:cNvPr>
          <p:cNvPicPr>
            <a:picLocks noChangeAspect="1"/>
          </p:cNvPicPr>
          <p:nvPr/>
        </p:nvPicPr>
        <p:blipFill>
          <a:blip r:embed="rId1"/>
          <a:stretch>
            <a:fillRect/>
          </a:stretch>
        </p:blipFill>
        <p:spPr>
          <a:xfrm>
            <a:off x="1204093" y="1810512"/>
            <a:ext cx="6159743"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Use target weights, reference prices and costs to form an affordable purchase plan. Follow the residual cash after integer-share rounding.</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Stress losses, covariance and HHI belong in the workbook, not this purchase planner.</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/calculators/dca-portfolio/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 portfolio architecture assigns jobs and limits to each sleeve. It becomes useful when risk budgets, funding and governance constrain later security choices.</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Choose an architecture and write each sleeve’s purpose, target, loss budget and review authority.</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sokointel.com/read/usmpc-04/</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Source article: Portfolio Architecture Before Fund Selection</a:t>
            </a:r>
            <a:endParaRPr lang="en-US" sz="1700" dirty="0"/>
          </a:p>
        </p:txBody>
      </p:sp>
      <p:sp>
        <p:nvSpPr>
          <p:cNvPr id="10" name="Text 8"/>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2. Companion workbook: US_Markets_Portfolio_Construction_Final_Workbook</a:t>
            </a:r>
            <a:endParaRPr lang="en-US" sz="1700" dirty="0"/>
          </a:p>
        </p:txBody>
      </p:sp>
      <p:sp>
        <p:nvSpPr>
          <p:cNvPr id="11" name="Text 9"/>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3. Exact source ranges: 'P04 Diversification'!A3:B12</a:t>
            </a:r>
            <a:endParaRPr lang="en-US" sz="1700" dirty="0"/>
          </a:p>
        </p:txBody>
      </p:sp>
      <p:sp>
        <p:nvSpPr>
          <p:cNvPr id="12" name="Text 10"/>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4. Source dates and assumptions: retain the period labels in the article and captured workbook; full provenance in notes.</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 Architecture Before Fund Selection</dc:title>
  <dc:subject>Portfolio Architecture Before Fund Selection</dc:subject>
  <dc:creator>Sokointel</dc:creator>
  <cp:lastModifiedBy>Sokointel</cp:lastModifiedBy>
  <cp:revision>1</cp:revision>
  <dcterms:created xsi:type="dcterms:W3CDTF">2026-09-25T13:59:18Z</dcterms:created>
  <dcterms:modified xsi:type="dcterms:W3CDTF">2026-09-25T13:59:18Z</dcterms:modified>
</cp:coreProperties>
</file>