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OPENING NARRATION
A fictional family coordinating investments and family support across Nairobi, Manchester and Dublin.
Dated source record • fictional calculations are labelled as illustrations
Introduce the decision before defining the technical terms.
ARTICLE SECTION: Germany illustrates why Europe is not one tax regime
Germany provides a useful comparison because its investment-tax rules include the Vorabpauschale, an advance amount that can recognise investment income before sale. Section 18 uses a formula involving opening value, 70% of an official base rate, actual performance, and distributions, with additional provisions such as acquisition-year adjustments [12]. The official base rate for the 2026 calculation is 3.20%, and the resulting 2026 advance amount is treated as received on 4 January 2027 [13]. For a simplified full-year holding worth €10,000 at the start and €11,000 at the end, with no distributions, the candidate amount is €224. This is deemed investment income, not a €224 tax bill. Exemptions, allowances, and the applicable tax treatment remain further steps. The example demonstrates why accumulation cannot be described as universal personal-tax deferral, even within countries that all permit investors to hold UCITS funds.
ARTICLE SECTION: Worked calculation 5 — Germany's 2026 advance-income example
&gt; Assumptions: held throughout 2026; opening €10,000; closing €11,000;  
&gt; zero distributions; no acquisition-year proration.  
&gt;  
&gt; Candidate base income = opening value × 70% × official base rate  
&gt; = €10,000 × 0.70 × 0.032 = €224  
&gt; Actual appreciation = €11,000 − €10,000 = €1,000  
&gt; Advance amount = max(0, min(€224, €1,000) − €0) = €224  
&gt;  
&gt; €224 is the advance-income amount before relevant partial exemptions,  
&gt; allowances and tax rates. Deemed receipt: January 4, 2027.  
The performance cap makes the German formula worth evaluating rather than merely copying. Under the same simplified assumptions, if closing value were only €10,100, the €100 appreciation would constrain the amount to €100. If closing value were €9,500 and there were no distributions, the simplified result would be zero. These scenarios change the input while holding the rest of the example constant, which is a useful way to understand a rule. They do not calculate every German investor's liability or reproduce all circumstances covered by the statute. They show why an advance-income mechanism is different from charging a fixed percentage of the account each year. For a Kenyan moving to Germany, the practical next step is to identify how the actual fund and account are classified, what the provider reports, and which records must be retained for the later disposal calculation.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Read the questions naturally and define terms in context.
ERI — excess reported income; income without necessarily receiving cash
Residence — jurisdiction-specific legal tests, followed by treaty analysis where relevant
Cost basis — allowable acquisition cost in reporting currency
Tax year — preserve the recognition date and currency
Research question mapping: IIDF-Q3,IIDF-Q5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Explain the mechanism with the cited article section, then relate it to the opening decision.
Narration: explain each step and its consequence for the opening decision.
ARTICLE SECTION: Worked calculation 1 — The three-year residence branch
&gt; Assumptions: no permanent home in Kenya; presence in all three years.  
&gt; Average annual days = (2024 days + 2025 days + 2026 days) ÷ 3  
&gt; = (130 + 120 + 120) ÷ 3  
&gt; = 370 ÷ 3 = 123.3333 days  
&gt; 123.3333 &gt; 122, so this domestic residence branch is satisfied.  
&gt; This is not a treaty residence determination.  
Residence then needs to be connected to the character and source of the income. KRA describes Kenya's system as source-based, while identifying exceptions that include foreign employment income of resident individuals and business carried on partly within and partly outside Kenya [2]. It follows that an overseas payment is not automatically outside Kenyan taxation. Equally, one should not assume that every genuinely foreign portfolio receipt is taxable merely because its owner is Kenyan. The correct analysis identifies what generated the amount, where the relevant activity or asset sits, and whether a deeming provision applies. For an ordinary overseas ETF holding, the file should distinguish distributions, realised disposal gains, returned capital, and interest on idle cash. The source notes' broad language about foreign investment income needs this more precise treatment. Account location and payment destination are insufficient substitutes for classifying the actual item under the applicable rules.
Remitting money is a separate event from earning it, even though the two sometimes happen close together. Imagine Brian transfers £5,000 from one account he owns to another. The transfer could contain previously taxed salary savings, a recent investment distribution, sale proceeds containing both original capital and a gain, or several of these components. The payment receipt alone cannot reveal the composition. A practical record therefore links the transferred amount to the transactions that produced it. This also helps avoid treating the entire proceeds of an investment sale as profit. If an asset purchased for £8,000 is sold for £10,000, the starting economic gain is £2,000 before relevant adjustments, rather than £10,000. Whether that gain is taxable, and in which country, requires the legal analysis. Sending the proceeds home does not supply the missing classification, nor does leaving them offshore settle it.
KRA's capital-gains guidance provides another reason to inspect the underlying connection rather than the label “foreign.” It covers Kenyan property and certain indirect interests, including specified foreign entities deriving value from Kenyan immovable property; its published rate for taxable net gains is 15% [3]. That does not justify applying 15% automatically to every sale of an overseas ETF. It does demonstrate that incorporation outside Kenya does not always remove a Kenyan tax connection. For this series, the responsible conclusion is bounded: an ordinary foreign portfolio investment needs a source and character assessment, while investments with Kenyan property or company exposure may raise additional provisions. A reader taking a material position can make professional review efficient by supplying the fund identifier, transaction history, residence facts, and the precise question. The objective is a documented answer about an identifiable asset, rather than a general reassurance about offshore money.
ARTICLE SECTION: Two countries can ask the residence question
Dual residence under domestic laws is possible, which is where a relevant treaty becomes especially useful. The UK–Kenya agreement provides a sequence for individuals involving permanent home, centre of vital interests, habitual abode, nationality, and ultimately agreement between the authorities [4]. Those concepts call for facts, particularly when a person keeps a family home in one country while working in another. A treaty analysis comes after examining the domestic rules; it is not replaced by selecting a single country inside an app. Nor does the existence of a treaty mean every income item receives the same relief. The relevant article, income category, and claim requirements still matter. For Brian, gathering evidence about his work and household arrangements is therefore part of financial planning. His circumstances can be intelligible and well documented even when the legal conclusion requires more than counting the stamps in his passport.
!Flowchart: residence analysis
Britain introduces a different calendar as well as a different set of tests. Its tax year runs from 6 April to 5 April, and the statutory residence framework includes automatic overseas tests, automatic UK tests, and sufficient ties [5]. Spending 183 days in the UK can establish residence, but spending fewer does not automatically establish nonresidence. For someone arriving from or returning to Kenya, this makes a single calendar-year travel summary inadequate. The same trip must be allocated to the correct tax period in each jurisdiction. Split-year treatment and temporary-nonresidence rules can also matter, so a planned disposal shortly before or after moving deserves review before the transaction. The practical response is to build a timeline around actual dates and proposed actions. Once the chronology is clear, an adviser can evaluate the rules much more effectively than when presented with the statement that someone “moved abroad last year.”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Explain the mechanism with the cited article section, then relate it to the opening decision.
Narration: explain each step and its consequence for the opening decision.
ARTICLE SECTION: Build records around events, not account balances
Foreign-tax relief is another area where a simple subtraction can mislead. Suppose a hypothetical dividend of 1,000 currency units suffers 150 units of foreign withholding and the residence-country tax on the same income is 250 units. If the applicable law grants a full credit for those 150 units against that liability, the additional tax is 100 and total tax is 250. If the available credit is limited, or the deduction occurs inside a fund rather than being tax attributable to the investor, that arithmetic may not apply. KRA's guidance distinguishes foreign-tax deductions from treaty credits under their respective provisions [2]. The illustration below therefore specifies an assumed credit entitlement instead of inventing one. It helps the investor ask the right question: whose tax was paid, on which income, under which provision, and what amount can actually be relieved in the return being prepared?
ARTICLE SECTION: Worked calculation 2 — Evaluate relief across the whole return
&gt; Net tax benefit = foreign tax otherwise payable and relieved  
&gt; − additional tax caused by allowances lost  
&gt; Illustrative benefit = £1,200 − £1,600 = −£400  
&gt;  
&gt; A negative result means £400 more total tax in this hypothetical comparison.  
&gt; The figures are assumed tax effects, not quoted tax rates or allowance amounts.  
Offshore reporting funds create another distinction between money received and income recognised. HMRC's HS265 guidance explains that investors can be taxed on reportable income exceeding the amount actually distributed, usually called excess reported income, or ERI [8]. An accumulating fund can therefore generate taxable income without paying cash to the investor. Reporting status must be checked for the relevant share class, and the timing of deemed receipt matters: ERI is generally treated as received six months after the reporting period ends. The significance for Brian is operational. His broker statement showing no dividend payment does not establish that there is no amount to report. He needs the fund's investor tax report and the relevant year-end unit holding, subject to applicable adjustments. This is a good example of a tax obligation that becomes manageable once the necessary document is identified and collected routinely.
Assume Brian owns 1,000 units at the relevant reporting-period end and the fund publishes ERI of £0.80 per unit. The illustrative amount is £800. If the units originally cost £10,000 and are later sold for £12,000, previously arising relevant ERI must be accounted for in determining the disposal gain so that the same income is not counted again [8]. Under the simplified assumptions below, the adjusted gain becomes £1,200. This calculation assumes an ordinary taxable reporting-fund holding, no applicable special relief, no equalisation complications, and no other cost adjustments. It illustrates two different records: income recognised during ownership and the basis used when calculating a later gain. Keeping both records is more important than whether the fund's interface uses a reassuring “Acc” label. The tax analysis follows the published information and relevant rules, while the cash balance remains only one part of the evidence.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Explain the mechanism with the cited article section, then relate it to the opening decision.
Narration: explain each step and its consequence for the opening decision.
ARTICLE SECTION: Review before the move becomes a transaction
A relocation review works best before money needs to move or assets need to be sold. The household can map the departure date, arrival date, expected work pattern, planned purchases and disposals, wrapper restrictions, and the next reporting events. That timeline allows alternatives to be compared while they are still available. Selling before departure may have one set of consequences; retaining the investment may have another; neither should be assumed preferable without examining the actual rules. The flowchart below keeps the review anchored to the event that changes the situation. It also includes a check after the move, because plans and facts can diverge. An intended short assignment can become a longer stay, or a family home can remain available unexpectedly. The investment file should reflect what happened, with the relevant institutions updated, rather than preserving the assumptions used when the move was first discussed.
!Flowchart: relocation review
The siblings now understand why copying one another's portfolio is easier than copying one another's tax outcome. Their investment decisions can remain straightforward, but each person needs a residence analysis, a record of relevant income events, and a way to fund obligations that may arise without distributions. The manual calculations have made those distinctions visible: days establish one residence branch, units create reportable income, an anniversary can trigger a deemed gain, and a statutory formula can recognise advance income. The remaining challenge is operational. How does income become investable cash, how does family support reach Kenya, and how can the household compare routes without confusing a low advertised fee with a low total cost? Part 3 follows that movement through bank accounts, IBKR, Wise, and Kenyan recipients, while keeping the investment plan and the family's immediate needs connected.
ARTICLE SECTION: Two countries can ask the residence question
Dual residence under domestic laws is possible, which is where a relevant treaty becomes especially useful. The UK–Kenya agreement provides a sequence for individuals involving permanent home, centre of vital interests, habitual abode, nationality, and ultimately agreement between the authorities [4]. Those concepts call for facts, particularly when a person keeps a family home in one country while working in another. A treaty analysis comes after examining the domestic rules; it is not replaced by selecting a single country inside an app. Nor does the existence of a treaty mean every income item receives the same relief. The relevant article, income category, and claim requirements still matter. For Brian, gathering evidence about his work and household arrangements is therefore part of financial planning. His circumstances can be intelligible and well documented even when the legal conclusion requires more than counting the stamps in his passport.
!Flowchart: residence analysis
Britain introduces a different calendar as well as a different set of tests. Its tax year runs from 6 April to 5 April, and the statutory residence framework includes automatic overseas tests, automatic UK tests, and sufficient ties [5]. Spending 183 days in the UK can establish residence, but spending fewer does not automatically establish nonresidence. For someone arriving from or returning to Kenya, this makes a single calendar-year travel summary inadequate. The same trip must be allocated to the correct tax period in each jurisdiction. Split-year treatment and temporary-nonresidence rules can also matter, so a planned disposal shortly before or after moving deserves review before the transaction. The practical response is to build a timeline around actual dates and proposed actions. Once the chronology is clear, an adviser can evaluate the rules much more effectively than when presented with the statement that someone “moved abroad last year.”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Article worked calculation 3, simplified UK reporting-fund example. No tax rate is assumed. Retain relevant adjustments and historical ERI records.
Equation: ERI = units × ERI per unit
Substitution: 1,000 × GBP 0.80 = GBP 800; later gain = 12,000 − 10,000 − 800 = GBP 1,200
Interpretation: The GBP 800 income and GBP 1,200 disposal gain may arise in different tax years.
ARTICLE SECTION: Worked calculation 3 — ERI and the later disposal gain
&gt; ERI = relevant period-end units × published ERI per unit  
&gt; = 1,000 × £0.80 = £800  
&gt;  
&gt; Simplified later gain = proceeds − original cost − relevant prior ERI  
&gt; = £12,000 − £10,000 − £800  
&gt; = £1,200  
&gt;  
&gt; The £800 income and £1,200 disposal gain can arise in different tax years.  
&gt; No tax rate is assumed; this calculates the amounts requiring classification.  
The family can turn this example into a small annual workflow. Save the fund's tax report, record the reporting period, reconcile the units held at its end, and preserve the calculation alongside the broker statement. On disposal, retrieve the accumulated history instead of beginning again with the original purchase confirmation. This workflow also highlights a product-selection cost that rarely appears in an expense ratio: the time required to obtain reliable tax information. A fund with clear, accessible reporting may be easier to hold than a superficially cheaper product whose relevant documents are difficult to locate. For Brian, a simple investment strategy includes the administration needed to keep it simple. He does not need to become a fund accountant, but he should be able to identify what information is missing and who is responsible for supplying it before the tax-return deadline approaches.
ARTICLE SECTION: Worked calculation 5 — Germany's 2026 advance-income example
&gt; Assumptions: held throughout 2026; opening €10,000; closing €11,000;  
&gt; zero distributions; no acquisition-year proration.  
&gt;  
&gt; Candidate base income = opening value × 70% × official base rate  
&gt; = €10,000 × 0.70 × 0.032 = €224  
&gt; Actual appreciation = €11,000 − €10,000 = €1,000  
&gt; Advance amount = max(0, min(€224, €1,000) − €0) = €224  
&gt;  
&gt; €224 is the advance-income amount before relevant partial exemptions,  
&gt; allowances and tax rates. Deemed receipt: January 4, 2027.  
The performance cap makes the German formula worth evaluating rather than merely copying. Under the same simplified assumptions, if closing value were only €10,100, the €100 appreciation would constrain the amount to €100. If closing value were €9,500 and there were no distributions, the simplified result would be zero. These scenarios change the input while holding the rest of the example constant, which is a useful way to understand a rule. They do not calculate every German investor's liability or reproduce all circumstances covered by the statute. They show why an advance-income mechanism is different from charging a fixed percentage of the account each year. For a Kenyan moving to Germany, the practical next step is to identify how the actual fund and account are classified, what the provider reports, and which records must be retained for the later disposal calculation.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ACTUAL WORKBOOK CAPTURE
Workbook: C:\Users\Nevo\Downloads\financial material\US Markets and Portfolio Construction\US_Markets_Portfolio_Construction_Final_Workbook.xlsx
Sheet/range: 'P03 Cross-Border Tax'!A3:E12
SHA-256: 5a040bdadf9c5682f5370a882c44aec18bb6359ea96bcd8121b634d35620ab38
Capture method: Microsoft Excel read-only PDF range export. Print headings retained. Source not saved.
Asset: Evidence/Workbooks/IIDF-02-01-p1.png
This capture is explicitly a cross-series teaching bridge. Its figures are not the article case.
SCREEN RECORDING WALKTHROUGH
Read the row and column headings. Identify inputs, follow the dependent row and explain the units. Do not alter the source workbook while recording; use a copy for a new scenario.
Extracted evidence text:
3
4
5
6
7
8
9
10
11
12
A B C D E
1. Dividend withholding
Position size ($) $10,000
Illustrative annual yield 1.3%
No-treaty statutory withholding rate 30.0%
Illustrative treaty withholding rate 15.0%
Gross annual 
dividend
Withholding 
rate Tax withheld Net received
No treaty $130.00 30.0% $39.00 $91.00
Illustrative treaty $130.00 15.0% $19.50 $110.50
Annual gap from lacking a treaty $19.50
Relevant article context:
ARTICLE SECTION: Worked calculation 2 — Evaluate relief across the whole return
&gt; Net tax benefit = foreign tax otherwise payable and relieved  
&gt; − additional tax caused by allowances lost  
&gt; Illustrative benefit = £1,200 − £1,600 = −£400  
&gt;  
&gt; A negative result means £400 more total tax in this hypothetical comparison.  
&gt; The figures are assumed tax effects, not quoted tax rates or allowance amounts.  
Offshore reporting funds create another distinction between money received and income recognised. HMRC's HS265 guidance explains that investors can be taxed on reportable income exceeding the amount actually distributed, usually called excess reported income, or ERI [8]. An accumulating fund can therefore generate taxable income without paying cash to the investor. Reporting status must be checked for the relevant share class, and the timing of deemed receipt matters: ERI is generally treated as received six months after the reporting period ends. The significance for Brian is operational. His broker statement showing no dividend payment does not establish that there is no amount to report. He needs the fund's investor tax report and the relevant year-end unit holding, subject to applicable adjustments. This is a good example of a tax obligation that becomes manageable once the necessary document is identified and collected routinely.
Assume Brian owns 1,000 units at the relevant reporting-period end and the fund publishes ERI of £0.80 per unit. The illustrative amount is £800. If the units originally cost £10,000 and are later sold for £12,000, previously arising relevant ERI must be accounted for in determining the disposal gain so that the same income is not counted again [8]. Under the simplified assumptions below, the adjusted gain becomes £1,200. This calculation assumes an ordinary taxable reporting-fund holding, no applicable special relief, no equalisation complications, and no other cost adjustments. It illustrates two different records: income recognised during ownership and the basis used when calculating a later gain. Keeping both records is more important than whether the fund's interface uses a reassuring “Acc” label. The tax analysis follows the published information and relevant rules, while the cash balance remains only one part of the evidence.
ARTICLE SECTION: Worked calculation 7 — A credit only where entitlement exists
&gt; Assumed residence-country tax on the same income = 250 units  
&gt; Assumed fully creditable foreign withholding = 150 units  
&gt; Additional residence-country tax = max(0, 250 − 150) = 100 units  
&gt; Total tax = 150 + 100 = 250 units  
&gt;  
&gt; This assumes credit eligibility and no limitation beyond that liability.  
&gt; It must not be used to claim credit for all tax embedded inside an ETF.  
A usable investment record connects each taxable or potentially taxable event to its evidence. Purchase confirmations establish what was acquired and when; sale confirmations show proceeds and charges; distribution notices identify cash income; fund reports supply information that may not appear as cash; and residence records explain which rules need examination. Currency conversion records matter when the return must be computed in a different reporting currency from the transaction. The chosen conversion method should follow the relevant authority's requirements, rather than a convenient rate selected retrospectively. This need not become an elaborate software project. A consistent folder and ledger can work well if the entries are complete and reconciled. The aim is that someone reviewing the year can reconstruct the economic events without guessing from the closing balance. A balance shows where the account ended; the transaction history explains how it got there.
Financial knowledge is valuable partly because it helps a household recognise which decisions require this additional work. Lusardi and Mitchell's review treats financial literacy as an investment in human capital and examines its relationship with financial decision-making [14]. It does not imply that reading one article equips a person to resolve every cross-border tax issue. The practical inference here is narrower: understanding the basic categories improves the questions asked and reduces dependence on slogans. Brian can recognise that an accumulating fund may have reportable income; Catherine can anticipate a future tax-related cash need; Amina can distinguish a remittance from the income embedded within it. Those are useful capabilities even when an adviser prepares the final return. A well-informed client can bring organised evidence, identify changes promptly, and evaluate whether an explanation actually addresses the facts of the investment rather than an unrelated example.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Article worked calculation 2. These are assumed tax effects, not quoted tax rates or personal advice. Facts and eligibility must be established for the relevant year.
Base: Hypothetical foreign tax relieved: GBP 1,200.
Changed: Associated lost allowances create GBP 1,600 additional tax.
Consequence: Net tax benefit is GBP −400: total tax is GBP 400 higher in this illustration.
ARTICLE SECTION: Worked calculation 2 — Evaluate relief across the whole return
&gt; Net tax benefit = foreign tax otherwise payable and relieved  
&gt; − additional tax caused by allowances lost  
&gt; Illustrative benefit = £1,200 − £1,600 = −£400  
&gt;  
&gt; A negative result means £400 more total tax in this hypothetical comparison.  
&gt; The figures are assumed tax effects, not quoted tax rates or allowance amounts.  
Offshore reporting funds create another distinction between money received and income recognised. HMRC's HS265 guidance explains that investors can be taxed on reportable income exceeding the amount actually distributed, usually called excess reported income, or ERI [8]. An accumulating fund can therefore generate taxable income without paying cash to the investor. Reporting status must be checked for the relevant share class, and the timing of deemed receipt matters: ERI is generally treated as received six months after the reporting period ends. The significance for Brian is operational. His broker statement showing no dividend payment does not establish that there is no amount to report. He needs the fund's investor tax report and the relevant year-end unit holding, subject to applicable adjustments. This is a good example of a tax obligation that becomes manageable once the necessary document is identified and collected routinely.
Assume Brian owns 1,000 units at the relevant reporting-period end and the fund publishes ERI of £0.80 per unit. The illustrative amount is £800. If the units originally cost £10,000 and are later sold for £12,000, previously arising relevant ERI must be accounted for in determining the disposal gain so that the same income is not counted again [8]. Under the simplified assumptions below, the adjusted gain becomes £1,200. This calculation assumes an ordinary taxable reporting-fund holding, no applicable special relief, no equalisation complications, and no other cost adjustments. It illustrates two different records: income recognised during ownership and the basis used when calculating a later gain. Keeping both records is more important than whether the fund's interface uses a reassuring “Acc” label. The tax analysis follows the published information and relevant rules, while the cash balance remains only one part of the evidence.
ARTICLE SECTION: Britain: cash received is only part of the picture
UK residents normally pay UK tax on foreign income, subject to available reliefs [6]. That starting point matters because the original notes sometimes associated keeping money overseas with avoiding a tax event. A payment's location does not generally provide that result. Since 6 April 2025, the four-year foreign income and gains regime has replaced the former remittance-basis framework for qualifying new residents [7]. Broadly, eligibility depends on becoming UK resident after at least ten consecutive tax years of non-UK residence, with relief available through claims during the first four UK-resident tax years. This is a specific regime with conditions, rather than a benefit automatically attached to being a Kenyan newcomer. Brian needs to establish whether he qualifies, which income or gains are covered, and whether claiming is worthwhile in the particular year. An old discussion of domicile and unremitted income may no longer describe the current starting point.
The decision to claim relief should include its consequences for other allowances. HMRC explains that a foreign income and gains claim involves giving up specified allowances, including the personal allowance and the capital-gains annual exempt amount [7]. A small foreign-income saving can therefore be outweighed by additional tax elsewhere. The illustration below uses hypothetical tax effects rather than current tax bands: suppose relief saves £1,200 on foreign income but lost allowances increase other tax by £1,600. The net effect is £400 more tax, before any administrative cost. This does not suggest that eligible people should generally avoid the regime. It shows why the relevant calculation concerns the whole return. Brian can ask for a comparison with and without the claim, using his actual income categories and allowances. A relief can be valuable while still requiring arithmetic; eligibility and financial benefit are related questions that deserve separate answers.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Answer: Residence and transaction dates determine which income, gains, accounts and reporting rules must be examined. Preserve records across the move and fund tax obligations separately from family support and investing.
Viewer task: Build a dated residence and fund-event calendar; retain units, distributions, ERI, cost, currency and disposal records.
Return to each opening research question and identify what remains conditional or unknown.
ARTICLE SECTION: Review before the move becomes a transaction
A relocation review works best before money needs to move or assets need to be sold. The household can map the departure date, arrival date, expected work pattern, planned purchases and disposals, wrapper restrictions, and the next reporting events. That timeline allows alternatives to be compared while they are still available. Selling before departure may have one set of consequences; retaining the investment may have another; neither should be assumed preferable without examining the actual rules. The flowchart below keeps the review anchored to the event that changes the situation. It also includes a check after the move, because plans and facts can diverge. An intended short assignment can become a longer stay, or a family home can remain available unexpectedly. The investment file should reflect what happened, with the relevant institutions updated, rather than preserving the assumptions used when the move was first discussed.
!Flowchart: relocation review
The siblings now understand why copying one another's portfolio is easier than copying one another's tax outcome. Their investment decisions can remain straightforward, but each person needs a residence analysis, a record of relevant income events, and a way to fund obligations that may arise without distributions. The manual calculations have made those distinctions visible: days establish one residence branch, units create reportable income, an anniversary can trigger a deemed gain, and a statutory formula can recognise advance income. The remaining challenge is operational. How does income become investable cash, how does family support reach Kenya, and how can the household compare routes without confusing a low advertised fee with a low total cost? Part 3 follows that movement through bank accounts, IBKR, Wise, and Kenyan recipients, while keeping the investment plan and the family's immediate needs connected.
ARTICLE SECTION: A tax wrapper travels under its own rules
An ISA can materially change the UK treatment of investments held within it, but moving abroad introduces conditions. HMRC states that a person becoming non-UK resident normally cannot continue subscribing, subject to specific exceptions, while an existing ISA can remain open and retain its UK tax relief [9]. The word “UK” is essential: that guidance does not establish how Kenya, Ireland, or another new residence country treats the account. Brian should notify the provider and distinguish retaining an existing holding from making new contributions. He should also examine what his new country considers the underlying income and gains. The account's familiar name does not bind another tax authority. This is why a relocation review should inventory wrappers separately from ordinary brokerage accounts. Two accounts holding the same fund can have different treatment, and that difference may change again when their owner's residence changes.
The financial decision around a retained wrapper can be more subtle than closing it immediately or assuming everything remains unchanged. Brian may value preserving an existing arrangement for a possible return to Britain, while needing to report its contents elsewhere during his absence. Before selling or transferring, he can compare ongoing fees, access restrictions, investment options, local reporting, and the consequences of losing a position that cannot simply be recreated while abroad. This is a planning exercise with several moving parts, rather than a reason for paralysis. A concise account inventory makes it tractable: identify the wrapper, provider, assets, acquisition costs, current value, and planned residence timeline. Then evaluate the proposed action against the rules that apply at that time. The quality of the decision depends on understanding the actual arrangement, not on treating every account carrying a tax-efficient label as interchangeable.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IIDF-02: When the Investor Moves, the Tax Story Changes
ARTICLE: https://sokointel.com/read/iidf-02/
RESEARCH SNAPSHOT: 10 September 2026
SOURCE MATERIAL
[1] Kenya Revenue Authority, “Glossary: Resident individual,” n.d. [Online]. Available: KRA glossary. Accessed: Sep. 7, 2026.
[2] Kenya Revenue Authority, “Taxation of foreign income,” n.d. [Online]. Available: KRA guidance. Accessed: Sep. 7, 2026.
[3] Kenya Revenue Authority, “Capital gains tax,” n.d. [Online]. Available: KRA CGT guidance. Accessed: Sep. 7, 2026.
[4] HM Revenue &amp; Customs, “1973 UK–Kenya Double Taxation Agreement as amended by the 1976 Protocol—in force,” arts. 4 and relevant income provisions. [Online]. Available: treaty text. Accessed: Sep. 7, 2026.
[5] HM Revenue &amp; Customs, “RDR3 Statutory Residence Test,” updated Jun. 11, 2026. [Online]. Available: residence guidance. Accessed: Sep. 7, 2026.
[6] HM Revenue &amp; Customs, “Tax on foreign income: Overview,” n.d. [Online]. Available: foreign-income guidance. Accessed: Sep. 7, 2026.
[7] HM Revenue &amp; Customs, “Check if you can claim the 4-year foreign income and gains regime,” Apr. 6, 2025. [Online]. Available: FIG guidance. Accessed: Sep. 7, 2026.
[8] HM Revenue &amp; Customs, “HS265 Offshore funds,” updated Apr. 6, 2026. [Online]. Available: offshore-fund helpsheet. Accessed: Sep. 7, 2026.
[9] HM Revenue &amp; Customs, “Individual Savings Accounts: If you move abroad,” n.d. [Online]. Available: ISA guidance. Accessed: Sep. 7, 2026.
[10] Irish Revenue, “Investment Undertaking Tax Rate Change,” Revenue eBrief no. 016/26, Jan. 22, 2026. [Online]. Available: rate announcement. Accessed: Sep. 7, 2026.
[11] Irish Revenue, “Investment undertakings,” Tax and Duty Manual Part 27-01A-02, updated Jan. 2026, secs. 4.2–4.4. [Online]. Available: tax manual. Accessed: Sep. 7, 2026.
[12] Federal Ministry of Justice and Federal Office of Justice, “Investmentsteuergesetz,” secs. 18–20, current online text. [Online]. Available: German investment-tax statute. Accessed: Sep. 7, 2026.
[13] German Federal Ministry of Finance, “Basiszins zur Berechnung der Vorabpauschale … Basiszins zum 2. Januar 2026,” Jan. 13, 2026. [Online]. Available: official base-rate notice. Accessed: Sep. 7, 2026.
[14] A. Lusardi and O. S. Mitchell, “The economic importance of financial literacy: Theory and evidence,” Journal of Economic Literature, vol. 52, no. 1, pp. 5–44, 2014, doi: 10.1257/jel.52.1.5.
All linked source URLs:
KRA glossary: https://www.kra.go.ke/helping-tax-payers/glossary
KRA guidance: https://www.kra.go.ke/helping-tax-payers/faqs/taxation-of-foreign-income
KRA CGT guidance: https://www.kra.go.ke/individual/filing-paying/types-of-taxes/capital-gains-tax
treaty text: https://www.gov.uk/government/publications/kenya-tax-treaties/1973-uk-kenya-double-taxation-agreement-as-amended-by-the-1976-protocol-in-force
residence guidance: https://www.gov.uk/government/publications/rdr3-statutory-residence-test-srt
foreign-income guidance: https://www.gov.uk/tax-foreign-income
FIG guidance: https://www.gov.uk/guidance/check-if-you-can-claim-the-4-year-foreign-income-and-gains-regime
offshore-fund helpsheet: https://www.gov.uk/government/publications/offshore-funds-self-assessment-helpsheet-hs265/hs265-offshore-funds
ISA guidance: https://www.gov.uk/individual-savings-accounts/if-you-move-abroad
rate announcement: https://www.revenue.ie/en/tax-professionals/ebrief/2026/no-0162026.aspx
tax manual: https://www.revenue.ie/en/tax-professionals/tdm/income-tax-capital-gains-tax-corporation-tax/part-27/27-01a-02.pdf
German investment-tax statute: https://www.gesetze-im-internet.de/invstg_2018/BJNR173010016.html
official base-rate notice: https://www.bundesfinanzministerium.de/Content/DE/Downloads/BMF_Schreiben/Steuerarten/Investmentsteuer/2026-01-13-basiszins-berechnung-vorabpauschale.html
10.1257/jel.52.1.5: https://doi.org/10.1257/jel.52.1.5
Additional content sources:
[]
Workbook provenance:
C:\Users\Nevo\Downloads\financial material\US Markets and Portfolio Construction\US_Markets_Portfolio_Construction_Final_Workbook.xlsx
'P03 Cross-Border Tax'!A3:E12
5a040bdadf9c5682f5370a882c44aec18bb6359ea96bcd8121b634d35620ab38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okointel.com/read/iidf-02/" TargetMode="External"/><Relationship Id="rId2" Type="http://schemas.openxmlformats.org/officeDocument/2006/relationships/hyperlink" Target="https://www.kra.go.ke/helping-tax-payers/glossary" TargetMode="External"/><Relationship Id="rId3" Type="http://schemas.openxmlformats.org/officeDocument/2006/relationships/hyperlink" Target="https://www.kra.go.ke/helping-tax-payers/faqs/taxation-of-foreign-income" TargetMode="External"/><Relationship Id="rId4" Type="http://schemas.openxmlformats.org/officeDocument/2006/relationships/hyperlink" Target="https://www.kra.go.ke/individual/filing-paying/types-of-taxes/capital-gains-tax" TargetMode="External"/><Relationship Id="rId5" Type="http://schemas.openxmlformats.org/officeDocument/2006/relationships/hyperlink" Target="https://www.gov.uk/government/publications/kenya-tax-treaties/1973-uk-kenya-double-taxation-agreement-as-amended-by-the-1976-protocol-in-force"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When the Investor Moves, the Tax Story Changes</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fictional family coordinating investments and family support across Nairobi, Manchester and Dublin.</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IIDF-02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How do residence and relocation affect taxable income, gains, wrappers, and reporting?</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How can investing and dependable family support share a workable household plan?</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ERI — excess reported income; income without necessarily receiving cash</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Residence — jurisdiction-specific legal tests, followed by treaty analysis where relevant</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Cost basis — allowable acquisition cost in reporting currency</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Tax year — preserve the recognition date and currency</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relocation timeline / Income and gains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Arrival, departure and residence dates give the tax analysis its structure.</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Distributions, sales and account wrappers need separate treatment.</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Wrappers across borders / Investment records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treatment of an account follows the applicable jurisdiction and investor circumstances.</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Cost, dates, currency and withholding records make the calculation traceable.</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Testing a move / A household calendar</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consistent set of assumptions lets us compare the household before and after relocation.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Reporting dates and planned cash needs can share a manageable calendar.</a:t>
            </a:r>
            <a:endParaRPr lang="en-US" sz="2200" dirty="0"/>
          </a:p>
        </p:txBody>
      </p:sp>
      <p:sp>
        <p:nvSpPr>
          <p:cNvPr id="14" name="Text 12"/>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Track income before calculating the later gain</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ERI = units × ERI per unit</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1,000 × GBP 0.80 = GBP 800; later gain = 12,000 − 10,000 − 800 = GBP 1,200</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GBP 800 income and GBP 1,200 disposal gain may arise in different tax years.</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P03 Cross-Border Tax: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IIDF-02-01-p1.png">    </p:cNvPr>
          <p:cNvPicPr>
            <a:picLocks noChangeAspect="1"/>
          </p:cNvPicPr>
          <p:nvPr/>
        </p:nvPicPr>
        <p:blipFill>
          <a:blip r:embed="rId1"/>
          <a:stretch>
            <a:fillRect/>
          </a:stretch>
        </p:blipFill>
        <p:spPr>
          <a:xfrm>
            <a:off x="612648" y="1906524"/>
            <a:ext cx="10972800" cy="3575304"/>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P03 Cross-Border Tax!A3:E12</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Companion teaching bridge from another series; not a reconstruction of this article’s case.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 relief election has a whole-return effect</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Hypothetical foreign tax relieved: GBP 1,200.</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Associated lost allowances create GBP 1,600 additional tax.</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Net tax benefit is GBP −400: total tax is GBP 400 higher in this illustration.</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Residence and transaction dates determine which income, gains, accounts and reporting rules must be examined. Preserve records across the move and fund tax obligations separately from family support and investing.</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Build a dated residence and fund-event calendar; retain units, distributions, ERI, cost, currency and disposal records.</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IIDF-02</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sokointel.com/read/iidf-02/</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KRA glossary</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KRA guidance</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KRA CGT guidance</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treaty text</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the Investor Moves, the Tax Story Changes</dc:title>
  <dc:subject>How do residence and relocation affect taxable income, gains, wrappers, and reporting? | How can investing and dependable family support share a workable household plan?</dc:subject>
  <dc:creator>Sokointel</dc:creator>
  <cp:lastModifiedBy>Sokointel</cp:lastModifiedBy>
  <cp:revision>1</cp:revision>
  <dcterms:created xsi:type="dcterms:W3CDTF">2026-09-25T13:49:38Z</dcterms:created>
  <dcterms:modified xsi:type="dcterms:W3CDTF">2026-09-25T13:49:38Z</dcterms:modified>
</cp:coreProperties>
</file>