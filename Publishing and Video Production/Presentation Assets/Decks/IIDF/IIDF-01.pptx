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IIDF-01: Investing Across Borders: What Are You Actually Buying?
ARTICLE: https://sokointel.com/read/iidf-01/
RESEARCH SNAPSHOT: 10 September 2026
OPENING NARRATION
A fictional family coordinating investments and family support across Nairobi, Manchester and Dublin.
Dated source record • fictional calculations are labelled as illustrations
Introduce the decision before defining the technical terms.
ARTICLE SECTION: 
ARTICLE SECTION: Part 1 of 3 — ETFs, Irish UCITS, currency exposure, and the cost of ownership
Imagine three Kenyan siblings comparing their investments during a Sunday call. Amina lives in Nairobi, Brian works in Manchester, and Catherine has recently moved to Dublin. All three want to own a slice of the companies shaping the global economy. They have found exchange-traded funds, discovered that Irish funds can hold American shares, and heard that accumulating dividends makes investing more efficient. Their conversation soon turns into a competition between ticker symbols. Yet the most useful question comes before the ticker: what exactly will each person own, through which legal structure, and for which future expense? These siblings are fictional, and the calculations throughout this series are illustrations. Their situation provides a practical way to explore a real problem: the same investment can produce different outcomes when its owner, tax residence, spending currency, or route for moving money changes.
Start with the household rather than the brokerage screen. Amina earns shillings and expects most near-term expenses in Kenya. Brian earns pounds, helps his parents with medical costs, and may eventually return home. Catherine earns euros but has no settled retirement destination. Their investment horizons overlap, while their immediate commitments differ. Research on consumption and portfolio choice shows why labour income, borrowing constraints, and the stage of life belong in the investment decision alongside financial assets [1]. The practical interpretation here is straightforward: a portfolio must coexist with rent, unstable earnings, family support, and relocation costs. An investor who needs cash during a market decline may have little opportunity to benefit from a long investment horizon written in a spreadsheet. Before comparing funds, each sibling therefore separates money needed soon from money that can remain invested through an uncomfortable period.
International diversification becomes more meaningful when viewed against this wider household balance sheet. Someone with employment, a business, property, and retirement savings tied to Kenya already has substantial exposure to the Kenyan economy, even before buying local shares. French and Poterba documented strong domestic concentration in investors' equity holdings in their influential study of international diversification [2]. Their historical findings do not prescribe today's ideal allocation for a Kenyan household, but they invite a useful question: how many existing risks would an overseas investment genuinely diversify? Replacing every local asset with American technology shares simply introduces another concentration. A more considered approach examines countries, industries, employers, currencies, and sources of income together. Brian can remain committed to supporting his family in Kenya while building investments whose fortunes depend on a broader set of businesses and economic conditions.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IIDF-01: Investing Across Borders: What Are You Actually Buying?
ARTICLE: https://sokointel.com/read/iidf-01/
RESEARCH SNAPSHOT: 10 September 2026
Read the questions naturally and define terms in context.
S₀, S₁ — starting/ending exchange rate; KES/USD
R — investment return in USD; decimal
Domicile — legal home of the fund
Trading currency — currency of the quotation, not the full economic exposure
Research question mapping: IIDF-Q1,IIDF-Q2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IIDF-01: Investing Across Borders: What Are You Actually Buying?
ARTICLE: https://sokointel.com/read/iidf-01/
RESEARCH SNAPSHOT: 10 September 2026
Explain the mechanism with the cited article section, then relate it to the opening decision.
Narration: explain each step and its consequence for the opening decision.
ARTICLE SECTION: Separate the five identities of a fund
An ETF has several identities that are easy to collapse into one. Its underlying investments determine economic exposure; its domicile identifies the jurisdiction of the fund; its exchange listing determines where a particular trading line changes hands; its trading currency determines the currency used for that transaction; and its share class determines features such as accumulation or distribution. Vanguard's Irish S&amp;P 500 accumulating ETF provides a concrete example: the July 2026 factsheet identifies Ireland as domicile, a physical investment method, and ISIN IE00BFMXXD54, with a dollar trading line called VUAA and a sterling London line called VUAG [3]. The different tickers do not create different underlying national economies. Recording the ISIN alongside the exchange and trading currency helps the siblings compare the actual investment, particularly when different platforms display different names for the same share class.
The ETF itself is a pooled investment whose shares trade on an exchange. For the ordinary investor, buying a share normally means transacting in that exchange market, while the fund owns or obtains exposure to a portfolio underneath. The price available on the screen can differ from the value of the underlying assets per share, and buying and selling involve a bid–ask spread [4]. That distinction matters because an attractive fund can still be purchased at an unattractive execution price. It also explains why the number of fund shares is a poor measure of diversification. Ten shares in one broad fund can represent exposure to many businesses; ten different funds can repeatedly own the same businesses. Amina's useful unit of analysis is therefore the underlying portfolio and its role in her finances, followed by the practical terms on which she can acquire it.
The word “global” deserves similar inspection. An S&amp;P 500 fund holds large American companies, many of which sell around the world, but overseas revenue does not turn the index into a complete global equity portfolio. A broader international fund can add companies listed in other markets, while an emerging-market fund introduces a different mix again. These are choices about exposure, rather than a hierarchy in which the longest fund name wins. Consider a deliberately simplified portfolio with 80% in a broad American index and 20% in a technology fund. If a particular company represents 6% of the first fund and 12% of the second, its combined portfolio weight is 7.2%. The extra fund has increased that company's importance. This small calculation is often more revealing than counting how many products appear in the account.
ARTICLE SECTION: Part 1 of 3 — ETFs, Irish UCITS, currency exposure, and the cost of ownership
Imagine three Kenyan siblings comparing their investments during a Sunday call. Amina lives in Nairobi, Brian works in Manchester, and Catherine has recently moved to Dublin. All three want to own a slice of the companies shaping the global economy. They have found exchange-traded funds, discovered that Irish funds can hold American shares, and heard that accumulating dividends makes investing more efficient. Their conversation soon turns into a competition between ticker symbols. Yet the most useful question comes before the ticker: what exactly will each person own, through which legal structure, and for which future expense? These siblings are fictional, and the calculations throughout this series are illustrations. Their situation provides a practical way to explore a real problem: the same investment can produce different outcomes when its owner, tax residence, spending currency, or route for moving money changes.
Start with the household rather than the brokerage screen. Amina earns shillings and expects most near-term expenses in Kenya. Brian earns pounds, helps his parents with medical costs, and may eventually return home. Catherine earns euros but has no settled retirement destination. Their investment horizons overlap, while their immediate commitments differ. Research on consumption and portfolio choice shows why labour income, borrowing constraints, and the stage of life belong in the investment decision alongside financial assets [1]. The practical interpretation here is straightforward: a portfolio must coexist with rent, unstable earnings, family support, and relocation costs. An investor who needs cash during a market decline may have little opportunity to benefit from a long investment horizon written in a spreadsheet. Before comparing funds, each sibling therefore separates money needed soon from money that can remain invested through an uncomfortable period.
International diversification becomes more meaningful when viewed against this wider household balance sheet. Someone with employment, a business, property, and retirement savings tied to Kenya already has substantial exposure to the Kenyan economy, even before buying local shares. French and Poterba documented strong domestic concentration in investors' equity holdings in their influential study of international diversification [2]. Their historical findings do not prescribe today's ideal allocation for a Kenyan household, but they invite a useful question: how many existing risks would an overseas investment genuinely diversify? Replacing every local asset with American technology shares simply introduces another concentration. A more considered approach examines countries, industries, employers, currencies, and sources of income together. Brian can remain committed to supporting his family in Kenya while building investments whose fortunes depend on a broader set of businesses and economic conditions.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IIDF-01: Investing Across Borders: What Are You Actually Buying?
ARTICLE: https://sokointel.com/read/iidf-01/
RESEARCH SNAPSHOT: 10 September 2026
Explain the mechanism with the cited article section, then relate it to the opening decision.
Narration: explain each step and its consequence for the opening decision.
ARTICLE SECTION: Follow the dividend through the structure
Irish UCITS discussions often begin with the phrase “tax efficient,” which is useful only after identifying whose tax is being discussed. Irish Revenue describes a gross roll-up regime under which an investment undertaking is generally exempt from Irish tax on profits earned for its investors [5]. That is a statement about the fund's Irish treatment. It does not erase taxes withheld by countries where the underlying companies operate, nor does it settle the investor's personal liability. Think of a dividend travelling through successive stages: company, fund, investor, and the investor's tax return. A deduction at one stage may already be embedded in the fund's value before the investor receives any statement. This is the substance of the “in situ” question in the source notes: identify what happens inside the investment structure before assessing what reaches the household.
For a straightforward American dividend paid to a nonresident individual, the United States generally applies a 30% withholding rate unless an applicable rule or treaty reduces it [6]. Kenya is absent from the IRS list of US income-tax treaty partners [7]. Consequently, a Kenya-resident investor cannot simply select a treaty rate because the brokerage operates internationally or because a friend abroad receives a lower deduction. The relevant status and entitlement must actually exist. Our comparison below assumes an ordinary non-US individual resident only in Kenya, no special exemption, and ordinary US equity dividends. It deliberately avoids extending the result to every type of distribution, every investor, or every financial instrument. A valid tax-status form documents the investor's position; it does not create a treaty between countries. That distinction is especially important when online examples mix investors from several jurisdictions.
An eligible Irish fund holding American shares commonly faces 15% US withholding on those dividends, reflecting the US–Ireland treaty framework [8], [9]. In that situation, the Irish fund receives more of the gross dividend than the illustrative Kenya-resident individual receiving a comparable US-fund dividend at 30%. Yet the saving is 15 percentage points of the dividend, not 15% of the entire portfolio. A low dividend yield makes that distinction particularly important. The fund still has operating expenses, and the investor may face personal taxation or transaction costs elsewhere. The following flowchart illustrates only the ordinary US equity dividend pathway under these assumptions; it is not a diagram for bond interest, real-estate distributions, derivatives, or every treaty-eligible investor. Its purpose is to show precisely where the compared deduction occurs, so that a tax advantage is neither overlooked nor exaggerated.
!Flowchart: dividend path
ARTICLE SECTION: Separate the five identities of a fund
An ETF has several identities that are easy to collapse into one. Its underlying investments determine economic exposure; its domicile identifies the jurisdiction of the fund; its exchange listing determines where a particular trading line changes hands; its trading currency determines the currency used for that transaction; and its share class determines features such as accumulation or distribution. Vanguard's Irish S&amp;P 500 accumulating ETF provides a concrete example: the July 2026 factsheet identifies Ireland as domicile, a physical investment method, and ISIN IE00BFMXXD54, with a dollar trading line called VUAA and a sterling London line called VUAG [3]. The different tickers do not create different underlying national economies. Recording the ISIN alongside the exchange and trading currency helps the siblings compare the actual investment, particularly when different platforms display different names for the same share class.
The ETF itself is a pooled investment whose shares trade on an exchange. For the ordinary investor, buying a share normally means transacting in that exchange market, while the fund owns or obtains exposure to a portfolio underneath. The price available on the screen can differ from the value of the underlying assets per share, and buying and selling involve a bid–ask spread [4]. That distinction matters because an attractive fund can still be purchased at an unattractive execution price. It also explains why the number of fund shares is a poor measure of diversification. Ten shares in one broad fund can represent exposure to many businesses; ten different funds can repeatedly own the same businesses. Amina's useful unit of analysis is therefore the underlying portfolio and its role in her finances, followed by the practical terms on which she can acquire it.
The word “global” deserves similar inspection. An S&amp;P 500 fund holds large American companies, many of which sell around the world, but overseas revenue does not turn the index into a complete global equity portfolio. A broader international fund can add companies listed in other markets, while an emerging-market fund introduces a different mix again. These are choices about exposure, rather than a hierarchy in which the longest fund name wins. Consider a deliberately simplified portfolio with 80% in a broad American index and 20% in a technology fund. If a particular company represents 6% of the first fund and 12% of the second, its combined portfolio weight is 7.2%. The extra fund has increased that company's importance. This small calculation is often more revealing than counting how many products appear in the account.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IIDF-01: Investing Across Borders: What Are You Actually Buying?
ARTICLE: https://sokointel.com/read/iidf-01/
RESEARCH SNAPSHOT: 10 September 2026
Explain the mechanism with the cited article section, then relate it to the opening decision.
Narration: explain each step and its consequence for the opening decision.
ARTICLE SECTION: Worked calculation 3 — Dividend withholding and operating charges
&gt; Approximate annual drag = portfolio × [(gross dividend yield × withholding rate) + fee]  
&gt;  
&gt; Gross dividends = $100,000 × 0.015 = $1,500  
&gt; US route withholding = $1,500 × 0.30 = $450  
&gt; US route operating charge = $100,000 × 0.0003 = $30  
&gt; US route combined drag = $450 + $30 = $480  
&gt;  
&gt; Irish route withholding = $1,500 × 0.15 = $225  
&gt; Irish route operating charge = $100,000 × 0.0007 = $70  
&gt; Irish route combined drag = $225 + $70 = $295  
&gt;  
&gt; Difference = $480 − $295 = $185  
&gt; Difference ÷ portfolio = $185 ÷ $100,000 = 0.00185 = 0.185% = 18.5 basis points  
&gt; Excluded: personal tax, trading, funding, FX, and other tracking effects.  
A break-even calculation makes the comparison more useful than declaring one wrapper the permanent winner. Under exactly the same assumptions, the additional 0.04% operating charge is offset when the gross dividend yield multiplied by the 15-percentage-point withholding difference equals 0.04%. That gives a yield of approximately 0.267%. If Brian personally qualifies for a 15% US treaty rate, however, the assumed withholding gap disappears; the same formula then no longer produces that break-even advantage. Other considerations, including access, reporting treatment, and estate exposure, remain relevant. The lesson is to change the inputs when the investor changes. It is also worth testing fixed costs: an extra $20 annual dealing cost would consume a substantial share of a $37 structural saving on a $20,000 portfolio. A percentage advantage becomes actionable only when compared with the actual size and operating pattern of the account.
ARTICLE SECTION: Put the saving beside the costs
Consider $100,000 invested in comparable S&amp;P 500 exposure with an assumed gross dividend yield of 1.5%. To illustrate the scale of published operating charges, use VOO's 0.03% expense ratio and the Irish accumulating fund's 0.07% ongoing charge [3], [10]. This is a simplified structural comparison, not a forecast of either fund's tracking performance. Applying withholding and charges independently to the assumed starting portfolio produces annual deductions of $480 on the US route and $295 on the Irish route. The difference is $185, or 0.185% of portfolio value. Actual fund accounting, changing asset values, securities lending, dividend timing, and personal taxes can change the realised comparison. Nevertheless, the arithmetic provides a sensible scale: the Irish structure's extra four basis points of operating charge can be smaller than its assumed dividend-withholding advantage for this particular investor.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IIDF-01: Investing Across Borders: What Are You Actually Buying?
ARTICLE: https://sokointel.com/read/iidf-01/
RESEARCH SNAPSHOT: 10 September 2026
Article worked calculation 2. All inputs hypothetical. The USMPC workbook withholding screen is a separate companion example.
Equation: KES return = (1 + R) × (S₁ ÷ S₀) − 1
Substitution: 1.08 × (120 ÷ 130) − 1 = −0.3077%
Interpretation: USD 10,000 grows to USD 10,800, but its KES value falls from 1.300m to 1.296m.
ARTICLE SECTION: Part 1 of 3 — ETFs, Irish UCITS, currency exposure, and the cost of ownership
Imagine three Kenyan siblings comparing their investments during a Sunday call. Amina lives in Nairobi, Brian works in Manchester, and Catherine has recently moved to Dublin. All three want to own a slice of the companies shaping the global economy. They have found exchange-traded funds, discovered that Irish funds can hold American shares, and heard that accumulating dividends makes investing more efficient. Their conversation soon turns into a competition between ticker symbols. Yet the most useful question comes before the ticker: what exactly will each person own, through which legal structure, and for which future expense? These siblings are fictional, and the calculations throughout this series are illustrations. Their situation provides a practical way to explore a real problem: the same investment can produce different outcomes when its owner, tax residence, spending currency, or route for moving money changes.
Start with the household rather than the brokerage screen. Amina earns shillings and expects most near-term expenses in Kenya. Brian earns pounds, helps his parents with medical costs, and may eventually return home. Catherine earns euros but has no settled retirement destination. Their investment horizons overlap, while their immediate commitments differ. Research on consumption and portfolio choice shows why labour income, borrowing constraints, and the stage of life belong in the investment decision alongside financial assets [1]. The practical interpretation here is straightforward: a portfolio must coexist with rent, unstable earnings, family support, and relocation costs. An investor who needs cash during a market decline may have little opportunity to benefit from a long investment horizon written in a spreadsheet. Before comparing funds, each sibling therefore separates money needed soon from money that can remain invested through an uncomfortable period.
International diversification becomes more meaningful when viewed against this wider household balance sheet. Someone with employment, a business, property, and retirement savings tied to Kenya already has substantial exposure to the Kenyan economy, even before buying local shares. French and Poterba documented strong domestic concentration in investors' equity holdings in their influential study of international diversification [2]. Their historical findings do not prescribe today's ideal allocation for a Kenyan household, but they invite a useful question: how many existing risks would an overseas investment genuinely diversify? Replacing every local asset with American technology shares simply introduces another concentration. A more considered approach examines countries, industries, employers, currencies, and sources of income together. Brian can remain committed to supporting his family in Kenya while building investments whose fortunes depend on a broader set of businesses and economic conditions.
ARTICLE SECTION: A currency label is only the beginning
Currency becomes easier to understand when the direction of the exchange rate is explicit. Suppose Amina invests the equivalent of $10,000 when one dollar costs KES 130. Her starting commitment is KES 1,300,000. The investment then rises by 8% in dollars, but the dollar later buys only KES 120. Her dollar balance has grown to $10,800, while its shilling value has fallen slightly to KES 1,296,000. Buying a sterling trading line of the same unhedged underlying portfolio would not automatically remove this economic issue. The listing currency can influence conversion convenience, but the assets and any explicit currency hedge determine the exposure. For a household planning a shilling expense, measuring only the dollar return leaves out an essential part of the result. The calculation below deliberately excludes dealing charges and taxes so that the currency effect remains visible.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IIDF-01: Investing Across Borders: What Are You Actually Buying?
ARTICLE: https://sokointel.com/read/iidf-01/
RESEARCH SNAPSHOT: 10 September 2026
ACTUAL WORKBOOK CAPTURE
Workbook: C:\Users\Nevo\Downloads\financial material\US Markets and Portfolio Construction\US_Markets_Portfolio_Construction_Final_Workbook.xlsx
Sheet/range: 'P03 Cross-Border Tax'!A3:E12
SHA-256: 5a040bdadf9c5682f5370a882c44aec18bb6359ea96bcd8121b634d35620ab38
Capture method: Microsoft Excel read-only PDF range export. Print headings retained. Source not saved.
Asset: Evidence/Workbooks/IIDF-01-01-p1.png
This capture is explicitly a cross-series teaching bridge. Its figures are not the article case.
SCREEN RECORDING WALKTHROUGH
Read the row and column headings. Identify inputs, follow the dependent row and explain the units. Do not alter the source workbook while recording; use a copy for a new scenario.
Extracted evidence text:
3
4
5
6
7
8
9
10
11
12
A B C D E
1. Dividend withholding
Position size ($) $10,000
Illustrative annual yield 1.3%
No-treaty statutory withholding rate 30.0%
Illustrative treaty withholding rate 15.0%
Gross annual 
dividend
Withholding 
rate Tax withheld Net received
No treaty $130.00 30.0% $39.00 $91.00
Illustrative treaty $130.00 15.0% $19.50 $110.50
Annual gap from lacking a treaty $19.50
Relevant article context:
ARTICLE SECTION: Execution is part of the investment
The next practical issue is the price paid for the shares. Suppose a hypothetical ETF has a bid of $99.90 and an ask of $100.10. Buying 100 shares at the ask costs $10,010 before commission, while immediately selling at the unchanged bid returns $9,990. The $20 difference is the round-trip spread cost. Relative to the $100 midpoint, the quoted spread is 0.20%, while the purchase alone is 0.10% above that midpoint. Distinguishing those figures prevents the common mistake of charging the full round-trip spread to both sides of a cost estimate. Actual prices can move before either order executes. A limit order specifies a maximum purchase price, but may remain unfilled. The point of checking execution conditions is to understand the available trade-off between price and completion, especially when investing smaller amounts across different exchange trading hours.
ARTICLE SECTION: Worked calculation 8 — Rebalancing after a market move
&gt; Equities after gain = $7,000 × 1.20 = $8,400  
&gt; Total = $8,400 + $3,000 = $11,400  
&gt; Equity weight = $8,400 ÷ $11,400 = 73.6842%  
&gt; Target equity amount = $11,400 × 0.70 = $7,980  
&gt; Illustrative sale to target = $8,400 − $7,980 = $420  
&gt; Assumes no tax, dealing cost, reserve return, or simultaneous contribution.  
The research can now be reduced to a sequence that the siblings can actually repeat. They begin with the purpose and currency of the money, select the underlying exposure, identify the fund's legal structure and share class, and assess their own tax position. Only then do they compare broker access, funding costs, and the practical purchase. The flowchart below expresses that sequence, with a return to earlier decisions whenever a tax or access issue changes the economics. It also leaves room for a perfectly reasonable conclusion: the proposed investment may need to wait while a cash reserve or expensive debt receives attention. International access widens the menu of investments; it does not determine the correct order of household priorities. A written decision process helps the family use that wider menu with more confidence and less dependence on whichever ticker was discussed most recently.
!Flowchart: investment decision
By the end of the call, the siblings have a better conversation than the one they started. They can explain what an Irish ETF changes, where dividend withholding enters, why a sterling quote does not settle currency exposure, and how small costs interact with account size. They also know which questions remain personal: residence, reporting, account eligibility, and future relocation. Those questions deserve their own article because the fund can stay exactly the same while the owner's tax outcome changes. In Part 2, the family follows that change across Kenya, Britain, Ireland, and a German comparison, using residence and taxable-income calculations that can be checked by hand. The aim is to make international investing understandable enough to operate for years. Choosing the investment is the first step; understanding how it fits the investor's changing life is what makes the choice durable.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IIDF-01: Investing Across Borders: What Are You Actually Buying?
ARTICLE: https://sokointel.com/read/iidf-01/
RESEARCH SNAPSHOT: 10 September 2026
Teaching sensitivity; hold other assumptions fixed unless a multi-input case is explicitly named.
Base: 8% USD gain; 130 → 120 KES/USD produces −0.3077% in KES.
Changed: Change ending exchange rate to 145 KES/USD.
Consequence: Ending value becomes KES 1.566m; the KES return becomes 20.4615%. Neither exchange-rate path is a forecast.
ARTICLE SECTION: A currency label is only the beginning
Currency becomes easier to understand when the direction of the exchange rate is explicit. Suppose Amina invests the equivalent of $10,000 when one dollar costs KES 130. Her starting commitment is KES 1,300,000. The investment then rises by 8% in dollars, but the dollar later buys only KES 120. Her dollar balance has grown to $10,800, while its shilling value has fallen slightly to KES 1,296,000. Buying a sterling trading line of the same unhedged underlying portfolio would not automatically remove this economic issue. The listing currency can influence conversion convenience, but the assets and any explicit currency hedge determine the exposure. For a household planning a shilling expense, measuring only the dollar return leaves out an essential part of the result. The calculation below deliberately excludes dealing charges and taxes so that the currency effect remains visible.
ARTICLE SECTION: Accumulation changes the cash flow
An accumulating class retains investment income within the fund, while a distributing class pays income out. That distinction can simplify reinvestment, but it does not itself answer when the investor owes tax. Catherine's fund can accumulate income while her residence country's rules still require a taxable event to be recognised; Part 2 examines specific examples. For investment planning, the initial question is what the household intends to do with the income. If every distribution would immediately be reinvested, accumulation can reduce manual decisions and idle cash. If Brian expects the investment to contribute toward regular family support, distributions may be convenient, although their amount and timing may not match the family's bills. Either way, evaluating total return requires considering both the change in asset value and income paid out. A distribution is part of the investment's economic return, not a separate bonus detached from the value of the holding.
There is a behavioural dimension to this choice that rarely appears in a fee table. Some investors find visible cash distributions reassuring and consequently maintain a long-term plan more consistently. Others spend whatever arrives and would accumulate more wealth through automatic reinvestment. Neither preference should be mistaken for a universal tax principle. The siblings can test their own habits against the intended use of the account: will a quarterly payment be reinvested, saved for a known expense, or absorbed into ordinary spending? They can also compare the administrative burden of distributions with the record-keeping required for accumulating funds in their actual residence country. The most suitable class is the one that fits both the tax framework and the household's execution habits. A theoretically elegant investment is less useful if its owner repeatedly handles the cash in a way that undermines the original objective.
Fund performance comparisons require equal care. A price-only index leaves out dividends; a gross total-return index reinvests dividends before assumed withholding; a net total-return index incorporates a withholding convention. Vanguard's cited factsheet identifies a net benchmark using a 30% dividend-withholding assumption [3]. An apparent excess return relative to such a benchmark can therefore arise partly from a tax convention rather than exceptional stock selection. The investor should compare the same period, currency, and return definition before drawing conclusions. Tracking difference measures the actual gap between fund and benchmark returns; the stated fee is only one influence on that gap. This is particularly relevant when a promotional chart appears to show an index fund consistently beating its index. The first task is to understand what both lines measure, then decide whether the observed difference says anything useful about future implementation costs.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IIDF-01: Investing Across Borders: What Are You Actually Buying?
ARTICLE: https://sokointel.com/read/iidf-01/
RESEARCH SNAPSHOT: 10 September 2026
REAL WEB CAPTURE
{
  "slug": "global-funding",
  "url": "https://sokointel.com/calculators/global-funding/",
  "captured_at": "2026-09-25T05:01:35.774Z",
  "inputs": [
    {
      "name": "starting_amount",
      "value": "1000"
    },
    {
      "name": "transfer_fee",
      "value": "12"
    },
    {
      "name": "fx_friction",
      "value": "0.3"
    },
    {
      "name": "dealing_commission",
      "value": "1"
    },
    {
      "name": "annual_return",
      "value": "7"
    },
    {
      "name": "annual_fund_charge",
      "value": "0.2"
    },
    {
      "name": "years",
      "value": "10"
    }
  ],
  "screenshots": [
    "global-funding-inputs.png",
    "global-funding-full.png",
    "global-funding-results.png",
    "global-funding-summary.png"
  ],
  "get_status": 200,
  "title": "Global funding planner | Sokointel",
  "post_status": 200,
  "results_text": "YOUR WORKED SCENARIO\n\nAmount invested after funding costs\n984.00\nValue after 10 years\n1,899.80\nTotal funding cost\n16.00\nNet annual return assumption\n6.80%\nFollow the calculation.\nMeasure\tCalculated result\nConversion friction\t3.00\nBank and transfer charges\t12.00\nInvestment dealing commission\t1.00\nFormulae used\n𝐴\n0\n=\n𝑆\n−\n𝑇\n−\n𝑋\n−\n𝐷\n𝐹\n𝑉\n=\n𝐴\n0\n(\n1\n+\n𝑟\nnet\n)\n𝑡\n\nUse one currency throughout the form. The result clarifies how each quoted cost changes the amount that begins compounding.\n\nTake the research further.\n\nUse the full article and companion resources to put this calculation into its wider business, household, or portfolio context. The workbook keeps the deeper scenario modelling, data record and audit trail.\n\nRead the global-funding research →",
  "alerts": [],
  "base": "Evidence/Web"
}
DEMONSTRATION SCOPE
Compare funding and FX charges for the same amount and route. Check the customer, account ownership and currency assumptions.
Fund domicile, residence and tax treatment require the separate article record.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IIDF-01: Investing Across Borders: What Are You Actually Buying?
ARTICLE: https://sokointel.com/read/iidf-01/
RESEARCH SNAPSHOT: 10 September 2026
Answer: An ETF combines exposure, domicile, share class, trading currency and exchange. A structure improves the investor’s outcome only when its relevant tax and recurring-cost advantages exceed its implementation costs.
Viewer task: Complete a five-identity fund record: exposure, domicile, share class, trading currency and exchange.
Return to each opening research question and identify what remains conditional or unknown.
ARTICLE SECTION: Turn the research into a repeatable decision
Before adopting an allocation, the family can test a loss that would feel uncomfortable in actual money. A hypothetical 30% decline takes a $10,000 equity holding to $7,000. Recovering the original balance then requires a gain of about 42.86%, because the recovery starts from a smaller base. If the household also withdraws $1,000 after the decline, only $6,000 remains invested and the gain required to reach $10,000 becomes 66.67%. Neither calculation predicts a market crash or its recovery time. It exposes the interaction between volatility and cash demands, which a smooth compound-growth illustration hides. Brian can use the exercise to decide how much family support should already be funded outside equities. A reserve has an opportunity cost when markets rise, but it can protect the household from needing to sell an investment at a time chosen by an urgent bill.
ARTICLE SECTION: Accumulation changes the cash flow
An accumulating class retains investment income within the fund, while a distributing class pays income out. That distinction can simplify reinvestment, but it does not itself answer when the investor owes tax. Catherine's fund can accumulate income while her residence country's rules still require a taxable event to be recognised; Part 2 examines specific examples. For investment planning, the initial question is what the household intends to do with the income. If every distribution would immediately be reinvested, accumulation can reduce manual decisions and idle cash. If Brian expects the investment to contribute toward regular family support, distributions may be convenient, although their amount and timing may not match the family's bills. Either way, evaluating total return requires considering both the change in asset value and income paid out. A distribution is part of the investment's economic return, not a separate bonus detached from the value of the holding.
There is a behavioural dimension to this choice that rarely appears in a fee table. Some investors find visible cash distributions reassuring and consequently maintain a long-term plan more consistently. Others spend whatever arrives and would accumulate more wealth through automatic reinvestment. Neither preference should be mistaken for a universal tax principle. The siblings can test their own habits against the intended use of the account: will a quarterly payment be reinvested, saved for a known expense, or absorbed into ordinary spending? They can also compare the administrative burden of distributions with the record-keeping required for accumulating funds in their actual residence country. The most suitable class is the one that fits both the tax framework and the household's execution habits. A theoretically elegant investment is less useful if its owner repeatedly handles the cash in a way that undermines the original objective.
Fund performance comparisons require equal care. A price-only index leaves out dividends; a gross total-return index reinvests dividends before assumed withholding; a net total-return index incorporates a withholding convention. Vanguard's cited factsheet identifies a net benchmark using a 30% dividend-withholding assumption [3]. An apparent excess return relative to such a benchmark can therefore arise partly from a tax convention rather than exceptional stock selection. The investor should compare the same period, currency, and return definition before drawing conclusions. Tracking difference measures the actual gap between fund and benchmark returns; the stated fee is only one influence on that gap. This is particularly relevant when a promotional chart appears to show an index fund consistently beating its index. The first task is to understand what both lines measure, then decide whether the observed difference says anything useful about future implementation costs.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IIDF-01: Investing Across Borders: What Are You Actually Buying?
ARTICLE: https://sokointel.com/read/iidf-01/
RESEARCH SNAPSHOT: 10 September 2026
SOURCE MATERIAL
[1] J. F. Cocco, F. J. Gomes, and P. J. Maenhout, “Consumption and portfolio choice over the life cycle,” The Review of Financial Studies, vol. 18, no. 2, pp. 491–533, 2005, doi: 10.1093/rfs/hhi017.
[2] K. R. French and J. M. Poterba, “Investor diversification and international equity markets,” American Economic Review, vol. 81, no. 2, pp. 222–226, 1991. [Online]. Available: author research record. Accessed: Sep. 7, 2026.
[3] Vanguard, “Vanguard S&amp;P 500 UCITS ETF (USD) Accumulating,” factsheet, Jul. 31, 2026. [Online]. Available: fund factsheet. Accessed: Sep. 7, 2026.
[4] U.S. Securities and Exchange Commission, “Updated investor bulletin: Exchange-traded funds (ETFs),” Feb. 23, 2023. [Online]. Available: Investor.gov bulletin. Accessed: Sep. 7, 2026.
[5] Irish Revenue, “Collective investment vehicles: Funds,” Jun. 30, 2025. [Online]. Available: Revenue guidance. Accessed: Sep. 7, 2026.
[6] Internal Revenue Service, “Publication 515 (2026): Withholding of tax on nonresident aliens and foreign entities,” 2026. [Online]. Available: Publication 515. Accessed: Sep. 7, 2026.
[7] Internal Revenue Service, “United States income tax treaties—A to Z,” n.d. [Online]. Available: treaty list. Accessed: Sep. 7, 2026.
[8] State Street Investment Management, “Considerations for non-US investors: US-domiciled ETFs vs. Irish-domiciled UCITS ETFs,” n.d. [Online]. Available: structural comparison. Accessed: Sep. 7, 2026.
[9] Government of Ireland, “Double Taxation Relief (Taxes on Income and Capital Gains) (United States of America) Order, 1997,” S.I. no. 477/1997, art. 10. [Online]. Available: treaty text. Accessed: Sep. 7, 2026.
[10] Vanguard, “VOO—Vanguard S&amp;P 500 ETF,” expense ratio dated Apr. 28, 2026. [Online]. Available: product profile. Accessed: Sep. 7, 2026.
[11] W. F. Sharpe, “The arithmetic of active management,” Financial Analysts Journal, vol. 47, no. 1, pp. 7–9, 1991. [Online]. Available: author-hosted article. Accessed: Sep. 7, 2026.
[12] B. M. Barber and T. Odean, “Trading is hazardous to your wealth: The common stock investment performance of individual investors,” The Journal of Finance, vol. 55, no. 2, pp. 773–806, 2000, doi: 10.1111/0022-1082.00226.
[13] Internal Revenue Service, “Some nonresidents with U.S. assets must file estate tax returns,” n.d. [Online]. Available: estate guidance. Accessed: Sep. 7, 2026.
[14] Internal Revenue Service, “Instructions for Form 8621,” Dec. 2025. [Online]. Available: PFIC instructions. Accessed: Sep. 7, 2026.
All linked source URLs:
10.1093/rfs/hhi017: https://doi.org/10.1093/rfs/hhi017
author research record: https://www.nber.org/papers/w3609
fund factsheet: https://fund-docs.vanguard.com/SandP_500_UCITS_ETF_USD_Accumulating_9694_EU_INT_UK_EN.pdf
Investor.gov bulletin: https://www.investor.gov/introduction-investing/general-resources/news-alerts/alerts-bulletins/investor-bulletins-24
Revenue guidance: https://www.revenue.ie/en/companies-and-charities/financial-services/collective-investment-vehicles/funds.aspx
Publication 515: https://www.irs.gov/publications/p515
treaty list: https://www.irs.gov/businesses/international-businesses/united-states-income-tax-treaties-a-to-z
structural comparison: https://www.ssga.com/us/en/institutional/insights/considerations-for-non-us-investors-us-etfs-vs-irish-ucits
treaty text: https://www.irishstatutebook.ie/eli/1997/si/477/made/en/print
product profile: https://investor.vanguard.com/investment-products/etfs/profile/voo
author-hosted article: https://web.stanford.edu/~wfsharpe/art/active/active.htm
10.1111/0022-1082.00226: https://doi.org/10.1111/0022-1082.00226
estate guidance: https://www.irs.gov/individuals/international-taxpayers/some-nonresidents-with-us-assets-must-file-estate-tax-returns
PFIC instructions: https://www.irs.gov/instructions/i8621
Additional content sources:
[]
Workbook provenance:
C:\Users\Nevo\Downloads\financial material\US Markets and Portfolio Construction\US_Markets_Portfolio_Construction_Final_Workbook.xlsx
'P03 Cross-Border Tax'!A3:E12
5a040bdadf9c5682f5370a882c44aec18bb6359ea96bcd8121b634d35620ab38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iidf-01/" TargetMode="External"/><Relationship Id="rId2" Type="http://schemas.openxmlformats.org/officeDocument/2006/relationships/hyperlink" Target="https://doi.org/10.1093/rfs/hhi017" TargetMode="External"/><Relationship Id="rId3" Type="http://schemas.openxmlformats.org/officeDocument/2006/relationships/hyperlink" Target="https://www.nber.org/papers/w3609" TargetMode="External"/><Relationship Id="rId4" Type="http://schemas.openxmlformats.org/officeDocument/2006/relationships/hyperlink" Target="https://fund-docs.vanguard.com/SandP_500_UCITS_ETF_USD_Accumulating_9694_EU_INT_UK_EN.pdf" TargetMode="External"/><Relationship Id="rId5" Type="http://schemas.openxmlformats.org/officeDocument/2006/relationships/hyperlink" Target="https://www.investor.gov/introduction-investing/general-resources/news-alerts/alerts-bulletins/investor-bulletins-24" TargetMode="External"/><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Investing Across Borders: What Are You Actually Buying?</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 fictional family coordinating investments and family support across Nairobi, Manchester and Dublin.</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IIDF-01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What does an investor actually own when choosing an ETF’s exposure, domicile, share class, and trading currency?</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2. When does an Irish UCITS structure improve results after withholding, fund charges, and transaction costs?</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S₀, S₁ — starting/ending exchange rate; KES/USD</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 — investment return in USD; decimal</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Domicile — legal home of the fund</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Trading currency — currency of the quotation, not the full economic exposure</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The five fund identities / Overlapping holdings</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Exposure, domicile, share class, trading currency and exchange each describe a different feature.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Two fund labels can still lead to substantial ownership of the same companies.</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Currency translation / The dividend route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Shilling returns reflect both the investment result and the exchange-rate movement.</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Company distributions can pass through withholding, fund expenses and investor-level treatment.</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Costs and the break-even point / Trading and rebalancing</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recurring saving needs to be compared with fund charges and implementation costs.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Spread, order size and target weights affect how the portfolio is implemented.</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Translate both the asset and the currency</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800" dirty="0">
                <a:solidFill>
                  <a:srgbClr val="176F73"/>
                </a:solidFill>
                <a:latin typeface="Cambria Math" pitchFamily="34" charset="0"/>
                <a:ea typeface="Cambria Math" pitchFamily="34" charset="-122"/>
                <a:cs typeface="Cambria Math" pitchFamily="34" charset="-120"/>
              </a:rPr>
              <a:t>KES return = (1 + R) × (S₁ ÷ S₀) − 1</a:t>
            </a:r>
            <a:endParaRPr lang="en-US" sz="28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1.08 × (120 ÷ 130) − 1 = −0.3077%</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USD 10,000 grows to USD 10,800, but its KES value falls from 1.300m to 1.296m.</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P03 Cross-Border Tax: follow the saved workbook</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IIDF-01-01-p1.png">    </p:cNvPr>
          <p:cNvPicPr>
            <a:picLocks noChangeAspect="1"/>
          </p:cNvPicPr>
          <p:nvPr/>
        </p:nvPicPr>
        <p:blipFill>
          <a:blip r:embed="rId1"/>
          <a:stretch>
            <a:fillRect/>
          </a:stretch>
        </p:blipFill>
        <p:spPr>
          <a:xfrm>
            <a:off x="612648" y="1906524"/>
            <a:ext cx="10972800" cy="3575304"/>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P03 Cross-Border Tax!A3:E12</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Companion teaching bridge from another series; not a reconstruction of this article’s case.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Hold the USD return; change only the exchange rate</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8% USD gain; 130 → 120 KES/USD produces −0.3077% in KES.</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Change ending exchange rate to 145 KES/USD.</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Ending value becomes KES 1.566m; the KES return becomes 20.4615%. Neither exchange-rate path is a forecast.</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SAVED WEB DEMONSTRATION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pic>
        <p:nvPicPr>
          <p:cNvPr id="8" name="Image 0" descr="C:\Users\Nevo\Downloads\financial material\Publishing and Video Production\Presentation Assets\Evidence\Web\global-funding-summary.png">    </p:cNvPr>
          <p:cNvPicPr>
            <a:picLocks noChangeAspect="1"/>
          </p:cNvPicPr>
          <p:nvPr/>
        </p:nvPicPr>
        <p:blipFill>
          <a:blip r:embed="rId1"/>
          <a:stretch>
            <a:fillRect/>
          </a:stretch>
        </p:blipFill>
        <p:spPr>
          <a:xfrm>
            <a:off x="2091340" y="1810512"/>
            <a:ext cx="4385247" cy="4334256"/>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Compare funding and FX charges for the same amount and route. Check the customer, account ownership and currency assumptions.</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Fund domicile, residence and tax treatment require the separate article record.</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Saved production page • /calculators/global-funding/ • captured 2026-09-25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An ETF combines exposure, domicile, share class, trading currency and exchange. A structure improves the investor’s outcome only when its relevant tax and recurring-cost advantages exceed its implementation costs.</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Complete a five-identity fund record: exposure, domicile, share class, trading currency and exchange.</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sokointel.com/read/iidf-01/</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10.1093/rfs/hhi017</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author research record</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fund factsheet</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Investor.gov bulletin</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Investing Across Borders: What Are You Actually Buying?</dc:title>
  <dc:subject>What does an investor actually own when choosing an ETF’s exposure, domicile, share class, and trading currency? | When does an Irish UCITS structure improve results after withholding, fund charges, and transaction costs?</dc:subject>
  <dc:creator>Sokointel</dc:creator>
  <cp:lastModifiedBy>Sokointel</cp:lastModifiedBy>
  <cp:revision>1</cp:revision>
  <dcterms:created xsi:type="dcterms:W3CDTF">2026-09-25T13:49:38Z</dcterms:created>
  <dcterms:modified xsi:type="dcterms:W3CDTF">2026-09-25T13:49:38Z</dcterms:modified>
</cp:coreProperties>
</file>