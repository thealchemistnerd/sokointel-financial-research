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IIDF-03: Moving Money with Purpose: Investing and Supporting Family Across Borders
ARTICLE: https://sokointel.com/read/iidf-03/
RESEARCH SNAPSHOT: 10 September 2026
OPENING NARRATION
A fictional family coordinating investments and family support across Nairobi, Manchester and Dublin.
Dated source record • fictional calculations are labelled as illustrations
Introduce the decision before defining the technical terms.
ARTICLE SECTION: Eligibility comes before the route diagram
IBKR accepts account applications from Kenya [3], giving Amina a starting point for accessing overseas investments. Her next steps are to complete the application, identify the entity serving her account, and confirm access to the fund and exchange she intends to use. Approval, trading permissions, and deposit methods are determined for the individual account. Once these are in place, she can retrieve the funding instructions and compare the cost of getting money into the account. This sequence gives her concrete information to work with: the investment she can buy, the currency she needs, the beneficiary details, and the payment reference required to identify her deposit. She can then ask her bank for a transfer quote based on those instructions. With the account and route established, future contributions become a routine she can document, cost, and adjust as her income changes.
Wise's current general eligibility list allows residents of the UK and Ireland to hold money; Kenya is outside that list [4]. Older accounts may have different features, which existing customers can check in their accounts. For Brian, living in the UK, a Wise balance can therefore form part of the funding options he evaluates. Amina, opening accounts as a Kenya resident, needs a route suited to the services available where she lives. Their country of residence explains the difference even though both are Kenyan citizens. A useful account review covers the functions each person needs: holding a balance, receiving account details, sending money, and obtaining a card. Brian can check these against his salary and investment currencies, while Amina can focus on the bank and brokerage services available to her. That gives each sibling a practical starting point for comparing costs and organising transfers.
A direct M-Pesa-to-Wise-to-IBKR funding route is currently unavailable. Wise supports sending money into Kenya in shillings, while KES is unavailable as a general source currency for outgoing transfers [5]. Amina's practical path begins with the deposit instructions in her brokerage account. She can take those details to her bank and request a quote covering the currency conversion, transfer fee, possible intermediary charges, and expected arrival time. The useful comparison is how many shillings leave her account and how much investment currency reaches the broker. Before sending, she can confirm the beneficiary details and payment reference against the broker's instructions; after sending, she can match the bank's confirmation to the credited deposit. Brian can evaluate the supported Wise options available to his UK account alongside bank transfers. Each sibling can then build a repeatable route around the accounts and currencies they use.
!Flowchart: money routes
ARTICLE SECTION: Reconcile the money, then review the plan
A portfolio balance can grow because investments performed well, because the owner contributed more, or both. It can fall because markets declined, because money was withdrawn for a useful purpose, or because of charges. The household should therefore reconcile cash flows before judging performance. In a simplified example, an account starts at $10,000, receives $2,000, pays out $500, and ends at $12,100. Its net investment profit is $600 after the effects already reflected in that closing balance. Dividing by the opening balance alone does not produce a properly time-adjusted return when flows occurred during the period. For a reliable performance percentage, timing needs to be incorporated through an appropriate return calculation. The elementary reconciliation below serves a narrower job: separating money added and removed from the economic change inside the account. That separation helps the household see how saving effort and investment performance each contributed to the closing balance.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IIDF-03: Moving Money with Purpose: Investing and Supporting Family Across Borders
ARTICLE: https://sokointel.com/read/iidf-03/
RESEARCH SNAPSHOT: 10 September 2026
Read the questions naturally and define terms in context.
Sender debit — total amount leaving the sender; GBP
Delivered amount — net recipient cash; KES
FX quote — offered KES per GBP, with time and expiry
Investable surplus — income after essentials, support and reserve funding
Research question mapping: IIDF-Q4,IIDF-Q5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IIDF-03: Moving Money with Purpose: Investing and Supporting Family Across Borders
ARTICLE: https://sokointel.com/read/iidf-03/
RESEARCH SNAPSHOT: 10 September 2026
Explain the mechanism with the cited article section, then relate it to the opening decision.
Narration: explain each step and its consequence for the opening decision.
ARTICLE SECTION: Fund the brokerage through a documented route
IBKR documents a Wise integration supporting transfers from a Wise balance and bank transfers via Wise, with currencies and methods depending on the account arrangement [6]. For Brian, the starting point is the funding options displayed in his IBKR account. Where Wise is offered and his residence and source currency meet the service requirements, he can follow the account's instructions to review the transfer. The documented workflow presents the amount, fees, exchange rate, and estimated arrival before confirmation. These details let him compare the proposed transfer with a bank quote on the same basis: total money debited and expected money credited. He can then confirm the linked account details, retain the quote and payment reference, and reconcile the deposit when it arrives. The process gives him both a usable funding route and a record of what that route costs for his contribution size.
Clear ownership details help the broker match an incoming payment to the right customer. IBKR generally discourages and reserves the right to reject third-party deposits, and identifies potential difficulties recognising money sent through payment processors [7]. The straightforward funding arrangement uses the account holder's own bank account or a supported integration, following the instructions supplied by the broker. Brian can keep the sender name, beneficiary details, payment reference, and transfer confirmation together so that a deposit can be traced if necessary. Where a relative contributes money, the family can first agree who will own the investment and confirm an accepted funding arrangement with the institutions involved. Once the payment is sent, checking both the sending confirmation and the brokerage credit closes the record. This small administrative habit makes subsequent transfers easier to reconcile and gives customer support useful information when a payment needs attention.
Foreign-exchange pricing inside the broker deserves its own calculation. IBKR's first published manual spot-currency tier is 0.20 basis points of trade value with a $2 minimum; its automatic conversion service typically adjusts the exchange rate by 0.03% without a separate commission [8]. One basis point is 0.01%, so 0.20 basis points equals 0.002%, not 0.20%. On a $500 equivalent conversion, the proportional manual charge is only one cent, but the $2 minimum applies. The automatic adjustment component would be fifteen cents at the stated typical rate. These are comparisons of published charging components, excluding market spread, execution differences, eligibility, and any additional account-specific charges. They show why the lowest percentage does not necessarily produce the lowest charge for a small transaction. The actual decision should use the available account route and the quote provided when the conversion is made.
ARTICLE SECTION: Eligibility comes before the route diagram
IBKR accepts account applications from Kenya [3], giving Amina a starting point for accessing overseas investments. Her next steps are to complete the application, identify the entity serving her account, and confirm access to the fund and exchange she intends to use. Approval, trading permissions, and deposit methods are determined for the individual account. Once these are in place, she can retrieve the funding instructions and compare the cost of getting money into the account. This sequence gives her concrete information to work with: the investment she can buy, the currency she needs, the beneficiary details, and the payment reference required to identify her deposit. She can then ask her bank for a transfer quote based on those instructions. With the account and route established, future contributions become a routine she can document, cost, and adjust as her income changes.
Wise's current general eligibility list allows residents of the UK and Ireland to hold money; Kenya is outside that list [4]. Older accounts may have different features, which existing customers can check in their accounts. For Brian, living in the UK, a Wise balance can therefore form part of the funding options he evaluates. Amina, opening accounts as a Kenya resident, needs a route suited to the services available where she lives. Their country of residence explains the difference even though both are Kenyan citizens. A useful account review covers the functions each person needs: holding a balance, receiving account details, sending money, and obtaining a card. Brian can check these against his salary and investment currencies, while Amina can focus on the bank and brokerage services available to her. That gives each sibling a practical starting point for comparing costs and organising transfers.
A direct M-Pesa-to-Wise-to-IBKR funding route is currently unavailable. Wise supports sending money into Kenya in shillings, while KES is unavailable as a general source currency for outgoing transfers [5]. Amina's practical path begins with the deposit instructions in her brokerage account. She can take those details to her bank and request a quote covering the currency conversion, transfer fee, possible intermediary charges, and expected arrival time. The useful comparison is how many shillings leave her account and how much investment currency reaches the broker. Before sending, she can confirm the beneficiary details and payment reference against the broker's instructions; after sending, she can match the bank's confirmation to the credited deposit. Brian can evaluate the supported Wise options available to his UK account alongside bank transfers. Each sibling can then build a repeatable route around the accounts and currencies they use.
!Flowchart: money routes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IIDF-03: Moving Money with Purpose: Investing and Supporting Family Across Borders
ARTICLE: https://sokointel.com/read/iidf-03/
RESEARCH SNAPSHOT: 10 September 2026
Explain the mechanism with the cited article section, then relate it to the opening decision.
Narration: explain each step and its consequence for the opening decision.
ARTICLE SECTION: Part 3 of 3 — IBKR, Wise, remittances, and the household behind the transfers
Brian receives his salary in pounds, sends money to his parents in Kenya, and wants to invest for a future that may involve both countries. Amina earns shillings in Nairobi and wants access to overseas funds. Catherine, now in Dublin, is reviewing the accounts she opened before moving. They are the fictional siblings followed throughout this series, and they face different versions of the same operational question: how does money get from where it is earned to where it is useful? Choosing a fund and arranging its funding are connected parts of the investment decision. The practical work is to match available accounts, supported currencies, and transfer services to each person's location and purpose. This final article follows those separate functions, using current provider documentation checked on 7 September 2026 and manual calculations that show how fees and exchange rates affect the money delivered.
The starting point is the household's purpose. Some money needs to reach relatives reliably this month; some needs to remain accessible for emergencies; some can be committed to investment risk for years. Kenya's mobile-money experience offers an important perspective here. Jack and Suri's peer-reviewed research connects lower transaction frictions and mobile-money access with households' ability to receive support and smooth consumption after shocks [1]. The study examines domestic transfers in Kenya, where access to support helps households manage disruption. That household perspective is useful here: financial resilience has value alongside portfolio accumulation. Brian's remittance arrangement should therefore be judged partly by whether his parents can actually use the money when needed. A route that looks efficient on a fee comparison but regularly creates delays or confusion may be poorly suited to essential support, even if it remains acceptable for an occasional investment contribution.
ARTICLE SECTION: Keep the remittance route usable at the receiving end
Wise documents KES delivery to Kenyan bank accounts and M-Pesa wallets, with route-specific limits and timing conditions [9]. That gives an eligible sender such as Brian a choice of receiving channels, but the choice should begin with how his parents intend to use the funds. A bank account may suit a larger planned expense, while a mobile wallet may be convenient for everyday payments. The recipient's actual access, withdrawal costs, identification details, and payment habits belong in the decision. A service's estimated arrival time also needs to be read in context: the clock may depend on receipt of the sender's funds and completion of conversion. Brian should arrange essential payments with enough room for those stages, especially around weekends or holidays. The aim is a dependable household routine in which the recipient knows what is coming and can confirm that the delivered amount matches the agreed purpose.
When a transfer is delayed, a clear record is more useful than repeatedly sending another payment through the same uncertain route. The household can identify the stage reached: was the sender debited, did the service receive the money, has conversion completed, was the recipient institution paid, and can the recipient see the credit? The transaction reference and expected amount help each institution investigate the correct payment. A separate emergency channel can keep a medical or household need from depending entirely on that investigation, but it should be used with awareness of the original payment's status to avoid accidental duplication. A shared record of these stages gives the sender and recipient a clear way to coordinate while the institutions investigate the payment. Reliability improves when the household knows who should act at each stage and retains the evidence needed to explain the problem clearly.
For travel and everyday spending, card access deserves its own place in the household plan. Wise's current issuance list includes the UK and EEA but not Kenya [10]. Its usage documentation also distinguishes issuing countries: US-issued Wise cards currently list Kenya among locations where use is restricted, while the cited non-US restrictions differ [11]. For a UK- or EEA-issued card, the practical checks are the issuer's current usage terms, the account's status, and acceptance at the intended merchant or cash machine. Catherine should identify her actual card issuer and review the current terms before relying on it for a trip. The lesson applies beyond Wise: the ability to hold a balance, order a card, use that card abroad, and replace it after moving are different questions. A backup payment method is a practical response when essential spending depends on an account whose features may change across borders.
Moving country is a useful moment to review how salary, bills, remittances, and investment contributions will continue during the transition. Wise's residence-change guidance asks customers to update their details and provide supporting evidence, and describes restrictions while the change is reviewed [12]. Separately, its card guidance explains circumstances in which an existing activated card can remain usable until expiry after moving to an unsupported country, without local replacement availability [10]. For Catherine, the practical plan is to update her residence, check which balance and card features will be available at her new address, and keep enough accessible money elsewhere to cover the revi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IIDF-03: Moving Money with Purpose: Investing and Supporting Family Across Borders
ARTICLE: https://sokointel.com/read/iidf-03/
RESEARCH SNAPSHOT: 10 September 2026
Explain the mechanism with the cited article section, then relate it to the opening decision.
Narration: explain each step and its consequence for the opening decision.
ARTICLE SECTION: Worked calculation 8 — A support reserve and currency stress
&gt; Three-month reserve for an assumed £400 monthly commitment = 3 × £400 = £1,200  
&gt;  
&gt; For a fixed KES 66,000 obligation, excluding fees:  
&gt; At 165 KES/GBP: KES 66,000 ÷ 165 = £400  
&gt; At 150 KES/GBP: KES 66,000 ÷ 150 = £440  
&gt; Additional sterling needed = £440 − £400 = £40 = 10% of £400  
&gt; Exchange rates are hypothetical stress assumptions.  
Agreeing the intended use of a remittance can also improve the quality of the financial conversation. Ambler, Aycinena, and Yang's field experiment with migrants from El Salvador examined a programme that subsidised designated education remittances and found changes in educational outcomes and spending [13]. The findings concern that programme's education focus and subsidy design. For Brian's household, they offer a useful starting point for discussing what a transfer is meant to achieve and reviewing the outcome with the recipient. A school-fee contribution, routine household support, and a capital investment in a family business involve different expectations. Brian can be clear about what he can sustain, while his parents can explain their priorities and changing needs. The payment technology makes the transfer possible, but mutual understanding determines whether the arrangement actually serves the people involved.
Joint planning also deserves attention within the household sending the money. Seshan and Yang's study of Indian migrant households linked a financial-education intervention to greater joint financial decision-making, with financial outcomes varying across participants [14]. The outcomes reflect the participants and intervention studied. For Kenyan diaspora households considering their own arrangements, the research offers a reason to explore how shared information and regular discussion can support financial decisions. In Brian's household, the discussion can connect remittances, reserves, investment contributions, and a possible return to Kenya. A shared monthly review can identify whether support commitments are rising, whether an investment goal is still realistic, and which expenses require advance notice. The purpose is to make obligations visible and negotiable. A portfolio statement may belong to one account holder, but the choices behind it can affect several people whose expectations deserve to be understood.
ARTICLE SECTION: Family finance needs an agreement as well as an app
The reserve can be calculated around commitments rather than a generic slogan. Suppose Brian has £400 of monthly family support that he wants to protect against a temporary interruption in earnings or account access. A three-month support reserve would be £1,200, separate from his own living-cost buffer. That is an illustrative policy choice, not a universally sufficient amount. He can refine it by considering medical needs, other relatives' contributions, and how quickly alternative income might become available. If the obligation is fixed in shillings, he should also test exchange-rate changes rather than assuming a constant sterling cost. The family can decide how much belongs in an immediately usable Kenyan channel and how much can remain elsewhere. The resulting arrangement gives the reserve a defined job. It also makes clear why money allocated to an essential near-term payment should not silently become part of a long-horizon equity contribution.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IIDF-03: Moving Money with Purpose: Investing and Supporting Family Across Borders
ARTICLE: https://sokointel.com/read/iidf-03/
RESEARCH SNAPSHOT: 10 September 2026
Article worked calculation 3. Fictional simultaneous quotes; recipient charges assumed zero.
Equation: Recipient KES = (GBP budget − GBP fee) × KES/GBP − recipient charge
Substitution: Route A: (500 − 5) × 165 = KES 81,675; Route B: 500 × 162 = KES 81,000
Interpretation: A zero transfer fee does not necessarily produce more recipient cash. Route A delivers KES 675 more.
ARTICLE SECTION: Compare what arrives, using the same starting amount
Consider two hypothetical offers for a total £500 debit. Route A charges a £5 fee and converts the remaining £495 at KES 165 per pound, delivering KES 81,675 before any assumed recipient charge. Route B advertises no fee but converts the full £500 at KES 162, delivering KES 81,000. The route with the visible fee delivers KES 675 more. The delivered amounts give Brian a clear basis for choosing between these two otherwise comparable offers. The comparison only works because the starting debit and recipient outcome are defined consistently. If one quote adds its fee on top of £500 while the other deducts it, they need to be normalised first. Brian should also compare the same payout method and arrival conditions. A bank deposit and a cash collection service can involve different practical costs for the recipient even when the headline conversion looks similar.
ARTICLE SECTION: Decide what the money needs to do
A simple cash allocation makes the competing purposes visible. Suppose Brian takes home £3,000 in a month, spends £1,800 on essential living costs, allocates £400 to agreed family support, and adds £300 to a reserve. That leaves £500 for longer-term investment in this hypothetical budget. The categories are assumptions, not a recommended allocation or a claim about typical diaspora earnings. Their usefulness lies in making commitments explicit before money reaches a brokerage account. If an irregular expense absorbs another £250, the investable amount changes; it should not be preserved mechanically by borrowing or leaving a necessary bill unpaid. Amina can use the same method in shillings. Each household can distinguish a contribution target from a genuine surplus, then decide how much flexibility the investment routine needs. Regular investing works more comfortably when the contribution is supported by the household's actual cash flow.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IIDF-03: Moving Money with Purpose: Investing and Supporting Family Across Borders
ARTICLE: https://sokointel.com/read/iidf-03/
RESEARCH SNAPSHOT: 10 September 2026
ACTUAL WORKBOOK CAPTURE
Workbook: C:\Users\Nevo\Downloads\financial material\US Markets and Portfolio Construction\US_Markets_Portfolio_Construction_Final_Workbook.xlsx
Sheet/range: 'P09 DCA &amp; Contributions'!A3:C4
SHA-256: 5a040bdadf9c5682f5370a882c44aec18bb6359ea96bcd8121b634d35620ab38
Capture method: Microsoft Excel read-only PDF range export. Print headings retained. Source not saved.
Asset: Evidence/Workbooks/IIDF-03-01-p1.png
This capture is explicitly a cross-series teaching bridge. Its figures are not the article case.
SCREEN RECORDING WALKTHROUGH
Read the row and column headings. Identify inputs, follow the dependent row and explain the units. Do not alter the source workbook while recording; use a copy for a new scenario.
Extracted evidence text:
3
4
A B C
Lump sum amount $6,000
Monthly DCA contribution $500
Monthly DCA x 12 months = lump sum, so the two are 
directly comparable.
Relevant article context:
ARTICLE SECTION: Eligibility comes before the route diagram
IBKR accepts account applications from Kenya [3], giving Amina a starting point for accessing overseas investments. Her next steps are to complete the application, identify the entity serving her account, and confirm access to the fund and exchange she intends to use. Approval, trading permissions, and deposit methods are determined for the individual account. Once these are in place, she can retrieve the funding instructions and compare the cost of getting money into the account. This sequence gives her concrete information to work with: the investment she can buy, the currency she needs, the beneficiary details, and the payment reference required to identify her deposit. She can then ask her bank for a transfer quote based on those instructions. With the account and route established, future contributions become a routine she can document, cost, and adjust as her income changes.
Wise's current general eligibility list allows residents of the UK and Ireland to hold money; Kenya is outside that list [4]. Older accounts may have different features, which existing customers can check in their accounts. For Brian, living in the UK, a Wise balance can therefore form part of the funding options he evaluates. Amina, opening accounts as a Kenya resident, needs a route suited to the services available where she lives. Their country of residence explains the difference even though both are Kenyan citizens. A useful account review covers the functions each person needs: holding a balance, receiving account details, sending money, and obtaining a card. Brian can check these against his salary and investment currencies, while Amina can focus on the bank and brokerage services available to her. That gives each sibling a practical starting point for comparing costs and organising transfers.
A direct M-Pesa-to-Wise-to-IBKR funding route is currently unavailable. Wise supports sending money into Kenya in shillings, while KES is unavailable as a general source currency for outgoing transfers [5]. Amina's practical path begins with the deposit instructions in her brokerage account. She can take those details to her bank and request a quote covering the currency conversion, transfer fee, possible intermediary charges, and expected arrival time. The useful comparison is how many shillings leave her account and how much investment currency reaches the broker. Before sending, she can confirm the beneficiary details and payment reference against the broker's instructions; after sending, she can match the bank's confirmation to the credited deposit. Brian can evaluate the supported Wise options available to his UK account alongside bank transfers. Each sibling can then build a repeatable route around the accounts and currencies they use.
!Flowchart: money routes
ARTICLE SECTION: Worked calculation 6 — Follow the whole funding cost
&gt; Investable amount before purchase spread = initial equivalent − transfer − FX − dealing  
&gt; Route A = $1,000 − $12 − $3 − $1 = $984  
&gt; Route B = $1,000 − $4 − $15 − $1 = $980  
&gt; Difference = $984 − $980 = $4  
&gt; Route A measured charges = $16 ÷ $1,000 = 1.6%  
&gt; Route B measured charges = $20 ÷ $1,000 = 2.0%  
&gt; Illustrative charges only; do not deduct an embedded FX margin twice.  
Batching contributions can reduce fixed costs, although waiting has its own consequences. Imagine a household accumulating $500 each month and paying a hypothetical $20 fixed funding charge per transfer. Twelve monthly transfers cost $240 annually, while four quarterly transfers cost $80, saving $160 before other differences. Under a convention where each contribution is available at month-end and quarterly transfers occur at the third month-end, the average delay is one month: the first contribution waits two months, the second one, and the third none. At a purely illustrative 6% annual expected return and zero return on waiting cash, a simple opportunity-cost estimate on the $6,000 annual contributions is about $30. The arithmetic favours batching under those assumptions. It does not guarantee that waiting is better in a particular year, because actual market returns during the waiting periods can be positive or negative.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IIDF-03: Moving Money with Purpose: Investing and Supporting Family Across Borders
ARTICLE: https://sokointel.com/read/iidf-03/
RESEARCH SNAPSHOT: 10 September 2026
Teaching sensitivity; hold other assumptions fixed unless a multi-input case is explicitly named.
Base: GBP 3,000 − 1,800 essentials − 400 support − 300 reserve = GBP 500.
Changed: An additional GBP 250 essential expense arises.
Consequence: Monthly investable surplus falls to GBP 250. Do not fund the unchanged contribution by quietly removing support or reserves.
ARTICLE SECTION: Part 3 of 3 — IBKR, Wise, remittances, and the household behind the transfers
Brian receives his salary in pounds, sends money to his parents in Kenya, and wants to invest for a future that may involve both countries. Amina earns shillings in Nairobi and wants access to overseas funds. Catherine, now in Dublin, is reviewing the accounts she opened before moving. They are the fictional siblings followed throughout this series, and they face different versions of the same operational question: how does money get from where it is earned to where it is useful? Choosing a fund and arranging its funding are connected parts of the investment decision. The practical work is to match available accounts, supported currencies, and transfer services to each person's location and purpose. This final article follows those separate functions, using current provider documentation checked on 7 September 2026 and manual calculations that show how fees and exchange rates affect the money delivered.
The starting point is the household's purpose. Some money needs to reach relatives reliably this month; some needs to remain accessible for emergencies; some can be committed to investment risk for years. Kenya's mobile-money experience offers an important perspective here. Jack and Suri's peer-reviewed research connects lower transaction frictions and mobile-money access with households' ability to receive support and smooth consumption after shocks [1]. The study examines domestic transfers in Kenya, where access to support helps households manage disruption. That household perspective is useful here: financial resilience has value alongside portfolio accumulation. Brian's remittance arrangement should therefore be judged partly by whether his parents can actually use the money when needed. A route that looks efficient on a fee comparison but regularly creates delays or confusion may be poorly suited to essential support, even if it remains acceptable for an occasional investment contribution.
ARTICLE SECTION: Eligibility comes before the route diagram
IBKR accepts account applications from Kenya [3], giving Amina a starting point for accessing overseas investments. Her next steps are to complete the application, identify the entity serving her account, and confirm access to the fund and exchange she intends to use. Approval, trading permissions, and deposit methods are determined for the individual account. Once these are in place, she can retrieve the funding instructions and compare the cost of getting money into the account. This sequence gives her concrete information to work with: the investment she can buy, the currency she needs, the beneficiary details, and the payment reference required to identify her deposit. She can then ask her bank for a transfer quote based on those instructions. With the account and route established, future contributions become a routine she can document, cost, and adjust as her income changes.
Wise's current general eligibility list allows residents of the UK and Ireland to hold money; Kenya is outside that list [4]. Older accounts may have different features, which existing customers can check in their accounts. For Brian, living in the UK, a Wise balance can therefore form part of the funding options he evaluates. Amina, opening accounts as a Kenya resident, needs a route suited to the services available where she lives. Their country of residence explains the difference even though both are Kenyan citizens. A useful account review covers the functions each person needs: holding a balance, receiving account details, sending money, and obtaining a card. Brian can check these against his salary and investment currencies, while Amina can focus on the bank and brokerage services available to her. That gives each sibling a practical starting point for comparing costs and organising transfers.
A direct M-Pesa-to-Wise-to-IBKR funding route is currently unavailable. Wise supports sending money into Kenya in shillings, while KES is unavailable as a general source currency for outgoing transfers [5]. Amina's practical path begins with the deposit instructions in her brokerage account. She can take those details to her bank and request a quote covering the currency conversion, transfer fee, possible intermediary charges, and expected arrival time. The useful comparison is how many shillings leave her account and how much investment currency reaches the broker. Before sending, she can confirm the beneficiary details and payment reference against the broker's instructions; after sending, she can match the bank's confirmation to the credited deposit. Brian can evaluate the supported Wise options available to his UK account alongside bank transfers. Each sibling can then build a repeatable route around the accounts and currencies they use.
!Flowchart: money routes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IIDF-03: Moving Money with Purpose: Investing and Supporting Family Across Borders
ARTICLE: https://sokointel.com/read/iidf-03/
RESEARCH SNAPSHOT: 10 September 2026
REAL WEB CAPTURE
{
  "slug": "global-funding",
  "url": "https://sokointel.com/calculators/global-funding/",
  "captured_at": "2026-09-25T05:01:35.774Z",
  "inputs": [
    {
      "name": "starting_amount",
      "value": "1000"
    },
    {
      "name": "transfer_fee",
      "value": "12"
    },
    {
      "name": "fx_friction",
      "value": "0.3"
    },
    {
      "name": "dealing_commission",
      "value": "1"
    },
    {
      "name": "annual_return",
      "value": "7"
    },
    {
      "name": "annual_fund_charge",
      "value": "0.2"
    },
    {
      "name": "years",
      "value": "10"
    }
  ],
  "screenshots": [
    "global-funding-inputs.png",
    "global-funding-full.png",
    "global-funding-results.png",
    "global-funding-summary.png"
  ],
  "get_status": 200,
  "title": "Global funding planner | Sokointel",
  "post_status": 200,
  "results_text": "YOUR WORKED SCENARIO\n\nAmount invested after funding costs\n984.00\nValue after 10 years\n1,899.80\nTotal funding cost\n16.00\nNet annual return assumption\n6.80%\nFollow the calculation.\nMeasure\tCalculated result\nConversion friction\t3.00\nBank and transfer charges\t12.00\nInvestment dealing commission\t1.00\nFormulae used\n𝐴\n0\n=\n𝑆\n−\n𝑇\n−\n𝑋\n−\n𝐷\n𝐹\n𝑉\n=\n𝐴\n0\n(\n1\n+\n𝑟\nnet\n)\n𝑡\n\nUse one currency throughout the form. The result clarifies how each quoted cost changes the amount that begins compounding.\n\nTake the research further.\n\nUse the full article and companion resources to put this calculation into its wider business, household, or portfolio context. The workbook keeps the deeper scenario modelling, data record and audit trail.\n\nRead the global-funding research →",
  "alerts": [],
  "base": "Evidence/Web"
}
DEMONSTRATION SCOPE
Compare funding and FX charges for the same amount and route. Check the customer, account ownership and currency assumptions.
Fund domicile, residence and tax treatment require the separate article record.
The calculator defaults may be a separate teaching example. Do not claim the displayed default equals the article or workbook case unless inputs and conventions have been reconciled. DCF uses FCFF discounted at WACC, subtracting net debt once; do not put after-interest owner earnings into that model. For financial companies use the separate capital model.
For the DCA dividend capture only: the original page renders a fraction as a percentage without multiplying by 100. The derived screenshot is an exact table crop excluding that card, not a retouched page. Correct yield = 1,015.5093/100,000 ×100 = 1.0155093%, approximately 1.02%. The protected tool was not changed.
The DCA portfolio calculator is limited to purchase/allocation mechanics and does not calculate a 30-company HHI, correlation or a stress loss. The compounding explorer is a constant-return contribution-timing model, not a sequence-of-returns withdrawal simulation.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IIDF-03: Moving Money with Purpose: Investing and Supporting Family Across Borders
ARTICLE: https://sokointel.com/read/iidf-03/
RESEARCH SNAPSHOT: 10 September 2026
Answer: A usable payment route requires eligible accounts, supported currencies and a workable recipient channel. Compare delivered cash, then give support, reserves and investment contributions their own amounts and dates.
Viewer task: Save a same-time route comparison with total debit, recipient amount, eligibility, arrival time and quote expiry.
Return to each opening research question and identify what remains conditional or unknown.
ARTICLE SECTION: Reconcile the money, then review the plan
A portfolio balance can grow because investments performed well, because the owner contributed more, or both. It can fall because markets declined, because money was withdrawn for a useful purpose, or because of charges. The household should therefore reconcile cash flows before judging performance. In a simplified example, an account starts at $10,000, receives $2,000, pays out $500, and ends at $12,100. Its net investment profit is $600 after the effects already reflected in that closing balance. Dividing by the opening balance alone does not produce a properly time-adjusted return when flows occurred during the period. For a reliable performance percentage, timing needs to be incorporated through an appropriate return calculation. The elementary reconciliation below serves a narrower job: separating money added and removed from the economic change inside the account. That separation helps the household see how saving effort and investment performance each contributed to the closing balance.
ARTICLE SECTION: Part 3 of 3 — IBKR, Wise, remittances, and the household behind the transfers
Brian receives his salary in pounds, sends money to his parents in Kenya, and wants to invest for a future that may involve both countries. Amina earns shillings in Nairobi and wants access to overseas funds. Catherine, now in Dublin, is reviewing the accounts she opened before moving. They are the fictional siblings followed throughout this series, and they face different versions of the same operational question: how does money get from where it is earned to where it is useful? Choosing a fund and arranging its funding are connected parts of the investment decision. The practical work is to match available accounts, supported currencies, and transfer services to each person's location and purpose. This final article follows those separate functions, using current provider documentation checked on 7 September 2026 and manual calculations that show how fees and exchange rates affect the money delivered.
The starting point is the household's purpose. Some money needs to reach relatives reliably this month; some needs to remain accessible for emergencies; some can be committed to investment risk for years. Kenya's mobile-money experience offers an important perspective here. Jack and Suri's peer-reviewed research connects lower transaction frictions and mobile-money access with households' ability to receive support and smooth consumption after shocks [1]. The study examines domestic transfers in Kenya, where access to support helps households manage disruption. That household perspective is useful here: financial resilience has value alongside portfolio accumulation. Brian's remittance arrangement should therefore be judged partly by whether his parents can actually use the money when needed. A route that looks efficient on a fee comparison but regularly creates delays or confusion may be poorly suited to essential support, even if it remains acceptable for an occasional investment contribution.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IIDF-03: Moving Money with Purpose: Investing and Supporting Family Across Borders
ARTICLE: https://sokointel.com/read/iidf-03/
RESEARCH SNAPSHOT: 10 September 2026
SOURCE MATERIAL
[1] W. Jack and T. Suri, “Risk sharing and transactions costs: Evidence from Kenya's mobile money revolution,” American Economic Review, vol. 104, no. 1, pp. 183–223, 2014, doi: 10.1257/aer.104.1.183.
[2] World Bank, “Remittance Prices Worldwide,” issue 54, Q3 2025, report hosted Apr. 2026. [Online]. Available: Q3 2025 report. Accessed: Sep. 7, 2026.
[3] Interactive Brokers, “Available countries and territories,” n.d. [Online]. Available: account country list. Accessed: Sep. 7, 2026.
[4] Wise, “Where do I need to live to hold money with Wise?” n.d. [Online]. Available: balance eligibility. Accessed: Sep. 7, 2026.
[5] Wise, “What currencies can I send to and from?” n.d. [Online]. Available: currency support. Accessed: Sep. 7, 2026.
[6] Interactive Brokers, “Transfer from Wise balance,” updated Apr. 27, 2026. [Online]. Available: integration guide. Accessed: Sep. 7, 2026.
[7] Interactive Brokers, “USD deposits and withdrawals,” n.d. [Online]. Available: funding guidance. Accessed: Sep. 7, 2026.
[8] Interactive Brokers, “Commissions spot currencies,” n.d. [Online]. Available: FX schedule. Accessed: Sep. 7, 2026.
[9] Wise, “Guide to KES transfers,” n.d. [Online]. Available: Kenyan delivery guide. Accessed: Sep. 7, 2026.
[10] Wise, “Can I get the Wise card in my country?” n.d. [Online]. Available: card eligibility. Accessed: Sep. 7, 2026.
[11] Wise, “Where will my Wise card work?” n.d. [Online]. Available: card usage restrictions. Accessed: Sep. 7, 2026.
[12] Wise, “How do I update my country of residence?” n.d. [Online]. Available: residence-change guide. Accessed: Sep. 7, 2026.
[13] K. Ambler, D. Aycinena, and D. Yang, “Channeling remittances to education: A field experiment among migrants from El Salvador,” American Economic Journal: Applied Economics, vol. 7, no. 2, pp. 207–232, 2015, doi: 10.1257/app.20140010.
[14] G. Seshan and D. Yang, “Motivating migrants: A field experiment on financial decision-making in transnational households,” Journal of Development Economics, vol. 108, pp. 119–127, 2014, doi: 10.1016/j.jdeveco.2014.01.005.
All linked source URLs:
10.1257/aer.104.1.183: https://doi.org/10.1257/aer.104.1.183
Q3 2025 report: https://remittanceprices.worldbank.org/sites/default/files/2026-04/RPW_main_report_and_annex_Q325.pdf
account country list: https://www.interactivebrokers.com/en/accounts/open-account-country-list.php
balance eligibility: https://wise.com/help/articles/2813542/where-do-i-need-to-live-to-hold-money-with-wise
currency support: https://wise.com/help/articles/2571907/what-currencies-can-i-send-to-and-from
integration guide: https://www.ibkrguides.com/orgportal/transferandpay/wise-transfer.htm
funding guidance: https://www.interactivebrokers.com/campus/gabe-funding-demo/
FX schedule: https://www.interactivebrokers.com/en/pricing/commissions-spot-currencies.php
Kenyan delivery guide: https://wise.com/help/articles/2932362/guide-to-kes-transfers
card eligibility: https://wise.com/help/articles/2968915/can-i-get-the-wise-card-in-my-country
card usage restrictions: https://wise.com/help/articles/2935771/where-will-my-wise-card-work
residence-change guide: https://wise.com/help/articles/3umiLdiQoFLxh0xP36MEIO/how-do-i-update-my-country-of-residence
10.1257/app.20140010: https://doi.org/10.1257/app.20140010
10.1016/j.jdeveco.2014.01.005: https://doi.org/10.1016/j.jdeveco.2014.01.005
Additional content sources:
[]
Workbook provenance:
C:\Users\Nevo\Downloads\financial material\US Markets and Portfolio Construction\US_Markets_Portfolio_Construction_Final_Workbook.xlsx
'P09 DCA &amp; Contributions'!A3:C4
5a040bdadf9c5682f5370a882c44aec18bb6359ea96bcd8121b634d35620ab38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iidf-03/" TargetMode="External"/><Relationship Id="rId2" Type="http://schemas.openxmlformats.org/officeDocument/2006/relationships/hyperlink" Target="https://doi.org/10.1257/aer.104.1.183" TargetMode="External"/><Relationship Id="rId3" Type="http://schemas.openxmlformats.org/officeDocument/2006/relationships/hyperlink" Target="https://remittanceprices.worldbank.org/sites/default/files/2026-04/RPW_main_report_and_annex_Q325.pdf" TargetMode="External"/><Relationship Id="rId4" Type="http://schemas.openxmlformats.org/officeDocument/2006/relationships/hyperlink" Target="https://www.interactivebrokers.com/en/accounts/open-account-country-list.php" TargetMode="External"/><Relationship Id="rId5" Type="http://schemas.openxmlformats.org/officeDocument/2006/relationships/hyperlink" Target="https://wise.com/help/articles/2813542/where-do-i-need-to-live-to-hold-money-with-wise" TargetMode="External"/><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Moving Money with Purpose: Investing and Supporting Family Across Borders</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 fictional family coordinating investments and family support across Nairobi, Manchester and Dublin.</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IIDF-03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Which IBKR, Wise, bank, and remittance routes work for the actual customer and currency?</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How can investing and dependable family support share a workable household plan?</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Sender debit — total amount leaving the sender; GBP</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Delivered amount — net recipient cash; KES</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FX quote — offered KES per GBP, with time and expiry</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Investable surplus — income after essentials, support and reserve funding</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payment route / Bank funding to a broker</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Sender location, account eligibility, currency and recipient determine the available route.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documented same-name transfer links the bank account, currency conversion and broker deposit.</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Wise and Kenya / Comparing transfer quotes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Service availability follows the customer’s account and corridor. Date the route being discussed.</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useful comparison is the amount received after fees and conversion.</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Regular family support / Coordinating support and investing</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reserve and a transfer rhythm help the family meet recurring needs.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household can assign separate amounts and dates to support, reserves and investment contributions.</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Compare what the recipient actually receives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Recipient KES = (GBP budget − GBP fee) × KES/GBP − recipient charge</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Route A: (500 − 5) × 165 = KES 81,675; Route B: 500 × 162 = KES 81,000</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A zero transfer fee does not necessarily produce more recipient cash. Route A delivers KES 675 more.</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P09 DCA &amp; Contributions: follow the saved workbook</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IIDF-03-01-p1.png">    </p:cNvPr>
          <p:cNvPicPr>
            <a:picLocks noChangeAspect="1"/>
          </p:cNvPicPr>
          <p:nvPr/>
        </p:nvPicPr>
        <p:blipFill>
          <a:blip r:embed="rId1"/>
          <a:stretch>
            <a:fillRect/>
          </a:stretch>
        </p:blipFill>
        <p:spPr>
          <a:xfrm>
            <a:off x="612648" y="3127930"/>
            <a:ext cx="10972800" cy="1132492"/>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P09 DCA &amp; Contributions!A3:C4</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Companion teaching bridge from another series; not a reconstruction of this article’s case.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The household budget comes before the broker transfer</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GBP 3,000 − 1,800 essentials − 400 support − 300 reserve = GBP 500.</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An additional GBP 250 essential expense arises.</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Monthly investable surplus falls to GBP 250. Do not fund the unchanged contribution by quietly removing support or reserves.</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SAVED WEB DEMONSTRATION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focused calculator demonstration</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pic>
        <p:nvPicPr>
          <p:cNvPr id="8" name="Image 0" descr="C:\Users\Nevo\Downloads\financial material\Publishing and Video Production\Presentation Assets\Evidence\Web\global-funding-summary.png">    </p:cNvPr>
          <p:cNvPicPr>
            <a:picLocks noChangeAspect="1"/>
          </p:cNvPicPr>
          <p:nvPr/>
        </p:nvPicPr>
        <p:blipFill>
          <a:blip r:embed="rId1"/>
          <a:stretch>
            <a:fillRect/>
          </a:stretch>
        </p:blipFill>
        <p:spPr>
          <a:xfrm>
            <a:off x="2091340" y="1810512"/>
            <a:ext cx="4385247" cy="4334256"/>
          </a:xfrm>
          <a:prstGeom prst="rect">
            <a:avLst/>
          </a:prstGeom>
        </p:spPr>
      </p:pic>
      <p:sp>
        <p:nvSpPr>
          <p:cNvPr id="9" name="Shape 6"/>
          <p:cNvSpPr/>
          <p:nvPr/>
        </p:nvSpPr>
        <p:spPr>
          <a:xfrm>
            <a:off x="8275320" y="1865376"/>
            <a:ext cx="3291840" cy="4160520"/>
          </a:xfrm>
          <a:prstGeom prst="rect">
            <a:avLst/>
          </a:prstGeom>
          <a:solidFill>
            <a:srgbClr val="E9EFE7"/>
          </a:solidFill>
          <a:ln w="12700">
            <a:solidFill>
              <a:srgbClr val="E9EFE7">
                <a:alpha val="0"/>
              </a:srgbClr>
            </a:solidFill>
            <a:prstDash val="solid"/>
          </a:ln>
        </p:spPr>
      </p:sp>
      <p:sp>
        <p:nvSpPr>
          <p:cNvPr id="10" name="Text 7"/>
          <p:cNvSpPr/>
          <p:nvPr/>
        </p:nvSpPr>
        <p:spPr>
          <a:xfrm>
            <a:off x="8513064" y="2112264"/>
            <a:ext cx="279806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WHAT THIS TOOL DOES</a:t>
            </a:r>
            <a:endParaRPr lang="en-US" sz="1200" dirty="0"/>
          </a:p>
        </p:txBody>
      </p:sp>
      <p:sp>
        <p:nvSpPr>
          <p:cNvPr id="11" name="Text 8"/>
          <p:cNvSpPr/>
          <p:nvPr/>
        </p:nvSpPr>
        <p:spPr>
          <a:xfrm>
            <a:off x="8513064" y="2633472"/>
            <a:ext cx="2798064" cy="1847088"/>
          </a:xfrm>
          <a:prstGeom prst="rect">
            <a:avLst/>
          </a:prstGeom>
          <a:noFill/>
          <a:ln/>
        </p:spPr>
        <p:txBody>
          <a:bodyPr wrap="square" lIns="0" tIns="0" rIns="0" bIns="0" rtlCol="0" anchor="t"/>
          <a:lstStyle/>
          <a:p>
            <a:pPr indent="0" marL="0">
              <a:spcAft>
                <a:spcPts val="600"/>
              </a:spcAft>
              <a:buNone/>
            </a:pPr>
            <a:r>
              <a:rPr lang="en-US" sz="1900" dirty="0">
                <a:solidFill>
                  <a:srgbClr val="163047"/>
                </a:solidFill>
                <a:latin typeface="Aptos" pitchFamily="34" charset="0"/>
                <a:ea typeface="Aptos" pitchFamily="34" charset="-122"/>
                <a:cs typeface="Aptos" pitchFamily="34" charset="-120"/>
              </a:rPr>
              <a:t>Compare funding and FX charges for the same amount and route. Check the customer, account ownership and currency assumptions.</a:t>
            </a:r>
            <a:endParaRPr lang="en-US" sz="1900" dirty="0"/>
          </a:p>
        </p:txBody>
      </p:sp>
      <p:sp>
        <p:nvSpPr>
          <p:cNvPr id="12" name="Text 9"/>
          <p:cNvSpPr/>
          <p:nvPr/>
        </p:nvSpPr>
        <p:spPr>
          <a:xfrm>
            <a:off x="8513064" y="4617720"/>
            <a:ext cx="2798064" cy="1188720"/>
          </a:xfrm>
          <a:prstGeom prst="rect">
            <a:avLst/>
          </a:prstGeom>
          <a:noFill/>
          <a:ln/>
        </p:spPr>
        <p:txBody>
          <a:bodyPr wrap="square" lIns="0" tIns="0" rIns="0" bIns="0" rtlCol="0" anchor="t"/>
          <a:lstStyle/>
          <a:p>
            <a:pPr indent="0" marL="0">
              <a:spcAft>
                <a:spcPts val="600"/>
              </a:spcAft>
              <a:buNone/>
            </a:pPr>
            <a:r>
              <a:rPr lang="en-US" sz="1650" b="1" dirty="0">
                <a:solidFill>
                  <a:srgbClr val="163047"/>
                </a:solidFill>
                <a:latin typeface="Aptos" pitchFamily="34" charset="0"/>
                <a:ea typeface="Aptos" pitchFamily="34" charset="-122"/>
                <a:cs typeface="Aptos" pitchFamily="34" charset="-120"/>
              </a:rPr>
              <a:t>Fund domicile, residence and tax treatment require the separate article record.</a:t>
            </a:r>
            <a:endParaRPr lang="en-US" sz="1650" dirty="0"/>
          </a:p>
        </p:txBody>
      </p:sp>
      <p:sp>
        <p:nvSpPr>
          <p:cNvPr id="13" name="Text 10"/>
          <p:cNvSpPr/>
          <p:nvPr/>
        </p:nvSpPr>
        <p:spPr>
          <a:xfrm>
            <a:off x="594360" y="6199632"/>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Saved production page • /calculators/global-funding/ • captured 2026-09-25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A usable payment route requires eligible accounts, supported currencies and a workable recipient channel. Compare delivered cash, then give support, reserves and investment contributions their own amounts and dates.</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Save a same-time route comparison with total debit, recipient amount, eligibility, arrival time and quote expiry.</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IIDF-03</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sokointel.com/read/iidf-03/</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10.1257/aer.104.1.183</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Q3 2025 report</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account country list</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balance eligibility</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Moving Money with Purpose: Investing and Supporting Family Across Borders</dc:title>
  <dc:subject>Which IBKR, Wise, bank, and remittance routes work for the actual customer and currency? | How can investing and dependable family support share a workable household plan?</dc:subject>
  <dc:creator>Sokointel</dc:creator>
  <cp:lastModifiedBy>Sokointel</cp:lastModifiedBy>
  <cp:revision>1</cp:revision>
  <dcterms:created xsi:type="dcterms:W3CDTF">2026-09-25T13:49:38Z</dcterms:created>
  <dcterms:modified xsi:type="dcterms:W3CDTF">2026-09-25T13:49:38Z</dcterms:modified>
</cp:coreProperties>
</file>