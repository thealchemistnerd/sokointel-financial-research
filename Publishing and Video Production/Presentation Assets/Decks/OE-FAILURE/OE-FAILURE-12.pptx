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OE-FAILURE-12: Nakumatt and Tuskys: two retail distress records
ARTICLE: https://sokointel.com/read/oe-failure-12/
RESEARCH SNAPSHOT: 10 September 2026
OPENING NARRATION
Two separate retail court records establish dated legal events and attributed claims; a fictional store then demonstrates the operating review that historical company records would need to support.
Dated Nakumatt/Tuskys evidence • store calculations are fictional
Introduce the decision before defining the technical terms.
ARTICLE SECTION: Opening
Revised practical article; source details and figures are dated to their cited filing or event, with current evidence reviewed through 24 September 2026.
Nakumatt and Tuskys are often discussed together as Kenyan supermarket failures. They are useful cases for asking what went wrong in a cash-intensive retail model, but their court records do not tell one interchangeable story. Each had its own legal company, creditor list, financing, operating history, and process. A retrospective that treats both as one event loses the facts that matter to an owner or lender.
The first step is to identify the legal entity behind each brand:
 Nakumatt Holdings Limited was placed under administration by a High Court order on 22 January 2018, according to the court’s 2021 ruling [1].
 Tusker Mattresses Limited operated the supermarket chain using the Tuskys name, according to the High Court judgment of 31 May 2023 [2]. That judgment issued an interim liquidation order and appointed a provisional liquidator.
Administration and liquidation are different legal stages. Administration can be used to pursue a rescue or a better outcome for creditors. Liquidation involves winding up the company under the applicable process. One company’s status cannot be inferred from the other’s.
ARTICLE SECTION: Distinguish profitable sales from cash-consuming growth
A retailer can grow sales by adding stores, extending credit to wholesale customers, widening the assortment or discounting to increase basket size. Each choice changes cash needs. A new location creates deposits, fit-out, opening inventory, staff and rent before reaching a stable volume. A promotion can lift sales and still destroy contribution if discount, handling and shrinkage exceed the incremental margin. More SKU variety can improve customer choice but increase slow stock and replenishment complexity.
A store-level contribution report should start with net sales after discounts and returns, then subtract landed product cost, direct store payroll, payment fees, packaging, delivery, shrinkage, utilities and rent. Show central distribution and head-office allocation separately so that the reader can see the allocation rule. Then compare the store's contribution with opening costs, refurbishment and working-capital requirements. If a location is consistently negative, decide whether it is in a funded ramp period, strategically necessary, or structurally uneconomic. Avoid allowing a profitable flagship to conceal chronic losses at another site.
Category analysis should follow margin and cash turn together. A fast-selling item with a small contribution can still be valuable if it brings customers who buy higher-margin products; a high-margin product may be poor cash if it sits for months or spoils. Track gross contribution per shelf or unit of inventory, markdowns, write-offs, returns, promotions, stock-outs and supplier rebates. Verify that rebates are earned, collectible and not already netted against purchase cost.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OE-FAILURE-12: Nakumatt and Tuskys: two retail distress records
ARTICLE: https://sokointel.com/read/oe-failure-12/
RESEARCH SNAPSHOT: 10 September 2026
Read the questions naturally and define terms in context.
Claim — a creditor's stated amount; admission and recovery remain separate
KES m — millions of Kenyan shillings; keep original claim precision in the ledger
Gross margin — gross profit ÷ net sales; a percentage of sales
Percentage point — the difference between two percentage levels
Store contribution — gross profit less the listed direct costs; KES/month
Research question mapping: Which warning was visible at the time rather than only after the outcome?; What do Nakumatt and Tuskys records establish about retail cash-cycle stress?; What can Twiga and Copia legal and funding records show, and what remains unknown?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OE-FAILURE-12: Nakumatt and Tuskys: two retail distress records
ARTICLE: https://sokointel.com/read/oe-failure-12/
RESEARCH SNAPSHOT: 10 September 2026
Case Register C6:I7; Timeline C6:I10; Appendix 02 A2.1. The 11 March 2021 Nakumatt ruling records the 22 January 2018 administration order: https://new.kenyalaw.org/akn/ke/judgment/kehc/2021/8603/eng@2021-03-11. The 31 May 2023 Tusker Mattresses judgment issued an interim liquidation order and appointed a provisional liquidator: https://new.kenyalaw.org/akn/ke/judgment/kehc/2023/18107/eng@2023-05-31. Do not collapse these into one failure date or assert that administration itself was liquidation. The 16 October 2025 ruling records a request for time for forensic work and a statement of affairs, not the completed forensic findings: https://new.kenyalaw.org/akn/ke/judgment/kehc/2025/14728/eng@2025-10-16. Evidence cutoff: 24 September 2026; later status requires a new record check.
Narration: explain each step and its consequence for the opening decision.
ARTICLE SECTION: Opening
Revised practical article; source details and figures are dated to their cited filing or event, with current evidence reviewed through 24 September 2026.
Nakumatt and Tuskys are often discussed together as Kenyan supermarket failures. They are useful cases for asking what went wrong in a cash-intensive retail model, but their court records do not tell one interchangeable story. Each had its own legal company, creditor list, financing, operating history, and process. A retrospective that treats both as one event loses the facts that matter to an owner or lender.
The first step is to identify the legal entity behind each brand:
 Nakumatt Holdings Limited was placed under administration by a High Court order on 22 January 2018, according to the court’s 2021 ruling [1].
 Tusker Mattresses Limited operated the supermarket chain using the Tuskys name, according to the High Court judgment of 31 May 2023 [2]. That judgment issued an interim liquidation order and appointed a provisional liquidator.
Administration and liquidation are different legal stages. Administration can be used to pursue a rescue or a better outcome for creditors. Liquidation involves winding up the company under the applicable process. One company’s status cannot be inferred from the other’s.
ARTICLE SECTION: Compare the records without turning them into one story
Nakumatt and Tuskys help an owner study two parts of retail distress: the operating cash cycle and the legal process that follows when obligations cannot be met. The materials currently cited show different formal proceedings and different windows into the companies. Nakumatt entered administration in January 2018; the 2021 ruling later summarized an administrator update, creditor payments and tasks that remained [1]. Tusker Mattresses faced consolidated creditor petitions and a 2023 interim liquidation order; a 2025 ruling later recorded the interim liquidator's request for time to engage a forensic auditor and complete the statement of affairs [2, 3].
The distinction changes what a reader can safely infer. A court record may identify the entity, procedural stage, dates, creditor claims and directions. It may not provide a clean history of every store's economics or all claims admitted. A later request for forensic work suggests that the financial reconstruction was still in progress at that point; it does not tell us what the final report concluded. A retrospective should update the status when a later court order or liquidator report becomes available, while keeping earlier statements in their original date context.
The two records should therefore be kept in separate case folders. Do not combine petition amounts, administrator receipts, store counts, assets or creditor recoveries unless each source establishes that they cover comparable scopes. Do not treat the same brand, supplier or landlord as proof that the legal estates are the same. If a creditor traded with both companies, record each contract and claim against the correct entity.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OE-FAILURE-12: Nakumatt and Tuskys: two retail distress records
ARTICLE: https://sokointel.com/read/oe-failure-12/
RESEARCH SNAPSHOT: 10 September 2026
Evidence Ledger C5:I12 and Evidence Vectors; Appendix 02 A2.2. Nakumatt's update was dated 1 February 2021 and summarized publicly in the 11 March 2021 ruling; the covered cash-flow period and transaction dates are not fully stated. Preserve the exact reported KES 5,218,737,409 raised and KES 766,641,309 landlord payments in the ledger. More than KES 3.5bn is a lower bound, and landlord payments are included, so adding them double counts. These reported receipts are not sales or a current bank balance. Tuskys arithmetic: KES 248,220,797.38 + 11,284,096.50 + 30,892,518.92 = KES 290,397,412.80. Label this analyst sum of three petitioners' claims, not all liabilities or investor loss. Sources: Nakumatt ruling, 11 March 2021, https://new.kenyalaw.org/akn/ke/judgment/kehc/2021/8603/eng@2021-03-11; Tusker Mattresses judgment, 31 May 2023, https://new.kenyalaw.org/akn/ke/judgment/kehc/2023/18107/eng@2023-05-31.
Narration: explain each step and its consequence for the opening decision.
ARTICLE SECTION: A more useful cash comparison than a final-year headline
A disciplined retailer analysis would compare at least three levels of evidence. First, store and category contribution explains whether sales covered direct product, service and location costs. Second, the group cash bridge explains whether the business funded stock, rent, staff, tax and debt on time. Third, the insolvency record explains what the administrator or liquidator later reported about assets, claims, payments and remaining tasks. A strong result at one level does not answer the other two.
A final-year profit can include noncash valuation movements or accruals, while a final-year cash receipt can come from new debt, sale proceeds or a temporary supplier stretch. A retailer with a negative operating contribution cannot be rescued indefinitely by delaying invoices. But an unpaid supplier balance alone does not tell us whether the stores could have been viable with new equity, a sale, fewer locations or better purchasing terms. The retrospective needs both an operating and financing counterfactual.
A case table can make that boundary plain:
| Question | Evidence that would answer it | What the public judgments cited here establish |
|---|---|---|
| Were stores contributing after rent and direct costs? | Store-level management accounts and lease schedules | Not available in the cited rulings |
| How large and old was inventory? | Stock ledger, counts, write-offs and administrator valuation | Not a complete SKU or age profile |
| What was owed to creditors? | Verified statement of affairs, admitted claims and security | Particular claims and administrator-reported payments, not a universal final balance |
| What cash arrived from asset or store disposals? | Bank records and administrator realization statement | Some administrator-reported collections for Nakumatt; not a full disposition ledger |
| What could owners have changed earlier? | Contemporaneous forecasts, board records, contracts and supplier terms | Not established by the court summaries alone |
The table helps a reader distinguish a limitation of public evidence from a claim that the records do not exist. A further research step is to obtain or locate the administrator's update reports, liquidation statements, audited accounts and formal creditor schedules, then match each to the correct proceeding.
ARTICLE SECTION: What the Nakumatt court record says
In March 2021, the High Court considered the administrator’s update report dated 1 February 2021. The judgment states that the administrator reported having raised KSh 5,218,737,409 and paid more than KSh 3.5 billion to creditors, including KSh 766,641,309 to landlords [1]. It then summarizes the administrator’s belief that Nakumatt had no property that might allow a distribution to creditors, while debts and legal cases remained to be managed. The court extended the administration to allow the administrator to carry out tasks in the report and disapplied parts of the statutory process.
This is an important distinction. The court’s summary of the administrator’s report is evidence of what the report stated. It is not a complete audited cash-flow history for the retailer. The judgment does not tell us what the business’s average cash conversion cycle was in each pre-administration year, what every asset sold for, or the final recovery received by each creditor. Nor does the reference to “no property” mean that all legal claims had ended. The court allowed administration to continue because matters remained to be managed.
For an owner, the practical question is what records would have shown the pressure before the court process: store-by-store contribution after rent and logistics, inventory ageing and shrinkage, supplier days, rent arrears, customer/supplier settlement timing, borrowing maturity, and uncommitted cash. The case materials reviewed here do not provide a complete contemporaneous data set for each of those measures. The article should not invent one.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OE-FAILURE-12: Nakumatt and Tuskys: two retail distress records
ARTICLE: https://sokointel.com/read/oe-failure-12/
RESEARCH SNAPSHOT: 10 September 2026
Retail Review C5:J12; Cash and CCC C5:N23; Warnings and Actions C5:I14. The fictional store has KES 10m monthly sales, 28% gross margin, KES 1.8m direct payroll and KES 1.2m rent/utilities. Its KES 2.5m average stock less KES 2.2m trade payables leaves KES 0.3m of modeled stock funding; this narrow balance is not all working capital or cash due today. Store-level and dated records would be needed before attributing either named retailer's distress to this mechanism. Working-capital references motivate measurement, not causation for these cases: Deloof, 2003, https://doi.org/10.1111/1468-5957.00008; García-Teruel and Martínez-Solano, 2007, https://doi.org/10.1108/17439130710738718.
Narration: explain each step and its consequence for the opening decision.
ARTICLE SECTION: Map supplier arrears and landlord exposure precisely
A payable schedule should separate current invoices, invoices within agreed terms, disputed amounts, overdue invoices, supplier advances and balances under a signed rescheduling agreement. Reconcile supplier statements to the general ledger and obtain confirmations for the largest balances. A payment delay is not automatically an agreed extension. If the business has exceeded terms, identify which suppliers have stopped deliveries or changed from credit to cash on delivery.
For landlords, list location, legal lessor, rent due date, arrears, deposit, service charges, renewal, break rights, guarantee and any court or termination notice. Store closure may reduce future cash burn but trigger lease claims, employee costs, stock transfers and customer disruption. Compare the cost of closing with the cash contribution and exit obligations of continuing. A retailer that delays rent may preserve immediate liquidity while weakening its ability to keep the sites essential to its sales network.
The accounts payable and lease files also matter to a failure retrospective because they reveal the order of events. If a supplier first requested payment, later stopped deliveries and only then filed a claim, each date belongs in the timeline. If a landlord petition states an amount, record it as a claim until there is an adjudicated or agreed balance. Never turn an aggregate creditor claim into an exact measure of the company's total obligations without evidence.
ARTICLE SECTION: Distinguish profitable sales from cash-consuming growth
A retailer can grow sales by adding stores, extending credit to wholesale customers, widening the assortment or discounting to increase basket size. Each choice changes cash needs. A new location creates deposits, fit-out, opening inventory, staff and rent before reaching a stable volume. A promotion can lift sales and still destroy contribution if discount, handling and shrinkage exceed the incremental margin. More SKU variety can improve customer choice but increase slow stock and replenishment complexity.
A store-level contribution report should start with net sales after discounts and returns, then subtract landed product cost, direct store payroll, payment fees, packaging, delivery, shrinkage, utilities and rent. Show central distribution and head-office allocation separately so that the reader can see the allocation rule. Then compare the store's contribution with opening costs, refurbishment and working-capital requirements. If a location is consistently negative, decide whether it is in a funded ramp period, strategically necessary, or structurally uneconomic. Avoid allowing a profitable flagship to conceal chronic losses at another site.
Category analysis should follow margin and cash turn together. A fast-selling item with a small contribution can still be valuable if it brings customers who buy higher-margin products; a high-margin product may be poor cash if it sits for months or spoils. Track gross contribution per shelf or unit of inventory, markdowns, write-offs, returns, promotions, stock-outs and supplier rebates. Verify that rebates are earned, collectible and not already netted against purchase cost.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OE-FAILURE-12: Nakumatt and Tuskys: two retail distress records
ARTICLE: https://sokointel.com/read/oe-failure-12/
RESEARCH SNAPSHOT: 10 September 2026
Part 12 workbook map; Retail Review row 6. Cost of goods is KES 7.2m and is already captured in gross margin; do not deduct it again. The result is before other costs, financing, tax, maintenance and working-capital timing. It is neither Nakumatt's nor Tuskys's historical contribution, profit or owner earnings.
Equation: Store contribution = sales × gross margin − direct payroll − rent/utilities
Substitution: KES 10.0m × 28% − KES 1.8m − KES 1.2m = KES −0.2m/month
Interpretation: The fictional store's KES 2.8m gross profit does not cover KES 3.0m of listed direct costs. Other costs remain to be funded.
ARTICLE SECTION: How to turn the cases into a testable retail review
A board or lender reviewing a supermarket should put the operating statements next to the cash calendar. Start with sales by store and category, then subtract landed product cost, promotions, shrinkage, payment costs, delivery and store-level payroll. Rent, central distribution and head-office costs need an explicit allocation rule. A store can report positive gross profit and still consume cash after rent, utilities, security and logistics. Conversely, a new store may be temporarily cash-negative while reaching a viable sales base; the records should show whether the ramp was planned and funded.
For inventory, compare purchase receipts with point-of-sale sell-through, age stock by product and store, and mark damaged, expired or slow-moving items separately. For payables, reconcile supplier statements to the ledger and contract terms; an unpaid invoice is not automatically an agreed extension. For rent, list arrears and the next contractual dates by location. Then combine the figures in a weekly forecast that includes payroll, tax, debt payments and realistic supplier settlement dates. These records would help test a cash-cycle explanation. They cannot be imputed to Nakumatt or Tuskys without their underlying data.
Consider a clearly hypothetical store: it earns KSh 10 million in monthly sales, but its gross margin falls by two percentage points while rent and payroll remain fixed. The first response should not be “cut inventory” in the abstract. Management would check whether the margin decline comes from discounts, category mix, supplier cost, waste or pricing; then estimate the cash effect of each action. A blanket stock cut could worsen availability and sales. The useful warning is the bridge between a measured change, its likely cause, and the option that preserves positive contribution.
ARTICLE SECTION: Workbook map
The Project 3 workbook keeps Nakumatt Holdings and Tusker Mattresses separate in Case Register and Timeline. Evidence Ledger preserves what the court records as administrator-reported receipts, creditor payments and petition claims; the three Tuskys petition amounts sum to KSh290,397,412.80, but they are claims in the consolidated petitions, not a complete verified creditor total. Evidence Vectors distinguishes Nakumatt's administrator update date (1 February 2021) from the later judgment date (11 March 2021), records the unknown Tuskys claim-balance date, and flags that KSh3.5bn in creditor payments is a lower bound. Retail Review is a fictional store example also used here: KSh10m monthly sales, 28% gross margin, KSh7.2m cost of goods, KSh1.8m direct payroll and KSh1.2m rent/utilities yield negative KSh200,000 contribution before other costs. Its KSh2.5m average stock less KSh2.2m payables leaves KSh300,000 of modeled stock funding. Neither result reconstructs Nakumatt's or Tuskys's historical accounts.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OE-FAILURE-12: Nakumatt and Tuskys: two retail distress records
ARTICLE: https://sokointel.com/read/oe-failure-12/
RESEARCH SNAPSHOT: 10 September 2026
ACTUAL WORKBOOK CAPTURE
Workbook: C:\Users\Nevo\Downloads\financial material\Owner's Earning\Project 3 - Failure Retrospectives and Warning Systems\Project 3 - Failure Retrospectives and Warning Systems.xlsx
Sheet/range: 'Evidence Ledger'!C5:I12
SHA-256: 056c55f6d4b882fb99469e9092f4f4d1c930676a49b676b7c0dd5ad6e068b14e
Capture method: Microsoft Excel read-only PDF range export. Print headings retained. Source not saved.
Asset: Evidence/Workbooks/OE-FAILURE-12-01-p1.png
SCREEN RECORDING WALKTHROUGH
Read the row and column headings. Identify inputs, follow the dependent row and explain the units. Do not alter the source workbook while recording; use a copy for a new scenario.
Extracted evidence text:
5
6
7
8
9
10
11
12
C D E F G H I
Case Claim / measure Amount Unit Evidence class Source / date Limit / interpretation
NAK-01 Funds raised by administrator 5,218.7 KES million Administrator report summarized by court 2021 ruling [1] Reported amount raised; not annual operating cash flow
NAK-01 Creditor payments 3,500.0 KES million, more than Administrator report summarized by court 2021 ruling [1] Court says more than this amount was paid
NAK-01 Landlord payments 766.6 KES million Administrator report summarized by court 2021 ruling [1] Included in creditor-payment report
TUS-01 Petition claim 1 248.2 KES million Creditor claim 2023 judgment [2] Not automatically admitted liability
TUS-01 Petition claim 2 11.3 KES million Creditor claim 2023 judgment [2] Not automatically admitted liability
TUS-01 Petition claim 3 30.9 KES million Creditor claim 2023 judgment [2] Not all company debt
TUS-01 Sum of three petition claims 290.4 KES million Analyst sum Calculated Sum only; not total creditor liabilities
Relevant article context:
ARTICLE SECTION: A dated evidence ledger for the public cases
The next researcher can make the court-record work reproducible with one row per assertion. Record the quoted statement, the named speaker, legal company, document date, court or administrator status, and whether the amount is a claim, an estimate, a payment, or an adjudicated liability. Keep a separate “known by decision date” view. Nakumatt’s 2021 ruling summarizes a 2021 administrator update; that is valuable evidence of the later process, but not a substitute for a 2016 or 2017 management forecast. The Tuskys petition amounts belong to the petitioners’ assertions as summarized in a 2023 judgment; they should not be added and labelled as all company debt.
A strong later version could connect those ledger rows to audited statements, lease schedules, borrowing documents, inventory records, administrator reports and the liquidator’s statement of affairs. It could then test competing explanations: weak store economics, working-capital stress, financing constraints, governance, or some combination. Until those documents are located, the responsible result is an evidence-bounded comparison of two legal proceedings, not a ranking of which retailer failed “worse.”
ARTICLE SECTION: What the case evidence can and cannot teach
The court materials in this article establish dated legal findings and attributed financial claims; they do not provide the monthly transactional records needed for a complete operating model [1–3]. Peer-reviewed studies of working capital and SME profitability support examining receivable, inventory and payable policies, but their samples and settings do not identify the cause of either Kenyan retailer's distress [4, 5]. Shumway's hazard model shows why distress analysis should consider timing and changing variables rather than classify a company from one annual ratio [6]. The practical lesson is to build a time-aware reconstruction from primary records before deciding whether growth, governance, credit, supplier terms or store economics was decisive.
A useful conclusion can be both bounded and practical: the legal records show that two major supermarket entities reached formal distress processes; their cash-cycle drivers are testable; and the cited public materials do not yet establish a full pre-distress monthly cause-and-effect story. A retailer can use the dashboard, cash forecast, entity map and source ledger now. A researcher can update the historical account when the official statement of affairs or a later court order becomes available.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OE-FAILURE-12: Nakumatt and Tuskys: two retail distress records
ARTICLE: https://sokointel.com/read/oe-failure-12/
RESEARCH SNAPSHOT: 10 September 2026
ACTUAL WORKBOOK CAPTURE
Workbook: C:\Users\Nevo\Downloads\financial material\Owner's Earning\Project 3 - Failure Retrospectives and Warning Systems\Project 3 - Failure Retrospectives and Warning Systems.xlsx
Sheet/range: 'Retail Review'!C5:J12
SHA-256: 056c55f6d4b882fb99469e9092f4f4d1c930676a49b676b7c0dd5ad6e068b14e
Capture method: Microsoft Excel read-only PDF range export. Print headings retained. Source not saved.
Asset: Evidence/Workbooks/OE-FAILURE-12-02-p1.png
SCREEN RECORDING WALKTHROUGH
Read the row and column headings. Identify inputs, follow the dependent row and explain the units. Do not alter the source workbook while recording; use a copy for a new scenario.
Extracted evidence text:
5
6
7
8
9
10
11
12
C D E F G H I J
Store Monthly sales Gross margin Cost of goods Direct payroll Rent / utilities Average inventory Trade payables
Example store 10,000,000 28.0% 7,200,000 1,800,000 1,200,000 2,500,000 2200000
Evidence to obtain Owner Status Next action
Stock by SKU, age and count Operations Open
Reconcile slow stock and 
shrinkage
Supplier invoices and 
contractual dates Finance Open
Separate agreed terms 
from arrears
Store-level rent and exit terms Legal / property Open
Model closure and 
continuation costs
Relevant article context:
ARTICLE SECTION: How to turn the cases into a testable retail review
A board or lender reviewing a supermarket should put the operating statements next to the cash calendar. Start with sales by store and category, then subtract landed product cost, promotions, shrinkage, payment costs, delivery and store-level payroll. Rent, central distribution and head-office costs need an explicit allocation rule. A store can report positive gross profit and still consume cash after rent, utilities, security and logistics. Conversely, a new store may be temporarily cash-negative while reaching a viable sales base; the records should show whether the ramp was planned and funded.
For inventory, compare purchase receipts with point-of-sale sell-through, age stock by product and store, and mark damaged, expired or slow-moving items separately. For payables, reconcile supplier statements to the ledger and contract terms; an unpaid invoice is not automatically an agreed extension. For rent, list arrears and the next contractual dates by location. Then combine the figures in a weekly forecast that includes payroll, tax, debt payments and realistic supplier settlement dates. These records would help test a cash-cycle explanation. They cannot be imputed to Nakumatt or Tuskys without their underlying data.
Consider a clearly hypothetical store: it earns KSh 10 million in monthly sales, but its gross margin falls by two percentage points while rent and payroll remain fixed. The first response should not be “cut inventory” in the abstract. Management would check whether the margin decline comes from discounts, category mix, supplier cost, waste or pricing; then estimate the cash effect of each action. A blanket stock cut could worsen availability and sales. The useful warning is the bridge between a measured change, its likely cause, and the option that preserves positive contribution.
ARTICLE SECTION: The working-capital questions retail owners can use
A supermarket pays suppliers, collects from household shoppers, holds a wide stock range, and carries rent, payroll, security, power, delivery and distribution costs. Cash pressure can come from several directions at once:
 inventory is purchased before it sells;
 supplier terms shorten while customer payment terms remain long;
 slow-moving goods and shrinkage consume cash;
 low-margin promotions generate volume but not enough contribution after handling costs;
 a store adds fixed rent and payroll before it reaches productive volume;
 debt repayment dates fail to match a seasonal trading cycle;
 supplier or landlord arrears reduce the firm’s ability to restock or keep locations open.
Working-capital research reports relationships between receivable, inventory and payable policies and firm performance in defined samples [4], [5]. Those studies motivate measurement, not a claim that one ratio explains a specific retailer’s administration or liquidation. A better operating dashboard would calculate contribution by store and product group, track inventory ageing and shrinkage, compare purchase volumes with sell-through, and show the 13-week cash trough after actual supplier and rent dates.
A negative or shortening cash-conversion cycle can provide some funding if suppliers allow it. It becomes fragile if the business relies on ever-longer overdue payables. A supplier invoice unpaid past its agreed terms is not cheap financing. It is a creditor claim and can damage the supply the business needs to trade.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OE-FAILURE-12: Nakumatt and Tuskys: two retail distress records
ARTICLE: https://sokointel.com/read/oe-failure-12/
RESEARCH SNAPSHOT: 10 September 2026
Controlled fictional sensitivity based on Part 12's two-percentage-point margin example and Retail Review's 28% baseline. A fall from 28% to 26% is two percentage points, not a 2% relative margin reduction. Hold all other modeled inputs fixed; do not infer a new cash balance without receipt and payment dates. Check discounts, category mix, landed cost, waste and pricing before proposing stock cuts or repricing. No causal claim about either named chain follows from this example.
Base: At 28% gross margin, KES 10m sales leaves KES −200,000 monthly contribution.
Changed: Gross margin falls to 26%; hold sales, payroll and rent/utilities fixed.
Consequence: KES 2.6m − 1.8m − 1.2m = KES −400,000/month: a further KES 200,000 shortfall before other costs.
ARTICLE SECTION: How to turn the cases into a testable retail review
A board or lender reviewing a supermarket should put the operating statements next to the cash calendar. Start with sales by store and category, then subtract landed product cost, promotions, shrinkage, payment costs, delivery and store-level payroll. Rent, central distribution and head-office costs need an explicit allocation rule. A store can report positive gross profit and still consume cash after rent, utilities, security and logistics. Conversely, a new store may be temporarily cash-negative while reaching a viable sales base; the records should show whether the ramp was planned and funded.
For inventory, compare purchase receipts with point-of-sale sell-through, age stock by product and store, and mark damaged, expired or slow-moving items separately. For payables, reconcile supplier statements to the ledger and contract terms; an unpaid invoice is not automatically an agreed extension. For rent, list arrears and the next contractual dates by location. Then combine the figures in a weekly forecast that includes payroll, tax, debt payments and realistic supplier settlement dates. These records would help test a cash-cycle explanation. They cannot be imputed to Nakumatt or Tuskys without their underlying data.
Consider a clearly hypothetical store: it earns KSh 10 million in monthly sales, but its gross margin falls by two percentage points while rent and payroll remain fixed. The first response should not be “cut inventory” in the abstract. Management would check whether the margin decline comes from discounts, category mix, supplier cost, waste or pricing; then estimate the cash effect of each action. A blanket stock cut could worsen availability and sales. The useful warning is the bridge between a measured change, its likely cause, and the option that preserves positive contribution.
ARTICLE SECTION: The working-capital questions retail owners can use
A supermarket pays suppliers, collects from household shoppers, holds a wide stock range, and carries rent, payroll, security, power, delivery and distribution costs. Cash pressure can come from several directions at once:
 inventory is purchased before it sells;
 supplier terms shorten while customer payment terms remain long;
 slow-moving goods and shrinkage consume cash;
 low-margin promotions generate volume but not enough contribution after handling costs;
 a store adds fixed rent and payroll before it reaches productive volume;
 debt repayment dates fail to match a seasonal trading cycle;
 supplier or landlord arrears reduce the firm’s ability to restock or keep locations open.
Working-capital research reports relationships between receivable, inventory and payable policies and firm performance in defined samples [4], [5]. Those studies motivate measurement, not a claim that one ratio explains a specific retailer’s administration or liquidation. A better operating dashboard would calculate contribution by store and product group, track inventory ageing and shrinkage, compare purchase volumes with sell-through, and show the 13-week cash trough after actual supplier and rent dates.
A negative or shortening cash-conversion cycle can provide some funding if suppliers allow it. It becomes fragile if the business relies on ever-longer overdue payables. A supplier invoice unpaid past its agreed terms is not cheap financing. It is a creditor claim and can damage the supply the business needs to trade.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OE-FAILURE-12: Nakumatt and Tuskys: two retail distress records
ARTICLE: https://sokointel.com/read/oe-failure-12/
RESEARCH SNAPSHOT: 10 September 2026
REAL WEB CAPTURE
{
  "key": "failure-warning",
  "captured_at": "2026-09-25T13:23:30.274Z",
  "url": "http://127.0.0.1:8765/calculators/failure-warning/#business-results",
  "definitions": [
    {
      "display": "block",
      "text": "All terms are KES for week t: closing cash C, operating receipts R, new owner funds E, new borrowing F and all cash uses U. Opening cash C₀ is unrestricted. No emergency financing is inserted automatically."
    },
    {
      "display": "block",
      "text": "CCC is the cash conversion cycle in days. DIO is inventory days, DSO receivable days and DPO payable days. Use comparable periods and denominators; overdue claims still require review."
    },
    {
      "display": "block",
      "text": "S is the illustrative KES weekly sales input, mᵦ base contribution margin and mₛ downside margin, entered as percentages. This stress assumes constant sales and immediately paid variable costs; it is separate from editable baseline supplier payments."
    }
  ],
  "equations": 3,
  "inputs": [
    {
      "name": "start",
      "value": "2026-09-28"
    },
    {
      "name": "opening",
      "value": "6000000"
    },
    {
      "name": "reserve",
      "value": "750000"
    },
    {
      "name": "receipt_delay",
      "value": "0"
    },
    {
      "name": "financing_delay",
      "value": "0"
    },
    {
      "checked": false,
      "name": "exclude_financing",
      "value": "on"
    },
    {
      "name": "source_note",
      "value": "Illustrative workbook case; replace with dated records"
    },
    {
      "name": "weekly_sales",
      "value": "1500000"
    },
    {
      "name": "base_margin",
      "value": "20"
    },
    {
      "name": "stress_margin",
      "value": "20"
    },
    {
      "name": "supplier_acceleration",
      "value": "0"
    },
    {
      "name": "inventory_tieup",
      "value": "0"
    },
    {
      "name": "overdue_suppliers",
      "value": "0"
    },
    {
      "name": "dio",
      "value": "30"
    },
    {
      "name": "dso",
      "value": "20"
    },
    {
      "name": "dpo",
      "value": "35"
    },
    {
      "name": "stress_dio",
      "value": "45"
    },
    {
      "name": "stress_dso",
      "value": "30"
    },
    {
      "name": "stress_dpo",
      "value": "20"
    },
    {
      "name": "w1_receipts",
      "value": "1400000"
    },
    {
      "name": "w1_down_receipts",
      "value": "900000"
    },
    {
      "name": "w1_suppliers",
      "value": "900000"
    },
    {
      "name": "w1_down_suppliers",
      "value": "1000000"
    },
    {
      "name": "w1_fixed",
      "value": "350000"
    },
    {
      "name": "w1_other_due",
      "value": "180000"
    },
    {
      "name": "w2_receipts",
      "value": "1200000"
    },
    {
      "name": "w2_down_receipts",
      "value": "700000"
    },
    {
      "name": "w2_suppliers",
      "value": "800000"
    },
    {
      "name": "w2_down_suppliers",
      "value": "900000"
    },
    {
      "name": "w2_fixed",
      "value": "350000"
    },
    {
      "name": "w2_other_due",
      "value": "180000"
    },
    {
      "name": "w3_receipts",
      "value": "1600000"
    },
    {
      "name": "w3_down_receipts",
      "value": "1000000"
    },
    {
      "name": "w3_suppliers",
      "value": "1000000"
    },
    {
      "name": "w3_down_suppliers",
      "value": "1150000"
    },
    {
      "name": "w3_fixed",
      "value": "350000"
    },
    {
      "name": "w3_other_due",
      "value": "180000"
    },
    {
      "name": "w4_receipts",
      "value": "1000000"
    },
    {
      "name": "w4_down_receipts",
      "value": "600000"
    },
    {
      "name": "w4_suppliers",
      "value": "800000"
    },
    {
      "name": "w4_down_suppliers",
      "value": "900000"
    },
    {
      "name": "w4_fixed",
      "value": "350000"
    },
    {
      "name": "w4_other_due",
      "value": "180000"
    },
    {
      "name": "w5_receipts",
      "value": "2200000"
    },
    {
      "name": "w5_down_receipts",
      "value": "1200000"
    },
    {
      "name": "w5_suppliers",
      "value": "1300000"
    },
    {
      "name": "w5_down_suppliers",
      "value": "1450000"
    },
    {
      "name": "w5_fixed",
      "value": "350000"
    },
    {
      "name": "w5_other_due",
      "value": "180000"
    },
    {
      "name": "w6_receipts",
      "value": "1500000"
    },
    {
      "name": "w6_down_receipts",
      "value": "900000"
    },
    {
      "name": "w6_suppliers",
      "value": "900000"
    },
    {
      "name": "w6_down_suppliers",
      "value": "1000000"
    },
    {
      "name": "w6_fixed",
      "value": "350000"
    },
    {
      "name": "w6_other_due",
      "value": "180000"
    },
    {
      "name": "w7_receipts",
      "value": "900000"
    },
    {
      "name": "w7_down_receipts",
      "value": "500000"
    },
    {
      "name": "w7_suppliers",
      "value": "750000"
    },
    {
      "name": "w7_down_suppliers",
      "value": "850000"
    },
    {
      "name": "w7_fixed",
      "value": "350000"
    },
    {
      "name": "w7_other_due",
      "value": "180000"
    },
    {
      "name": "w8_receipts",
      "value": "1800000"
    },
    {
      "name": "w8_down_receipts",
      "value": "1100000"
    },
    {
      "name": "w8_suppliers",
      "value": "1100000"
    },
    {
      "name": "w8_down_suppliers",
      "value": "1250000"
    },
    {
      "name": "w8_fixed",
      "value": "350000"
    },
    {
      "name": "w8_other_due",
      "value": "180000"
    },
    {
      "name": "w9_receipts",
      "value": "1300000"
    },
    {
      "name": "w9_down_receipts",
      "value": "750000"
    },
    {
      "name": "w9_suppliers",
      "value": "900000"
    },
    {
      "name": "w9_down_suppliers",
      "value": "950000"
    },
    {
      "name": "w9_fixed",
      "value": "350000"
    },
    {
      "name": "w9_other_due",
      "value": "180000"
    },
    {
      "name": "w10_receipts",
      "value": "2000000"
    },
    {
      "name": "w10_down_receipts",
      "value": "1250000"
    },
    {
      "name": "w10_suppliers",
      "value": "1250000"
    },
    {
      "name": "w10_down_suppliers",
      "value": "1400000"
    },
    {
      "name": "w10_fixed",
      "value": "350000"
    },
    {
      "name": "w10_other_due",
      "value": "180000"
    },
    {
      "name": "w11_receipts",
      "value": "1200000"
    },
    {
      "name": "w11_down_receipts",
      "value": "700000"
    },
    {
      "name": "w11_suppliers",
      "value": "800000"
    },
    {
      "name": "w11_down_suppliers",
      "value": "900000"
    },
    {
      "name": "w11_fixed",
      "value": "350000"
    },
    {
      "name": "w11_other_due",
      "value": "180000"
    },
    {
      "name": "w12_receipts",
      "value": "1700000"
    },
    {
      "name": "w12_down_receipts",
      "value": "900000"
    },
    {
      "name": "w12_suppliers",
      "value": "1000000"
    },
    {
      "name": "w12_down_suppliers",
      "value": "1150000"
    },
    {
      "name": "w12_fixed",
      "value": "350000"
    },
    {
      "name": "w12_other_due",
      "value": "180000"
    },
    {
      "name": "w13_receipts",
      "value": "1800000"
    },
    {
      "name": "w13_down_receipts",
      "value": "1100000"
    },
    {
      "name": "w13_suppliers",
      "value": "1150000"
    },
    {
      "name": "w13_down_suppliers",
      "value": "1300000"
    },
    {
      "name": "w13_fixed",
      "value": "350000"
    },
    {
      "name": "w13_other_due",
      "value": "180000"
    },
    {
      "name": "w1_other_operating",
      "value": "0"
    },
    {
      "name": "w1_owner_funding",
      "value": "0"
    },
    {
      "name": "w1_financing",
      "value": "0"
    },
    {
      "name": "w1_tax",
      "value": "0"
    },
    {
      "name": "w1_maintenance",
      "value": "0"
    },
    {
      "name": "w1_growth",
      "value": "0"
    },
    {
      "name": "w1_interest",
      "value": "0"
    },
    {
      "name": "w1_principal",
      "value": "0"
    },
    {
      "name": "w1_draws",
      "value": "0"
    },
    {
      "name": "w2_other_operating",
      "value": "0"
    },
    {
      "name": "w2_owner_funding",
      "value": "0"
    },
    {
      "name": "w2_financing",
      "value": "0"
    },
    {
      "name": "w2_tax",
      "value": "0"
    },
    {
      "name": "w2_maintenance",
      "value": "0"
    },
    {
      "name": "w2_growth",
      "value": "0"
    },
    {
      "name": "w2_interest",
      "value": "0"
    },
    {
      "name": "w2_principal",
      "value": "0"
    },
    {
      "name": "w2_draws",
      "value": "0"
    },
    {
      "name": "w3_other_operating",
      "value": "0"
    },
    {
      "name": "w3_owner_funding",
      "value": "0"
    },
    {
      "name": "w3_financing",
      "value": "0"
    },
    {
      "name": "w3_tax",
      "value": "0"
    },
    {
      "name": "w3_maintenance",
      "value": "0"
    },
    {
      "name": "w3_growth",
      "value": "0"
    },
    {
      "name": "w3_interest",
      "value": "0"
    },
    {
      "name": "w3_principal",
      "value": "0"
    },
    {
      "name": "w3_draws",
      "value": "0"
    },
    {
      "name": "w4_other_operating",
      "value": "0"
    },
    {
      "name": "w4_owner_funding",
      "value": "0"
    },
    {
      "name": "w4_financing",
      "value": "0"
    },
    {
      "name": "w4_tax",
      "value": "0"
    },
    {
      "name": "w4_maintenance",
      "value": "0"
    },
    {
      "name": "w4_growth",
      "value": "0"
    },
    {
      "name": "w4_interest",
      "value": "0"
    },
    {
      "name": "w4_principal",
      "value": "0"
    },
    {
      "name": "w4_draws",
      "value": "0"
    },
    {
      "name": "w5_other_operating",
      "value": "0"
    },
    {
      "name": "w5_owner_funding",
      "value": "0"
    },
    {
      "name": "w5_financing",
      "value": "0"
    },
    {
      "name": "w5_tax",
      "value": "0"
    },
    {
      "name": "w5_maintenance",
      "value": "0"
    },
    {
      "name": "w5_growth",
      "value": "0"
    },
    {
      "name": "w5_interest",
      "value": "0"
    },
    {
      "name": "w5_principal",
      "value": "0"
    },
    {
      "name": "w5_draws",
      "value": "0"
    },
    {
      "name": "w6_other_operating",
      "value": "0"
    },
    {
      "name": "w6_owner_funding",
      "value": "0"
    },
    {
      "name": "w6_financing",
      "value": "0"
    },
    {
      "name": "w6_tax",
      "value": "0"
    },
    {
      "name": "w6_maintenance",
      "value": "0"
    },
    {
      "name": "w6_growth",
      "value": "0"
    },
    {
      "name": "w6_interest",
      "value": "0"
    },
    {
      "name": "w6_principal",
      "value": "0"
    },
    {
      "name": "w6_draws",
      "value": "0"
    },
    {
      "name": "w7_other_operating",
      "value": "0"
    },
    {
      "name": "w7_owner_funding",
      "value": "0"
    },
    {
      "name": "w7_financing",
      "value": "0"
    },
    {
      "name": "w7_tax",
      "value": "0"
    },
    {
      "name": "w7_maintenance",
      "value": "0"
    },
    {
      "name": "w7_growth",
      "value": "0"
    },
    {
      "name": "w7_interest",
      "value": "0"
    },
    {
      "name": "w7_principal",
      "value": "0"
    },
    {
      "name": "w7_draws",
      "value": "0"
    },
    {
      "name": "w8_other_operating",
      "value": "0"
    },
    {
      "name": "w8_owner_funding",
      "value": "0"
    },
    {
      "name": "w8_financing",
      "value": "0"
    },
    {
      "name": "w8_tax",
      "value": "0"
    },
    {
      "name": "w8_maintenance",
      "value": "0"
    },
    {
      "name": "w8_growth",
      "value": "0"
    },
    {
      "name": "w8_interest",
      "value": "0"
    },
    {
      "name": "w8_principal",
      "value": "0"
    },
    {
      "name": "w8_draws",
      "value": "0"
    },
    {
      "name": "w9_other_operating",
      "value": "0"
    },
    {
      "name": "w9_owner_funding",
      "value": "0"
    },
    {
      "name": "w9_financing",
      "value": "0"
    },
    {
      "name": "w9_tax",
      "value": "0"
    },
    {
      "name": "w9_maintenance",
      "value": "0"
    },
    {
      "name": "w9_growth",
      "value": "0"
    },
    {
      "name": "w9_interest",
      "value": "0"
    },
    {
      "name": "w9_principal",
      "value": "0"
    },
    {
      "name": "w9_draws",
      "value": "0"
    },
    {
      "name": "w10_other_operating",
      "value": "0"
    },
    {
      "name": "w10_owner_funding",
      "value": "0"
    },
    {
      "name": "w10_financing",
      "value": "0"
    },
    {
      "name": "w10_tax",
      "value": "0"
    },
    {
      "name": "w10_maintenance",
      "value": "0"
    },
    {
      "name": "w10_growth",
      "value": "0"
    },
    {
      "name": "w10_interest",
      "value": "0"
    },
    {
      "name": "w10_principal",
      "value": "0"
    },
    {
      "name": "w10_draws",
      "value": "0"
    },
    {
      "name": "w11_other_operating",
      "value": "0"
    },
    {
      "name": "w11_owner_funding",
      "value": "0"
    },
    {
      "name": "w11_financing",
      "value": "0"
    },
    {
      "name": "w11_tax",
      "value": "0"
    },
    {
      "name": "w11_maintenance",
      "value": "0"
    },
    {
      "name": "w11_growth",
      "value": "0"
    },
    {
      "name": "w11_interest",
      "value": "0"
    },
    {
      "name": "w11_principal",
      "value": "0"
    },
    {
      "name": "w11_draws",
      "value": "0"
    },
    {
      "name": "w12_other_operating",
      "value": "0"
    },
    {
      "name": "w12_owner_funding",
      "value": "0"
    },
    {
      "name": "w12_financing",
      "value": "0"
    },
    {
      "name": "w12_tax",
      "value": "0"
    },
    {
      "name": "w12_maintenance",
      "value": "0"
    },
    {
      "name": "w12_growth",
      "value": "0"
    },
    {
      "name": "w12_interest",
      "value": "0"
    },
    {
      "name": "w12_principal",
      "value": "0"
    },
    {
      "name": "w12_draws",
      "value": "0"
    },
    {
      "name": "w13_other_operating",
      "value": "0"
    },
    {
      "name": "w13_owner_funding",
      "value": "0"
    },
    {
      "name": "w13_financing",
      "value": "0"
    },
    {
      "name": "w13_tax",
      "value": "0"
    },
    {
      "name": "w13_maintenance",
      "value": "0"
    },
    {
      "name": "w13_growth",
      "value": "0"
    },
    {
      "name": "w13_interest",
      "value": "0"
    },
    {
      "name": "w13_principal",
      "value": "0"
    },
    {
      "name": "w13_draws",
      "value": "0"
    }
  ],
  "mathErrors": 0,
  "title": "Business cash stress and warning planner | Sokointel",
  "viewport": {
    "height": 720,
    "width": 1280
  },
  "files": [
    "failure-warning-full.png",
    "failure-warning-results.png"
  ],
  "slug": "failure-warning",
  "screenshots": [
    "failure-warning-full.png",
    "failure-warning-results.png"
  ],
  "environment": "local preview; not proof of live deployment",
  "base": "Evidence/Web/20260925-formula-rendering"
}
DEMONSTRATION SCOPE
Inspect a separate fictional weekly stress plan. Pull supplier payments forward or delay receipts, then identify the first reserve and cash breach.
The stress schedule is not the cash record of a named company or a probability of failure.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OE-FAILURE-12: Nakumatt and Tuskys: two retail distress records
ARTICLE: https://sokointel.com/read/oe-failure-12/
RESEARCH SNAPSHOT: 10 September 2026
Answer: The court records support specific entity-level orders and attributed amounts. A retailer can use them to ask better operating questions, but explaining historical cash failure requires the missing store, stock, supplier, bank and insolvency records.
Viewer task: Create separate entity evidence files and one weekly retail review. Assign owners to stock ageing, supplier confirmations, store contribution and the next cash-trough response.
Return to each opening research question and identify what remains conditional or unknown.
ARTICLE SECTION: How to turn the cases into a testable retail review
A board or lender reviewing a supermarket should put the operating statements next to the cash calendar. Start with sales by store and category, then subtract landed product cost, promotions, shrinkage, payment costs, delivery and store-level payroll. Rent, central distribution and head-office costs need an explicit allocation rule. A store can report positive gross profit and still consume cash after rent, utilities, security and logistics. Conversely, a new store may be temporarily cash-negative while reaching a viable sales base; the records should show whether the ramp was planned and funded.
For inventory, compare purchase receipts with point-of-sale sell-through, age stock by product and store, and mark damaged, expired or slow-moving items separately. For payables, reconcile supplier statements to the ledger and contract terms; an unpaid invoice is not automatically an agreed extension. For rent, list arrears and the next contractual dates by location. Then combine the figures in a weekly forecast that includes payroll, tax, debt payments and realistic supplier settlement dates. These records would help test a cash-cycle explanation. They cannot be imputed to Nakumatt or Tuskys without their underlying data.
Consider a clearly hypothetical store: it earns KSh 10 million in monthly sales, but its gross margin falls by two percentage points while rent and payroll remain fixed. The first response should not be “cut inventory” in the abstract. Management would check whether the margin decline comes from discounts, category mix, supplier cost, waste or pricing; then estimate the cash effect of each action. A blanket stock cut could worsen availability and sales. The useful warning is the bridge between a measured change, its likely cause, and the option that preserves positive contribution.
ARTICLE SECTION: Use a weekly rescue review before a legal crisis
An owner or board facing a cash squeeze should meet weekly with finance, merchandising, operations and collections. The first page is a 13-week cash forecast with unrestricted opening cash and named receipts by expected date. The second page lists stock by ageing and criticality, suppliers whose terms changed, rent or tax obligations due, debt maturities and orders that require a deposit. The meeting then decides which spending can be stopped, which collections need escalation, which suppliers require a transparent schedule, and what financing or restructuring conversation must begin.
Every action should be tested for its effect on total economics:
 Will a purchasing freeze prevent stock-out of high-contribution items?
 Will a promotion convert slow inventory into cash after discount, fees and returns?
 Does a supplier extension have written consent and preserve supply?
 Does a location closure save rent and payroll after exit and relocation costs?
 Does a new loan finance a defined recovery or only postpone recurring losses?
 Does new equity or an owner injection fund a viable operation or meet old arrears without a turnaround plan?
The board should establish approval limits and a named person who can update the forecast. If the same owner controls sales, purchasing, supplier setup and payment, add independent review of bank reconciliations, supplier master changes and large disbursements. Weak cash controls can hide error and fraud as well as ordinary timing problems.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OE-FAILURE-12: Nakumatt and Tuskys: two retail distress records
ARTICLE: https://sokointel.com/read/oe-failure-12/
RESEARCH SNAPSHOT: 10 September 2026
SOURCE MATERIAL
[1] In re Nakumatt Holdings Limited (Under Administration), Insolvency Cause No. 10 of 2017, [2021] KEHC 8603 (KLR), ruling delivered March 11, 2021, https://new.kenyalaw.org/akn/ke/judgment/kehc/2021/8603/eng@2021-03-11.
[2] In re Tusker Mattresses Limited, Insolvency Petitions E018 of 2020 &amp; E026 of 2021 and Insolvency Cause E002 of 2020 (consolidated), [2023] KEHC 18107 (KLR), judgment delivered May 31, 2023, https://new.kenyalaw.org/akn/ke/judgment/kehc/2023/18107/eng@2023-05-31.
[3] Hotpoint Appliances Limited &amp; another v Tusker Mattresses Limited &amp; another; Njenga (Suing as Interim Liquidator), [2025] KEHC 14728 (KLR), ruling delivered October 16, 2025, https://new.kenyalaw.org/akn/ke/judgment/kehc/2025/14728/eng@2025-10-16.
[4] M. Deloof, “Does Working Capital Management Affect Profitability of Belgian Firms?” Journal of Business Finance &amp; Accounting, vol. 30, no. 3–4, pp. 573–588, 2003, https://doi.org/10.1111/1468-5957.00008.
[5] P. J. García-Teruel and P. Martínez-Solano, “Effects of Working Capital Management on SME Profitability,” International Journal of Managerial Finance, vol. 3, no. 2, pp. 164–177, 2007, https://doi.org/10.1108/17439130710738718.
[6] T. Shumway, “Forecasting Bankruptcy More Accurately: A Simple Hazard Model,” The Journal of Business, vol. 74, no. 1, pp. 101–124, 2001, https://doi.org/10.1086/209665.
[7] Kenindia Assurance Co Ltd v Administrator, Nakumatt Holdings Ltd (UA) &amp; another, [2025] KEHC 12545 (KLR), ruling delivered 9 September 2025, https://new.kenyalaw.org/akn/ke/judgment/kehc/2025/12545/eng@2025-09-09.
[8] Hotpoint Appliances Limited &amp; another v Tusker Mattresses Limited &amp; another; Njenga (Suing as Interim Liquidator), [2025] KEHC 14728 (KLR), ruling delivered 16 October 2025, https://new.kenyalaw.org/akn/ke/judgment/kehc/2025/14728/eng@2025-10-16.
All linked source URLs:
In re Nakumatt Holdings Limited (Under Administration), Insolvency Cause No. 10 of 2017, [2021] KEHC 8603 (KLR), ruling delivered March 11, 2021: https://new.kenyalaw.org/akn/ke/judgment/kehc/2021/8603/eng@2021-03-11
In re Tusker Mattresses Limited, Insolvency Petitions E018 of 2020 &amp; E026 of 2021 and Insolvency Cause E002 of 2020 (consolidated), [2023] KEHC 18107 : https://new.kenyalaw.org/akn/ke/judgment/kehc/2023/18107/eng@2023-05-31
Hotpoint Appliances Limited &amp; another v Tusker Mattresses Limited &amp; another; Njenga (Suing as Interim Liquidator), [2025] KEHC 14728 (KLR), ruling del: https://new.kenyalaw.org/akn/ke/judgment/kehc/2025/14728/eng@2025-10-16
M. Deloof, “Does Working Capital Management Affect Profitability of Belgian Firms?” Journal of Business Finance &amp; Accounting, vol. 30, no. 3–4, pp. 57: https://doi.org/10.1111/1468-5957.00008
P. J. García-Teruel and P. Martínez-Solano, “Effects of Working Capital Management on SME Profitability,” International Journal of Managerial Finance,: https://doi.org/10.1108/17439130710738718
T. Shumway, “Forecasting Bankruptcy More Accurately: A Simple Hazard Model,” The Journal of Business, vol. 74, no. 1, pp. 101–124, 2001: https://doi.org/10.1086/209665
Kenindia Assurance Co Ltd v Administrator, Nakumatt Holdings Ltd (UA) &amp; another, [2025] KEHC 12545 (KLR), ruling delivered 9 September 2025: https://new.kenyalaw.org/akn/ke/judgment/kehc/2025/12545/eng@2025-09-09
Additional content sources:
[]
Workbook provenance:
C:\Users\Nevo\Downloads\financial material\Owner's Earning\Project 3 - Failure Retrospectives and Warning Systems\Project 3 - Failure Retrospectives and Warning Systems.xlsx
'Evidence Ledger'!C5:I12
056c55f6d4b882fb99469e9092f4f4d1c930676a49b676b7c0dd5ad6e068b14e
C:\Users\Nevo\Downloads\financial material\Owner's Earning\Project 3 - Failure Retrospectives and Warning Systems\Project 3 - Failure Retrospectives and Warning Systems.xlsx
'Retail Review'!C5:J12
056c55f6d4b882fb99469e9092f4f4d1c930676a49b676b7c0dd5ad6e068b14e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sokointel.com/read/oe-failure-12/" TargetMode="External"/><Relationship Id="rId2" Type="http://schemas.openxmlformats.org/officeDocument/2006/relationships/hyperlink" Target="https://new.kenyalaw.org/akn/ke/judgment/kehc/2021/8603/eng@2021-03-11" TargetMode="External"/><Relationship Id="rId3" Type="http://schemas.openxmlformats.org/officeDocument/2006/relationships/hyperlink" Target="https://new.kenyalaw.org/akn/ke/judgment/kehc/2023/18107/eng@2023-05-31" TargetMode="External"/><Relationship Id="rId4" Type="http://schemas.openxmlformats.org/officeDocument/2006/relationships/hyperlink" Target="https://new.kenyalaw.org/akn/ke/judgment/kehc/2025/14728/eng@2025-10-16" TargetMode="External"/><Relationship Id="rId5" Type="http://schemas.openxmlformats.org/officeDocument/2006/relationships/hyperlink" Target="https://doi.org/10.1111/1468-5957.00008" TargetMode="External"/><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Nakumatt and Tuskys: two retail distress records</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Two separate retail court records establish dated legal events and attributed claims; a fictional store then demonstrates the operating review that historical company records would need to support.</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OE-FAILURE-12   •   Dated Nakumatt/Tuskys evidence • store calculations are fictional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Which warning was visible at the time rather than only after the outcome?</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What do Nakumatt and Tuskys records establish about retail cash-cycle stress?</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3. What can Twiga and Copia legal and funding records show, and what remains unknown?</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Claim — a creditor's stated amount; admission and recovery remain separate</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KES m — millions of Kenyan shillings; keep original claim precision in the ledger</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Gross margin — gross profit ÷ net sales; a percentage of sales</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Percentage point — the difference between two percentage levels</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Store contribution — gross profit less the listed direct costs; KES/month</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Two entities, two legal timelines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Nakumatt Holdings Limited: administration order on 22 January 2018.</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Tusker Mattresses Limited: interim liquidation order on 31 May 2023.</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Keep each later report and order attached to its entity and date.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Nakumatt/Tuskys evidence • store calculations are fictional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Keep every amount's evidence label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Nakumatt's administrator reported KES 5,218.737m raised.</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More than KES 3,500m in creditor payments included KES 766.641m to landlords.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Three Tuskys petition claims sum to KES 290.397m; this is not total admitted debt.</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Nakumatt/Tuskys evidence • store calculations are fictional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Build the retailer's operating evidence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Review store sales, product margin, payroll, rent and service costs together.</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Reconcile stock age and supplier due dates; arrears are not agreed credit.</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Connect each cash trough to a named collection, purchasing or supplier action.</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Nakumatt/Tuskys evidence • store calculations are fictional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A positive gross margin can leave a store short</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Store contribution = sales × gross margin − direct payroll − rent/utilities</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KES 10.0m × 28% − KES 1.8m − KES 1.2m = KES −0.2m/month</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The fictional store's KES 2.8m gross profit does not cover KES 3.0m of listed direct costs. Other costs remain to be funded.</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Nakumatt/Tuskys evidence • store calculations are fictional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Evidence Ledger: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FAILURE-12-01-p1.png">    </p:cNvPr>
          <p:cNvPicPr>
            <a:picLocks noChangeAspect="1"/>
          </p:cNvPicPr>
          <p:nvPr/>
        </p:nvPicPr>
        <p:blipFill>
          <a:blip r:embed="rId1"/>
          <a:stretch>
            <a:fillRect/>
          </a:stretch>
        </p:blipFill>
        <p:spPr>
          <a:xfrm>
            <a:off x="612648" y="3069862"/>
            <a:ext cx="10972800" cy="1248629"/>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Evidence Ledger!C5:I12</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Nakumatt/Tuskys evidence • store calculations are fictional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Retail Review: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FAILURE-12-02-p1.png">    </p:cNvPr>
          <p:cNvPicPr>
            <a:picLocks noChangeAspect="1"/>
          </p:cNvPicPr>
          <p:nvPr/>
        </p:nvPicPr>
        <p:blipFill>
          <a:blip r:embed="rId1"/>
          <a:stretch>
            <a:fillRect/>
          </a:stretch>
        </p:blipFill>
        <p:spPr>
          <a:xfrm>
            <a:off x="612648" y="2656379"/>
            <a:ext cx="10972800" cy="2075593"/>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Retail Review!C5:J12</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Nakumatt/Tuskys evidence • store calculations are fictional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Reduce gross margin by two percentage points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At 28% gross margin, KES 10m sales leaves KES −200,000 monthly contribution.</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Gross margin falls to 26%; hold sales, payroll and rent/utilities fixed.</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KES 2.6m − 1.8m − 1.2m = KES −400,000/month: a further KES 200,000 shortfall before other costs.</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LOCAL PREVIEW CAPTURE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pic>
        <p:nvPicPr>
          <p:cNvPr id="8" name="Image 0" descr="C:\Users\Nevo\Downloads\financial material\Publishing and Video Production\Presentation Assets\Evidence\Web\20260925-formula-rendering\failure-warning-results.png">    </p:cNvPr>
          <p:cNvPicPr>
            <a:picLocks noChangeAspect="1"/>
          </p:cNvPicPr>
          <p:nvPr/>
        </p:nvPicPr>
        <p:blipFill>
          <a:blip r:embed="rId1"/>
          <a:stretch>
            <a:fillRect/>
          </a:stretch>
        </p:blipFill>
        <p:spPr>
          <a:xfrm>
            <a:off x="594360" y="1900962"/>
            <a:ext cx="7379208" cy="4153357"/>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Inspect a separate fictional weekly stress plan. Pull supplier payments forward or delay receipts, then identify the first reserve and cash breach.</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The stress schedule is not the cash record of a named company or a probability of failure.</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Local preview • /calculators/failure-warning/ • captured 2026-09-25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The court records support specific entity-level orders and attributed amounts. A retailer can use them to ask better operating questions, but explaining historical cash failure requires the missing store, stock, supplier, bank and insolvency records.</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Create separate entity evidence files and one weekly retail review. Assign owners to stock ageing, supplier confirmations, store contribution and the next cash-trough response.</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12</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sokointel.com/read/oe-failure-12/</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In re Nakumatt Holdings Limited (Under Administration), Insolvency Cause No. 10 of 2017, [2021] KEHC 8603 (KLR), ruling deliv • 2017</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In re Tusker Mattresses Limited, Insolvency Petitions E018 of 2020 &amp; E026 of 2021 and Insolvency Cause E002 of 2020 (consolid • 2020</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Hotpoint Appliances Limited &amp; another v Tusker Mattresses Limited &amp; another; Njenga (Suing as Interim Liquidator), [2025] KEH • 2025</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M. Deloof, “Does Working Capital Management Affect Profitability of Belgian Firms?” Journal of Business Finance &amp; Accounting, • 2003</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Nakumatt and Tuskys: two retail distress records</dc:title>
  <dc:subject>Which warning was visible at the time rather than only after the outcome? | What do Nakumatt and Tuskys records establish about retail cash-cycle stress? | What can Twiga and Copia legal and funding records show, and what remains unknown?</dc:subject>
  <dc:creator>Sokointel</dc:creator>
  <cp:lastModifiedBy>Sokointel</cp:lastModifiedBy>
  <cp:revision>1</cp:revision>
  <dcterms:created xsi:type="dcterms:W3CDTF">2026-09-25T13:49:41Z</dcterms:created>
  <dcterms:modified xsi:type="dcterms:W3CDTF">2026-09-25T13:49:41Z</dcterms:modified>
</cp:coreProperties>
</file>