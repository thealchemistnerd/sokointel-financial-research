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OPENING NARRATION
Twiga-related entities and Copia Kenya are kept on separate legal timelines while a fictional delivery route shows why announced funding cannot substitute for contribution and dated cash.
Evidence cutoff 24 September 2026 • route figures are fictional
Introduce the decision before defining the technical terms.
ARTICLE SECTION: Opening
Revised practical article; source details and figures are dated to their cited filing or event, with current evidence reviewed through 24 September 2026.
A start-up can raise a large sum and still run short of cash. The fundraising figure is not the company’s revenue, bank balance, gross margin, operating cash flow, cash runway, or the amount its owners could withdraw. It describes financing raised across particular entities, investors, instruments, and dates. Grants, equity rounds, convertible notes and debt have different claims and repayment terms. They should be mapped deal by deal before anyone adds them into one headline.
Venture-finance research describes staged financing and the roles investors can play in funding young companies, alongside potential problems in the investment process [1]. That does not mean that capital raised proves the operating model worked. To assess the model, we need transactions, contribution after fulfillment, customer retention, supplier economics, working-capital timing, fixed costs, obligations, and the entity that holds each asset or liability.
ARTICLE SECTION: Separate the funding bridge from the earnings bridge
A useful review keeps two bridges side by side. The funding bridge records opening cash, investor proceeds actually received, borrowing, grants, repayments, and ending cash by legal entity. It also records restrictions, conversion terms, security, maturity, and whether another group company guaranteed the obligation. The earnings bridge starts with completed customer transactions and follows revenue through product cost, fulfilment, payment expense, refunds, support, fixed operating costs, taxes and maintenance investment. Funding proceeds belong in the financing section of the cash-flow view; they are not operating earnings.
This distinction matters when a business is scaling. A large round can temporarily fund a negative contribution per order, a long collection cycle, or a warehouse build-out. Those may be reasonable investments if there is a credible route to better utilization or repeat purchases. They become a warning when added volume deepens the cash deficit and each new location adds fixed commitments without improving contribution. The evidence needed is a period-by-period cohort or route view, plus cash actually received and obligations contracted—not a headline total raised.
For each legal entity, a simple monthly table could show: orders delivered; net sales after returns; variable contribution; cash collected; inventory paid for; receivable ageing; supplier balances; payroll and rent; capital expenditure; debt service; and unrestricted cash. A second table would reconcile intercompany balances and shared services. If the operating company pays costs while an affiliate owns the inventory or receives the sales cash, one combined group total may conceal which company is exposed. Consolidation can be useful for an overall view, but it does not erase legal boundaries in administration or creditor claims.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Read the questions naturally and define terms in context.
Legal recipient — the specific company receiving or owing the financing
Funding status — announced, signed, closed, drawn and received are distinct
USD m — millions of US dollars; no unstated conversion to KES
Route contribution — sales less the listed route costs; KES/week
Administration date — a named entity's legal milestone, not a group-wide loss estimate
Research question mapping: Which warning was visible at the time rather than only after the outcome?; What do Nakumatt and Tuskys records establish about retail cash-cycle stress?; What can Twiga and Copia legal and funding records show, and what remains unknown?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Case Register C8:I10; Timeline C9:I13; Evidence Vectors; Appendix 02. GT Flow Limited was formerly Twiga Foods One Limited; Templar Field Limited was formerly Twiga Foods Limited. Tech-ish's 14 September 2026 report reproduces GT Flow Gazette Notice 14595 and describes publication on 11 September; the source article did not directly verify the official scan: https://tech-ish.com/2026/09/14/twiga-foods-is-in-administration-16-months-after-the-leaked-plan-we-published/. The Templar Field appointment is attributed to a 15 September 2026 report about a company release; 15 September is the report date, not a verified appointment day: https://tech-ish.com/2026/09/15/twiga-foods-templar-field-administration/. Copia Kenya Limited's official Gazette was published 31 May 2024, with appointment effective 23 May: https://new.kenyalaw.org/akn/ke/officialGazette/gazette/2024-05-31/76/eng@2024-05-31/source. The source's 23 April 2026 six-month extension is linked through a secondary judgment reproduction: https://sheriahub.com/cases/ke/caselaw/in-re-copia-kenya-limited-under-administrstion-2026-kehc-5926-klr. Obtain the official court version and latest administration record before describing current status. No group-wide order or final liquidation/recovery is established by these entries.
Narration: explain each step and its consequence for the opening decision.
ARTICLE SECTION: Keep each company name attached to its legal entity
As of the date of this draft, the most important publicly reported recent filing concerns GT Flow Limited, described in contemporaneous reporting as formerly known as Twiga Foods One Limited. Reporting on Kenya Gazette Notice No. 14595 says the company entered administration effective 17 August 2026 and that the notice was published on 11 September 2026 [2]. The reporting says Mohamed Mohamed was appointed administrator under section 541(2) of the Insolvency Act. Because the Gazette issue itself was not accessible for direct reading during this draft’s source check, these details are attributed to reports reproducing the notice; the official notice scan should be attached to the evidence ledger before external publication.
This is a statement about GT Flow Limited. It does not establish that every company, subsidiary, shareholder, creditor or project connected with the Twiga brand entered administration. A separate legal company may own a warehouse, vehicles, software, a subsidiary, or an investment. A creditor claim against one company does not automatically belong to the rest of the group. The article should use “GT Flow Limited” when describing the named appointment and reserve the brand name “Twiga” for the broader business story.
Copia Kenya Limited provides a useful but limited comparator. Kenya Gazette Vol. CXXVI No. 76 gives notice that Anthony Makenzi Muthusi and Julius Mumo Ngonga were appointed administrators effective 23 May 2024 [3]. A 2026 court ruling identifies the matter as Copia Kenya Limited under administration and records a six-month extension of the joint administrators’ term [4]. The two businesses both sought to serve fragmented or underserved markets through logistics and commerce, but their product mix, routes to market, customer units and legal structures differ. Copia is useful for comparing what an administration file can reveal and how a business funds fulfilment. It is not a clean peer for a direct margin or valuation multiple.
ARTICLE SECTION: Separate the two Twiga administrations in the current timeline
The public record changed in September 2026 and the article must describe the companies separately. GT Flow Limited, formerly Twiga Foods One Limited, entered administration effective 17 August 2026 according to Gazette Notice No. 14595 as reported by Tech-ish [2]. Templar Field Limited, formerly Twiga Foods Limited, was also reported to have entered administration through a board appointment in September 2026, with Mohamed A. Mohamed named as administrator [8]. The administrator's company release is described in the secondary report; the official Gazette page for Templar Field was not directly verified in the source check for this article. The appointment date is reported only to the month in that account. Do not convert the two appointments into one group-wide order or infer the outcome for all subsidiaries.
This distinction matters for the operating story. GT Flow was described in prior reporting as an operating entity; Templar Field is the renamed company formerly called Twiga Foods Limited. The administrator's appointment to both entities does not establish that all subsidiaries, acquired distributors, property companies, warehouses, or related entities are in administration. A creditor claim must name the legal debtor. A separate entity may own equipment, employ staff, hold contracts or operate a distribution hub. A later article should add official notices and the exact release to the evidence ledger when obtained.
A 15 September Tech-ish report also states that disclosed funding over Twiga's life totaled approximately US$185.4 million [8]. Treat that as an attributed secondary-source aggregate, not verified proceeds received by either administrator company. The article needs a round-by-round schedule before repeating a headline total as fact: investor and announcement date; amount and currency; whether the figure was announced, committed, closed or received; security or conversion terms; legal recipient; use of funds; FX conversion date and rate; and source quality. A venture round announced in dollars may have been paid in tranches, invested in a parent company, or subject to conditions. The amount cannot be equated with current assets, revenue or losses.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Funding C5:K8 and C12:K18; Evidence Ledger C13:I14. Source: Tech-ish, 15 September 2026, https://tech-ish.com/2026/09/15/twiga-foods-templar-field-administration/. Preserve the workbook labels reported aggregate, multi-entity/unclear, and unknown/not reconciled. This figure is not GT Flow's bank balance, Templar Field's proceeds, operating revenue, runway, valuation or investor loss. Do not fill Copia's blank funding lead with a guessed total. Reconcile investor/lender, instrument, original currency, announced/signed/closed/drawn/received dates, fees, restrictions, legal recipient and bank receipt. Funding instruments and staged investment are discussed in Gompers and Lerner, 2001, https://doi.org/10.1257/jep.15.2.145; that literature does not validate this reported aggregate.
Narration: explain each step and its consequence for the opening decision.
ARTICLE SECTION: Reconcile funding before asking whether it covered losses
Funding should be reconstructed by transaction and recipient. One tab can list equity, convertible securities, grants, loans, asset-backed facilities, customer advances and intercompany transfers. A second tab should show the cash actually received in the recipient's bank account by date. The difference between announced financing and net cash received can be material because of tranches, fees, escrow, investor conditions, foreign exchange, transaction costs and obligations to repay or convert.
For each instrument, record:
| Field | Why it matters |
|---|---|
| Issuer and legal recipient | Identifies which company received or owes the funds |
| Instrument | Equity, note, debt, grant, credit line, customer advance or intercompany loan |
| Status | Announced, signed, closed, drawn, received, repaid, converted or disputed |
| Amount and currency | Keeps the original transaction amount intact |
| Date and conversion basis | Prevents exchange-rate mismatch in an aggregate |
| Seniority and security | Shows which claim ranks ahead of ordinary shares |
| Maturity, coupon and conversion terms | Captures repayment or dilution |
| Use and restrictions | Shows what activity the capital was intended to fund |
| Evidence level | Primary filing, company statement, investor source, press report or unverified |
Then build a group-to-entity waterfall. Start with cash received at the investor-facing company. Show amounts transferred to operating subsidiaries, intercompany loans, capital contributions, repayment, fees and balances still held. If this cannot be reconciled, the correct finding is that public sources describe capital raised but do not establish cash received by the operating company. Do not infer a “cash burn” by subtracting estimated operating costs from an aggregate funding headline: funding may have financed acquisitions, expansion, debt repayment, asset purchases or other entities.
A fundraising timeline also needs the company's ownership and share history. Round valuation is not the value of existing shareholder equity today. Earlier preferred shares may have liquidation preferences, anti-dilution terms, board rights or conversion features. A later down round or administration can change the expected recovery order. The available article sources do not provide a verified cap table and investor waterfall for Twiga or Copia, so the analysis should not estimate investor returns from public round figures alone.
ARTICLE SECTION: Build the cash runway from actual dates and obligations
Use weekly or monthly cash, with a 13-week short-term view rolling into a 12-month funding plan. Identify opening unrestricted cash by entity; verified customer receipts and their expected dates; supplier invoices; payroll and statutory payments; rent; debt and interest; committed capex; taxes; refunds; legal costs; and investor cash only when a signed and funded tranche is sufficiently certain. Put a probability note against uncertain receipts and financing rather than treating all pipeline as available cash.
The lowest cash point is the practical decision date. Work backwards from it to determine when the board must stop expansion, reduce stock, negotiate terms, sell an asset, draw a committed facility or seek a restructuring. The lead time for each action matters. Closing a hub, ending a lease, transferring inventory and notifying employees can take time and create one-off cash obligations. A runway alert delivered after the business has missed payroll or supplier payments is too late to be useful.
For a startup, also show how long the business can operate under a narrower plan. The founders may be able to stop a new market launch, consolidate delivery routes, narrow the product range or collect overdue balances. But a lower burn rate is not automatically sustainable if it also eliminates essential product development, customer support or the service level needed for repeat purchases. Show the trade-off between cash saved and future contribution lost.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Part 13, What would be needed to explain the economics; Test the route economics; Build the cash runway. The fictional weekly route's KES 100,000 sales, 66,000 stock cost, 14,000 delivery/handling and 8,000 transaction/support costs are a teaching bridge, not either company's results. They are distinct from the workbook's separate fictional Cash and CCC schedule C5:N23. Obtain route/cohort records, collection dates, supplier terms, cash restrictions and intercompany reconciliations before calculating a named entity's contribution or runway. García-Teruel and Martínez-Solano, 2007, https://doi.org/10.1108/17439130710738718; Shumway, 2001, https://doi.org/10.1086/209665. Neither provides a causal verdict or calibrated private-company failure probability.
Narration: explain each step and its consequence for the opening decision.
ARTICLE SECTION: What would be needed to explain the economics
For a business that connects suppliers to retailers, an owner-earnings analysis should ask, by legal entity and period:
 What does each transaction earn after product cost, picking, packing, transport, payment fees, spoilage, returns and sales incentives?
 How long does each customer take to pay, and how much stock or supplier credit must be funded before then?
 Does the business own inventory or act as an agent? Who bears price, damage and return risk?
 Which hubs, vehicles, software and other assets are owned, leased or operated by a third party?
 What are fixed costs per hub or route, and how does utilization change them?
 What fraction of customers reorder at a profitable frequency?
 Are supplier claims, customer deposits or loan obligations due before collections arrive?
 Which legal company receives the investor capital and which entity carries the operating costs?
The company needs both a per-unit contribution picture and a total cash calendar. Unit economics without the cash calendar can miss the gap between buying stock and getting paid. A cash forecast without contribution can tell us when cash runs out but not whether each additional order reduces or increases the deficit. SME working-capital studies likewise examine the relationship between cash-cycle choices and performance in defined samples, which supports tracking both dimensions without importing a universal target [6].
For a fictional weekly route, KSh 100,000 of customer sales might require KSh 66,000 for stock, KSh 14,000 for delivery and handling, and KSh 8,000 for transaction and customer-support costs. The KSh 12,000 contribution is not yet owner earnings: central team, hub rent, software, financing, replacement vehicles, taxes and growth investment still have to be funded. This example is invented to show the bridge; it says nothing about Twiga or Copia’s actual margins.
ARTICLE SECTION: Test the route economics before evaluating the funding strategy
A marketplace or distribution platform should measure contribution on the unit it actually sells: delivered order, drop, route, customer, basket, kilogram or hub-day. Keep the unit consistent across sales, product margin and delivery cost. For a fresh-food route, net sales after returns and discounts should be reduced by purchase cost, shrinkage, picking, packaging, delivery fuel, driver time, payment fees, customer support and credit loss. Then show how many repeat orders a route delivers per week, utilization of vehicle and warehouse, average drop size, customer reorder rate and collection delay.
The earlier fictional KSh 100,000 route example leaves KSh 12,000 contribution before central overhead, replacement vehicles, financing, tax and growth [6]. Test what happens when order density falls, fuel rises, spoilage increases or a buyer pays late. More deliveries can improve route utilization and fixed-cost absorption, but only if incremental contribution is positive and the cash is collected. If each added order needs stock paid for now and customer cash arrives weeks later, profitable growth can still require working capital.
A useful dashboard splits customer cohorts and routes. For each cohort, show first order, repeat orders, time to second order, delivered contribution, refunds, sales credit and acquisition cost. For each hub, show throughput, labor, occupancy, spoilage, outbound cost, lease, capex and ramp period. Distinguish a mature route from a new launch. If cohorts never mature into positive contribution, adding locations increases the financing need rather than solving the model.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Part 13's fictional weekly route. All costs and sales cover the same route-week in KES. Show contribution margin separately as KES 12,000 ÷ KES 100,000 = 12%. Receipt and payment dates are not supplied, so a positive contribution does not prove positive weekly bank cash. Never attribute the margin to GT Flow, Templar Field, Twiga or Copia.
Equation: Route contribution = sales − stock − delivery/handling − transaction/support
Substitution: KES 100,000 − 66,000 − 14,000 − 8,000 = KES 12,000/week
Interpretation: The fictional route retains 12% of sales before central overhead, replacement assets, financing, taxes and growth. This is not owner earnings or collected cash.
ARTICLE SECTION: Test the route economics before evaluating the funding strategy
A marketplace or distribution platform should measure contribution on the unit it actually sells: delivered order, drop, route, customer, basket, kilogram or hub-day. Keep the unit consistent across sales, product margin and delivery cost. For a fresh-food route, net sales after returns and discounts should be reduced by purchase cost, shrinkage, picking, packaging, delivery fuel, driver time, payment fees, customer support and credit loss. Then show how many repeat orders a route delivers per week, utilization of vehicle and warehouse, average drop size, customer reorder rate and collection delay.
The earlier fictional KSh 100,000 route example leaves KSh 12,000 contribution before central overhead, replacement vehicles, financing, tax and growth [6]. Test what happens when order density falls, fuel rises, spoilage increases or a buyer pays late. More deliveries can improve route utilization and fixed-cost absorption, but only if incremental contribution is positive and the cash is collected. If each added order needs stock paid for now and customer cash arrives weeks later, profitable growth can still require working capital.
A useful dashboard splits customer cohorts and routes. For each cohort, show first order, repeat orders, time to second order, delivered contribution, refunds, sales credit and acquisition cost. For each hub, show throughput, labor, occupancy, spoilage, outbound cost, lease, capex and ramp period. Distinguish a mature route from a new launch. If cohorts never mature into positive contribution, adding locations increases the financing need rather than solving the model.
ARTICLE SECTION: Reconcile funding before asking whether it covered losses
Funding should be reconstructed by transaction and recipient. One tab can list equity, convertible securities, grants, loans, asset-backed facilities, customer advances and intercompany transfers. A second tab should show the cash actually received in the recipient's bank account by date. The difference between announced financing and net cash received can be material because of tranches, fees, escrow, investor conditions, foreign exchange, transaction costs and obligations to repay or convert.
For each instrument, record:
| Field | Why it matters |
|---|---|
| Issuer and legal recipient | Identifies which company received or owes the funds |
| Instrument | Equity, note, debt, grant, credit line, customer advance or intercompany loan |
| Status | Announced, signed, closed, drawn, received, repaid, converted or disputed |
| Amount and currency | Keeps the original transaction amount intact |
| Date and conversion basis | Prevents exchange-rate mismatch in an aggregate |
| Seniority and security | Shows which claim ranks ahead of ordinary shares |
| Maturity, coupon and conversion terms | Captures repayment or dilution |
| Use and restrictions | Shows what activity the capital was intended to fund |
| Evidence level | Primary filing, company statement, investor source, press report or unverified |
Then build a group-to-entity waterfall. Start with cash received at the investor-facing company. Show amounts transferred to operating subsidiaries, intercompany loans, capital contributions, repayment, fees and balances still held. If this cannot be reconciled, the correct finding is that public sources describe capital raised but do not establish cash received by the operating company. Do not infer a “cash burn” by subtracting estimated operating costs from an aggregate funding headline: funding may have financed acquisitions, expansion, debt repayment, asset purchases or other entities.
A fundraising timeline also needs the company's ownership and share history. Round valuation is not the value of existing shareholder equity today. Earlier preferred shares may have liquidation preferences, anti-dilution terms, board rights or conversion features. A later down round or administration can change the expected recovery order. The available article sources do not provide a verified cap table and investor waterfall for Twiga or Copia, so the analysis should not estimate investor returns from public round figures alone.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ACTUAL WORKBOOK CAPTURE
Workbook: C:\Users\Nevo\Downloads\financial material\Owner's Earning\Project 3 - Failure Retrospectives and Warning Systems\Project 3 - Failure Retrospectives and Warning Systems.xlsx
Sheet/range: 'Funding'!C5:K8
SHA-256: 056c55f6d4b882fb99469e9092f4f4d1c930676a49b676b7c0dd5ad6e068b14e
Capture method: Microsoft Excel read-only PDF range export. Print headings retained. Source not saved.
Asset: Evidence/Workbooks/OE-FAILURE-13-01-p1.png
SCREEN RECORDING WALKTHROUGH
Read the row and column headings. Identify inputs, follow the dependent row and explain the units. Do not alter the source workbook while recording; use a copy for a new scenario.
Extracted evidence text:
5
6
7
8
C D E F G H I J K
Case / entity Funding measure Amount Currency / scale Status Cash actually received Legal recipient Source class Use / 
limitation
TWI-GROUP Twiga disclosed funding aggregate 185.4 USD m Reported aggregate Unknown / not reconciled Multi-entity / unclear Tech-ish secondary report Do not use as earnings, cash balance or a runway input
COPIA Reported funding claim in source capture USD m Unverified lead Unknown Unknown Internal evidence lead only Replace only after transaction-level primary-source screen
Unreconciled Deal-level cash received USD Input pending Enter individual transactions below after evidence review
Relevant article context:
ARTICLE SECTION: Separate the funding bridge from the earnings bridge
A useful review keeps two bridges side by side. The funding bridge records opening cash, investor proceeds actually received, borrowing, grants, repayments, and ending cash by legal entity. It also records restrictions, conversion terms, security, maturity, and whether another group company guaranteed the obligation. The earnings bridge starts with completed customer transactions and follows revenue through product cost, fulfilment, payment expense, refunds, support, fixed operating costs, taxes and maintenance investment. Funding proceeds belong in the financing section of the cash-flow view; they are not operating earnings.
This distinction matters when a business is scaling. A large round can temporarily fund a negative contribution per order, a long collection cycle, or a warehouse build-out. Those may be reasonable investments if there is a credible route to better utilization or repeat purchases. They become a warning when added volume deepens the cash deficit and each new location adds fixed commitments without improving contribution. The evidence needed is a period-by-period cohort or route view, plus cash actually received and obligations contracted—not a headline total raised.
For each legal entity, a simple monthly table could show: orders delivered; net sales after returns; variable contribution; cash collected; inventory paid for; receivable ageing; supplier balances; payroll and rent; capital expenditure; debt service; and unrestricted cash. A second table would reconcile intercompany balances and shared services. If the operating company pays costs while an affiliate owns the inventory or receives the sales cash, one combined group total may conceal which company is exposed. Consolidation can be useful for an overall view, but it does not erase legal boundaries in administration or creditor claims.
ARTICLE SECTION: Reconcile funding before asking whether it covered losses
Funding should be reconstructed by transaction and recipient. One tab can list equity, convertible securities, grants, loans, asset-backed facilities, customer advances and intercompany transfers. A second tab should show the cash actually received in the recipient's bank account by date. The difference between announced financing and net cash received can be material because of tranches, fees, escrow, investor conditions, foreign exchange, transaction costs and obligations to repay or convert.
For each instrument, record:
| Field | Why it matters |
|---|---|
| Issuer and legal recipient | Identifies which company received or owes the funds |
| Instrument | Equity, note, debt, grant, credit line, customer advance or intercompany loan |
| Status | Announced, signed, closed, drawn, received, repaid, converted or disputed |
| Amount and currency | Keeps the original transaction amount intact |
| Date and conversion basis | Prevents exchange-rate mismatch in an aggregate |
| Seniority and security | Shows which claim ranks ahead of ordinary shares |
| Maturity, coupon and conversion terms | Captures repayment or dilution |
| Use and restrictions | Shows what activity the capital was intended to fund |
| Evidence level | Primary filing, company statement, investor source, press report or unverified |
Then build a group-to-entity waterfall. Start with cash received at the investor-facing company. Show amounts transferred to operating subsidiaries, intercompany loans, capital contributions, repayment, fees and balances still held. If this cannot be reconciled, the correct finding is that public sources describe capital raised but do not establish cash received by the operating company. Do not infer a “cash burn” by subtracting estimated operating costs from an aggregate funding headline: funding may have financed acquisitions, expansion, debt repayment, asset purchases or other entities.
A fundraising timeline also needs the company's ownership and share history. Round valuation is not the value of existing shareholder equity today. Earlier preferred shares may have liquidation preferences, anti-dilution terms, board rights or conversion features. A later down round or administration can change the expected recovery order. The available article sources do not provide a verified cap table and investor waterfall for Twiga or Copia, so the analysis should not estimate investor returns from public round figures alone.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ACTUAL WORKBOOK CAPTURE
Workbook: C:\Users\Nevo\Downloads\financial material\Owner's Earning\Project 3 - Failure Retrospectives and Warning Systems\Project 3 - Failure Retrospectives and Warning Systems.xlsx
Sheet/range: 'Timeline'!C9:I13
SHA-256: 056c55f6d4b882fb99469e9092f4f4d1c930676a49b676b7c0dd5ad6e068b14e
Capture method: Microsoft Excel read-only PDF range export. Print headings retained. Source not saved.
Asset: Evidence/Workbooks/OE-FAILURE-13-02-p1.png
SCREEN RECORDING WALKTHROUGH
Read the row and column headings. Identify inputs, follow the dependent row and explain the units. Do not alter the source workbook while recording; use a copy for a new scenario.
Extracted evidence text:
9
10
11
12
13
C D E F G H I
23-May-2024 COP-01 Copia administrators appointed Gazette effective date Official Gazette [3] Court later records extension
16-Oct-2025 TUS-01 Interim liquidator seeks time for forensic audit / statement of affairs Later court ruling Primary court record [3] Request is not final audit outcome
23-Apr-2026 COP-01 Administration term extended six months Ruling date Court judgment copy; source [4] [4] Official Kenya Law version should be preferred
17-Aug-2026 TWI-01 GT Flow administration effective Reported from Gazette Notice 14595 Secondary reproduction of Gazette [7] Obtain direct Gazette scan
15-Sep-2026 TWI-02 Templar Field board appointment reported Release reported 15 Sep; effective day stated 
as September Secondary report on administrator release [8] Exact effective day requires primary release
Relevant article context:
ARTICLE SECTION: Separate the two Twiga administrations in the current timeline
The public record changed in September 2026 and the article must describe the companies separately. GT Flow Limited, formerly Twiga Foods One Limited, entered administration effective 17 August 2026 according to Gazette Notice No. 14595 as reported by Tech-ish [2]. Templar Field Limited, formerly Twiga Foods Limited, was also reported to have entered administration through a board appointment in September 2026, with Mohamed A. Mohamed named as administrator [8]. The administrator's company release is described in the secondary report; the official Gazette page for Templar Field was not directly verified in the source check for this article. The appointment date is reported only to the month in that account. Do not convert the two appointments into one group-wide order or infer the outcome for all subsidiaries.
This distinction matters for the operating story. GT Flow was described in prior reporting as an operating entity; Templar Field is the renamed company formerly called Twiga Foods Limited. The administrator's appointment to both entities does not establish that all subsidiaries, acquired distributors, property companies, warehouses, or related entities are in administration. A creditor claim must name the legal debtor. A separate entity may own equipment, employ staff, hold contracts or operate a distribution hub. A later article should add official notices and the exact release to the evidence ledger when obtained.
A 15 September Tech-ish report also states that disclosed funding over Twiga's life totaled approximately US$185.4 million [8]. Treat that as an attributed secondary-source aggregate, not verified proceeds received by either administrator company. The article needs a round-by-round schedule before repeating a headline total as fact: investor and announcement date; amount and currency; whether the figure was announced, committed, closed or received; security or conversion terms; legal recipient; use of funds; FX conversion date and rate; and source quality. A venture round announced in dollars may have been paid in tranches, invested in a parent company, or subject to conditions. The amount cannot be equated with current assets, revenue or losses.
ARTICLE SECTION: Choose Copia as a comparator for its public record, not as a twin
The canonical programme screens Copia and Zumi as possible second cases and requires a primary-source quality decision. This article retains Copia Kenya Limited because the cited Kenya Gazette identifies its administrator appointment and a 2026 court ruling concerns extension of the administration [3, 4]. That gives the research a dated legal proceeding to compare with the recent Twiga-related appointments. It does not establish Copia's operating economics or make it a clean peer.
Zumi should not be added merely because its story sounds similar. To include it, the researcher would need a verified legal entity, primary evidence of the operating model, dated company or administrator records, financing instruments and a clear closure or insolvency outcome. If those are not available at the same quality, a well-documented Copia legal timeline is more useful than an unsupported three-company comparison. Record this selection rationale in the workbook so future researchers know what was screened out and why.
Copia's administration starting in May 2024 and the later six-month extension are legal-process evidence [3, 4]. They do not tell us whether customer cash was received before procurement, who owned inventory, which subsidiary owed suppliers, or how much investors recovered. The comparison should therefore be organized around questions and evidence availability: entity map, route or channel, funding instrument, customer payment timing, supplier terms, asset ownership, administrator reports, creditor claims and timeline. Avoid direct margin or valuation comparisons unless audited and operating data are comparable.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Presenter-created one-input sensitivity extending the article's explicitly fictional route example; the extra KES 5,000 is an assumed stress, not a reported cost change or named-company estimate. Label it fictional on screen. Funding could pay a temporary cash gap, but it does not improve this contribution calculation. Separately test payment dates and actual bank receipts; do not divide the USD 185.4m reported aggregate by this route cost to invent runway.
Base: Fictional route: KES 14,000 delivery/handling cost leaves KES 12,000 contribution.
Changed: Illustrative stress: delivery/handling rises by KES 5,000 to KES 19,000; all other inputs stay fixed.
Consequence: KES 100,000 − 66,000 − 19,000 − 8,000 = KES 7,000/week, or 7% of sales, before the remaining costs.
ARTICLE SECTION: Test the route economics before evaluating the funding strategy
A marketplace or distribution platform should measure contribution on the unit it actually sells: delivered order, drop, route, customer, basket, kilogram or hub-day. Keep the unit consistent across sales, product margin and delivery cost. For a fresh-food route, net sales after returns and discounts should be reduced by purchase cost, shrinkage, picking, packaging, delivery fuel, driver time, payment fees, customer support and credit loss. Then show how many repeat orders a route delivers per week, utilization of vehicle and warehouse, average drop size, customer reorder rate and collection delay.
The earlier fictional KSh 100,000 route example leaves KSh 12,000 contribution before central overhead, replacement vehicles, financing, tax and growth [6]. Test what happens when order density falls, fuel rises, spoilage increases or a buyer pays late. More deliveries can improve route utilization and fixed-cost absorption, but only if incremental contribution is positive and the cash is collected. If each added order needs stock paid for now and customer cash arrives weeks later, profitable growth can still require working capital.
A useful dashboard splits customer cohorts and routes. For each cohort, show first order, repeat orders, time to second order, delivered contribution, refunds, sales credit and acquisition cost. For each hub, show throughput, labor, occupancy, spoilage, outbound cost, lease, capex and ramp period. Distinguish a mature route from a new launch. If cohorts never mature into positive contribution, adding locations increases the financing need rather than solving the model.
ARTICLE SECTION: Reconcile funding before asking whether it covered losses
Funding should be reconstructed by transaction and recipient. One tab can list equity, convertible securities, grants, loans, asset-backed facilities, customer advances and intercompany transfers. A second tab should show the cash actually received in the recipient's bank account by date. The difference between announced financing and net cash received can be material because of tranches, fees, escrow, investor conditions, foreign exchange, transaction costs and obligations to repay or convert.
For each instrument, record:
| Field | Why it matters |
|---|---|
| Issuer and legal recipient | Identifies which company received or owes the funds |
| Instrument | Equity, note, debt, grant, credit line, customer advance or intercompany loan |
| Status | Announced, signed, closed, drawn, received, repaid, converted or disputed |
| Amount and currency | Keeps the original transaction amount intact |
| Date and conversion basis | Prevents exchange-rate mismatch in an aggregate |
| Seniority and security | Shows which claim ranks ahead of ordinary shares |
| Maturity, coupon and conversion terms | Captures repayment or dilution |
| Use and restrictions | Shows what activity the capital was intended to fund |
| Evidence level | Primary filing, company statement, investor source, press report or unverified |
Then build a group-to-entity waterfall. Start with cash received at the investor-facing company. Show amounts transferred to operating subsidiaries, intercompany loans, capital contributions, repayment, fees and balances still held. If this cannot be reconciled, the correct finding is that public sources describe capital raised but do not establish cash received by the operating company. Do not infer a “cash burn” by subtracting estimated operating costs from an aggregate funding headline: funding may have financed acquisitions, expansion, debt repayment, asset purchases or other entities.
A fundraising timeline also needs the company's ownership and share history. Round valuation is not the value of existing shareholder equity today. Earlier preferred shares may have liquidation preferences, anti-dilution terms, board rights or conversion features. A later down round or administration can change the expected recovery order. The available article sources do not provide a verified cap table and investor waterfall for Twiga or Copia, so the analysis should not estimate investor returns from public round figures alone.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REAL WEB CAPTURE
{
  "key": "failure-warning",
  "captured_at": "2026-09-25T13:23:30.274Z",
  "url": "http://127.0.0.1:8765/calculators/failure-warning/#business-results",
  "definitions": [
    {
      "display": "block",
      "text": "All terms are KES for week t: closing cash C, operating receipts R, new owner funds E, new borrowing F and all cash uses U. Opening cash C₀ is unrestricted. No emergency financing is inserted automatically."
    },
    {
      "display": "block",
      "text": "CCC is the cash conversion cycle in days. DIO is inventory days, DSO receivable days and DPO payable days. Use comparable periods and denominators; overdue claims still require review."
    },
    {
      "display": "block",
      "text": "S is the illustrative KES weekly sales input, mᵦ base contribution margin and mₛ downside margin, entered as percentages. This stress assumes constant sales and immediately paid variable costs; it is separate from editable baseline supplier payments."
    }
  ],
  "equations": 3,
  "inputs": [
    {
      "name": "start",
      "value": "2026-09-28"
    },
    {
      "name": "opening",
      "value": "6000000"
    },
    {
      "name": "reserve",
      "value": "750000"
    },
    {
      "name": "receipt_delay",
      "value": "0"
    },
    {
      "name": "financing_delay",
      "value": "0"
    },
    {
      "checked": false,
      "name": "exclude_financing",
      "value": "on"
    },
    {
      "name": "source_note",
      "value": "Illustrative workbook case; replace with dated records"
    },
    {
      "name": "weekly_sales",
      "value": "1500000"
    },
    {
      "name": "base_margin",
      "value": "20"
    },
    {
      "name": "stress_margin",
      "value": "20"
    },
    {
      "name": "supplier_acceleration",
      "value": "0"
    },
    {
      "name": "inventory_tieup",
      "value": "0"
    },
    {
      "name": "overdue_suppliers",
      "value": "0"
    },
    {
      "name": "dio",
      "value": "30"
    },
    {
      "name": "dso",
      "value": "20"
    },
    {
      "name": "dpo",
      "value": "35"
    },
    {
      "name": "stress_dio",
      "value": "45"
    },
    {
      "name": "stress_dso",
      "value": "30"
    },
    {
      "name": "stress_dpo",
      "value": "20"
    },
    {
      "name": "w1_receipts",
      "value": "1400000"
    },
    {
      "name": "w1_down_receipts",
      "value": "900000"
    },
    {
      "name": "w1_suppliers",
      "value": "900000"
    },
    {
      "name": "w1_down_suppliers",
      "value": "1000000"
    },
    {
      "name": "w1_fixed",
      "value": "350000"
    },
    {
      "name": "w1_other_due",
      "value": "180000"
    },
    {
      "name": "w2_receipts",
      "value": "1200000"
    },
    {
      "name": "w2_down_receipts",
      "value": "700000"
    },
    {
      "name": "w2_suppliers",
      "value": "800000"
    },
    {
      "name": "w2_down_suppliers",
      "value": "900000"
    },
    {
      "name": "w2_fixed",
      "value": "350000"
    },
    {
      "name": "w2_other_due",
      "value": "180000"
    },
    {
      "name": "w3_receipts",
      "value": "1600000"
    },
    {
      "name": "w3_down_receipts",
      "value": "1000000"
    },
    {
      "name": "w3_suppliers",
      "value": "1000000"
    },
    {
      "name": "w3_down_suppliers",
      "value": "1150000"
    },
    {
      "name": "w3_fixed",
      "value": "350000"
    },
    {
      "name": "w3_other_due",
      "value": "180000"
    },
    {
      "name": "w4_receipts",
      "value": "1000000"
    },
    {
      "name": "w4_down_receipts",
      "value": "600000"
    },
    {
      "name": "w4_suppliers",
      "value": "800000"
    },
    {
      "name": "w4_down_suppliers",
      "value": "900000"
    },
    {
      "name": "w4_fixed",
      "value": "350000"
    },
    {
      "name": "w4_other_due",
      "value": "180000"
    },
    {
      "name": "w5_receipts",
      "value": "2200000"
    },
    {
      "name": "w5_down_receipts",
      "value": "1200000"
    },
    {
      "name": "w5_suppliers",
      "value": "1300000"
    },
    {
      "name": "w5_down_suppliers",
      "value": "1450000"
    },
    {
      "name": "w5_fixed",
      "value": "350000"
    },
    {
      "name": "w5_other_due",
      "value": "180000"
    },
    {
      "name": "w6_receipts",
      "value": "1500000"
    },
    {
      "name": "w6_down_receipts",
      "value": "900000"
    },
    {
      "name": "w6_suppliers",
      "value": "900000"
    },
    {
      "name": "w6_down_suppliers",
      "value": "1000000"
    },
    {
      "name": "w6_fixed",
      "value": "350000"
    },
    {
      "name": "w6_other_due",
      "value": "180000"
    },
    {
      "name": "w7_receipts",
      "value": "900000"
    },
    {
      "name": "w7_down_receipts",
      "value": "500000"
    },
    {
      "name": "w7_suppliers",
      "value": "750000"
    },
    {
      "name": "w7_down_suppliers",
      "value": "850000"
    },
    {
      "name": "w7_fixed",
      "value": "350000"
    },
    {
      "name": "w7_other_due",
      "value": "180000"
    },
    {
      "name": "w8_receipts",
      "value": "1800000"
    },
    {
      "name": "w8_down_receipts",
      "value": "1100000"
    },
    {
      "name": "w8_suppliers",
      "value": "1100000"
    },
    {
      "name": "w8_down_suppliers",
      "value": "1250000"
    },
    {
      "name": "w8_fixed",
      "value": "350000"
    },
    {
      "name": "w8_other_due",
      "value": "180000"
    },
    {
      "name": "w9_receipts",
      "value": "1300000"
    },
    {
      "name": "w9_down_receipts",
      "value": "750000"
    },
    {
      "name": "w9_suppliers",
      "value": "900000"
    },
    {
      "name": "w9_down_suppliers",
      "value": "950000"
    },
    {
      "name": "w9_fixed",
      "value": "350000"
    },
    {
      "name": "w9_other_due",
      "value": "180000"
    },
    {
      "name": "w10_receipts",
      "value": "2000000"
    },
    {
      "name": "w10_down_receipts",
      "value": "1250000"
    },
    {
      "name": "w10_suppliers",
      "value": "1250000"
    },
    {
      "name": "w10_down_suppliers",
      "value": "1400000"
    },
    {
      "name": "w10_fixed",
      "value": "350000"
    },
    {
      "name": "w10_other_due",
      "value": "180000"
    },
    {
      "name": "w11_receipts",
      "value": "1200000"
    },
    {
      "name": "w11_down_receipts",
      "value": "700000"
    },
    {
      "name": "w11_suppliers",
      "value": "800000"
    },
    {
      "name": "w11_down_suppliers",
      "value": "900000"
    },
    {
      "name": "w11_fixed",
      "value": "350000"
    },
    {
      "name": "w11_other_due",
      "value": "180000"
    },
    {
      "name": "w12_receipts",
      "value": "1700000"
    },
    {
      "name": "w12_down_receipts",
      "value": "900000"
    },
    {
      "name": "w12_suppliers",
      "value": "1000000"
    },
    {
      "name": "w12_down_suppliers",
      "value": "1150000"
    },
    {
      "name": "w12_fixed",
      "value": "350000"
    },
    {
      "name": "w12_other_due",
      "value": "180000"
    },
    {
      "name": "w13_receipts",
      "value": "1800000"
    },
    {
      "name": "w13_down_receipts",
      "value": "1100000"
    },
    {
      "name": "w13_suppliers",
      "value": "1150000"
    },
    {
      "name": "w13_down_suppliers",
      "value": "1300000"
    },
    {
      "name": "w13_fixed",
      "value": "350000"
    },
    {
      "name": "w13_other_due",
      "value": "180000"
    },
    {
      "name": "w1_other_operating",
      "value": "0"
    },
    {
      "name": "w1_owner_funding",
      "value": "0"
    },
    {
      "name": "w1_financing",
      "value": "0"
    },
    {
      "name": "w1_tax",
      "value": "0"
    },
    {
      "name": "w1_maintenance",
      "value": "0"
    },
    {
      "name": "w1_growth",
      "value": "0"
    },
    {
      "name": "w1_interest",
      "value": "0"
    },
    {
      "name": "w1_principal",
      "value": "0"
    },
    {
      "name": "w1_draws",
      "value": "0"
    },
    {
      "name": "w2_other_operating",
      "value": "0"
    },
    {
      "name": "w2_owner_funding",
      "value": "0"
    },
    {
      "name": "w2_financing",
      "value": "0"
    },
    {
      "name": "w2_tax",
      "value": "0"
    },
    {
      "name": "w2_maintenance",
      "value": "0"
    },
    {
      "name": "w2_growth",
      "value": "0"
    },
    {
      "name": "w2_interest",
      "value": "0"
    },
    {
      "name": "w2_principal",
      "value": "0"
    },
    {
      "name": "w2_draws",
      "value": "0"
    },
    {
      "name": "w3_other_operating",
      "value": "0"
    },
    {
      "name": "w3_owner_funding",
      "value": "0"
    },
    {
      "name": "w3_financing",
      "value": "0"
    },
    {
      "name": "w3_tax",
      "value": "0"
    },
    {
      "name": "w3_maintenance",
      "value": "0"
    },
    {
      "name": "w3_growth",
      "value": "0"
    },
    {
      "name": "w3_interest",
      "value": "0"
    },
    {
      "name": "w3_principal",
      "value": "0"
    },
    {
      "name": "w3_draws",
      "value": "0"
    },
    {
      "name": "w4_other_operating",
      "value": "0"
    },
    {
      "name": "w4_owner_funding",
      "value": "0"
    },
    {
      "name": "w4_financing",
      "value": "0"
    },
    {
      "name": "w4_tax",
      "value": "0"
    },
    {
      "name": "w4_maintenance",
      "value": "0"
    },
    {
      "name": "w4_growth",
      "value": "0"
    },
    {
      "name": "w4_interest",
      "value": "0"
    },
    {
      "name": "w4_principal",
      "value": "0"
    },
    {
      "name": "w4_draws",
      "value": "0"
    },
    {
      "name": "w5_other_operating",
      "value": "0"
    },
    {
      "name": "w5_owner_funding",
      "value": "0"
    },
    {
      "name": "w5_financing",
      "value": "0"
    },
    {
      "name": "w5_tax",
      "value": "0"
    },
    {
      "name": "w5_maintenance",
      "value": "0"
    },
    {
      "name": "w5_growth",
      "value": "0"
    },
    {
      "name": "w5_interest",
      "value": "0"
    },
    {
      "name": "w5_principal",
      "value": "0"
    },
    {
      "name": "w5_draws",
      "value": "0"
    },
    {
      "name": "w6_other_operating",
      "value": "0"
    },
    {
      "name": "w6_owner_funding",
      "value": "0"
    },
    {
      "name": "w6_financing",
      "value": "0"
    },
    {
      "name": "w6_tax",
      "value": "0"
    },
    {
      "name": "w6_maintenance",
      "value": "0"
    },
    {
      "name": "w6_growth",
      "value": "0"
    },
    {
      "name": "w6_interest",
      "value": "0"
    },
    {
      "name": "w6_principal",
      "value": "0"
    },
    {
      "name": "w6_draws",
      "value": "0"
    },
    {
      "name": "w7_other_operating",
      "value": "0"
    },
    {
      "name": "w7_owner_funding",
      "value": "0"
    },
    {
      "name": "w7_financing",
      "value": "0"
    },
    {
      "name": "w7_tax",
      "value": "0"
    },
    {
      "name": "w7_maintenance",
      "value": "0"
    },
    {
      "name": "w7_growth",
      "value": "0"
    },
    {
      "name": "w7_interest",
      "value": "0"
    },
    {
      "name": "w7_principal",
      "value": "0"
    },
    {
      "name": "w7_draws",
      "value": "0"
    },
    {
      "name": "w8_other_operating",
      "value": "0"
    },
    {
      "name": "w8_owner_funding",
      "value": "0"
    },
    {
      "name": "w8_financing",
      "value": "0"
    },
    {
      "name": "w8_tax",
      "value": "0"
    },
    {
      "name": "w8_maintenance",
      "value": "0"
    },
    {
      "name": "w8_growth",
      "value": "0"
    },
    {
      "name": "w8_interest",
      "value": "0"
    },
    {
      "name": "w8_principal",
      "value": "0"
    },
    {
      "name": "w8_draws",
      "value": "0"
    },
    {
      "name": "w9_other_operating",
      "value": "0"
    },
    {
      "name": "w9_owner_funding",
      "value": "0"
    },
    {
      "name": "w9_financing",
      "value": "0"
    },
    {
      "name": "w9_tax",
      "value": "0"
    },
    {
      "name": "w9_maintenance",
      "value": "0"
    },
    {
      "name": "w9_growth",
      "value": "0"
    },
    {
      "name": "w9_interest",
      "value": "0"
    },
    {
      "name": "w9_principal",
      "value": "0"
    },
    {
      "name": "w9_draws",
      "value": "0"
    },
    {
      "name": "w10_other_operating",
      "value": "0"
    },
    {
      "name": "w10_owner_funding",
      "value": "0"
    },
    {
      "name": "w10_financing",
      "value": "0"
    },
    {
      "name": "w10_tax",
      "value": "0"
    },
    {
      "name": "w10_maintenance",
      "value": "0"
    },
    {
      "name": "w10_growth",
      "value": "0"
    },
    {
      "name": "w10_interest",
      "value": "0"
    },
    {
      "name": "w10_principal",
      "value": "0"
    },
    {
      "name": "w10_draws",
      "value": "0"
    },
    {
      "name": "w11_other_operating",
      "value": "0"
    },
    {
      "name": "w11_owner_funding",
      "value": "0"
    },
    {
      "name": "w11_financing",
      "value": "0"
    },
    {
      "name": "w11_tax",
      "value": "0"
    },
    {
      "name": "w11_maintenance",
      "value": "0"
    },
    {
      "name": "w11_growth",
      "value": "0"
    },
    {
      "name": "w11_interest",
      "value": "0"
    },
    {
      "name": "w11_principal",
      "value": "0"
    },
    {
      "name": "w11_draws",
      "value": "0"
    },
    {
      "name": "w12_other_operating",
      "value": "0"
    },
    {
      "name": "w12_owner_funding",
      "value": "0"
    },
    {
      "name": "w12_financing",
      "value": "0"
    },
    {
      "name": "w12_tax",
      "value": "0"
    },
    {
      "name": "w12_maintenance",
      "value": "0"
    },
    {
      "name": "w12_growth",
      "value": "0"
    },
    {
      "name": "w12_interest",
      "value": "0"
    },
    {
      "name": "w12_principal",
      "value": "0"
    },
    {
      "name": "w12_draws",
      "value": "0"
    },
    {
      "name": "w13_other_operating",
      "value": "0"
    },
    {
      "name": "w13_owner_funding",
      "value": "0"
    },
    {
      "name": "w13_financing",
      "value": "0"
    },
    {
      "name": "w13_tax",
      "value": "0"
    },
    {
      "name": "w13_maintenance",
      "value": "0"
    },
    {
      "name": "w13_growth",
      "value": "0"
    },
    {
      "name": "w13_interest",
      "value": "0"
    },
    {
      "name": "w13_principal",
      "value": "0"
    },
    {
      "name": "w13_draws",
      "value": "0"
    }
  ],
  "mathErrors": 0,
  "title": "Business cash stress and warning planner | Sokointel",
  "viewport": {
    "height": 720,
    "width": 1280
  },
  "files": [
    "failure-warning-full.png",
    "failure-warning-results.png"
  ],
  "slug": "failure-warning",
  "screenshots": [
    "failure-warning-full.png",
    "failure-warning-results.png"
  ],
  "environment": "local preview; not proof of live deployment",
  "base": "Evidence/Web/20260925-formula-rendering"
}
DEMONSTRATION SCOPE
Inspect a separate fictional weekly stress plan. Pull supplier payments forward or delay receipts, then identify the first reserve and cash breach.
The stress schedule is not the cash record of a named company or a probability of failure.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Answer: A financing headline describes an attributed transaction history, not the trading entity's cash or earning power. Separate legal records, financing receipts, route contribution and dated obligations before making a runway or recovery claim.
Viewer task: Request the primary notices, current administrator records and an entity-level funding-to-bank reconciliation; pair them with route contribution and a dated cash plan before drawing conclusions.
Return to each opening research question and identify what remains conditional or unknown.
ARTICLE SECTION: Opening
Revised practical article; source details and figures are dated to their cited filing or event, with current evidence reviewed through 24 September 2026.
A start-up can raise a large sum and still run short of cash. The fundraising figure is not the company’s revenue, bank balance, gross margin, operating cash flow, cash runway, or the amount its owners could withdraw. It describes financing raised across particular entities, investors, instruments, and dates. Grants, equity rounds, convertible notes and debt have different claims and repayment terms. They should be mapped deal by deal before anyone adds them into one headline.
Venture-finance research describes staged financing and the roles investors can play in funding young companies, alongside potential problems in the investment process [1]. That does not mean that capital raised proves the operating model worked. To assess the model, we need transactions, contribution after fulfillment, customer retention, supplier economics, working-capital timing, fixed costs, obligations, and the entity that holds each asset or liability.
ARTICLE SECTION: The lesson for owners and funders
Ask what a round buys. Does it add inventory, pay overdue suppliers, open new hubs, replace a vehicle fleet, build a product, or refinance old debt? Then ask whether the activity can fund itself after the round ends. Investor capital can bridge a temporary timing gap or fund a credible scale-up. It can also postpone a decision about unit contribution, cost per delivery, or market demand. The funding receipt alone cannot tell us which happened.
This paired case should be read as a source-ledger exercise. Copia’s administrator appointment and court proceedings provide a better documented public legal record than an unverified funding headline. The GT Flow notice provides a recent legal event for the Twiga-associated operating company, but the missing primary scan and financial records constrain the analysis. We should preserve those boundaries until administrator reports or audited company records add evidence.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OE-FAILURE-13: Twiga and Copia: funding, legal entities and what the record can show
ARTICLE: https://sokointel.com/read/oe-failure-13/
RESEARCH SNAPSHOT: 10 September 2026
SOURCE MATERIAL
[1] P. Gompers and J. Lerner, “The Venture Capital Revolution,” Journal of Economic Perspectives, vol. 15, no. 2, pp. 145–168, 2001, https://doi.org/10.1257/jep.15.2.145.
[2] “Twiga Foods is in administration, 16 months after the leaked plan we published,” Tech-ish, September 14, 2026, contemporaneous report quoting Kenya Gazette Notice No. 14595, https://tech-ish.com/2026/09/14/twiga-foods-is-in-administration-16-months-after-the-leaked-plan-we-published/. The cited report is a secondary reproduction; obtain the official Gazette page/scan before publication.
[3] Republic of Kenya, Kenya Gazette, Vol. CXXVI No. 76, May 31, 2024, notice of appointment of administrators, Copia Kenya Limited, https://new.kenyalaw.org/akn/ke/officialGazette/gazette/2024-05-31/76/eng@2024-05-31/source.
[4] In re Copia Kenya Limited (Under Administration), Insolvency Notice E106 of 2024, [2026] KEHC 5926 (KLR), ruling delivered April 23, 2026, copy of judgment: https://sheriahub.com/cases/ke/caselaw/in-re-copia-kenya-limited-under-administrstion-2026-kehc-5926-klr. The Kenya Law official judgment record should be used if located before external publication.
[5] T. Shumway, “Forecasting Bankruptcy More Accurately: A Simple Hazard Model,” The Journal of Business, vol. 74, no. 1, pp. 101–124, 2001, https://doi.org/10.1086/209665.
[6] P. J. García-Teruel and P. Martínez-Solano, “Effects of Working Capital Management on SME Profitability,” International Journal of Managerial Finance, vol. 3, no. 2, pp. 164–177, 2007, https://doi.org/10.1108/17439130710738718.
[7] A. N. Berger and G. F. Udell, “The Economics of Small Business Finance: The Roles of Private Equity and Debt Markets in the Financial Growth Cycle,” Journal of Banking &amp; Finance, vol. 22, nos. 6–8, pp. 613–673, 1998, https://doi.org/10.1016/S0378-4266(98)00038-7.
[8] “The second Twiga company has gone into administration,” Tech-ish, 15 September 2026, reporting on a company-issued release and the GT Flow Gazette notice, https://tech-ish.com/2026/09/15/twiga-foods-templar-field-administration/. Secondary source; use the company release and official Gazette page as primary evidence where available.
All linked source URLs:
P. Gompers and J. Lerner, “The Venture Capital Revolution,” Journal of Economic Perspectives, vol. 15, no. 2, pp. 145–168, 2001: https://doi.org/10.1257/jep.15.2.145
“Twiga Foods is in administration, 16 months after the leaked plan we published,” Tech-ish, September 14, 2026, contemporaneous report quoting Kenya G: https://tech-ish.com/2026/09/14/twiga-foods-is-in-administration-16-months-after-the-leaked-plan-we-published/
Republic of Kenya, Kenya Gazette, Vol. CXXVI No. 76, May 31, 2024, notice of appointment of administrators, Copia Kenya Limited: https://new.kenyalaw.org/akn/ke/officialGazette/gazette/2024-05-31/76/eng@2024-05-31/source
In re Copia Kenya Limited (Under Administration), Insolvency Notice E106 of 2024, [2026] KEHC 5926 (KLR), ruling delivered April 23, 2026, copy of jud: https://sheriahub.com/cases/ke/caselaw/in-re-copia-kenya-limited-under-administrstion-2026-kehc-5926-klr
T. Shumway, “Forecasting Bankruptcy More Accurately: A Simple Hazard Model,” The Journal of Business, vol. 74, no. 1, pp. 101–124, 2001: https://doi.org/10.1086/209665
P. J. García-Teruel and P. Martínez-Solano, “Effects of Working Capital Management on SME Profitability,” International Journal of Managerial Finance,: https://doi.org/10.1108/17439130710738718
A. N. Berger and G. F. Udell, “The Economics of Small Business Finance: The Roles of Private Equity and Debt Markets in the Financial Growth Cycle,” J: https://doi.org/10.1016/S0378-4266(98)00038-7
“The second Twiga company has gone into administration,” Tech-ish, 15 September 2026, reporting on a company-issued release and the GT Flow Gazette no: https://tech-ish.com/2026/09/15/twiga-foods-templar-field-administration/
Additional content sources:
[]
Workbook provenance:
C:\Users\Nevo\Downloads\financial material\Owner's Earning\Project 3 - Failure Retrospectives and Warning Systems\Project 3 - Failure Retrospectives and Warning Systems.xlsx
'Funding'!C5:K8
056c55f6d4b882fb99469e9092f4f4d1c930676a49b676b7c0dd5ad6e068b14e
C:\Users\Nevo\Downloads\financial material\Owner's Earning\Project 3 - Failure Retrospectives and Warning Systems\Project 3 - Failure Retrospectives and Warning Systems.xlsx
'Timeline'!C9:I13
056c55f6d4b882fb99469e9092f4f4d1c930676a49b676b7c0dd5ad6e068b14e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failure-13/" TargetMode="External"/><Relationship Id="rId2" Type="http://schemas.openxmlformats.org/officeDocument/2006/relationships/hyperlink" Target="https://doi.org/10.1257/jep.15.2.145" TargetMode="External"/><Relationship Id="rId3" Type="http://schemas.openxmlformats.org/officeDocument/2006/relationships/hyperlink" Target="https://tech-ish.com/2026/09/14/twiga-foods-is-in-administration-16-months-after-the-leaked-plan-we-published/" TargetMode="External"/><Relationship Id="rId4" Type="http://schemas.openxmlformats.org/officeDocument/2006/relationships/hyperlink" Target="https://new.kenyalaw.org/akn/ke/officialGazette/gazette/2024-05-31/76/eng@2024-05-31/source" TargetMode="External"/><Relationship Id="rId5" Type="http://schemas.openxmlformats.org/officeDocument/2006/relationships/hyperlink" Target="https://sheriahub.com/cases/ke/caselaw/in-re-copia-kenya-limited-under-administrstion-2026-kehc-5926-klr"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Twiga and Copia: funding, legal entities and what the record can show</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Twiga-related entities and Copia Kenya are kept on separate legal timelines while a fictional delivery route shows why announced funding cannot substitute for contribution and dated cash.</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OE-FAILURE-13   •   Evidence cutoff 24 September 2026 • route figures are fictional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Which warning was visible at the time rather than only after the outcome?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What do Nakumatt and Tuskys records establish about retail cash-cycle stress?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can Twiga and Copia legal and funding records show, and what remains unknown?</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Legal recipient — the specific company receiving or owing the financing</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Funding status — announced, signed, closed, drawn and received are distinct</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USD m — millions of US dollars; no unstated conversion to KES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Route contribution — sales less the listed route costs; KES/week</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Administration date — a named entity's legal milestone, not a group-wide loss estimate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Attach each event to the right company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GT Flow: 17 August 2026 effective date is reported from a Gazette notice.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Templar Field: September 2026 appointment is reported; exact effective day remains unverified.</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Copia Kenya: appointment effective 23 May 2024; a later extension is a separate event.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Evidence cutoff 24 September 2026 • route figures are fictional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Keep reported funding out of the cash balance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USD 185.4m is an attributed Twiga funding aggregate in a secondary report.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legal recipients are unresolved and cash received is unreconciled.</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Build one record per instrument, entity and announcement-to-receipt sequence.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Evidence cutoff 24 September 2026 • route figures are fictional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Join route economics to the cash calendar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Measure contribution after stock, delivery, handling and transaction/support costs.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central overhead, replacement assets, financing and tax visible after that contribution.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dated entity cash and response lead times to decide when to narrow the plan.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Evidence cutoff 24 September 2026 • route figures are fictional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Compute contribution before the remaining claims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Route contribution = sales − stock − delivery/handling − transaction/support</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100,000 − 66,000 − 14,000 − 8,000 = KES 12,000/week</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fictional route retains 12% of sales before central overhead, replacement assets, financing, taxes and growth. This is not owner earnings or collected cash.</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Evidence cutoff 24 September 2026 • route figures are fictional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Funding: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FAILURE-13-01-p1.png">    </p:cNvPr>
          <p:cNvPicPr>
            <a:picLocks noChangeAspect="1"/>
          </p:cNvPicPr>
          <p:nvPr/>
        </p:nvPicPr>
        <p:blipFill>
          <a:blip r:embed="rId1"/>
          <a:stretch>
            <a:fillRect/>
          </a:stretch>
        </p:blipFill>
        <p:spPr>
          <a:xfrm>
            <a:off x="612648" y="3325898"/>
            <a:ext cx="10972800" cy="73655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Funding!C5:K8</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Evidence cutoff 24 September 2026 • route figures are fictional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Timeline: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FAILURE-13-02-p1.png">    </p:cNvPr>
          <p:cNvPicPr>
            <a:picLocks noChangeAspect="1"/>
          </p:cNvPicPr>
          <p:nvPr/>
        </p:nvPicPr>
        <p:blipFill>
          <a:blip r:embed="rId1"/>
          <a:stretch>
            <a:fillRect/>
          </a:stretch>
        </p:blipFill>
        <p:spPr>
          <a:xfrm>
            <a:off x="612648" y="3250703"/>
            <a:ext cx="10972800" cy="886947"/>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Timeline!C9:I13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Evidence cutoff 24 September 2026 • route figures are fictional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Stress one route cost before financing more volume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Fictional route: KES 14,000 delivery/handling cost leaves KES 12,000 contribution.</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Illustrative stress: delivery/handling rises by KES 5,000 to KES 19,000; all other inputs stay fixed.</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KES 100,000 − 66,000 − 19,000 − 8,000 = KES 7,000/week, or 7% of sales, before the remaining costs.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failure-warning-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Inspect a separate fictional weekly stress plan. Pull supplier payments forward or delay receipts, then identify the first reserve and cash breach.</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The stress schedule is not the cash record of a named company or a probability of failure.</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/calculators/failure-warning/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financing headline describes an attributed transaction history, not the trading entity's cash or earning power. Separate legal records, financing receipts, route contribution and dated obligations before making a runway or recovery claim.</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Request the primary notices, current administrator records and an entity-level funding-to-bank reconciliation; pair them with route contribution and a dated cash plan before drawing conclusions.</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OE-FAILURE-13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sokointel.com/read/oe-failure-13/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P. Gompers and J. Lerner, “The Venture Capital Revolution,” Journal of Economic Perspectives, vol. 15, no. 2, pp. 145–168, 20 • 2001</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“Twiga Foods is in administration, 16 months after the leaked plan we published,” Tech-ish, September 14, 2026, contemporaneo • 2026</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Republic of Kenya, Kenya Gazette, Vol. CXXVI No. 76, May 31, 2024, notice of appointment of administrators, Copia Kenya Limit • 2024</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In re Copia Kenya Limited (Under Administration), Insolvency Notice E106 of 2024, [2026] KEHC 5926 (KLR), ruling delivered Ap • 2024</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Twiga and Copia: funding, legal entities and what the record can show</dc:title>
  <dc:subject>Which warning was visible at the time rather than only after the outcome? | What do Nakumatt and Tuskys records establish about retail cash-cycle stress? | What can Twiga and Copia legal and funding records show, and what remains unknown?</dc:subject>
  <dc:creator>Sokointel</dc:creator>
  <cp:lastModifiedBy>Sokointel</cp:lastModifiedBy>
  <cp:revision>1</cp:revision>
  <dcterms:created xsi:type="dcterms:W3CDTF">2026-09-25T13:49:41Z</dcterms:created>
  <dcterms:modified xsi:type="dcterms:W3CDTF">2026-09-25T13:49:41Z</dcterms:modified>
</cp:coreProperties>
</file>