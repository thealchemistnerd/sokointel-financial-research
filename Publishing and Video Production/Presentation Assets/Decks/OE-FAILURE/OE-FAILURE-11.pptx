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OPENING NARRATION
A decision-date investigation tests whether a disputed customer receipt gave a fictional distributor enough warning to act before its cash trough.
Fictional Coastal Supply Ltd • evidence cutoff 24 September 2026
Introduce the decision before defining the technical terms.
ARTICLE SECTION: Opening
Revised practical article; source details and figures are dated to their cited filing or event, with current evidence reviewed through 24 September 2026.
After a company fails, its final crisis can make the ending seem obvious. That feeling is dangerous. The reader now knows which supplier went unpaid, which loan fell due, and which rescue did not arrive. A lender or owner three years earlier did not know those outcomes with certainty.
Fischhoff’s peer-reviewed experiments found that knowledge of an outcome changes how people judge its prior likelihood and how they remember what they knew before [1]. A failure retrospective should therefore keep two timelines: the public information that existed at each decision date, and the later information revealed in administration, court proceedings or liquidation.
ARTICLE SECTION: From an indicator to an owner decision
A useful warning sheet has four parts: the measurement, its trigger, the owner of the response, and the time available to act. “Receivables are rising” is only an observation. A more useful statement is: “The three largest overdue invoices are now KSh 1.8 million, equal to six weeks of payroll; the credit lead will call the buyers today, pause new exposure above the approved limit, and refresh the cash forecast on Friday.” The amounts and thresholds must come from the business’s own records and obligations. The example illustrates the form of a decision, not a universal safe limit.
Separate leading indicators from outcomes. A supplier asking for cash on delivery, a lost credit line, or a new covenant waiver can precede a missed payment. A bounced payment, court petition, or administration appointment is usually a later outcome. A retrospective should ask whether the earlier signal was visible, whether it was recorded, and whether anyone had authority and time to respond. If no one was assigned the decision, a technically accurate dashboard may still have had no practical value.
The forecast itself needs a short, honest horizon. A weekly cash schedule can list opening unrestricted cash, confirmed customer receipts, committed purchases, wages, rent, taxes, debt service and a minimum operating reserve. Put uncertain receipts in a separate column with a probability or evidence note; do not quietly treat a sales promise as cash. Run a base case and one or two adverse cases, such as a key customer paying two weeks late or a supplier withdrawing terms. The point is not to predict the exact failure date. It is to find which assumption would force a decision first.
After each review, preserve the forecast version and the actual result. Compare the amount and date of expected receipts and payments with what happened. This reveals whether repeated errors came from late customer data, optimistic sales assumptions, unrecorded obligations, or a genuinely unpredictable event. A warning system should improve its inputs and ownership as well as its thresholds.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Read the questions naturally and define terms in context.
Information date — when the assessed decision-maker could know a fact
Source date — when the supporting record was prepared or published
Evidence status — fact, attributed claim, calculation or unresolved
Unrestricted cash — money available for the entity's own obligations; KES
Action window — time available before the relevant obligation or cash trough
Research question mapping: Which warning was visible at the time rather than only after the outcome?; What do Nakumatt and Tuskys records establish about retail cash-cycle stress?; What can Twiga and Copia legal and funding records show, and what remains unknown?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Part 11, Start with the decision date; Appendix 01 A1.1; Timeline C5:I9 and Evidence Vectors. A report prepared on 1 February 2021 but summarized in a judgment on 11 March 2021 cannot automatically be treated as public on the earlier date, much less known in 2017. Ask whether an internal actor had earlier access. Method source: Fischhoff, Hindsight Is Not Equal to Foresight, 1975, https://doi.org/10.1037/0096-1523.1.3.288. Source article evidence cutoff: 24 September 2026. This is a method for preserving what was knowable, not a claim that hindsight bias is eliminated.
Narration: explain each step and its consequence for the opening decision.
ARTICLE SECTION: Start with the decision date
For every important claim, record:
| Field | Retrospective question |
|---|---|
| Claim | What was said or assumed? |
| Entity | Which legal company, facility, subsidiary or brand does it concern? |
| Information date | When could a decision-maker first have known it? |
| Source date | When was the underlying record created, published or filed? |
| Source class | Audited accounts, contract, court, administrator, company statement, media report, or analyst estimate? |
| Time status | Contemporaneous at the decision date, later disclosed, or unknown? |
| Result | What can this document establish and what can it not establish? |
A leaked presentation may be contemporaneous but unaudited. A court judgment is authoritative about what the court decided and can summarize a party’s submissions, but a party’s claim in a judgment is not automatically a proven fact. An administrator report may give the best available later view of creditors or assets, but it is not what an investor necessarily knew at the earlier date. A media article can help locate a primary document without replacing it.
ARTICLE SECTION: From an indicator to an owner decision
A useful warning sheet has four parts: the measurement, its trigger, the owner of the response, and the time available to act. “Receivables are rising” is only an observation. A more useful statement is: “The three largest overdue invoices are now KSh 1.8 million, equal to six weeks of payroll; the credit lead will call the buyers today, pause new exposure above the approved limit, and refresh the cash forecast on Friday.” The amounts and thresholds must come from the business’s own records and obligations. The example illustrates the form of a decision, not a universal safe limit.
Separate leading indicators from outcomes. A supplier asking for cash on delivery, a lost credit line, or a new covenant waiver can precede a missed payment. A bounced payment, court petition, or administration appointment is usually a later outcome. A retrospective should ask whether the earlier signal was visible, whether it was recorded, and whether anyone had authority and time to respond. If no one was assigned the decision, a technically accurate dashboard may still have had no practical value.
The forecast itself needs a short, honest horizon. A weekly cash schedule can list opening unrestricted cash, confirmed customer receipts, committed purchases, wages, rent, taxes, debt service and a minimum operating reserve. Put uncertain receipts in a separate column with a probability or evidence note; do not quietly treat a sales promise as cash. Run a base case and one or two adverse cases, such as a key customer paying two weeks late or a supplier withdrawing terms. The point is not to predict the exact failure date. It is to find which assumption would force a decision first.
After each review, preserve the forecast version and the actual result. Compare the amount and date of expected receipts and payments with what happened. This reveals whether repeated errors came from late customer data, optimistic sales assumptions, unrecorded obligations, or a genuinely unpredictable event. A warning system should improve its inputs and ownership as well as its thresholds.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Part 11, A practical example: a cash warning that was actionable; Appendix 01 A1.4. All Coastal Supply figures are fictional. The listed payroll, supplier, tax and debt obligations are KES 2.4m, 5.0m, 0.8m and 1.2m, totaling KES 9.4m. The article does not provide the complete dated schedule needed to recompute its week-five trough from these aggregate inputs; keep the trough as a stated example result, not an output of the monthly arithmetic. The workbook Cash and CCC is also fictional and must not be substituted for Coastal Supply's separate article case.
Narration: explain each step and its consequence for the opening decision.
ARTICLE SECTION: A practical example: a cash warning that was actionable
Imagine a fictional food distributor, Coastal Supply Ltd. At the end of March, it has KSh 6.0 million of unrestricted bank cash, KSh 12.0 million of invoices due from customers over the next month, payroll of KSh 2.4 million, supplier commitments of KSh 5.0 million, tax of KSh 0.8 million, and debt service of KSh 1.2 million. The 13-week forecast shows a minimum balance of KSh 0.3 million in week five. One customer owes KSh 4.0 million, has disputed delivery of two orders and historically pays 30 to 45 days late.
The warning is not simply that cash is “low.” It is that the forecast relies on a specific disputed KSh 4.0 million receipt before supplier and payroll payments fall due. The owner can ask the customer to confirm accepted delivery, send proof of delivery, collect the undisputed portion, negotiate a partial payment plan, pause further credit above an approved exposure limit, and discuss a staged supplier payment before the due date. The company can also defer a discretionary equipment purchase if doing so does not create a safety or reliability risk.
At the next review, compare each action with cash outcome and customer contribution. If the customer pays the undisputed amount but disputes the rest, update future credit terms and the cash forecast. If the supplier accepts a documented schedule without penalty or lost supply, record that. If the company freezes all customer orders and loses a profitable reliable account, the warning response has protected cash at too high a cost. A practical system evaluates decisions by their effects on cash, gross contribution, service, legal obligations and relationships.
The fictional example illustrates response design only; it is not a factual account of a Kenyan company or a universal threshold. A real case should use the source ledger to show when the owner knew the dispute, whether the cash forecast existed, and what alternatives were contractually and operationally available.
ARTICLE SECTION: Separate early warnings from late outcomes
An owner can use a warning system only if the indicator arrives early enough for an action. Classify each indicator as leading, coincident or lagging. A weekly fall in minimum forecast cash may be leading. A supplier reducing terms can be an early signal or a routine renegotiation. A returned payment is a serious event but may already be late. A court petition or administration appointment usually belongs in the event chronology, not the early-warning dashboard.
For each signal, test the operational chain:
1. What changed in the underlying evidence?
2. Who received the information and on what date?
3. Who had authority to act?
4. What realistic action was available then?
5. How long would that action take to affect cash?
6. Did the business have enough time and capacity to carry it out?
This chain matters because dashboards do not rescue companies by themselves. A sales manager may know that a major account is disputing invoices but lack authority to stop new credit. A founder may know a loan is coming due but wait because the lender gave a verbal assurance. A board may receive a forecast after an irreversible order has been placed. The retrospective should test the organization around the indicator, not only the indicator.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Warnings and Actions C5:I9; Appendix 01 A1.2–A1.3. Pausing new exposure needs an approved limit and must be weighed against lost contribution and service. Evaluate continuing and recovered businesses as well as failed ones; define the legal or payment event and forecast horizon before counting alerts. Shumway, Forecasting Bankruptcy More Accurately, 2001, https://doi.org/10.1086/209665; Campbell, Hilscher and Szilagyi, In Search of Distress Risk, 2008, https://doi.org/10.1111/j.1540-6261.2008.01416.x. These studies do not calibrate a Kenyan private-company failure probability. Do not display invented precision, recall or default rates.
Narration: explain each step and its consequence for the opening decision.
ARTICLE SECTION: Test against false alarms and missed cases
Every warning system produces false alarms and misses. If we only study companies that failed, we will not know which warning signs were common among businesses that recovered. Define the event first: late payment, breach, administration, court liquidation order, insolvency filing, business closure, or owner exit? These are not one outcome. Select a forecast horizon, preserve cases that survived, and disclose the limits of the sample.
A legal process is also not an operating diagnosis. Administration can be used to pursue a rescue or better outcome for creditors; it does not mean liquidation has already occurred. A company under administration may continue operating, restructure or sell assets. A liquidation order is a different legal milestone. State the exact event and source.
ARTICLE SECTION: A practical example: a cash warning that was actionable
Imagine a fictional food distributor, Coastal Supply Ltd. At the end of March, it has KSh 6.0 million of unrestricted bank cash, KSh 12.0 million of invoices due from customers over the next month, payroll of KSh 2.4 million, supplier commitments of KSh 5.0 million, tax of KSh 0.8 million, and debt service of KSh 1.2 million. The 13-week forecast shows a minimum balance of KSh 0.3 million in week five. One customer owes KSh 4.0 million, has disputed delivery of two orders and historically pays 30 to 45 days late.
The warning is not simply that cash is “low.” It is that the forecast relies on a specific disputed KSh 4.0 million receipt before supplier and payroll payments fall due. The owner can ask the customer to confirm accepted delivery, send proof of delivery, collect the undisputed portion, negotiate a partial payment plan, pause further credit above an approved exposure limit, and discuss a staged supplier payment before the due date. The company can also defer a discretionary equipment purchase if doing so does not create a safety or reliability risk.
At the next review, compare each action with cash outcome and customer contribution. If the customer pays the undisputed amount but disputes the rest, update future credit terms and the cash forecast. If the supplier accepts a documented schedule without penalty or lost supply, record that. If the company freezes all customer orders and loses a profitable reliable account, the warning response has protected cash at too high a cost. A practical system evaluates decisions by their effects on cash, gross contribution, service, legal obligations and relationships.
The fictional example illustrates response design only; it is not a factual account of a Kenyan company or a universal threshold. A real case should use the source ledger to show when the owner knew the dispute, whether the cash forecast existed, and what alternatives were contractually and operationally available.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Appendix 01 A1.4 and the fictional Coastal Supply example in Part 11. Keep both amounts in KES million and show one decimal place for the percentage. The denominator is opening unrestricted cash, not revenue, total receivables or monthly payroll. No threshold is validated by this example.
Equation: Receipt concentration = disputed invoice ÷ opening unrestricted cash
Substitution: KES 4.0m ÷ KES 6.0m = 0.667 = 66.7%
Interpretation: One disputed receipt equals two-thirds of opening cash. The ratio describes exposure, not a failure probability or a cash-availability guarantee.
ARTICLE SECTION: A warning system is a conversation, not a score
Peer-reviewed distress research shows why a useful model needs time-aware data and more than one accounting ratio. Shumway argues that a hazard model handles the timing of bankruptcy more appropriately than a single-period classification and finds market variables can add information [2]. Campbell, Hilscher and Szilagyi study distress using accounting and market indicators and distinguish failure risk from subsequent stock returns [3]. These studies use public-company datasets and defined failure labels. They do not supply a calibrated warning score for Kenyan family businesses or startups. Merton’s contingent-claims approach offers a separate way to think about default risk when the market value and volatility of a firm’s assets and its debt structure can be estimated [4]. Those inputs are rarely available for private Kenyan businesses, so the framework should not be dressed up as a local probability model.
For an MSME, use a small set of observable indicators to start questions, not to issue an automatic “safe/unsafe” verdict. Examples:
 the cash forecast’s next low point moves closer or below the reserve floor;
 the largest customer’s receipt is delayed or disputed;
 a supplier shortens payment terms or requires cash in advance;
 inventory grows faster than sales or becomes hard to sell;
 gross contribution weakens while fixed costs stay in place;
 scheduled debt repayments exceed the forecast’s available cash;
 the owner’s key duties, bank access or supplier relationships have no backup.
For each signal, name the decision it changes. If a customer owes a material amount, follow up and update the receipt date. If stock is growing, test demand and ageing by product. If a loan matures in eight months, begin a refinancing or payoff discussion before the last month. The signal must be specific enough to act on and auditable enough to learn from.
ARTICLE SECTION: From an indicator to an owner decision
A useful warning sheet has four parts: the measurement, its trigger, the owner of the response, and the time available to act. “Receivables are rising” is only an observation. A more useful statement is: “The three largest overdue invoices are now KSh 1.8 million, equal to six weeks of payroll; the credit lead will call the buyers today, pause new exposure above the approved limit, and refresh the cash forecast on Friday.” The amounts and thresholds must come from the business’s own records and obligations. The example illustrates the form of a decision, not a universal safe limit.
Separate leading indicators from outcomes. A supplier asking for cash on delivery, a lost credit line, or a new covenant waiver can precede a missed payment. A bounced payment, court petition, or administration appointment is usually a later outcome. A retrospective should ask whether the earlier signal was visible, whether it was recorded, and whether anyone had authority and time to respond. If no one was assigned the decision, a technically accurate dashboard may still have had no practical value.
The forecast itself needs a short, honest horizon. A weekly cash schedule can list opening unrestricted cash, confirmed customer receipts, committed purchases, wages, rent, taxes, debt service and a minimum operating reserve. Put uncertain receipts in a separate column with a probability or evidence note; do not quietly treat a sales promise as cash. Run a base case and one or two adverse cases, such as a key customer paying two weeks late or a supplier withdrawing terms. The point is not to predict the exact failure date. It is to find which assumption would force a decision first.
After each review, preserve the forecast version and the actual result. Compare the amount and date of expected receipts and payments with what happened. This reveals whether repeated errors came from late customer data, optimistic sales assumptions, unrecorded obligations, or a genuinely unpredictable event. A warning system should improve its inputs and ownership as well as its thresholds.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ACTUAL WORKBOOK CAPTURE
Workbook: C:\Users\Nevo\Downloads\financial material\Owner's Earning\Project 3 - Failure Retrospectives and Warning Systems\Project 3 - Failure Retrospectives and Warning Systems.xlsx
Sheet/range: 'Timeline'!C5:I9
SHA-256: 056c55f6d4b882fb99469e9092f4f4d1c930676a49b676b7c0dd5ad6e068b14e
Capture method: Microsoft Excel read-only PDF range export. Print headings retained. Source not saved.
Asset: Evidence/Workbooks/OE-FAILURE-11-01-p1.png
SCREEN RECORDING WALKTHROUGH
Read the row and column headings. Identify inputs, follow the dependent row and explain the units. Do not alter the source workbook while recording; use a copy for a new scenario.
Extracted evidence text:
5
6
7
8
9
C D E F G H I
Event date Case ID Event Known when Evidence type Source ID Limit / use
22-Jan-2018 NAK-01 Nakumatt placed under administration Court order date Primary court record High Court ruling [1] Legal process begins
01-Feb-2021 NAK-01 Administrator update report date Summarized in 2021 court ruling Court summary of administrator report [1] Reported cash raised / creditor payments; not full audit
31-May-2023 TUS-01 Interim liquidation order and provisional liquidator Judgment date Primary court record [2] Petition amounts remain attributed claims
23-May-2024 COP-01 Copia administrators appointed Gazette effective date Official Gazette [3] Court later records extension
Relevant article context:
ARTICLE SECTION: Build the case file so someone else can reproduce the timeline
A retrospective becomes practical when it can be rebuilt from records rather than memory. Start a case register with one row per legal entity, trading name, facility or material business unit. Record registration number if available, ownership, trading period, jurisdiction, administrator or liquidator, court case number, and whether the entity continued trading. Add a relationship map that distinguishes parent, subsidiary, shareholder, lender, supplier, brand and asset owner. A shared name or director does not prove that two companies had the same cash or liability.
Then create an evidence ledger. Each item should include source title, publisher or custodian, source date, date it became public, period covered, entity, page or paragraph, evidence type, exact claim supported, limitations, and a link or file path. Preserve a short excerpt or factual note rather than copying pages of text. A judgment may establish that the court made an order on a date and may summarize a report. It does not automatically independently verify every allegation quoted from a party. A press release can show what management claimed at the time. A later administrator report may show what records were available after control changed. Those sources answer different questions.
Use four confidence labels:
 Established by primary record: the document directly states the fact, such as a court order date or an audited balance.
 Attributed statement: a named person or report made the claim, but the underlying evidence is not independently available.
 Analyst reconstruction: a value is calculated from stated inputs using a visible method.
 Open question: the available record does not support a conclusion.
These labels prevent a neat narrative from flattening different evidence into one voice. They also help later researchers identify the missing page or file that would upgrade a tentative claim.
ARTICLE SECTION: Opening
Revised practical article; source details and figures are dated to their cited filing or event, with current evidence reviewed through 24 September 2026.
After a company fails, its final crisis can make the ending seem obvious. That feeling is dangerous. The reader now knows which supplier went unpaid, which loan fell due, and which rescue did not arrive. A lender or owner three years earlier did not know those outcomes with certainty.
Fischhoff’s peer-reviewed experiments found that knowledge of an outcome changes how people judge its prior likelihood and how they remember what they knew before [1]. A failure retrospective should therefore keep two timelines: the public information that existed at each decision date, and the later information revealed in administration, court proceedings or liquidation.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ACTUAL WORKBOOK CAPTURE
Workbook: C:\Users\Nevo\Downloads\financial material\Owner's Earning\Project 3 - Failure Retrospectives and Warning Systems\Project 3 - Failure Retrospectives and Warning Systems.xlsx
Sheet/range: 'Warnings and Actions'!C5:I9
SHA-256: 056c55f6d4b882fb99469e9092f4f4d1c930676a49b676b7c0dd5ad6e068b14e
Capture method: Microsoft Excel read-only PDF range export. Print headings retained. Source not saved.
Asset: Evidence/Workbooks/OE-FAILURE-11-02-p1.png
SCREEN RECORDING WALKTHROUGH
Read the row and column headings. Identify inputs, follow the dependent row and explain the units. Do not alter the source workbook while recording; use a copy for a new scenario.
Extracted evidence text:
5
6
7
8
9
C D E F G H I
Signal Threshold / trigger Owner Action Response time Status Evidence source
Minimum cash below reserve floor Monitor Finance lead Call top overdue customers; update supplier payment plan; escalate to board This week Open 13-week Cash and CCC sheet
Largest overdue customer disputed Set company-specific amount Credit lead Reconcile delivery proof and pause new exposure above approved limit Before next purchase Open Receivables ledger
Stock ageing exceeds reliable sales window Set by SKU Merchandising Stop reorder; price, return or transfer stock Weekly Open Inventory ledger
Funding milestone slips Use signed tranche date CEO / board Activate smaller plan and financing decision Before low-cash week Open Funding transaction schedule
Relevant article context:
ARTICLE SECTION: Separate early warnings from late outcomes
An owner can use a warning system only if the indicator arrives early enough for an action. Classify each indicator as leading, coincident or lagging. A weekly fall in minimum forecast cash may be leading. A supplier reducing terms can be an early signal or a routine renegotiation. A returned payment is a serious event but may already be late. A court petition or administration appointment usually belongs in the event chronology, not the early-warning dashboard.
For each signal, test the operational chain:
1. What changed in the underlying evidence?
2. Who received the information and on what date?
3. Who had authority to act?
4. What realistic action was available then?
5. How long would that action take to affect cash?
6. Did the business have enough time and capacity to carry it out?
This chain matters because dashboards do not rescue companies by themselves. A sales manager may know that a major account is disputing invoices but lack authority to stop new credit. A founder may know a loan is coming due but wait because the lender gave a verbal assurance. A board may receive a forecast after an irreversible order has been placed. The retrospective should test the organization around the indicator, not only the indicator.
ARTICLE SECTION: Workbook map
The Project 3 workbook includes a legal-entity register, decision-date timeline, evidence ledger, funding-raised register, fictional 13-week cash and CCC case, warnings and actions, and Sources and Checks. Evidence Vectors separates underlying event date, source-record date and public judgment/report date, while identifying whether an entry is a legal fact, administrator/creditor claim, secondary report, calculation, scenario or gap. It separates court-recorded claims from analyst sums and secondary reporting. The cash model is a teaching example, not historical company cash flow, and the warning sheet asks for a company-specific trigger, owner, action and response time rather than a universal failure score.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Appendix 01 A1.4. Hold the listed opening cash and uses fixed. Both results are undiscounted arithmetic over summarized receipts and obligations, not weekly closing cash or runway. The article's KES 0.3m week-five minimum depends on dates and other outflows not shown in these totals. Do not subtract KES 4.0m from that minimum without identifying the scheduled receipt week and the revised weekly flows. Refresh the dated plan and assign an action before the actual trough.
Base: All listed receipts clear: KES 6.0m + 12.0m − 9.4m = KES 8.6m.
Changed: The KES 4.0m dispute does not clear: receipts fall to KES 8.0m.
Consequence: The same aggregate bridge leaves KES 4.6m, a KES 4.0m reduction. Positive totals still do not prove that payroll clears before receipts arrive.
ARTICLE SECTION: From an indicator to an owner decision
A useful warning sheet has four parts: the measurement, its trigger, the owner of the response, and the time available to act. “Receivables are rising” is only an observation. A more useful statement is: “The three largest overdue invoices are now KSh 1.8 million, equal to six weeks of payroll; the credit lead will call the buyers today, pause new exposure above the approved limit, and refresh the cash forecast on Friday.” The amounts and thresholds must come from the business’s own records and obligations. The example illustrates the form of a decision, not a universal safe limit.
Separate leading indicators from outcomes. A supplier asking for cash on delivery, a lost credit line, or a new covenant waiver can precede a missed payment. A bounced payment, court petition, or administration appointment is usually a later outcome. A retrospective should ask whether the earlier signal was visible, whether it was recorded, and whether anyone had authority and time to respond. If no one was assigned the decision, a technically accurate dashboard may still have had no practical value.
The forecast itself needs a short, honest horizon. A weekly cash schedule can list opening unrestricted cash, confirmed customer receipts, committed purchases, wages, rent, taxes, debt service and a minimum operating reserve. Put uncertain receipts in a separate column with a probability or evidence note; do not quietly treat a sales promise as cash. Run a base case and one or two adverse cases, such as a key customer paying two weeks late or a supplier withdrawing terms. The point is not to predict the exact failure date. It is to find which assumption would force a decision first.
After each review, preserve the forecast version and the actual result. Compare the amount and date of expected receipts and payments with what happened. This reveals whether repeated errors came from late customer data, optimistic sales assumptions, unrecorded obligations, or a genuinely unpredictable event. A warning system should improve its inputs and ownership as well as its thresholds.
ARTICLE SECTION: From retrospective findings to an operating control
The final product should translate each credible warning into a control that a living business can use. A control needs a measure, source, frequency, threshold, response owner, action, deadline and escalation path. For instance, “largest overdue receivable exceeds the amount the 13-week forecast can absorb” can trigger a same-day collection review, credit approval pause for additional exposure, and customer escalation. The threshold derives from actual liquidity and contractual terms rather than a generic industry ratio.
Match the action to the warning type. A collection problem may require document repair or customer contact. A margin problem may require SKU-level contribution analysis and repricing. Inventory ageing may call for a clearance or purchasing hold, but not if the inventory is a critical spare or a confirmed seasonal product. Refinancing risk needs a lender pack months before maturity. Governance and key-person risk may require dual bank access, succession documentation or board escalation.
Record the decision and review date. If an exception is overridden, write who approved it, why, what evidence supports it, when it expires and what would reverse the decision. A control that can be overridden silently is not a reliable warning system.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REAL WEB CAPTURE
{
  "key": "failure-warning",
  "captured_at": "2026-09-25T13:23:30.274Z",
  "url": "http://127.0.0.1:8765/calculators/failure-warning/#business-results",
  "definitions": [
    {
      "display": "block",
      "text": "All terms are KES for week t: closing cash C, operating receipts R, new owner funds E, new borrowing F and all cash uses U. Opening cash C₀ is unrestricted. No emergency financing is inserted automatically."
    },
    {
      "display": "block",
      "text": "CCC is the cash conversion cycle in days. DIO is inventory days, DSO receivable days and DPO payable days. Use comparable periods and denominators; overdue claims still require review."
    },
    {
      "display": "block",
      "text": "S is the illustrative KES weekly sales input, mᵦ base contribution margin and mₛ downside margin, entered as percentages. This stress assumes constant sales and immediately paid variable costs; it is separate from editable baseline supplier payments."
    }
  ],
  "equations": 3,
  "inputs": [
    {
      "name": "start",
      "value": "2026-09-28"
    },
    {
      "name": "opening",
      "value": "6000000"
    },
    {
      "name": "reserve",
      "value": "750000"
    },
    {
      "name": "receipt_delay",
      "value": "0"
    },
    {
      "name": "financing_delay",
      "value": "0"
    },
    {
      "checked": false,
      "name": "exclude_financing",
      "value": "on"
    },
    {
      "name": "source_note",
      "value": "Illustrative workbook case; replace with dated records"
    },
    {
      "name": "weekly_sales",
      "value": "1500000"
    },
    {
      "name": "base_margin",
      "value": "20"
    },
    {
      "name": "stress_margin",
      "value": "20"
    },
    {
      "name": "supplier_acceleration",
      "value": "0"
    },
    {
      "name": "inventory_tieup",
      "value": "0"
    },
    {
      "name": "overdue_suppliers",
      "value": "0"
    },
    {
      "name": "dio",
      "value": "30"
    },
    {
      "name": "dso",
      "value": "20"
    },
    {
      "name": "dpo",
      "value": "35"
    },
    {
      "name": "stress_dio",
      "value": "45"
    },
    {
      "name": "stress_dso",
      "value": "30"
    },
    {
      "name": "stress_dpo",
      "value": "20"
    },
    {
      "name": "w1_receipts",
      "value": "1400000"
    },
    {
      "name": "w1_down_receipts",
      "value": "900000"
    },
    {
      "name": "w1_suppliers",
      "value": "900000"
    },
    {
      "name": "w1_down_suppliers",
      "value": "1000000"
    },
    {
      "name": "w1_fixed",
      "value": "350000"
    },
    {
      "name": "w1_other_due",
      "value": "180000"
    },
    {
      "name": "w2_receipts",
      "value": "1200000"
    },
    {
      "name": "w2_down_receipts",
      "value": "700000"
    },
    {
      "name": "w2_suppliers",
      "value": "800000"
    },
    {
      "name": "w2_down_suppliers",
      "value": "900000"
    },
    {
      "name": "w2_fixed",
      "value": "350000"
    },
    {
      "name": "w2_other_due",
      "value": "180000"
    },
    {
      "name": "w3_receipts",
      "value": "1600000"
    },
    {
      "name": "w3_down_receipts",
      "value": "1000000"
    },
    {
      "name": "w3_suppliers",
      "value": "1000000"
    },
    {
      "name": "w3_down_suppliers",
      "value": "1150000"
    },
    {
      "name": "w3_fixed",
      "value": "350000"
    },
    {
      "name": "w3_other_due",
      "value": "180000"
    },
    {
      "name": "w4_receipts",
      "value": "1000000"
    },
    {
      "name": "w4_down_receipts",
      "value": "600000"
    },
    {
      "name": "w4_suppliers",
      "value": "800000"
    },
    {
      "name": "w4_down_suppliers",
      "value": "900000"
    },
    {
      "name": "w4_fixed",
      "value": "350000"
    },
    {
      "name": "w4_other_due",
      "value": "180000"
    },
    {
      "name": "w5_receipts",
      "value": "2200000"
    },
    {
      "name": "w5_down_receipts",
      "value": "1200000"
    },
    {
      "name": "w5_suppliers",
      "value": "1300000"
    },
    {
      "name": "w5_down_suppliers",
      "value": "1450000"
    },
    {
      "name": "w5_fixed",
      "value": "350000"
    },
    {
      "name": "w5_other_due",
      "value": "180000"
    },
    {
      "name": "w6_receipts",
      "value": "1500000"
    },
    {
      "name": "w6_down_receipts",
      "value": "900000"
    },
    {
      "name": "w6_suppliers",
      "value": "900000"
    },
    {
      "name": "w6_down_suppliers",
      "value": "1000000"
    },
    {
      "name": "w6_fixed",
      "value": "350000"
    },
    {
      "name": "w6_other_due",
      "value": "180000"
    },
    {
      "name": "w7_receipts",
      "value": "900000"
    },
    {
      "name": "w7_down_receipts",
      "value": "500000"
    },
    {
      "name": "w7_suppliers",
      "value": "750000"
    },
    {
      "name": "w7_down_suppliers",
      "value": "850000"
    },
    {
      "name": "w7_fixed",
      "value": "350000"
    },
    {
      "name": "w7_other_due",
      "value": "180000"
    },
    {
      "name": "w8_receipts",
      "value": "1800000"
    },
    {
      "name": "w8_down_receipts",
      "value": "1100000"
    },
    {
      "name": "w8_suppliers",
      "value": "1100000"
    },
    {
      "name": "w8_down_suppliers",
      "value": "1250000"
    },
    {
      "name": "w8_fixed",
      "value": "350000"
    },
    {
      "name": "w8_other_due",
      "value": "180000"
    },
    {
      "name": "w9_receipts",
      "value": "1300000"
    },
    {
      "name": "w9_down_receipts",
      "value": "750000"
    },
    {
      "name": "w9_suppliers",
      "value": "900000"
    },
    {
      "name": "w9_down_suppliers",
      "value": "950000"
    },
    {
      "name": "w9_fixed",
      "value": "350000"
    },
    {
      "name": "w9_other_due",
      "value": "180000"
    },
    {
      "name": "w10_receipts",
      "value": "2000000"
    },
    {
      "name": "w10_down_receipts",
      "value": "1250000"
    },
    {
      "name": "w10_suppliers",
      "value": "1250000"
    },
    {
      "name": "w10_down_suppliers",
      "value": "1400000"
    },
    {
      "name": "w10_fixed",
      "value": "350000"
    },
    {
      "name": "w10_other_due",
      "value": "180000"
    },
    {
      "name": "w11_receipts",
      "value": "1200000"
    },
    {
      "name": "w11_down_receipts",
      "value": "700000"
    },
    {
      "name": "w11_suppliers",
      "value": "800000"
    },
    {
      "name": "w11_down_suppliers",
      "value": "900000"
    },
    {
      "name": "w11_fixed",
      "value": "350000"
    },
    {
      "name": "w11_other_due",
      "value": "180000"
    },
    {
      "name": "w12_receipts",
      "value": "1700000"
    },
    {
      "name": "w12_down_receipts",
      "value": "900000"
    },
    {
      "name": "w12_suppliers",
      "value": "1000000"
    },
    {
      "name": "w12_down_suppliers",
      "value": "1150000"
    },
    {
      "name": "w12_fixed",
      "value": "350000"
    },
    {
      "name": "w12_other_due",
      "value": "180000"
    },
    {
      "name": "w13_receipts",
      "value": "1800000"
    },
    {
      "name": "w13_down_receipts",
      "value": "1100000"
    },
    {
      "name": "w13_suppliers",
      "value": "1150000"
    },
    {
      "name": "w13_down_suppliers",
      "value": "1300000"
    },
    {
      "name": "w13_fixed",
      "value": "350000"
    },
    {
      "name": "w13_other_due",
      "value": "180000"
    },
    {
      "name": "w1_other_operating",
      "value": "0"
    },
    {
      "name": "w1_owner_funding",
      "value": "0"
    },
    {
      "name": "w1_financing",
      "value": "0"
    },
    {
      "name": "w1_tax",
      "value": "0"
    },
    {
      "name": "w1_maintenance",
      "value": "0"
    },
    {
      "name": "w1_growth",
      "value": "0"
    },
    {
      "name": "w1_interest",
      "value": "0"
    },
    {
      "name": "w1_principal",
      "value": "0"
    },
    {
      "name": "w1_draws",
      "value": "0"
    },
    {
      "name": "w2_other_operating",
      "value": "0"
    },
    {
      "name": "w2_owner_funding",
      "value": "0"
    },
    {
      "name": "w2_financing",
      "value": "0"
    },
    {
      "name": "w2_tax",
      "value": "0"
    },
    {
      "name": "w2_maintenance",
      "value": "0"
    },
    {
      "name": "w2_growth",
      "value": "0"
    },
    {
      "name": "w2_interest",
      "value": "0"
    },
    {
      "name": "w2_principal",
      "value": "0"
    },
    {
      "name": "w2_draws",
      "value": "0"
    },
    {
      "name": "w3_other_operating",
      "value": "0"
    },
    {
      "name": "w3_owner_funding",
      "value": "0"
    },
    {
      "name": "w3_financing",
      "value": "0"
    },
    {
      "name": "w3_tax",
      "value": "0"
    },
    {
      "name": "w3_maintenance",
      "value": "0"
    },
    {
      "name": "w3_growth",
      "value": "0"
    },
    {
      "name": "w3_interest",
      "value": "0"
    },
    {
      "name": "w3_principal",
      "value": "0"
    },
    {
      "name": "w3_draws",
      "value": "0"
    },
    {
      "name": "w4_other_operating",
      "value": "0"
    },
    {
      "name": "w4_owner_funding",
      "value": "0"
    },
    {
      "name": "w4_financing",
      "value": "0"
    },
    {
      "name": "w4_tax",
      "value": "0"
    },
    {
      "name": "w4_maintenance",
      "value": "0"
    },
    {
      "name": "w4_growth",
      "value": "0"
    },
    {
      "name": "w4_interest",
      "value": "0"
    },
    {
      "name": "w4_principal",
      "value": "0"
    },
    {
      "name": "w4_draws",
      "value": "0"
    },
    {
      "name": "w5_other_operating",
      "value": "0"
    },
    {
      "name": "w5_owner_funding",
      "value": "0"
    },
    {
      "name": "w5_financing",
      "value": "0"
    },
    {
      "name": "w5_tax",
      "value": "0"
    },
    {
      "name": "w5_maintenance",
      "value": "0"
    },
    {
      "name": "w5_growth",
      "value": "0"
    },
    {
      "name": "w5_interest",
      "value": "0"
    },
    {
      "name": "w5_principal",
      "value": "0"
    },
    {
      "name": "w5_draws",
      "value": "0"
    },
    {
      "name": "w6_other_operating",
      "value": "0"
    },
    {
      "name": "w6_owner_funding",
      "value": "0"
    },
    {
      "name": "w6_financing",
      "value": "0"
    },
    {
      "name": "w6_tax",
      "value": "0"
    },
    {
      "name": "w6_maintenance",
      "value": "0"
    },
    {
      "name": "w6_growth",
      "value": "0"
    },
    {
      "name": "w6_interest",
      "value": "0"
    },
    {
      "name": "w6_principal",
      "value": "0"
    },
    {
      "name": "w6_draws",
      "value": "0"
    },
    {
      "name": "w7_other_operating",
      "value": "0"
    },
    {
      "name": "w7_owner_funding",
      "value": "0"
    },
    {
      "name": "w7_financing",
      "value": "0"
    },
    {
      "name": "w7_tax",
      "value": "0"
    },
    {
      "name": "w7_maintenance",
      "value": "0"
    },
    {
      "name": "w7_growth",
      "value": "0"
    },
    {
      "name": "w7_interest",
      "value": "0"
    },
    {
      "name": "w7_principal",
      "value": "0"
    },
    {
      "name": "w7_draws",
      "value": "0"
    },
    {
      "name": "w8_other_operating",
      "value": "0"
    },
    {
      "name": "w8_owner_funding",
      "value": "0"
    },
    {
      "name": "w8_financing",
      "value": "0"
    },
    {
      "name": "w8_tax",
      "value": "0"
    },
    {
      "name": "w8_maintenance",
      "value": "0"
    },
    {
      "name": "w8_growth",
      "value": "0"
    },
    {
      "name": "w8_interest",
      "value": "0"
    },
    {
      "name": "w8_principal",
      "value": "0"
    },
    {
      "name": "w8_draws",
      "value": "0"
    },
    {
      "name": "w9_other_operating",
      "value": "0"
    },
    {
      "name": "w9_owner_funding",
      "value": "0"
    },
    {
      "name": "w9_financing",
      "value": "0"
    },
    {
      "name": "w9_tax",
      "value": "0"
    },
    {
      "name": "w9_maintenance",
      "value": "0"
    },
    {
      "name": "w9_growth",
      "value": "0"
    },
    {
      "name": "w9_interest",
      "value": "0"
    },
    {
      "name": "w9_principal",
      "value": "0"
    },
    {
      "name": "w9_draws",
      "value": "0"
    },
    {
      "name": "w10_other_operating",
      "value": "0"
    },
    {
      "name": "w10_owner_funding",
      "value": "0"
    },
    {
      "name": "w10_financing",
      "value": "0"
    },
    {
      "name": "w10_tax",
      "value": "0"
    },
    {
      "name": "w10_maintenance",
      "value": "0"
    },
    {
      "name": "w10_growth",
      "value": "0"
    },
    {
      "name": "w10_interest",
      "value": "0"
    },
    {
      "name": "w10_principal",
      "value": "0"
    },
    {
      "name": "w10_draws",
      "value": "0"
    },
    {
      "name": "w11_other_operating",
      "value": "0"
    },
    {
      "name": "w11_owner_funding",
      "value": "0"
    },
    {
      "name": "w11_financing",
      "value": "0"
    },
    {
      "name": "w11_tax",
      "value": "0"
    },
    {
      "name": "w11_maintenance",
      "value": "0"
    },
    {
      "name": "w11_growth",
      "value": "0"
    },
    {
      "name": "w11_interest",
      "value": "0"
    },
    {
      "name": "w11_principal",
      "value": "0"
    },
    {
      "name": "w11_draws",
      "value": "0"
    },
    {
      "name": "w12_other_operating",
      "value": "0"
    },
    {
      "name": "w12_owner_funding",
      "value": "0"
    },
    {
      "name": "w12_financing",
      "value": "0"
    },
    {
      "name": "w12_tax",
      "value": "0"
    },
    {
      "name": "w12_maintenance",
      "value": "0"
    },
    {
      "name": "w12_growth",
      "value": "0"
    },
    {
      "name": "w12_interest",
      "value": "0"
    },
    {
      "name": "w12_principal",
      "value": "0"
    },
    {
      "name": "w12_draws",
      "value": "0"
    },
    {
      "name": "w13_other_operating",
      "value": "0"
    },
    {
      "name": "w13_owner_funding",
      "value": "0"
    },
    {
      "name": "w13_financing",
      "value": "0"
    },
    {
      "name": "w13_tax",
      "value": "0"
    },
    {
      "name": "w13_maintenance",
      "value": "0"
    },
    {
      "name": "w13_growth",
      "value": "0"
    },
    {
      "name": "w13_interest",
      "value": "0"
    },
    {
      "name": "w13_principal",
      "value": "0"
    },
    {
      "name": "w13_draws",
      "value": "0"
    }
  ],
  "mathErrors": 0,
  "title": "Business cash stress and warning planner | Sokointel",
  "viewport": {
    "height": 720,
    "width": 1280
  },
  "files": [
    "failure-warning-full.png",
    "failure-warning-results.png"
  ],
  "slug": "failure-warning",
  "screenshots": [
    "failure-warning-full.png",
    "failure-warning-results.png"
  ],
  "environment": "local preview; not proof of live deployment",
  "base": "Evidence/Web/20260925-formula-rendering"
}
DEMONSTRATION SCOPE
Inspect a separate fictional weekly stress plan. Pull supplier payments forward or delay receipts, then identify the first reserve and cash breach.
The stress schedule is not the cash record of a named company or a probability of failure.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Answer: A useful warning is evidence available early enough for a specific person to act. Coastal Supply's disputed invoice identifies a collection and timing problem; it does not establish inevitable failure or the cause of any real company's distress.
Viewer task: Write one dated warning record: entity, available evidence, alternative explanation, action owner, authority, deadline and the document that would change the decision.
Return to each opening research question and identify what remains conditional or unknown.
ARTICLE SECTION: From an indicator to an owner decision
A useful warning sheet has four parts: the measurement, its trigger, the owner of the response, and the time available to act. “Receivables are rising” is only an observation. A more useful statement is: “The three largest overdue invoices are now KSh 1.8 million, equal to six weeks of payroll; the credit lead will call the buyers today, pause new exposure above the approved limit, and refresh the cash forecast on Friday.” The amounts and thresholds must come from the business’s own records and obligations. The example illustrates the form of a decision, not a universal safe limit.
Separate leading indicators from outcomes. A supplier asking for cash on delivery, a lost credit line, or a new covenant waiver can precede a missed payment. A bounced payment, court petition, or administration appointment is usually a later outcome. A retrospective should ask whether the earlier signal was visible, whether it was recorded, and whether anyone had authority and time to respond. If no one was assigned the decision, a technically accurate dashboard may still have had no practical value.
The forecast itself needs a short, honest horizon. A weekly cash schedule can list opening unrestricted cash, confirmed customer receipts, committed purchases, wages, rent, taxes, debt service and a minimum operating reserve. Put uncertain receipts in a separate column with a probability or evidence note; do not quietly treat a sales promise as cash. Run a base case and one or two adverse cases, such as a key customer paying two weeks late or a supplier withdrawing terms. The point is not to predict the exact failure date. It is to find which assumption would force a decision first.
After each review, preserve the forecast version and the actual result. Compare the amount and date of expected receipts and payments with what happened. This reveals whether repeated errors came from late customer data, optimistic sales assumptions, unrecorded obligations, or a genuinely unpredictable event. A warning system should improve its inputs and ownership as well as its thresholds.
ARTICLE SECTION: Preserve the analyst's own decision record
A complete retrospective also records what the analyst recommended, what evidence was missing, how confident the estimate was, and what later event would have changed the view. This allows a team to distinguish a weak operating signal from a reasonable judgment made with incomplete information. The purpose is to improve the next cash forecast and response, not to reward hindsight for predicting an outcome that was unknowable at the time.
A retrospective should also state the decision boundary. A credible warning may justify calling a customer, pausing a new commitment or seeking advice without proving that insolvency was inevitable. The article should distinguish an operating intervention from a legal conclusion, then note when the evidence became sufficient to escalate.
The strongest output is a dated record that says what was knowable, when the response could still help, and what later evidence changed the interpretation. That record lets an owner act promptly without turning a warning into a verdict.
The review closes with a specific update condition: name the filing, cash report, court document or operating measure that would change the current view, and schedule when to check it. That keeps the retrospective useful after publication.
The outcome note should also say who will check the next record and by what date. A signal that no one owns can be obvious in hindsight and useless in the moment.
A future update should preserve the earlier data cut while adding new administrator reports, judgments or recoveries as later evidence. This makes the chronology auditable instead of rewriting the past with information learned afterward.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OE-FAILURE-11: The retrospective method
ARTICLE: https://sokointel.com/read/oe-failure-11/
RESEARCH SNAPSHOT: 10 September 2026
SOURCE MATERIAL
[1] B. Fischhoff, “Hindsight Is Not Equal to Foresight: The Effect of Outcome Knowledge on Judgment Under Uncertainty,” Journal of Experimental Psychology: Human Perception and Performance, vol. 1, no. 3, pp. 288–299, 1975, https://doi.org/10.1037/0096-1523.1.3.288.
[2] T. Shumway, “Forecasting Bankruptcy More Accurately: A Simple Hazard Model,” The Journal of Business, vol. 74, no. 1, pp. 101–124, 2001, https://doi.org/10.1086/209665.
[3] J. Y. Campbell, J. Hilscher, and J. Szilagyi, “In Search of Distress Risk,” The Journal of Finance, vol. 63, no. 6, pp. 2899–2939, 2008, https://doi.org/10.1111/j.1540-6261.2008.01416.x.
[4] R. A. C. Merton, “On the Pricing of Corporate Debt: The Risk Structure of Interest Rates,” The Journal of Finance, vol. 29, no. 2, pp. 449–470, 1974, https://doi.org/10.1111/j.1540-6261.1974.tb03058.x.
[7] Kenindia Assurance Co Ltd v Administrator, Nakumatt Holdings Ltd (UA) &amp; another, [2025] KEHC 12545 (KLR), ruling delivered 9 September 2025, https://new.kenyalaw.org/akn/ke/judgment/kehc/2025/12545/eng@2025-09-09.
[8] In re Nakumatt Holdings Limited (Under Administration), [2021] KEHC 8603 (KLR), ruling delivered 11 March 2021; accessible reproduction of the court ruling, https://sheriahub.com/cases/ke/caselaw/in-re-nakumatt-holdings-limited-under-administration-2021-eklr.pdf.
All linked source URLs:
B. Fischhoff, “Hindsight Is Not Equal to Foresight: The Effect of Outcome Knowledge on Judgment Under Uncertainty,” Journal of Experimental Psychology: https://doi.org/10.1037/0096-1523.1.3.288
T. Shumway, “Forecasting Bankruptcy More Accurately: A Simple Hazard Model,” The Journal of Business, vol. 74, no. 1, pp. 101–124, 2001: https://doi.org/10.1086/209665
J. Y. Campbell, J. Hilscher, and J. Szilagyi, “In Search of Distress Risk,” The Journal of Finance, vol. 63, no. 6, pp. 2899–2939, 2008: https://doi.org/10.1111/j.1540-6261.2008.01416.x
R. A. C. Merton, “On the Pricing of Corporate Debt: The Risk Structure of Interest Rates,” The Journal of Finance, vol. 29, no. 2, pp. 449–470, 1974: https://doi.org/10.1111/j.1540-6261.1974.tb03058.x
Kenindia Assurance Co Ltd v Administrator, Nakumatt Holdings Ltd (UA) &amp; another, [2025] KEHC 12545 (KLR), ruling delivered 9 September 2025: https://new.kenyalaw.org/akn/ke/judgment/kehc/2025/12545/eng@2025-09-09
In re Nakumatt Holdings Limited (Under Administration), [2021] KEHC 8603 (KLR), ruling delivered 11 March 2021; accessible reproduction of the court r: https://sheriahub.com/cases/ke/caselaw/in-re-nakumatt-holdings-limited-under-administration-2021-eklr.pdf
Additional content sources:
[]
Workbook provenance:
C:\Users\Nevo\Downloads\financial material\Owner's Earning\Project 3 - Failure Retrospectives and Warning Systems\Project 3 - Failure Retrospectives and Warning Systems.xlsx
'Timeline'!C5:I9
056c55f6d4b882fb99469e9092f4f4d1c930676a49b676b7c0dd5ad6e068b14e
C:\Users\Nevo\Downloads\financial material\Owner's Earning\Project 3 - Failure Retrospectives and Warning Systems\Project 3 - Failure Retrospectives and Warning Systems.xlsx
'Warnings and Actions'!C5:I9
056c55f6d4b882fb99469e9092f4f4d1c930676a49b676b7c0dd5ad6e068b14e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failure-11/" TargetMode="External"/><Relationship Id="rId2" Type="http://schemas.openxmlformats.org/officeDocument/2006/relationships/hyperlink" Target="https://doi.org/10.1037/0096-1523.1.3.288" TargetMode="External"/><Relationship Id="rId3" Type="http://schemas.openxmlformats.org/officeDocument/2006/relationships/hyperlink" Target="https://doi.org/10.1086/209665" TargetMode="External"/><Relationship Id="rId4" Type="http://schemas.openxmlformats.org/officeDocument/2006/relationships/hyperlink" Target="https://doi.org/10.1111/j.1540-6261.2008.01416.x" TargetMode="External"/><Relationship Id="rId5" Type="http://schemas.openxmlformats.org/officeDocument/2006/relationships/hyperlink" Target="https://doi.org/10.1111/j.1540-6261.1974.tb03058.x"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The retrospective method</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decision-date investigation tests whether a disputed customer receipt gave a fictional distributor enough warning to act before its cash trough.</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OE-FAILURE-11   •   Fictional Coastal Supply Ltd • evidence cutoff 24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warning was visible at the time rather than only after the outcome?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What do Nakumatt and Tuskys records establish about retail cash-cycle stress?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can Twiga and Copia legal and funding records show, and what remains unknown?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Information date — when the assessed decision-maker could know a fact</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Source date — when the supporting record was prepared or published</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Evidence status — fact, attributed claim, calculation or unresolved</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Unrestricted cash — money available for the entity's own obligations; KES</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Action window — time available before the relevant obligation or cash trough</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Freeze the information available then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Choose the legal entity, decision-maker and decision date first.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the event date from the date its evidence became available.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Add later court or administrator findings in a separate lane.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Find the invoice behind the warning</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Coastal Supply has KES 6.0m cash and expects KES 12.0m of receipts.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One KES 4.0m customer invoice is disputed and historically late.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separate 13-week forecast reaches KES 0.3m in week five.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the warning earn its response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Assign the credit lead to reconcile delivery evidence and collect the undisputed amount.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authority, response deadline and the next cash-forecast update.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Test alternative explanations and review false alarms as well as missed cases.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Measure the disputed receipt's concentration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Receipt concentration = disputed invoice ÷ opening unrestricted cash</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4.0m ÷ KES 6.0m = 0.667 = 66.7%</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One disputed receipt equals two-thirds of opening cash. The ratio describes exposure, not a failure probability or a cash-availability guarantee.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Timeline: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1-01-p1.png">    </p:cNvPr>
          <p:cNvPicPr>
            <a:picLocks noChangeAspect="1"/>
          </p:cNvPicPr>
          <p:nvPr/>
        </p:nvPicPr>
        <p:blipFill>
          <a:blip r:embed="rId1"/>
          <a:stretch>
            <a:fillRect/>
          </a:stretch>
        </p:blipFill>
        <p:spPr>
          <a:xfrm>
            <a:off x="612648" y="3234864"/>
            <a:ext cx="10972800" cy="91862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Timeline!C5:I9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Warnings and Actions: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1-02-p1.png">    </p:cNvPr>
          <p:cNvPicPr>
            <a:picLocks noChangeAspect="1"/>
          </p:cNvPicPr>
          <p:nvPr/>
        </p:nvPicPr>
        <p:blipFill>
          <a:blip r:embed="rId1"/>
          <a:stretch>
            <a:fillRect/>
          </a:stretch>
        </p:blipFill>
        <p:spPr>
          <a:xfrm>
            <a:off x="612648" y="3232733"/>
            <a:ext cx="10972800" cy="92288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Warnings and Actions!C5:I9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Coastal Supply Ltd • evidence cutoff 24 September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Remove the disputed receipt from the aggregate bridge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All listed receipts clear: KES 6.0m + 12.0m − 9.4m = KES 8.6m.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KES 4.0m dispute does not clear: receipts fall to KES 8.0m.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same aggregate bridge leaves KES 4.6m, a KES 4.0m reduction. Positive totals still do not prove that payroll clears before receipts arrive.</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failure-warning-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Inspect a separate fictional weekly stress plan. Pull supplier payments forward or delay receipts, then identify the first reserve and cash breach.</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The stress schedule is not the cash record of a named company or a probability of failure.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/calculators/failure-warning/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useful warning is evidence available early enough for a specific person to act. Coastal Supply's disputed invoice identifies a collection and timing problem; it does not establish inevitable failure or the cause of any real company's distress.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Write one dated warning record: entity, available evidence, alternative explanation, action owner, authority, deadline and the document that would change the decision.</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sokointel.com/read/oe-failure-11/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B. Fischhoff, “Hindsight Is Not Equal to Foresight: The Effect of Outcome Knowledge on Judgment Under Uncertainty,” Journal o • 1975</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T. Shumway, “Forecasting Bankruptcy More Accurately: A Simple Hazard Model,” The Journal of Business, vol. 74, no. 1, pp. 101 • 2001</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J. Y. Campbell, J. Hilscher, and J. Szilagyi, “In Search of Distress Risk,” The Journal of Finance, vol. 63, no. 6, pp. 2899– • 2008</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R. A. C. Merton, “On the Pricing of Corporate Debt: The Risk Structure of Interest Rates,” The Journal of Finance, vol. 29, n • 1974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retrospective method</dc:title>
  <dc:subject>Which warning was visible at the time rather than only after the outcome? | What do Nakumatt and Tuskys records establish about retail cash-cycle stress? | What can Twiga and Copia legal and funding records show, and what remains unknown?</dc:subject>
  <dc:creator>Sokointel</dc:creator>
  <cp:lastModifiedBy>Sokointel</cp:lastModifiedBy>
  <cp:revision>1</cp:revision>
  <dcterms:created xsi:type="dcterms:W3CDTF">2026-09-25T13:49:41Z</dcterms:created>
  <dcterms:modified xsi:type="dcterms:W3CDTF">2026-09-25T13:49:41Z</dcterms:modified>
</cp:coreProperties>
</file>