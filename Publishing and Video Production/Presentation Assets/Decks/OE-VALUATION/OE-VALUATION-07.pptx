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OPENING NARRATION
NVIDIA outsources fabrication, but working capital, research, dilution and supply contracts still absorb capital.
NVIDIA FY2026 filing facts and a separately labelled normalized teaching scenario.
Introduce the decision before defining the technical terms.
ARTICLE SECTION: Opening
Revised practical article; source details and figures are dated to their cited filing or event, with current evidence reviewed through 24 September 2026.
A company can outsource factories and still require enormous amounts of capital. NVIDIA is a useful case because its business is often described as “fabless” or asset-light, yet its filings show material investment in research and development, working capital, supplier commitments, and data-centre infrastructure. The phrase is relative. It cannot replace reading the cash-flow statement and risk disclosures.
NVIDIA’s FY2026 Form 10-K reports revenue of $215.9 billion, up 65% from the prior year, and says growth was driven by its compute and networking platforms for accelerated computing and AI [1]. That is the management-reported growth story. Our owner-earnings question is narrower: after funding the business needed to preserve its competitive position and unit volume, how much earning power might remain for owners over time?
ARTICLE SECTION: Start with the filing, not a “cash flow” headline
The FY2026 filing reports net income of $120.067 billion, stock-based compensation expense of $6.386 billion, depreciation and amortization of $2.843 billion, and capital expenditures of $6.1 billion [1]. It also reports year-end accounts receivable of $38.466 billion and inventory of $21.403 billion, both substantially higher than their year-earlier balances. The cash-flow statement records a $15.399 billion use from receivables and an $11.324 billion use from inventories during the period, net of acquisitions [1].
These are not reasons to call the business weak. A fast-growing hardware platform can require larger inventory and customer receivables. They are reasons not to equate profit with current cash available to shareholders. Cash-flow quality requires a bridge through accruals, receivables, inventory, payables and obligations. Dechow, Kothari and Watts show that earnings and cash flow behave differently across settings and periods [2]. For NVIDIA, the filed cash-flow statement already includes the period’s reported working-capital movements. If an analyst normalizes those movements, the model should name the normalization and avoid deducting them twice.
The filing also reports $95.2 billion of outstanding inventory purchase and long-term supply/capacity obligations at 25 January 2026 [1]. A large portion relates to inventory purchases. Some obligations may support future growth, some protect the supply chain, and their exact cancellation or settlement terms vary. It would be wrong to subtract the whole balance from one year’s owner earnings as if it were a debt repayment due immediately. It would also be wrong to ignore it. The analyst should trace timing, contractual terms, inventory assumptions, and demand uncertainty.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Read the questions naturally and define terms in context.
USD bn - billions of US dollars; do not mix with the KES teaching models
CFO - filed cash from operating activities for the fiscal period
SBC - share-based compensation; not free owner cash
AR - accounts receivable; balance and annual cash-flow movement differ
Residual index - hypothetical capacity less reinvestment and priority claims; not issuer cash
Research question mapping: How can public filings support a defensible owner-earnings bridge?; What must asset-light and asset-heavy businesses reinvest to preserve productive capacity?; How do banks and insurers determine distributable capital?; Which sector-specific adjustments matter when comparing seven NSE industry profiles?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Part 7, Asset-light describes ownership, not the whole capital system. Map order, foundry, packaging, delivery, acceptance and collection. Do not equate outsourced factories with zero reinvestment or treat all R&amp;D as a cost-free add-back.
Narration: explain each step and its consequence for the opening decision.
ARTICLE SECTION: “Asset-light” describes ownership, not the whole capital system
A fabless chip designer avoids owning the most expensive fabrication plants, but the physical work still happens. The cash requirement has moved across company boundaries into foundry capacity, advanced packaging, memory, testing, board assembly, logistics, and customer infrastructure. A shareholder analysing the designer should ask which obligations are on its balance sheet, which sit in supplier contracts, and which risks appear only when scarce capacity is contested.
Qiao and Wang compare 470 semiconductor companies across 1999–2018 and find that the specialized fabless-foundry model is associated with improved pure efficiency and a reduced effect from semiconductor business cycles in their sample [4]. That is evidence for the economic value of specialization across the industry; it is not evidence that every fabless company is low-risk or that its supply commitments are optional. The study also notes that boundaries between integrated and specialized models can blur. NVIDIA's disclosed purchasing obligations are one issuer-specific reason to trace the operating system beyond owned property.
The practical question is who funds each bottleneck. A foundry may commit wafer capacity; an assembly partner may need advanced packaging capacity; a supplier may require deposits; a distributor may hold inventory; a cloud operator may finance the data centre; and a customer may delay payment until a system is installed. These arrangements affect working capital and the timing of cash even if NVIDIA owns none of the fab or server building. Map the chain from customer order to chip design, wafer start, packaging, system build, delivery, acceptance and collection. Each stage may have a cancellation right, take-or-pay commitment, prepayment or inventory risk.
A growing company can report strong margins and still face a cash squeeze if it pays suppliers earlier than customers pay it. Conversely, a temporary inventory increase may be an intentional buffer against constrained supply and a demand ramp. The analyst should compare inventory composition and aging, receivables by customer, supplier payables, deposits, purchase commitments and subsequent sales. Working capital is not inherently good or bad; the question is whether it supports profitable, collectible sales without exposing owners to an unpriced reversal.
ARTICLE SECTION: Translate platform strength into testable scenarios
“AI demand is durable” is an investment thesis, not a model input. Translate it into customer deployments, units, average selling prices, gross margin, software or networking attachment, receivable days, inventory, supplier capacity, R&amp;D, and renewal capital. For each driver, record the historical range, current evidence and a plausible downside. Then ask what combination of market growth and share retention is needed to support the price.
| Scenario | Operating story | Owner-earnings implications |
|---|---|---|
| Durable expansion | Customer deployments continue, product availability remains constrained but manageable, and software/networking attach stays strong | Revenue growth may support margins, but receivables, inventory and commitments can absorb cash during the ramp |
| Normalizing demand | Customers digest installed capacity, lead times shorten and pricing moderates | Lower unit growth and utilization can reduce earnings while purchase obligations and R&amp;D remain sticky |
| Competitive or platform transition | Customers shift workloads, use alternatives, or negotiate lower prices; the product cycle changes | Gross margin and retention weaken; inventory or reserved capacity may need write-downs or cancellation costs |
| Supply interruption | A key foundry, packaging step or jurisdiction is disrupted | Shipments fall despite demand; obligations, deposits and customer commitments can become mismatched |
The downside case should not assume that R&amp;D disappears when sales weaken. Maintaining engineering talent and software support may be necessary to recover competitiveness. Nor should it assume that every supplier commitment remains fixed; contracts may allow cancellations or rescheduling. Separate what the filing says from the analyst's probability judgment.
Valuation should follow the per-share owner-earnings range. Estimate a normalized base and downside, connect long-term growth to reinvestment and competitive durability, and test the market price against both. Ohlson's earnings and book-value framework is a reminder that valuation depends on future economics and accounting claims rather than a single cash-flow headline [3]. The analyst need not publish one exact intrinsic value if the range is driven by unresolved supply, maintenance or customer-demand evidence.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Source: NVIDIA FY2026 Form 10-K and Part 7, Start with the filing. Fiscal year ended 25 January 2026; SEC filing dated 25 February 2026. The gross receivables and inventory cash uses are not complete net working capital. Commitments are dated exposures, not immediate one-year deductions. These rows do not establish owner earnings.
Narration: explain each step and its consequence for the opening decision.
ARTICLE SECTION: Read demand through customer cash, not announced investment
A large cloud-provider capital budget is not the same as a purchase order for NVIDIA products, and a purchase order is not the same as a collected invoice. Build a demand ladder with separately labeled evidence: customer capex guidance, purchase commitments reported by customers, orders acknowledged by suppliers, shipment, installation, acceptance and collection. The farther the evidence sits from collected cash, the more assumptions remain.
For the largest customer relationships, examine concentration where the filing discloses it, payment terms, receivable balances, geographic mix, distributor use, returns and customer financing arrangements. A customer may be creditworthy but still delay acceptance because a cluster is not ready, electricity is unavailable, or software integration is incomplete. The supplier may have shipped and recorded revenue before cash arrives. The analyst should compare sales growth with receivables and cash collections, and check whether any increase results from mix, timing, contract terms or a change in channel inventory.
The scenario should not turn a single customer concentration percentage into an automatic alarm. Large enterprise customers can have strong credit and high repeat demand. Concentration matters because a change in spending, deployment timing or negotiation power can affect volumes and margins quickly. A useful downside asks what the company would do with inventory and capacity if one or two customers paused deployments for a quarter: which products can be redirected, how quickly, at what discount, and with what supplier payment still due?
ARTICLE SECTION: Start with the filing, not a “cash flow” headline
The FY2026 filing reports net income of $120.067 billion, stock-based compensation expense of $6.386 billion, depreciation and amortization of $2.843 billion, and capital expenditures of $6.1 billion [1]. It also reports year-end accounts receivable of $38.466 billion and inventory of $21.403 billion, both substantially higher than their year-earlier balances. The cash-flow statement records a $15.399 billion use from receivables and an $11.324 billion use from inventories during the period, net of acquisitions [1].
These are not reasons to call the business weak. A fast-growing hardware platform can require larger inventory and customer receivables. They are reasons not to equate profit with current cash available to shareholders. Cash-flow quality requires a bridge through accruals, receivables, inventory, payables and obligations. Dechow, Kothari and Watts show that earnings and cash flow behave differently across settings and periods [2]. For NVIDIA, the filed cash-flow statement already includes the period’s reported working-capital movements. If an analyst normalizes those movements, the model should name the normalization and avoid deducting them twice.
The filing also reports $95.2 billion of outstanding inventory purchase and long-term supply/capacity obligations at 25 January 2026 [1]. A large portion relates to inventory purchases. Some obligations may support future growth, some protect the supply chain, and their exact cancellation or settlement terms vary. It would be wrong to subtract the whole balance from one year’s owner earnings as if it were a debt repayment due immediately. It would also be wrong to ignore it. The analyst should trace timing, contractual terms, inventory assumptions, and demand uncertainty.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Part 7, Stock compensation deserves an owner lens, and Growth concentration is a risk input. Three direct customers represent 25%, 18% and 13% of receivables; do not call this revenue concentration. Workbook Assumptions leaves maintenance and normalized working capital blank because public facts alone do not establish them.
Narration: explain each step and its consequence for the opening decision.
ARTICLE SECTION: Model stock compensation as a claim on per-share cash
The $6.386 billion of reported stock-based compensation is a real component of employee remuneration even though the cash-flow statement adds it back as noncash [1]. There are two coherent ways to handle it. Keep the expense in earnings and use a diluted share count consistent with outstanding awards. Or add the expense back and explicitly model future shares or the cash repurchases required to offset dilution. Do not add it back, assume the share count is constant, and call the resulting number an owner-level cash estimate.
Li and Wyatt study employee stock options in equity valuation and show that ignoring dilution can distort the valuation of option grants, with larger bias in firms that are R&amp;D intensive or heavy users of options in their sample [6]. For an investor, inspect annual grants, vesting, exercises, forfeitures and net share settlement. Compare gross shares issued with buybacks, not just the net share count. A large buyback can keep diluted shares roughly flat while returning less cash to owners than the headline repurchase amount suggests.
A per-share worksheet should include basic and diluted weighted-average shares, period-end shares, options and restricted units, expected future grants, repurchases, and any acquisition consideration payable in shares. Use the share count period that matches the earnings numerator. Run a case where compensation stays at the current revenue ratio and another where it rises or falls based on hiring, share price and grant practice. This makes clear whether apparent growth in total owner earnings translates into growth for each continuing shareholder.
ARTICLE SECTION: Start with the filing, not a “cash flow” headline
The FY2026 filing reports net income of $120.067 billion, stock-based compensation expense of $6.386 billion, depreciation and amortization of $2.843 billion, and capital expenditures of $6.1 billion [1]. It also reports year-end accounts receivable of $38.466 billion and inventory of $21.403 billion, both substantially higher than their year-earlier balances. The cash-flow statement records a $15.399 billion use from receivables and an $11.324 billion use from inventories during the period, net of acquisitions [1].
These are not reasons to call the business weak. A fast-growing hardware platform can require larger inventory and customer receivables. They are reasons not to equate profit with current cash available to shareholders. Cash-flow quality requires a bridge through accruals, receivables, inventory, payables and obligations. Dechow, Kothari and Watts show that earnings and cash flow behave differently across settings and periods [2]. For NVIDIA, the filed cash-flow statement already includes the period’s reported working-capital movements. If an analyst normalizes those movements, the model should name the normalization and avoid deducting them twice.
The filing also reports $95.2 billion of outstanding inventory purchase and long-term supply/capacity obligations at 25 January 2026 [1]. A large portion relates to inventory purchases. Some obligations may support future growth, some protect the supply chain, and their exact cancellation or settlement terms vary. It would be wrong to subtract the whole balance from one year’s owner earnings as if it were a debt repayment due immediately. It would also be wrong to ignore it. The analyst should trace timing, contractual terms, inventory assumptions, and demand uncertainty.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Part 7, Put the FY2026 figures into a coherent bridge. Rounded USD 6.1 billion capex reproduces the article pitfall. The article separately reconciles USD 6.042 billion investing cash plus USD 0.101 billion financing principal to USD 6.143 billion, rounded to USD 6.1 billion. Retain definitions when comparing these measures. Receivables, inventory, payables, other balances, maintenance and dilution treatment remain unresolved.
Equation: Incomplete subtotal = NI + D&amp;A + SBC - rounded reported capex
Substitution: USD bn: 120.067 + 2.843 + 6.386 - 6.1 = 123.196
Interpretation: This arithmetic is intentionally incomplete: it is neither CFO nor owner earnings.
ARTICLE SECTION: Stock compensation deserves an owner lens
NVIDIA’s FY2026 cash-flow statement adds back $6.386 billion of stock-based compensation as a noncash adjustment [1]. The statement is correct: issuing shares does not use cash at the grant date. The owner’s cost is dilution over time or the cash spent on repurchases that offset it. The 10-K discloses share repurchases, tax withholding and awards in the shareholders’ equity note. Those are separate mechanics, and the analyst should not call the add-back “free cash.”
Use one internally consistent approach. An earnings-based calculation that retains the reported stock-compensation expense should not add it back again. A cash-flow approach that adds it back should model diluted shares, award expense, net issuance, or the repurchases required to maintain an owner’s proportional claim. Treating an add-back as cash while also freezing the share count creates a quietly optimistic owner-earnings estimate.
ARTICLE SECTION: “Asset-light” describes ownership, not the whole capital system
A fabless chip designer avoids owning the most expensive fabrication plants, but the physical work still happens. The cash requirement has moved across company boundaries into foundry capacity, advanced packaging, memory, testing, board assembly, logistics, and customer infrastructure. A shareholder analysing the designer should ask which obligations are on its balance sheet, which sit in supplier contracts, and which risks appear only when scarce capacity is contested.
Qiao and Wang compare 470 semiconductor companies across 1999–2018 and find that the specialized fabless-foundry model is associated with improved pure efficiency and a reduced effect from semiconductor business cycles in their sample [4]. That is evidence for the economic value of specialization across the industry; it is not evidence that every fabless company is low-risk or that its supply commitments are optional. The study also notes that boundaries between integrated and specialized models can blur. NVIDIA's disclosed purchasing obligations are one issuer-specific reason to trace the operating system beyond owned property.
The practical question is who funds each bottleneck. A foundry may commit wafer capacity; an assembly partner may need advanced packaging capacity; a supplier may require deposits; a distributor may hold inventory; a cloud operator may finance the data centre; and a customer may delay payment until a system is installed. These arrangements affect working capital and the timing of cash even if NVIDIA owns none of the fab or server building. Map the chain from customer order to chip design, wafer start, packaging, system build, delivery, acceptance and collection. Each stage may have a cancellation right, take-or-pay commitment, prepayment or inventory risk.
A growing company can report strong margins and still face a cash squeeze if it pays suppliers earlier than customers pay it. Conversely, a temporary inventory increase may be an intentional buffer against constrained supply and a demand ramp. The analyst should compare inventory composition and aging, receivables by customer, supplier payables, deposits, purchase commitments and subsequent sales. Working capital is not inherently good or bad; the question is whether it supports profitable, collectible sales without exposing owners to an unpriced reversal.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ACTUAL WORKBOOK CAPTURE
Workbook: C:\Users\Nevo\Downloads\financial material\Owner's Earning\Project 2 - Listed Companies and Valuation\Project 2 - Listed Companies Owner Earnings and Valuation.xlsx
Sheet/range: 'Filing Inputs'!C5:G15
SHA-256: 4ad84af694e804b21c68dfc5e85ca8f5e4211a30b102d31e846890ec6a09827b
Capture method: Microsoft Excel read-only PDF range export. Print headings retained. Source not saved.
Asset: Evidence/Workbooks/OE-VALUATION-07-01-p1.png
SCREEN RECORDING WALKTHROUGH
Read the row and column headings. Identify inputs, follow the dependent row and explain the units. Do not alter the source workbook while recording; use a copy for a new scenario.
Extracted evidence text:
5
6
7
8
9
10
11
12
13
14
15
C D E F G
Filed item Amount Unit Source ID Status / reading note
Net income 120.1 USD bn NVDA-10K Reported
Stock-based compensation 6.4 USD bn NVDA-10K Reported noncash add-back in operating cash flow
Depreciation and amortization 2.8 USD bn NVDA-10K Reported
Capital expenditures 6.1 USD bn NVDA-10K Management MD&amp;A total rounded to one decimal; cash-flow statement separately 
reports purchases and principal payments; maintenance split not disclosed
Accounts receivable cash use 15.4 USD bn NVDA-10K Reported cash-flow use, net of acquisitions
Inventory cash use 11.3 USD bn NVDA-10K Reported cash-flow use, net of acquisitions
AR plus inventory gross uses 26.7 USD bn Calculated Does not net payables or other balances
Purchase / capacity obligations 95.2 USD bn NVDA-10K Disclosed outstanding obligation; timing/terms vary
Accounts receivable, closing balance 38.5 USD bn NVDA-10K Reported balance at year end
Inventory, closing balance 21.4 USD bn NVDA-10K Reported balance at year end
Relevant article context:
ARTICLE SECTION: Start with the filing, not a “cash flow” headline
The FY2026 filing reports net income of $120.067 billion, stock-based compensation expense of $6.386 billion, depreciation and amortization of $2.843 billion, and capital expenditures of $6.1 billion [1]. It also reports year-end accounts receivable of $38.466 billion and inventory of $21.403 billion, both substantially higher than their year-earlier balances. The cash-flow statement records a $15.399 billion use from receivables and an $11.324 billion use from inventories during the period, net of acquisitions [1].
These are not reasons to call the business weak. A fast-growing hardware platform can require larger inventory and customer receivables. They are reasons not to equate profit with current cash available to shareholders. Cash-flow quality requires a bridge through accruals, receivables, inventory, payables and obligations. Dechow, Kothari and Watts show that earnings and cash flow behave differently across settings and periods [2]. For NVIDIA, the filed cash-flow statement already includes the period’s reported working-capital movements. If an analyst normalizes those movements, the model should name the normalization and avoid deducting them twice.
The filing also reports $95.2 billion of outstanding inventory purchase and long-term supply/capacity obligations at 25 January 2026 [1]. A large portion relates to inventory purchases. Some obligations may support future growth, some protect the supply chain, and their exact cancellation or settlement terms vary. It would be wrong to subtract the whole balance from one year’s owner earnings as if it were a debt repayment due immediately. It would also be wrong to ignore it. The analyst should trace timing, contractual terms, inventory assumptions, and demand uncertainty.
ARTICLE SECTION: Workbook map
The Project 2 workbook preserves NVIDIA FY2026 net income, stock-based compensation, D&amp;A, total capex, receivable and inventory cash uses, ending balances and disclosed purchase/capacity obligations in Filing Inputs. Evidence Vectors records the 25 January 2026 fiscal year-end separately from the 25 February 2026 SEC filing date and maps each input to its workbook row; page/note locators not yet transcribed remain identified as missing. Assumptions selects whether SBC remains expensed or is added back with dilution, and leaves maintenance investment, normalized working-capital reinvestment and diluted shares blank until supported. The NVDA Bridge therefore remains unavailable until the two required cash estimates are entered; its DCF also requires a dated price and share count. The new Profile Stress row applies a clearly hypothetical 20% cash shock and higher inventory/capacity and priority-claim indices; Appendix 04 reproduces it and warns that the index is not an NVIDIA forecast.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ACTUAL WORKBOOK CAPTURE
Workbook: C:\Users\Nevo\Downloads\financial material\Owner's Earning\Project 2 - Listed Companies and Valuation\Project 2 - Listed Companies Owner Earnings and Valuation.xlsx
Sheet/range: 'NVDA Bridge'!C5:F15
SHA-256: 4ad84af694e804b21c68dfc5e85ca8f5e4211a30b102d31e846890ec6a09827b
Capture method: Microsoft Excel read-only PDF range export. Print headings retained. Source not saved.
Asset: Evidence/Workbooks/OE-VALUATION-07-02-p1.png
SCREEN RECORDING WALKTHROUGH
Read the row and column headings. Identify inputs, follow the dependent row and explain the units. Do not alter the source workbook while recording; use a copy for a new scenario.
Extracted evidence text:
5
6
7
8
9
10
11
12
13
14
15
C D E F
Bridge line Amount Unit Treatment
Net income 120.1 USD bn Filed starting point
Depreciation and amortization 2.8 USD bn Noncash expense; renewal spending is estimated separately
Stock-based compensation 6.4 USD bn Treatment follows Assumptions
Add-back if selected 0 USD bn Only if dilution / repurchase cost is modeled
Estimated maintenance investment USD bn Analyst input; not separately disclosed
Normalized incremental net working capital USD bn Analyst input; reconcile all relevant balances
Estimated equity owner earnings USD bn Incomplete until both assumptions are filled
Bridge status Needs maintenance and NWC evidence Blank is unavailable, not zero
Known AR + inventory cash uses 26.7 USD bn Diagnostic only; not deducted as net working capital
Supply / capacity obligations 95.2 USD bn Schedule by date and contract terms before modeling cash
Relevant article context:
ARTICLE SECTION: Put the FY2026 figures into a coherent bridge
The FY2026 Form 10-K reports net income of $120.067 billion, stock-based compensation expense of $6.386 billion, depreciation and amortization of $2.843 billion and capital expenditures of $6.1 billion [1]. The arithmetic subtotal of net income plus those two noncash charges less reported capex is $123.196 billion. That number is not operating cash flow and not owner earnings. It has not incorporated reported working-capital movements, taxes already embedded in earnings, acquisitions, supplier obligations, or an estimate of maintenance investment.
The same filing records cash-flow uses of $15.399 billion from receivables and $11.324 billion from inventory during the year, net of acquisitions [1]. A naïve analyst might subtract both from the $123.196 billion subtotal and report $96.473 billion. That calculation is still not a valid owner-earnings figure: accounts payable and other operating balances also changed; total capex contains growth and replacement spending; and the company may need capacity investment to preserve its competitive position. Use the full cash-flow statement and working-capital notes to reconcile the reported period before estimating a normalized year.
A defensible workflow has three passes:
1. Reproduce filed cash. Transcribe reported net income, operating cash flow, cash capex, acquisitions, stock compensation, depreciation, working-capital movements and closing cash. Reconcile the cash-flow subtotals to the filing.
2. Explain the gap. Show how net income becomes cash from operations and how that cash becomes cash after total investment and acquisitions. Label each gap: receivables, inventory, payables, taxes, other accrued balances, purchase of property and equipment, or acquisition.
3. Estimate repeatable owner cash. Normalize a full operating cycle, estimate the renewal investment needed to maintain unit volume and competitive position, and state how expansion capex, supply reservations and dilution are treated.
If the analyst starts with net income, working capital must be estimated once in the owner-earnings bridge. If the analyst starts with filed cash from operations, the year's recorded working-capital effect is already in that figure. Adding it back or deducting it again without a stated normalization double counts. Dechow, Kothari and Watts explain why accrual earnings and cash flows differ across firms and time [2]; the practical response is to reconcile the difference, not select whichever number supports the preferred valuation.
ARTICLE SECTION: Workbook map
The Project 2 workbook preserves NVIDIA FY2026 net income, stock-based compensation, D&amp;A, total capex, receivable and inventory cash uses, ending balances and disclosed purchase/capacity obligations in Filing Inputs. Evidence Vectors records the 25 January 2026 fiscal year-end separately from the 25 February 2026 SEC filing date and maps each input to its workbook row; page/note locators not yet transcribed remain identified as missing. Assumptions selects whether SBC remains expensed or is added back with dilution, and leaves maintenance investment, normalized working-capital reinvestment and diluted shares blank until supported. The NVDA Bridge therefore remains unavailable until the two required cash estimates are entered; its DCF also requires a dated price and share count. The new Profile Stress row applies a clearly hypothetical 20% cash shock and higher inventory/capacity and priority-claim indices; Appendix 04 reproduces it and warns that the index is not an NVIDIA forecast.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Project 2, Profile Stress, row 7, columns E:L. Every index input is normalized and fictional. The scenario illustrates demand or margin pressure with inventory and capacity commitments. It is not a forecast, valuation or issuer ranking. NVDA Bridge remains unavailable until supported maintenance and working-capital estimates are entered.
Base: Capacity 100 - reinvestment 35 - priority claims 10 = residual 55.
Changed: Capacity -20%; reinvestment +10%; priority claims +25%.
Consequence: 80 - 38.5 - 12.5 = 29: the hypothetical residual falls by 26 index points.
ARTICLE SECTION: Workbook map
The Project 2 workbook preserves NVIDIA FY2026 net income, stock-based compensation, D&amp;A, total capex, receivable and inventory cash uses, ending balances and disclosed purchase/capacity obligations in Filing Inputs. Evidence Vectors records the 25 January 2026 fiscal year-end separately from the 25 February 2026 SEC filing date and maps each input to its workbook row; page/note locators not yet transcribed remain identified as missing. Assumptions selects whether SBC remains expensed or is added back with dilution, and leaves maintenance investment, normalized working-capital reinvestment and diluted shares blank until supported. The NVDA Bridge therefore remains unavailable until the two required cash estimates are entered; its DCF also requires a dated price and share count. The new Profile Stress row applies a clearly hypothetical 20% cash shock and higher inventory/capacity and priority-claim indices; Appendix 04 reproduces it and warns that the index is not an NVIDIA forecast.
ARTICLE SECTION: Treat purchase commitments as a timed exposure
The filing reports $95.2 billion of outstanding inventory purchase and long-term supply or capacity obligations at 25 January 2026 [1]. This is a large exposure that deserves a schedule, but it should not be subtracted wholesale from one year's owner earnings. Some commitments correspond to inventory that will be sold; some reserve capacity needed to meet customer demand; timing and cancellation rights differ; and the corresponding revenue may arrive in a later period.
For each disclosed commitment, or each best-available category, record the amount, expected payment period, related asset or supply, cancellation or rescheduling rights, likely customer revenue, deposit paid, and downside recovery. Compare the schedule with inventory and demand. A three-month obligation to buy components that can be turned into a shipment under a signed order differs from a long-dated noncancelable capacity reservation tied to an uncertain market forecast.
The stress case should combine events that can happen together. If end customers slow deployments, inventories may age, orders may be rescheduled, suppliers may still expect payment, and receivables from delivered systems may stretch. Do not stress each line independently and then add them in a way that assumes every risk is unrelated. Show what would happen to cash and margins if utilization fell, lead times normalized, prices fell, or a customer delayed acceptance.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REAL WEB CAPTURE
{
  "key": "dcf-value",
  "captured_at": "2026-09-25T13:24:28.600Z",
  "url": "http://127.0.0.1:8765/calculators/dcf-value/",
  "equations": 3,
  "inputs": [
    {
      "name": "free_cash_flow",
      "value": "500000000"
    },
    {
      "name": "forecast_growth",
      "value": "8"
    },
    {
      "name": "required_return",
      "value": "15"
    },
    {
      "name": "terminal_growth",
      "value": "5"
    },
    {
      "name": "net_debt",
      "value": "1000000000"
    },
    {
      "name": "shares_outstanding",
      "value": "1000000000"
    }
  ],
  "mathErrors": 0,
  "title": "DCF value explorer | Sokointel",
  "viewport": {
    "height": 720,
    "width": 1280
  },
  "files": [
    "dcf-value-full.png",
    "dcf-value-results.png",
    "dcf-value-forecast.png",
    "dcf-value-sensitivity.png"
  ],
  "slug": "dcf-value",
  "screenshots": [
    "dcf-value-full.png",
    "dcf-value-results.png",
    "dcf-value-forecast.png",
    "dcf-value-sensitivity.png"
  ],
  "environment": "local preview; not proof of live deployment",
  "base": "Evidence/Web/20260925-formula-rendering"
}
DEMONSTRATION SCOPE
Use five-year FCFF, a matching WACC and terminal growth. Inspect the forecast and terminal dependence before changing the discount rate.
This separate default is not an issuer valuation. After-interest owner earnings is not FCFF.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Answer: Asset-light ownership can coexist with substantial capital commitments. Reproduce the filed cash flow, then evaluate repeatable reinvestment and the shareholder claim; leave owner earnings unavailable when the required estimates lack evidence.
Viewer task: Map one customer order through acceptance and collection, then date the related inventory, supplier commitment and cash obligation.
Return to each opening research question and identify what remains conditional or unknown.
ARTICLE SECTION: A decision table that connects evidence to action
At each annual and quarterly review, keep a compact table that tells the analyst what to reopen:
| Evidence to refresh | Why it matters | What to calculate |
|---|---|---|
| Receivables growth and aging | Sales can outrun collection or customer acceptance | Receivable days by revenue type; cash received after period end |
| Inventory by component and finished system | A growth buffer can become obsolete after a platform transition | Inventory age, reserve history, subsequent shipments and gross margin |
| Payables and supplier commitments | Timing and purchase obligations can remain after end demand slows | Contractual cash due by quarter and potential cancellation recovery |
| Research and engineering intensity | Product leadership must be continually funded | R&amp;D trend, launch cadence, customer retention and incremental gross profit |
| Stock awards and repurchases | Compensation affects the continuing shareholder's slice | Gross awards, net shares, repurchase cost and diluted share growth |
| Capex and leased infrastructure | Fabless status does not eliminate all owned and leased investment | Cash capex, lease additions, build commitments and asset condition |
A red flag is not a conclusion. An inventory build can precede a major launch; a working-capital release can reflect healthy collections or supplier stress. The analyst should write the competing explanations and identify the next filing disclosure, customer evidence or management answer that would distinguish them. Then update the range instead of keeping a stale point estimate.
ARTICLE SECTION: Opening
Revised practical article; source details and figures are dated to their cited filing or event, with current evidence reviewed through 24 September 2026.
A company can outsource factories and still require enormous amounts of capital. NVIDIA is a useful case because its business is often described as “fabless” or asset-light, yet its filings show material investment in research and development, working capital, supplier commitments, and data-centre infrastructure. The phrase is relative. It cannot replace reading the cash-flow statement and risk disclosures.
NVIDIA’s FY2026 Form 10-K reports revenue of $215.9 billion, up 65% from the prior year, and says growth was driven by its compute and networking platforms for accelerated computing and AI [1]. That is the management-reported growth story. Our owner-earnings question is narrower: after funding the business needed to preserve its competitive position and unit volume, how much earning power might remain for owners over time?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OE-VALUATION-07: US technology and asset-light economics: NVIDIA
ARTICLE: https://sokointel.com/read/oe-valuation-07/
RESEARCH SNAPSHOT: 10 September 2026
SOURCE MATERIAL
[1] NVIDIA Corporation, Form 10-K for the fiscal year ended January 25, 2026, filed February 25, 2026, https://www.sec.gov/Archives/edgar/data/1045810/000104581026000021/nvda-20260125.htm.
[2] P. M. Dechow, S. P. Kothari, and R. L. Watts, “The Relation Between Earnings and Cash Flows,” Journal of Accounting and Economics, vol. 25, no. 2, pp. 133–168, 1998, https://doi.org/10.1016/S0165-4101(98)00020-2.
[3] J. A. Ohlson, “Earnings, Book Values, and Dividends in Equity Valuation,” Contemporary Accounting Research, vol. 11, no. 2, pp. 661–687, 1995, https://doi.org/10.1111/j.1911-3846.1995.tb00461.x.
[4] G. Qiao and Z. Wang, “Vertical Integration vs. Specialization: A Nonparametric Conditional Efficiency Estimate for the Global Semiconductor Industry,” Journal of Productivity Analysis, vol. 56, pp. 139–150, 2021, https://doi.org/10.1007/s11123-021-00616-x.
[5] B. Lev and T. Sougiannis, “The Capitalization, Amortization, and Value-Relevance of R&amp;D,” Journal of Accounting and Economics, vol. 21, no. 1, pp. 107–138, 1996, https://doi.org/10.1016/0165-4101(95)00410-6.
[6] Y. Li and S. Wyatt, “Employee Stock Options, Equity Valuation, and the Valuation of Option Grants Using a Warrant-Pricing Model,” Journal of Accounting Research, vol. 43, no. 1, 2005, https://doi.org/10.1111/j.1475-679X.2005.00164.x.
All linked source URLs:
NVIDIA Corporation, Form 10-K for the fiscal year ended January 25, 2026, filed February 25, 2026: https://www.sec.gov/Archives/edgar/data/1045810/000104581026000021/nvda-20260125.htm
P. M. Dechow, S. P. Kothari, and R. L. Watts, “The Relation Between Earnings and Cash Flows,” Journal of Accounting and Economics, vol. 25, no. 2, pp.: https://doi.org/10.1016/S0165-4101(98)00020-2
J. A. Ohlson, “Earnings, Book Values, and Dividends in Equity Valuation,” Contemporary Accounting Research, vol. 11, no. 2, pp. 661–687, 1995: https://doi.org/10.1111/j.1911-3846.1995.tb00461.x
G. Qiao and Z. Wang, “Vertical Integration vs. Specialization: A Nonparametric Conditional Efficiency Estimate for the Global Semiconductor Industry,”: https://doi.org/10.1007/s11123-021-00616-x
B. Lev and T. Sougiannis, “The Capitalization, Amortization, and Value-Relevance of R&amp;D,” Journal of Accounting and Economics, vol. 21, no. 1, pp. 107: https://doi.org/10.1016/0165-4101(95)00410-6
Y. Li and S. Wyatt, “Employee Stock Options, Equity Valuation, and the Valuation of Option Grants Using a Warrant-Pricing Model,” Journal of Accountin: https://doi.org/10.1111/j.1475-679X.2005.00164.x
Additional content sources:
[
  {
    "title": "SokoIntel Part7: NVIDIA",
    "url": "https://sokointel.com/read/oe-valuation-07/",
    "date": "Research cutoff 2026-09-24"
  },
  {
    "title": "NVIDIA FY2026 Form10-K",
    "url": "https://www.sec.gov/Archives/edgar/data/1045810/000104581026000021/nvda-20260125.htm",
    "date": "Year ended 2026-01-25; filed 2026-02-25"
  },
  {
    "title": "Qiao and Wang: semiconductor specialization",
    "url": "https://doi.org/10.1007/s11123-021-00616-x",
    "date": "2021"
  }
]
Workbook provenance:
C:\Users\Nevo\Downloads\financial material\Owner's Earning\Project 2 - Listed Companies and Valuation\Project 2 - Listed Companies Owner Earnings and Valuation.xlsx
'Filing Inputs'!C5:G15
4ad84af694e804b21c68dfc5e85ca8f5e4211a30b102d31e846890ec6a09827b
C:\Users\Nevo\Downloads\financial material\Owner's Earning\Project 2 - Listed Companies and Valuation\Project 2 - Listed Companies Owner Earnings and Valuation.xlsx
'NVDA Bridge'!C5:F15
4ad84af694e804b21c68dfc5e85ca8f5e4211a30b102d31e846890ec6a09827b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valuation-07/" TargetMode="External"/><Relationship Id="rId2" Type="http://schemas.openxmlformats.org/officeDocument/2006/relationships/hyperlink" Target="https://sokointel.com/read/oe-valuation-07/" TargetMode="External"/><Relationship Id="rId3" Type="http://schemas.openxmlformats.org/officeDocument/2006/relationships/hyperlink" Target="https://www.sec.gov/Archives/edgar/data/1045810/000104581026000021/nvda-20260125.htm" TargetMode="External"/><Relationship Id="rId4" Type="http://schemas.openxmlformats.org/officeDocument/2006/relationships/hyperlink" Target="https://doi.org/10.1007/s11123-021-00616-x" TargetMode="Externa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US technology and asset-light economics: NVIDIA</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NVIDIA outsources fabrication, but working capital, research, dilution and supply contracts still absorb capital.</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OE-VALUATION-07   •   NVIDIA FY2026 filing facts and a separately labelled normalized teaching scenario.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1. How can public filings support a defensible owner-earnings bridge?</a:t>
            </a:r>
            <a:endParaRPr lang="en-US" sz="2000" dirty="0"/>
          </a:p>
        </p:txBody>
      </p:sp>
      <p:sp>
        <p:nvSpPr>
          <p:cNvPr id="9" name="Text 7"/>
          <p:cNvSpPr/>
          <p:nvPr/>
        </p:nvSpPr>
        <p:spPr>
          <a:xfrm>
            <a:off x="594360" y="2880360"/>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2. What must asset-light and asset-heavy businesses reinvest to preserve productive capacity?</a:t>
            </a:r>
            <a:endParaRPr lang="en-US" sz="2000" dirty="0"/>
          </a:p>
        </p:txBody>
      </p:sp>
      <p:sp>
        <p:nvSpPr>
          <p:cNvPr id="10" name="Text 8"/>
          <p:cNvSpPr/>
          <p:nvPr/>
        </p:nvSpPr>
        <p:spPr>
          <a:xfrm>
            <a:off x="594360" y="3913632"/>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3. How do banks and insurers determine distributable capital?</a:t>
            </a:r>
            <a:endParaRPr lang="en-US" sz="2000" dirty="0"/>
          </a:p>
        </p:txBody>
      </p:sp>
      <p:sp>
        <p:nvSpPr>
          <p:cNvPr id="11" name="Text 9"/>
          <p:cNvSpPr/>
          <p:nvPr/>
        </p:nvSpPr>
        <p:spPr>
          <a:xfrm>
            <a:off x="594360" y="4946904"/>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4. Which sector-specific adjustments matter when comparing seven NSE industry profiles?</a:t>
            </a:r>
            <a:endParaRPr lang="en-US" sz="2000" dirty="0"/>
          </a:p>
        </p:txBody>
      </p:sp>
      <p:sp>
        <p:nvSpPr>
          <p:cNvPr id="12" name="Shape 10"/>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3" name="Text 11"/>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4" name="Text 12"/>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USD bn - billions of US dollars; do not mix with the KES teaching models</a:t>
            </a:r>
            <a:endParaRPr lang="en-US" sz="1650" dirty="0"/>
          </a:p>
        </p:txBody>
      </p:sp>
      <p:sp>
        <p:nvSpPr>
          <p:cNvPr id="15" name="Text 13"/>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CFO - filed cash from operating activities for the fiscal period</a:t>
            </a:r>
            <a:endParaRPr lang="en-US" sz="1650" dirty="0"/>
          </a:p>
        </p:txBody>
      </p:sp>
      <p:sp>
        <p:nvSpPr>
          <p:cNvPr id="16" name="Text 14"/>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SBC - share-based compensation; not free owner cash</a:t>
            </a:r>
            <a:endParaRPr lang="en-US" sz="1650" dirty="0"/>
          </a:p>
        </p:txBody>
      </p:sp>
      <p:sp>
        <p:nvSpPr>
          <p:cNvPr id="17" name="Text 15"/>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AR - accounts receivable; balance and annual cash-flow movement differ</a:t>
            </a:r>
            <a:endParaRPr lang="en-US" sz="1650" dirty="0"/>
          </a:p>
        </p:txBody>
      </p:sp>
      <p:sp>
        <p:nvSpPr>
          <p:cNvPr id="18" name="Text 16"/>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Residual index - hypothetical capacity less reinvestment and priority claims; not issuer cash</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Fabless does not mean capital-free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R&amp;D sustains product and software capability.</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Receivables and inventory finance the shipment-to-collection cycle.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Supply and capacity obligations shift physical capital risk across companies.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NVIDIA FY2026 filing facts and a separately labelled normalized teaching scenario.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Read balances, cash movements and commitments separately</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FY2026 net income: USD 120.067bn; D&amp;A: USD 2.843bn; SBC: USD 6.386bn.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Receivable and inventory cash uses: USD 15.399bn and USD 11.324bn.</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USD 95.2bn purchase/capacity obligations need timing and contract terms.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NVIDIA FY2026 filing facts and a separately labelled normalized teaching scenario.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Per-share cash needs a coherent SBC policy</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Retain the expense, or model an explicit add-back with dilution/replacement cost.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Track gross awards and buybacks as well as net diluted shares.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Customer concentration needs its denominator: the cited percentages refer to receivables.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NVIDIA FY2026 filing facts and a separately labelled normalized teaching scenario.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tempting subtotal is not owner earnings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Incomplete subtotal = NI + D&amp;A + SBC - rounded reported capex</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USD bn: 120.067 + 2.843 + 6.386 - 6.1 = 123.196</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This arithmetic is intentionally incomplete: it is neither CFO nor owner earnings.</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NVIDIA FY2026 filing facts and a separately labelled normalized teaching scenario.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Filing Inputs: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VALUATION-07-01-p1.png">    </p:cNvPr>
          <p:cNvPicPr>
            <a:picLocks noChangeAspect="1"/>
          </p:cNvPicPr>
          <p:nvPr/>
        </p:nvPicPr>
        <p:blipFill>
          <a:blip r:embed="rId1"/>
          <a:stretch>
            <a:fillRect/>
          </a:stretch>
        </p:blipFill>
        <p:spPr>
          <a:xfrm>
            <a:off x="612648" y="2522568"/>
            <a:ext cx="10972800" cy="2343216"/>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Filing Inputs!C5:G15</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NVIDIA FY2026 filing facts and a separately labelled normalized teaching scenario.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NVDA Bridge: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VALUATION-07-02-p1.png">    </p:cNvPr>
          <p:cNvPicPr>
            <a:picLocks noChangeAspect="1"/>
          </p:cNvPicPr>
          <p:nvPr/>
        </p:nvPicPr>
        <p:blipFill>
          <a:blip r:embed="rId1"/>
          <a:stretch>
            <a:fillRect/>
          </a:stretch>
        </p:blipFill>
        <p:spPr>
          <a:xfrm>
            <a:off x="612648" y="2585558"/>
            <a:ext cx="10972800" cy="2217236"/>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NVDA Bridge!C5:F15</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NVIDIA FY2026 filing facts and a separately labelled normalized teaching scenario.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A transparent stress index, not an NVIDIA forecast</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Capacity 100 - reinvestment 35 - priority claims 10 = residual 55.</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Capacity -20%; reinvestment +10%; priority claims +25%.</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80 - 38.5 - 12.5 = 29: the hypothetical residual falls by 26 index points.</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dcf-value-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Use five-year FCFF, a matching WACC and terminal growth. Inspect the forecast and terminal dependence before changing the discount rate.</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This separate default is not an issuer valuation. After-interest owner earnings is not FCFF.</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/calculators/dcf-value/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Asset-light ownership can coexist with substantial capital commitments. Reproduce the filed cash flow, then evaluate repeatable reinvestment and the shareholder claim; leave owner earnings unavailable when the required estimates lack evidence.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Map one customer order through acceptance and collection, then date the related inventory, supplier commitment and cash obligation.</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OE-VALUATION-07</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sokointel.com/read/oe-valuation-07/</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SokoIntel Part7: NVIDIA • Research cutoff 2026-09-24</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NVIDIA FY2026 Form10-K • Year ended 2026-01-25; filed 2026-02-25</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Qiao and Wang: semiconductor specialization • 2021</a:t>
            </a:r>
            <a:endParaRPr lang="en-US" sz="1700" dirty="0"/>
          </a:p>
        </p:txBody>
      </p:sp>
      <p:sp>
        <p:nvSpPr>
          <p:cNvPr id="12" name="Text 10"/>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technology and asset-light economics: NVIDIA</dc:title>
  <dc:subject>How can public filings support a defensible owner-earnings bridge? | What must asset-light and asset-heavy businesses reinvest to preserve productive capacity? | How do banks and insurers determine distributable capital? | Which sector-specific adjustments matter when comparing seven NSE industry profiles?</dc:subject>
  <dc:creator>Sokointel</dc:creator>
  <cp:lastModifiedBy>Sokointel</cp:lastModifiedBy>
  <cp:revision>1</cp:revision>
  <dcterms:created xsi:type="dcterms:W3CDTF">2026-09-25T13:55:35Z</dcterms:created>
  <dcterms:modified xsi:type="dcterms:W3CDTF">2026-09-25T13:55:35Z</dcterms:modified>
</cp:coreProperties>
</file>