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OPENING NARRATION
A data-centre site combines assets with different renewal cycles, power constraints and customer promises.
Equinix FY2025 reported measures; the KES project screen is fictional.
Introduce the decision before defining the technical terms.
ARTICLE SECTION: Opening
Revised practical article; source details and figures are dated to their cited filing or event, with current evidence reviewed through 24 September 2026.
A data centre building is not one asset with one replacement date. It combines land, buildings, power systems, cooling, core systems, servers, networking, leasehold improvements, software, and contractual access to electricity and fibre. Some equipment may be refreshed every few years. A building may have a much longer useful life. The cash an owner must reinvest therefore depends on the vintage, utilization, technical requirements, and service commitments of the operating assets.
Equinix’s 2025 Form 10-K reports $23.6 billion in property, plant and equipment at 31 December 2025 and $1.9 billion of depreciation expense for the year [1]. It identifies a range of estimated useful lives: core systems, 3–40 years; buildings, 12–60 years; leasehold improvements, 12–40 years; personal property, 3–10 years; and capitalized internal-use software, 3–5 years [1]. Those ranges make a point that a single “depreciation equals maintenance” assumption cannot capture the renewal cycle.
ARTICLE SECTION: Public data limits should lead to a practical evidence request
An analyst using only a Form 10-K can estimate reported cash flow and see total capital, depreciation lives, project commitments and issuer-defined recurring capex. That evidence may not disclose each site's physical condition, equipment replacement dates, contract margin, repair history or customer-specific investment. A precise maintenance number from the public filing alone may therefore be impossible.
The next diligence request should be specific: renewal capex by asset class and site for five years; project-level committed spend and expected opening date; power and construction milestones; capex paid versus accrued; customer fit-out recovery; utilization and contracted capacity; service credits and outage costs; and share issuance needed to fund the pipeline. Each missing item should have a named effect on the owner-earnings range.
The resulting investment note can still be decisive. It can say that current portfolio cash is durable within a stated range, but the distribution case is sensitive to project spending and dilution; or that a valuation depends on new capacity reaching contracted utilization by a certain date. That is more useful than presenting one payout ratio without construction and funding context.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Read the questions naturally and define terms in context.
PP&amp;E - property, plant and equipment; a book balance, not replacement cash
Recurring capex - issuer-defined AFFO adjustment; inspect its scope
KES m - millions of Kenyan shillings in the fictional project
Stabilized cash yield - annual contribution / project cash cost; not IRR
IRR - return based on dated cash flows, including construction and ramp-up
Research question mapping: How can public filings support a defensible owner-earnings bridge?; What must asset-light and asset-heavy businesses reinvest to preserve productive capacity?; How do banks and insurers determine distributable capital?; Which sector-specific adjustments matter when comparing seven NSE industry profiles?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Part 8, Draw the service boundary. Equinix reports broad asset useful-life ranges; depreciation cannot identify which site equipment needs replacement next year. An asset register should include in-service date, condition, vendor lead time, replacement quote and contractual service consequence.
Narration: explain each step and its consequence for the opening decision.
ARTICLE SECTION: Draw the service boundary before estimating maintenance
A data-centre operator sells a service, not simply a building. Before estimating cash requirements, draw what the customer contract promises and what the operator owns. One site may include land, shell, electrical connection, substation, generators, fuel arrangements, uninterruptible power systems, cooling, fire suppression, security, network pathways and monitoring. The customer may own servers and racks; another contract may include customer equipment, managed services or shared infrastructure. The point at which responsibility changes affects both capital needs and service liability.
Create an asset hierarchy for each major location. At minimum, separate civil structure and building systems from electrical and mechanical equipment, network infrastructure, security controls, software, tenant fit-out and customer-specific assets. Capture in-service date, remaining useful life, capacity, utilization, service history, failure consequence, replacement lead time, vendor, current replacement quote and whether an asset is leased or owned. Useful-life ranges in the 2025 filing are wide because asset classes have very different jobs [1]. An aggregate depreciation charge cannot tell us which part of a site will require cash next year.
For each asset, ask what failure would mean contractually and commercially. Could the company move load to another site? Is there redundant capacity? Would a failure trigger service credits, a customer departure or regulatory breach? How long would replacement take, and could a vendor supply a compatible part? A low-cost component with a long lead time may be more important to the cash reserve than a large asset with redundancy. Rank risks by the expected operational consequence and recovery time, not only by book value.
ARTICLE SECTION: Power, utilization and customer economics
Power is an operating input and a capacity constraint. A facility may have a megawatt allocation on paper but lack completed substations, grid connection, backup equipment, permits or customer load needed to earn a return. Record contracted power, energised power, usable IT load, committed customer load, installed load and billed load as different figures. Where the issuer reports only aggregate capacity, mark facility-level utilization as unavailable rather than dividing two incompatible totals.
Track revenue and cash contribution by customer or contract where disclosed. A large customer may have a lower rate but predictable multi-year utilization; a smaller customer may pay more but require expensive fit-out and support. Compare contract term with the remaining life of the customer-specific equipment. Record the cost and recovery mechanism for power, cross-connects, installation, service credits and security. A long-duration contract can support project financing, but only if the customer can pay and the contract remains enforceable under plausible business conditions.
Energy-efficiency projects can be renewal, compliance or growth, depending on the counterfactual. Replacing an inefficient chiller may reduce costs and improve capacity, while a new utility interconnection may enable an expansion. Estimate both the capital outlay and the expected cash savings using actual energy consumption and tariff assumptions. Run a case with lower utilization: the energy-saving equipment may still consume maintenance and financing cash while revenue falls.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Source: Equinix FY2025 Form 10-K, year ended 31 December 2025, filed 11 February 2026. Project 2, Asset Heavy, D6:D8. Do not present USD 284 million as all renewal spending or treat a depreciation ratio as proof. Read the AFFO reconciliation, its scope and its cash or accrual basis.
Narration: explain each step and its consequence for the opening decision.
ARTICLE SECTION: Separate project spending from keeping the current service running
The same filing says Equinix’s property, plant and equipment includes the costs incurred to build out or acquire its data centres. It records construction in progress separately and describes major ongoing investment in new and expanded facilities. Management also reports a non-GAAP measure, adjusted funds from operations (AFFO), which includes “recurring capital expenditures” defined as spending to extend the useful life of data centres or other assets required to support current revenue [1]. Its 2025 recurring capital expenditure adjustment was $284 million.
That disclosure is especially useful because the company tells us what it counts in its own recurring-capex measure. It still does not prove that $284 million is the complete economic maintenance need for every investor’s owner-earnings model. It is one issuer-defined measure within a particular non-GAAP framework. Check the reconciliation, the assets included, whether spending is cash or accrued, and what recurring work may be classified elsewhere.
The economics of replacement investment are also different from growth investment. Livdan and Nezlobin model capital with non-geometric efficiency profiles and show how replacement cost and the productive capital stock can diverge from each other [2]. In plain language, replacing an old asset and adding capacity are different economic jobs, even when the cash-flow statement groups them together. That helps explain why a building’s book depreciation is a weak stand-alone estimate of cash that must be reinvested to keep service quality competitive.
ARTICLE SECTION: Reconcile AFFO and other non-GAAP measures
Equinix's AFFO reconciliation and its $284 million recurring-capital adjustment provide a company-defined lens on recurring spending [1]. Compare that measure with cash capital expenditures, depreciation, construction activity and the operating obligations described in the filing. Ask whether recurring capex includes replacement servers, network upgrades, customer-specific equipment, tenant improvements or only the issuer's stated categories. Check whether the measure includes capital that is paid in cash this period or amounts accrued for later payment.
A non-GAAP adjustment can be informative without being a complete owner-earnings measure. If the company labels an expenditure “non-recurring” but a similar project occurs each year across different sites, it may be recurring at the portfolio level. If a project is a genuine expansion, omitting it from a cash flow measure may make sense for one question about existing sites; it still matters when estimating the capital required to maintain market position and future earning power. State which question the number answers.
A useful bridge presents reported operating cash, total cash capex, company-defined AFFO, an analyst estimate of renewal cash and the remaining growth/project capital in adjacent columns. It should avoid subtracting all future committed construction spending from one year's earnings while also showing how those obligations will be financed and what capacity they create. A reported distribution can be covered under an issuer-defined metric and still depend on debt, share issuance, asset sales or temporary working-capital timing.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Part 8, Split project capital by purpose and date, and Capacity has to earn its keep. Separate replacement, compliance, resilience, expansion, customer-specific and unclassified spending. Existing-facility cash and development risk need separate bridges. Delay stress should include overruns and later receipts, not just lower occupancy.
Narration: explain each step and its consequence for the opening decision.
ARTICLE SECTION: Trace a project from announcement to cash returned
For each announced development, keep four amounts separate: total expected project cost; cash spent to date; cash committed but not yet paid; and uncommitted future capacity spend. The annual report may combine certain assets or project costs, so document the definition. Then connect the project to capacity, customer contracts, expected revenue start, stabilization period, replacement schedule and financing. A capacity announcement does not establish that all capacity will be energized, occupied or collected.
At commissioning, reconcile project cost against the approved budget. Record overruns, delays, capitalized interest, tenant incentives and costs that management moved between asset classes. Then test the project's actual return after it operates: occupied capacity, price, power pass-through, energy use, maintenance, service credits, collections, local overhead and financing. Compare actual results with the original underwriting at the same months after opening. This reveals whether weak performance reflects slow ramp, higher operating cost or an inaccurate demand thesis.
Use separate return measures for unlevered project economics and equity cash after financing. The first helps compare sites independently of capital structure; the second shows what ordinary shareholders may receive after debt service, tax, lease obligations and required reserves. State which one the spreadsheet reports. A project can be value-creating before debt and still create a cash shortfall for the parent if debt amortizes too quickly or if the parent must finance the next construction phase.
ARTICLE SECTION: Split project capital by purpose and by date
Every material construction project should have a project sheet that distinguishes:
 Replacement: spending that retires or renews an existing asset needed to deliver the present service.
 Compliance and resilience: spending required by safety, environmental, security, power-quality or customer standards.
 Expansion: new capacity or geography intended to add serviceable demand.
 Customer-specific work: fit-out or equipment tied to a contract, with a clear recovery mechanism.
 Efficiency upgrade: spending expected to lower energy, labor or outage costs, with a measured payback.
 Unclassified amount: spending the public disclosure does not permit the analyst to allocate.
The classifications can overlap. A new cooling plant may replace an obsolete system and allow more capacity. Use a like-for-like replacement estimate as the renewal component and show the incremental cost as expansion or upgrade when records allow. If the split cannot be supported, report a range and keep an unresolved item; do not allocate all project spend to growth merely because management calls it a “development” or all spend to maintenance because the site was already open.
Timing matters as much as category. Record cash spent to date, unpaid invoices, land and equipment deposits, construction commitments, expected commissioning date, power availability, customer move-in, and the date contracted revenue begins. Compare cash spend with a monthly funding schedule. A project can appear attractive on a stabilized annual return and still require temporary funding beyond the company's liquidity or borrowing capacity. Equinix reports construction-in-progress and unaccrued commitments alongside its planned development activity [1], which is exactly why a model needs dated obligations rather than one annual capex assumption.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Project 2, Asset Heavy, C11:G18. Cached results are D17 = 850 and D18 = 0.085. All KES figures are fictional and do not describe Equinix. Timing, utilization ramp, working capital, leases, corporate costs, tax and finance are outside this simple yield.
Equation: Cash yield = (revenue - operating cost - renewal) / project cost
Substitution: KES m: (1,800 - 800 - 150) / 10,000 = 8.5%
Interpretation: KES 850m stabilized annual contribution is before financing and tax. The 8.5% is not a project IRR.
ARTICLE SECTION: Split project capital by purpose and by date
Every material construction project should have a project sheet that distinguishes:
 Replacement: spending that retires or renews an existing asset needed to deliver the present service.
 Compliance and resilience: spending required by safety, environmental, security, power-quality or customer standards.
 Expansion: new capacity or geography intended to add serviceable demand.
 Customer-specific work: fit-out or equipment tied to a contract, with a clear recovery mechanism.
 Efficiency upgrade: spending expected to lower energy, labor or outage costs, with a measured payback.
 Unclassified amount: spending the public disclosure does not permit the analyst to allocate.
The classifications can overlap. A new cooling plant may replace an obsolete system and allow more capacity. Use a like-for-like replacement estimate as the renewal component and show the incremental cost as expansion or upgrade when records allow. If the split cannot be supported, report a range and keep an unresolved item; do not allocate all project spend to growth merely because management calls it a “development” or all spend to maintenance because the site was already open.
Timing matters as much as category. Record cash spent to date, unpaid invoices, land and equipment deposits, construction commitments, expected commissioning date, power availability, customer move-in, and the date contracted revenue begins. Compare cash spend with a monthly funding schedule. A project can appear attractive on a stabilized annual return and still require temporary funding beyond the company's liquidity or borrowing capacity. Equinix reports construction-in-progress and unaccrued commitments alongside its planned development activity [1], which is exactly why a model needs dated obligations rather than one annual capex assumption.
ARTICLE SECTION: Worked investment screen: an illustrative expansion
Assume an operator proposes a new facility requiring KES 10 billion of total construction and equipment cash over two years. At stabilized occupancy, management expects KES 1.8 billion of annual revenue and KES 800 million of cash operating costs before maintenance, financing, tax and central overhead. Assume annual renewal spending for the operating facility is KES 150 million once stabilized. These figures are purely illustrative; they are not Equinix data or an industry benchmark.
At stabilization, the project's initial annual cash contribution before financing and tax would be KES 850 million: revenue less operating cost and renewal. Dividing by KES 10 billion gives an 8.5% simple stabilized cash yield. That shortcut is not yet a project return. It ignores the construction period, the time to reach occupancy, cost overruns, working capital, lease expense, corporate costs, taxes, financing and the risk that the expected revenue never arrives.
A more useful schedule places the capital outflow in the months or years when it is due, then phases capacity and customer cash receipts. Model a base case in which power is available on schedule and signed customers occupy the site as contracted. In a downside case, delay grid connection by six months, raise equipment cost, slow customer installation and test whether deposits or capacity payments compensate for the delay. Add a stress case in which a major customer cancels or defers a portion of capacity. The owner should see the low point in cash and the financing required before the stabilized yield is reached.
The project gate should require evidence at each stage: land and permits secured; utility capacity confirmed; construction price and contingencies agreed; funding available; customer contracts signed and credit reviewed; equipment ordered with realistic lead times; and commissioning passed. If a stage fails, define whether management stops, resizes or defers the project. This avoids investing the remaining cash simply because a large amount has already been spent.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ACTUAL WORKBOOK CAPTURE
Workbook: C:\Users\Nevo\Downloads\financial material\Owner's Earning\Project 2 - Listed Companies and Valuation\Project 2 - Listed Companies Owner Earnings and Valuation.xlsx
Sheet/range: 'Asset Heavy'!C5:G8
SHA-256: 4ad84af694e804b21c68dfc5e85ca8f5e4211a30b102d31e846890ec6a09827b
Capture method: Microsoft Excel read-only PDF range export. Print headings retained. Source not saved.
Asset: Evidence/Workbooks/OE-VALUATION-08-01-p1.png
SCREEN RECORDING WALKTHROUGH
Read the row and column headings. Identify inputs, follow the dependent row and explain the units. Do not alter the source workbook while recording; use a copy for a new scenario.
Extracted evidence text:
5
6
7
8
C D E F G
Reported item Value Unit Source ID Interpretation
Property, plant and equipment 23.6 USD bn EQX-10K Year-end book balance
Depreciation expense 1.9 USD bn EQX-10K Multiple asset classes and useful lives
Issuer-defined recurring capex 0.284 USD bn EQX-10K Company measure; confirm reconciliation and asset scope
Relevant article context:
ARTICLE SECTION: A field test for asset-heavy owner earnings
When public data are incomplete, ask management or operations for a five-year asset renewal log, project-level capex, commissioning delays, outage history, energy intensity, utilization, customer concentration, recurring-capex reconciliation and vendor lead times. Cross-check planned work with current condition and actual invoices. If the answer is unavailable, make the estimate provisional.
Livdan and Nezlobin's work on non-geometric depreciation supports the broader point that productive capacity and accounting depreciation need not move in lockstep [2]. For an analyst, the practical output is not a more elaborate depreciation formula by itself. It is an asset-by-asset renewal plan, a dated construction and funding schedule, and an explicit range for cash that can be distributed while preserving the service.
ARTICLE SECTION: Workbook map
The Project 2 workbook shows Equinix FY2025 property, depreciation and issuer-defined recurring capex separately from a fictional KES project screen in Asset Heavy. Evidence Vectors records the 31 December 2025 period end and 11 February 2026 SEC filing date separately, and labels the KES project screen as fictional. That screen calculates stabilized contribution and simple cash yield after renewal spending; it does not infer Equinix maintenance capex from the company’s recurring-capex label. Profile Stress applies a distinct utilization/power and renewal-spending scenario to an explicitly normalized index. Use the article’s asset, lease, power and construction checks before turning either example into an issuer estimate.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ACTUAL WORKBOOK CAPTURE
Workbook: C:\Users\Nevo\Downloads\financial material\Owner's Earning\Project 2 - Listed Companies and Valuation\Project 2 - Listed Companies Owner Earnings and Valuation.xlsx
Sheet/range: 'Asset Heavy'!C11:G18
SHA-256: 4ad84af694e804b21c68dfc5e85ca8f5e4211a30b102d31e846890ec6a09827b
Capture method: Microsoft Excel read-only PDF range export. Print headings retained. Source not saved.
Asset: Evidence/Workbooks/OE-VALUATION-08-02-p1.png
SCREEN RECORDING WALKTHROUGH
Read the row and column headings. Identify inputs, follow the dependent row and explain the units. Do not alter the source workbook while recording; use a copy for a new scenario.
Extracted evidence text:
11
12
13
14
15
16
17
18
C D E F G
Fictional project screen — KES millions
Input / output Amount Unit Evidence state Calculation note
Project cash cost 10,000.0 KES m Illustrative input Not an issuer figure
Stabilized annual revenue 1,800.0 KES m Illustrative input Assumed project case
Cash operating cost 800.0 KES m Illustrative input Before financing and tax
Annual renewal spend 150.0 KES m Illustrative input After stabilization
Stabilized cash contribution 850.0 KES m Calculated Revenue less operating cost and renewal
Simple stabilized cash yield 8.5% % Calculated Not project IRR; excludes build timing and financing
Relevant article context:
ARTICLE SECTION: A field test for asset-heavy owner earnings
When public data are incomplete, ask management or operations for a five-year asset renewal log, project-level capex, commissioning delays, outage history, energy intensity, utilization, customer concentration, recurring-capex reconciliation and vendor lead times. Cross-check planned work with current condition and actual invoices. If the answer is unavailable, make the estimate provisional.
Livdan and Nezlobin's work on non-geometric depreciation supports the broader point that productive capacity and accounting depreciation need not move in lockstep [2]. For an analyst, the practical output is not a more elaborate depreciation formula by itself. It is an asset-by-asset renewal plan, a dated construction and funding schedule, and an explicit range for cash that can be distributed while preserving the service.
ARTICLE SECTION: Workbook map
The Project 2 workbook shows Equinix FY2025 property, depreciation and issuer-defined recurring capex separately from a fictional KES project screen in Asset Heavy. Evidence Vectors records the 31 December 2025 period end and 11 February 2026 SEC filing date separately, and labels the KES project screen as fictional. That screen calculates stabilized contribution and simple cash yield after renewal spending; it does not infer Equinix maintenance capex from the company’s recurring-capex label. Profile Stress applies a distinct utilization/power and renewal-spending scenario to an explicitly normalized index. Use the article’s asset, lease, power and construction checks before turning either example into an issuer estimate.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Explicit teaching extension of Asset Heavy, D13:D18: 1,440 - 800 - 150 = 490; 490 / 10,000 = 0.049. This is not an issuer forecast. Real downside power costs, working capital, financing and project timing can change together. Holding costs fixed here isolates one mechanism.
Base: Revenue KES 1,800m; operating cost 800m; renewal 150m -&gt; contribution 850m.
Changed: Illustrative extension: revenue falls 20% to KES 1,440m; other selected inputs stay fixed.
Consequence: Contribution falls to KES 490m and simple yield to 4.9%; a dated schedule is still needed to find the cash trough.
ARTICLE SECTION: Separate project spending from keeping the current service running
The same filing says Equinix’s property, plant and equipment includes the costs incurred to build out or acquire its data centres. It records construction in progress separately and describes major ongoing investment in new and expanded facilities. Management also reports a non-GAAP measure, adjusted funds from operations (AFFO), which includes “recurring capital expenditures” defined as spending to extend the useful life of data centres or other assets required to support current revenue [1]. Its 2025 recurring capital expenditure adjustment was $284 million.
That disclosure is especially useful because the company tells us what it counts in its own recurring-capex measure. It still does not prove that $284 million is the complete economic maintenance need for every investor’s owner-earnings model. It is one issuer-defined measure within a particular non-GAAP framework. Check the reconciliation, the assets included, whether spending is cash or accrued, and what recurring work may be classified elsewhere.
The economics of replacement investment are also different from growth investment. Livdan and Nezlobin model capital with non-geometric efficiency profiles and show how replacement cost and the productive capital stock can diverge from each other [2]. In plain language, replacing an old asset and adding capacity are different economic jobs, even when the cash-flow statement groups them together. That helps explain why a building’s book depreciation is a weak stand-alone estimate of cash that must be reinvested to keep service quality competitive.
ARTICLE SECTION: Financing, leases and dilution belong in the same decision
Map secured and unsecured debt, variable and fixed rates, maturities, covenants, guarantees, lease liabilities and refinancing needs. Match each obligation with the site's operating cash and contract term. A long-lived building financed with debt maturing well before customer contracts renew creates refinancing exposure even if today's interest coverage looks comfortable. Include interest expense and principal repayment according to the cash-flow measure being used; do not subtract debt twice if a valuation model already moves from enterprise value to equity value through net debt.
Check whether growth is funded by retained cash, debt, asset sales, joint ventures or equity issuance. A growing total AFFO can coexist with flat or falling AFFO per share if the share count expands. Compare gross new issuance, at-the-market sales, share-based compensation, acquisition shares and repurchases. If repurchases merely offset compensation or new shares fund developments, the investor needs the cost and per-share outcome, not only the announcement amount.
The decision should show distribution headroom under both base and downside occupancy. Include maintenance, interest, maturities, committed construction and share dilution before describing cash as available to owners. If the company reports a dividend, compare it with recurring cash generation after the relevant obligations and explain whether the policy depends on external funding.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REAL WEB CAPTURE
{
  "key": "dcf-value",
  "captured_at": "2026-09-25T13:24:28.600Z",
  "url": "http://127.0.0.1:8765/calculators/dcf-value/",
  "equations": 3,
  "inputs": [
    {
      "name": "free_cash_flow",
      "value": "500000000"
    },
    {
      "name": "forecast_growth",
      "value": "8"
    },
    {
      "name": "required_return",
      "value": "15"
    },
    {
      "name": "terminal_growth",
      "value": "5"
    },
    {
      "name": "net_debt",
      "value": "1000000000"
    },
    {
      "name": "shares_outstanding",
      "value": "1000000000"
    }
  ],
  "mathErrors": 0,
  "title": "DCF value explorer | Sokointel",
  "viewport": {
    "height": 720,
    "width": 1280
  },
  "files": [
    "dcf-value-full.png",
    "dcf-value-results.png",
    "dcf-value-forecast.png",
    "dcf-value-sensitivity.png"
  ],
  "slug": "dcf-value",
  "screenshots": [
    "dcf-value-full.png",
    "dcf-value-results.png",
    "dcf-value-forecast.png",
    "dcf-value-sensitivity.png"
  ],
  "environment": "local preview; not proof of live deployment",
  "base": "Evidence/Web/20260925-formula-rendering"
}
DEMONSTRATION SCOPE
Use five-year FCFF, a matching WACC and terminal growth. Inspect the forecast and terminal dependence before changing the discount rate.
This separate default is not an issuer valuation. After-interest owner earnings is not FCFF.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Answer: Maintenance follows the assets and service promises, not one depreciation percentage. Value operating sites and developments with dated renewal, commissioning, collections and financing, then reconcile the cash available per share.
Viewer task: Create one project sheet with cash spent, unpaid commitments, power-on date, customer move-in, renewal and funding milestones.
Return to each opening research question and identify what remains conditional or unknown.
ARTICLE SECTION: Financing, leases and dilution belong in the same decision
Map secured and unsecured debt, variable and fixed rates, maturities, covenants, guarantees, lease liabilities and refinancing needs. Match each obligation with the site's operating cash and contract term. A long-lived building financed with debt maturing well before customer contracts renew creates refinancing exposure even if today's interest coverage looks comfortable. Include interest expense and principal repayment according to the cash-flow measure being used; do not subtract debt twice if a valuation model already moves from enterprise value to equity value through net debt.
Check whether growth is funded by retained cash, debt, asset sales, joint ventures or equity issuance. A growing total AFFO can coexist with flat or falling AFFO per share if the share count expands. Compare gross new issuance, at-the-market sales, share-based compensation, acquisition shares and repurchases. If repurchases merely offset compensation or new shares fund developments, the investor needs the cost and per-share outcome, not only the announcement amount.
The decision should show distribution headroom under both base and downside occupancy. Include maintenance, interest, maturities, committed construction and share dilution before describing cash as available to owners. If the company reports a dividend, compare it with recurring cash generation after the relevant obligations and explain whether the policy depends on external funding.
ARTICLE SECTION: Review the model per share, not only per megawatt
The final review should reconcile site-level capacity and project returns to group cash, debt, leases, minority ownership, corporate costs, tax and diluted shares. A project may be attractive while the group-level equity claim is thin because of financing or issuance. Keep the operating asset case separate from the shareholder case, then show how a change in utilization or renewal spending changes cash per diluted share. That is the number a continuing ordinary owner can compare with the market price.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OE-VALUATION-08: Asset-heavy issuers and data-centre infrastructure
ARTICLE: https://sokointel.com/read/oe-valuation-08/
RESEARCH SNAPSHOT: 10 September 2026
SOURCE MATERIAL
[1] Equinix, Inc., Form 10-K for the year ended December 31, 2025, filed February 11, 2026, https://www.sec.gov/Archives/edgar/data/1101239/000110123926000032/eqix-20251231.htm.
[2] D. Livdan and A. Nezlobin, “Investment, Capital Stock, and Replacement Cost of Assets When Economic Depreciation Is Non-Geometric,” Journal of Financial Economics, vol. 142, no. 3, pp. 1444–1469, 2021, https://doi.org/10.1016/j.jfineco.2021.05.021.
All linked source URLs:
Equinix, Inc., Form 10-K for the year ended December 31, 2025, filed February 11, 2026: https://www.sec.gov/Archives/edgar/data/1101239/000110123926000032/eqix-20251231.htm
D. Livdan and A. Nezlobin, “Investment, Capital Stock, and Replacement Cost of Assets When Economic Depreciation Is Non-Geometric,” Journal of Financi: https://doi.org/10.1016/j.jfineco.2021.05.021
Additional content sources:
[
  {
    "title": "SokoIntel Part8: asset-heavy issuers",
    "url": "https://sokointel.com/read/oe-valuation-08/",
    "date": "Research cutoff 2026-09-24"
  },
  {
    "title": "Equinix FY2025 Form10-K",
    "url": "https://www.sec.gov/Archives/edgar/data/1101239/000110123926000032/eqix-20251231.htm",
    "date": "Year ended 2025-12-31; filed 2026-02-11"
  },
  {
    "title": "Livdan and Nezlobin: replacement cost",
    "url": "https://doi.org/10.1016/j.jfineco.2021.05.021",
    "date": "2021"
  }
]
Workbook provenance:
C:\Users\Nevo\Downloads\financial material\Owner's Earning\Project 2 - Listed Companies and Valuation\Project 2 - Listed Companies Owner Earnings and Valuation.xlsx
'Asset Heavy'!C5:G8
4ad84af694e804b21c68dfc5e85ca8f5e4211a30b102d31e846890ec6a09827b
C:\Users\Nevo\Downloads\financial material\Owner's Earning\Project 2 - Listed Companies and Valuation\Project 2 - Listed Companies Owner Earnings and Valuation.xlsx
'Asset Heavy'!C11:G18
4ad84af694e804b21c68dfc5e85ca8f5e4211a30b102d31e846890ec6a09827b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valuation-08/" TargetMode="External"/><Relationship Id="rId2" Type="http://schemas.openxmlformats.org/officeDocument/2006/relationships/hyperlink" Target="https://sokointel.com/read/oe-valuation-08/" TargetMode="External"/><Relationship Id="rId3" Type="http://schemas.openxmlformats.org/officeDocument/2006/relationships/hyperlink" Target="https://www.sec.gov/Archives/edgar/data/1101239/000110123926000032/eqix-20251231.htm" TargetMode="External"/><Relationship Id="rId4" Type="http://schemas.openxmlformats.org/officeDocument/2006/relationships/hyperlink" Target="https://doi.org/10.1016/j.jfineco.2021.05.021" TargetMode="Externa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Asset-heavy issuers and data-centre infrastructure</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data-centre site combines assets with different renewal cycles, power constraints and customer promises.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OE-VALUATION-08   •   Equinix FY2025 reported measures; the KES project screen is fictional.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How can public filings support a defensible owner-earnings bridge?</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What must asset-light and asset-heavy businesses reinvest to preserve productive capacity?</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How do banks and insurers determine distributable capital?</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Which sector-specific adjustments matter when comparing seven NSE industry profiles?</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PP&amp;E - property, plant and equipment; a book balance, not replacement cash</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Recurring capex - issuer-defined AFFO adjustment; inspect its scope</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KES m - millions of Kenyan shillings in the fictional project</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Stabilized cash yield - annual contribution / project cash cost; not IRR</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IRR - return based on dated cash flows, including construction and ramp-up</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Start with the service promise and asset register</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structure, power, cooling, network, software and customer equipment.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Renewal dates depend on condition, redundancy and replacement lead time.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Owned, leased and contracted assets create different obligations.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Equinix FY2025 reported measures; the KES project screen is fictional.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Keep filed measures distinct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Equinix FY2025 PP&amp;E: USD 23.6bn; depreciation expense: USD 1.9bn.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Issuer-defined recurring capex: USD 284m.</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That recurring-capex adjustment is evidence, not a complete economic-maintenance estimate.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Equinix FY2025 reported measures; the KES project screen is fictional.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good stabilized project can still create a cash trough</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Date construction invoices, remaining commitments and power connection.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Tie customer occupation and collection to actual commissioning.</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Connect project funding, debt maturities and equity dilution to per-share cash.</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Equinix FY2025 reported measures; the KES project screen is fictional.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Reproduce the fictional project screen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Cash yield = (revenue - operating cost - renewal) / project cost</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m: (1,800 - 800 - 150) / 10,000 = 8.5%</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KES 850m stabilized annual contribution is before financing and tax. The 8.5% is not a project IRR.</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Equinix FY2025 reported measures; the KES project screen is fictional.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Asset Heavy: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8-01-p1.png">    </p:cNvPr>
          <p:cNvPicPr>
            <a:picLocks noChangeAspect="1"/>
          </p:cNvPicPr>
          <p:nvPr/>
        </p:nvPicPr>
        <p:blipFill>
          <a:blip r:embed="rId1"/>
          <a:stretch>
            <a:fillRect/>
          </a:stretch>
        </p:blipFill>
        <p:spPr>
          <a:xfrm>
            <a:off x="612648" y="3158840"/>
            <a:ext cx="10972800" cy="107067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Asset Heavy!C5:G8</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Equinix FY2025 reported measures; the KES project screen is fictional.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Asset Heavy: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VALUATION-08-02-p1.png">    </p:cNvPr>
          <p:cNvPicPr>
            <a:picLocks noChangeAspect="1"/>
          </p:cNvPicPr>
          <p:nvPr/>
        </p:nvPicPr>
        <p:blipFill>
          <a:blip r:embed="rId1"/>
          <a:stretch>
            <a:fillRect/>
          </a:stretch>
        </p:blipFill>
        <p:spPr>
          <a:xfrm>
            <a:off x="612648" y="2867415"/>
            <a:ext cx="10972800" cy="165352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Asset Heavy!C11:G18</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Equinix FY2025 reported measures; the KES project screen is fictional.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Lower occupancy tests the same fixed spending</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Revenue KES 1,800m; operating cost 800m; renewal 150m -&gt; contribution 850m.</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Illustrative extension: revenue falls 20% to KES 1,440m; other selected inputs stay fixed.</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Contribution falls to KES 490m and simple yield to 4.9%; a dated schedule is still needed to find the cash trough.</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dcf-value-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five-year FCFF, a matching WACC and terminal growth. Inspect the forecast and terminal dependence before changing the discount rate.</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This separate default is not an issuer valuation. After-interest owner earnings is not FCFF.</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/calculators/dcf-value/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Maintenance follows the assets and service promises, not one depreciation percentage. Value operating sites and developments with dated renewal, commissioning, collections and financing, then reconcile the cash available per share.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Create one project sheet with cash spent, unpaid commitments, power-on date, customer move-in, renewal and funding milestones.</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OE-VALUATION-08</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sokointel.com/read/oe-valuation-08/</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SokoIntel Part8: asset-heavy issuers • Research cutoff 2026-09-24</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Equinix FY2025 Form10-K • Year ended 2025-12-31; filed 2026-02-11</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Livdan and Nezlobin: replacement cost • 2021</a:t>
            </a:r>
            <a:endParaRPr lang="en-US" sz="1700" dirty="0"/>
          </a:p>
        </p:txBody>
      </p:sp>
      <p:sp>
        <p:nvSpPr>
          <p:cNvPr id="12" name="Text 10"/>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Asset-heavy issuers and data-centre infrastructure</dc:title>
  <dc:subject>How can public filings support a defensible owner-earnings bridge? | What must asset-light and asset-heavy businesses reinvest to preserve productive capacity? | How do banks and insurers determine distributable capital? | Which sector-specific adjustments matter when comparing seven NSE industry profiles?</dc:subject>
  <dc:creator>Sokointel</dc:creator>
  <cp:lastModifiedBy>Sokointel</cp:lastModifiedBy>
  <cp:revision>1</cp:revision>
  <dcterms:created xsi:type="dcterms:W3CDTF">2026-09-25T13:55:35Z</dcterms:created>
  <dcterms:modified xsi:type="dcterms:W3CDTF">2026-09-25T13:55:35Z</dcterms:modified>
</cp:coreProperties>
</file>