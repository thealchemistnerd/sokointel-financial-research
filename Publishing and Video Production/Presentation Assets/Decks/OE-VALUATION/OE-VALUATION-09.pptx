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OE-VALUATION-09: Banks and insurers: distributable capital
ARTICLE: https://sokointel.com/read/oe-valuation-09/
RESEARCH SNAPSHOT: 10 September 2026
OPENING NARRATION
For banks and insurers, the owner claim is constrained by losses, promises, regulated capital and the paying legal entity.
The KES-billion bank model is fictional; regulatory and issuer context remains separately dated.
Introduce the decision before defining the technical terms.
ARTICLE SECTION: Opening
Revised practical article; source details and figures are dated to their cited filing or event, with current evidence reviewed through 24 September 2026.
A bank’s debt is not like a manufacturer’s debt. Customer deposits are part of the product that lets the bank lend and earn a spread. An insurer’s premium is not an immediate profit cheque: the insurer has agreed to cover future claims. That is why an industrial-company owner-earnings formula cannot be dropped onto a bank or insurer without changing the analysis.
For an industrial company, investors may estimate operating cash flow after tax, reinvestment and working capital, then allocate claims between lenders and shareholders. For a bank, loans, deposits, interest expense and credit losses are central operating items. There is no clean boundary between “debt financing” and “operating input” in the usual enterprise-value framework. For an insurer, premiums, claims, reserves, reinsurance, investment return, and service obligations shape the value of the business.
ARTICLE SECTION: Banks: profit is not the same as distributable capital
Start with return on equity, but ask what generated it. Net interest income depends on loan yields and funding costs. Fee income depends on customer activity and fee rules. Credit-loss charges depend on loan quality and future recoveries. The balance sheet should be followed from opening to closing: new lending, repayments, defaults, write-offs, collateral, provisions, securities, deposits, and wholesale funding.
Then examine capital. The bank’s ability to lend and distribute capital depends on the rules for its regulated entity, the quality and risk weights of assets, potential losses, and buffers. The Central Bank of Kenya’s Bank Supervision Annual Report for 2024 reports sector-level capital and liquidity statistics, including a 19.6% total capital adequacy ratio at December 2024 against a minimum ratio of 14.5% for that reported system measure [1]. Those are aggregate, dated figures, not the capital position of every bank or a universal payout limit. For an individual issuer, use the latest company/regulator data and confirm definitions, entity scope, and any newer rule.
A bank dividend is sustainable only if earnings and capital generation can support it after expected losses, growth and regulatory constraints. The analyst should distinguish accounting equity, regulatory capital, retained earnings, capital buffers, and freely distributable cash. A high dividend yield can reflect a distribution that cannot repeat or a risk the market has not priced correctly.
Peer-reviewed accounting research finds that fair-value disclosures and financial-instrument information can matter for bank share valuation [2]. This supports reading the asset and liability notes closely. It does not eliminate credit-risk judgment. For a bank, one must ask which loans may not be repaid and whether allowances and capital adequately reflect that exposure.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OE-VALUATION-09: Banks and insurers: distributable capital
ARTICLE: https://sokointel.com/read/oe-valuation-09/
RESEARCH SNAPSHOT: 10 September 2026
Read the questions naturally and define terms in context.
Eligible capital - qualifying capital of the selected regulated entity
RWA - risk-weighted assets of that same entity, KES bn
Capital ratio - eligible capital / RWA
CSM - IFRS17 contractual service margin; unearned service profit, not free cash
Headroom - capital above a selected floor; this proxy is not a statutory payout limit
Research question mapping: How can public filings support a defensible owner-earnings bridge?; What must asset-light and asset-heavy businesses reinvest to preserve productive capacity?; How do banks and insurers determine distributable capital?; Which sector-specific adjustments matter when comparing seven NSE industry profiles?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OE-VALUATION-09: Banks and insurers: distributable capital
ARTICLE: https://sokointel.com/read/oe-valuation-09/
RESEARCH SNAPSHOT: 10 September 2026
Part 9, Banks: profit is not the same as distributable capital, and A bank analysis that begins with the loan book. Explain why industrial DCF is not the default bank tool. System capital and non-performing-loan data provide context, not issuer inputs. Keep Equity Group and its regulated-bank perimeters separate.
Narration: explain each step and its consequence for the opening decision.
ARTICLE SECTION: Banks: profit is not the same as distributable capital
Start with return on equity, but ask what generated it. Net interest income depends on loan yields and funding costs. Fee income depends on customer activity and fee rules. Credit-loss charges depend on loan quality and future recoveries. The balance sheet should be followed from opening to closing: new lending, repayments, defaults, write-offs, collateral, provisions, securities, deposits, and wholesale funding.
Then examine capital. The bank’s ability to lend and distribute capital depends on the rules for its regulated entity, the quality and risk weights of assets, potential losses, and buffers. The Central Bank of Kenya’s Bank Supervision Annual Report for 2024 reports sector-level capital and liquidity statistics, including a 19.6% total capital adequacy ratio at December 2024 against a minimum ratio of 14.5% for that reported system measure [1]. Those are aggregate, dated figures, not the capital position of every bank or a universal payout limit. For an individual issuer, use the latest company/regulator data and confirm definitions, entity scope, and any newer rule.
A bank dividend is sustainable only if earnings and capital generation can support it after expected losses, growth and regulatory constraints. The analyst should distinguish accounting equity, regulatory capital, retained earnings, capital buffers, and freely distributable cash. A high dividend yield can reflect a distribution that cannot repeat or a risk the market has not priced correctly.
Peer-reviewed accounting research finds that fair-value disclosures and financial-instrument information can matter for bank share valuation [2]. This supports reading the asset and liability notes closely. It does not eliminate credit-risk judgment. For a bank, one must ask which loans may not be repaid and whether allowances and capital adequately reflect that exposure.
ARTICLE SECTION: Capital, asset allocation and dividend capacity at an insurer
Insurance capital supports policyholder promises and bears the risk of adverse claims or asset values. Map eligible own funds, solvency requirements, capital quality, stress results and any restrictions on distributions from regulated subsidiaries. Cummins' work on capital allocation in insurance shows why capital needs vary across lines and risks rather than following one group-wide payout ratio [4]. The analyst should ask which entity holds capital and which entity declares the dividend.
Inspect the investment portfolio by duration, credit quality, currency, liquidity and accounting treatment. Compare asset duration with the expected timing of claims. A bond portfolio can produce recurring income, but selling assets to meet claims or dividends during market stress may crystallize losses. Real estate or private investments may be less liquid than the claims they support. Keep investment gains, recurring coupon income, realized disposals and fair-value movements distinct.
Then compare proposed dividends with after-tax earnings, solvency headroom, cash at the operating entity, debt maturity and the timing of claims. A group can report profit while a regulated subsidiary needs to retain capital. A special dividend may be supported by a one-time disposal or reserve release. Each distribution should be traced to the legal entity and source of cash.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OE-VALUATION-09: Banks and insurers: distributable capital
ARTICLE: https://sokointel.com/read/oe-valuation-09/
RESEARCH SNAPSHOT: 10 September 2026
Part 9, An insurer analysis that follows the promises. IFRS 17 contractual service margin is recognized over coverage; it is not immediately free cash. Jubilee annual net profit and half-year profit before tax describe different periods and measures. Actual solvency needs entity-specific eligible funds and requirements, not a bank proxy.
Narration: explain each step and its consequence for the opening decision.
ARTICLE SECTION: Insurers: premiums create future claims
An insurer receives premiums and accepts obligations whose amount and timing are uncertain. The cash can be invested, but the owner does not own the full premium balance as free cash. Claims, reinsurance, expenses, policyholder rights, and required solvency capital remain.
IFRS 17 requires insurance contract profit to be recognized as insurance services are provided and as the entity is released from risk; it also separates insurance service results from insurance finance income or expense [3]. The standard’s contractual service margin represents unearned profit to be recognized over the coverage period. It is not a cash reserve available for distribution today. A reported earnings line needs to be read beside claims development, reserves, reinsurance, investment balances, and solvency information.
An analyst can assess the insurer’s operating result by product line and underwriting period, then evaluate the investment portfolio and capital backing those obligations. Mortality, medical utilization, catastrophe losses, claims inflation, lapse rates, and investment returns can have different implications across the portfolio. Group-level earnings can also conceal differences among legal insurers and markets.
Research on capital allocation in insurance discusses how regulatory risk-based capital and the economics of separate lines of business affect capital decisions [4]. Use that lens to ask where the company must retain capital and whether a reported return is high because the business is profitable or because it operates with greater risk.
ARTICLE SECTION: An insurer analysis that follows the promises
For an insurer, separate insurance service result, insurance finance income or expense, investment income, expenses, claims, reinsurance and capital. Under IFRS 17, the liability for remaining coverage relates to service not yet provided, while the liability for incurred claims relates to claims for events that have already occurred but may not yet be settled. Contractual service margin represents profit associated with future service under the standard; it is recognized over coverage rather than paid out immediately [3]. The analyst should understand the issuer's disclosure labels and avoid treating the margin or gross premium cash as distributable cash.
Build the insurance analysis by product and legal entity where data exist. For each major line, follow gross and net premiums, acquisition costs, claims incurred, claims paid, expenses, reinsurance recoveries, reserve development and retention. Compare prior estimates with eventual claims and identify whether favorable experience is a repeatable pricing or underwriting improvement or the release of an old reserve. A reserve strengthening can reduce earnings even when current cash collections are strong; a reserve release can increase earnings without a matching new cash inflow.
Use a claims development view. Group claims by accident or underwriting year and compare paid and incurred amounts over time. Examine large losses, medical cost inflation, catastrophe exposure, lapse and renewal rates, concentration in corporate schemes and the terms of reinsurance. Then test counterparty risk: a reinsurance receivable only helps if the contract responds and the reinsurer can pay. Gross exposure, net exposure, collateral and dispute status should be shown separately.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OE-VALUATION-09: Banks and insurers: distributable capital
ARTICLE: https://sokointel.com/read/oe-valuation-09/
RESEARCH SNAPSHOT: 10 September 2026
Part 9, A dividend decision has two separate tests. Forecast both capital in the numerator and risk-weighted assets in the denominator. Retained profit is not the only capital movement. Insurance capital quality, duration and claim dates need their own model. Do not double Jubilee half-year profit before tax into annual owner cash.
Narration: explain each step and its consequence for the opening decision.
ARTICLE SECTION: Capital, asset allocation and dividend capacity at an insurer
Insurance capital supports policyholder promises and bears the risk of adverse claims or asset values. Map eligible own funds, solvency requirements, capital quality, stress results and any restrictions on distributions from regulated subsidiaries. Cummins' work on capital allocation in insurance shows why capital needs vary across lines and risks rather than following one group-wide payout ratio [4]. The analyst should ask which entity holds capital and which entity declares the dividend.
Inspect the investment portfolio by duration, credit quality, currency, liquidity and accounting treatment. Compare asset duration with the expected timing of claims. A bond portfolio can produce recurring income, but selling assets to meet claims or dividends during market stress may crystallize losses. Real estate or private investments may be less liquid than the claims they support. Keep investment gains, recurring coupon income, realized disposals and fair-value movements distinct.
Then compare proposed dividends with after-tax earnings, solvency headroom, cash at the operating entity, debt maturity and the timing of claims. A group can report profit while a regulated subsidiary needs to retain capital. A special dividend may be supported by a one-time disposal or reserve release. Each distribution should be traced to the legal entity and source of cash.
ARTICLE SECTION: Normalize bank earnings through the credit cycle
Use several years of net interest income, fees, expenses, impairment charges and recoveries. Mark extraordinary credit events, acquisitions, tax benefits, restructuring and changes in accounting or regulation. A mechanical average is not enough if years include very different interest-rate and credit environments. Build a central case from loan growth, pricing and funding costs that can be explained from the disclosures; build a downside where credit loss and funding costs change together.
A useful stress has four connected parts:
1. Borrower stress: slower turnover, weaker collateral values, higher unemployment or sector-specific pressure increases arrears and expected loss.
2. Funding stress: deposit competition raises rates or moves deposits to more expensive channels; wholesale funding rolls at a higher cost or shorter tenor.
3. Capital stress: higher provisions reduce earnings and retained capital, while risk-weighted assets may grow or shift toward higher-risk exposures.
4. Distribution stress: management reduces or suspends distributions to preserve the bank's ability to lend and meet requirements.
Do not assume the earnings impact ends when a loan is classified. Recovery costs, collateral realization time, legal expenses, restructuring, foregone interest and customer relationships also matter. A bank may recover some collateral, but the time and net proceeds should be evidenced. Track write-offs and recoveries separately from the provision expense so that a year with large recoveries does not look like permanently improved underwriting.
Barth's research on fair-value disclosure of investment securities and the market valuation of banks supports close attention to securities and valuation notes [2]. In a rising-rate or volatile-market period, distinguish accounting classification, cash-flow timing, realized sales and economic sensitivity. A security held to collect contractual cash flows is still exposed to credit and funding risks; a sale to meet withdrawals can crystallize a loss that was previously unrealized.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OE-VALUATION-09: Banks and insurers: distributable capital
ARTICLE: https://sokointel.com/read/oe-valuation-09/
RESEARCH SNAPSHOT: 10 September 2026
Part 9, Turn capital into an explicit distribution test, and the Project 2 Bank Insurance fictional illustration. Risk-weighted assets start at 500 and grow 12% to 560. The 18% floor is an assumed internal policy, not an asserted statutory minimum. Actual deductions, regulatory buffers, other comprehensive income, FX and other capital movements are excluded.
Equation: Headroom = opening capital + profit - dividend - floor x closing RWA
Substitution: KES bn: 100 + 20 - 10 - (18% x 560) = 9.2
Interpretation: Closing capital is 110bn; 110 / 560 = 19.64%. This is a simplified planning example, not a legal dividend test.
ARTICLE SECTION: Turn capital into an explicit distribution test
A bank's dividend capacity is a capital-allocation question. Start with reported eligible capital by tier, risk-weighted assets, leverage measure, deductions, buffers, minimum requirements and any supervisory or board limits. Then prepare a bridge from opening capital to closing capital: retained profit, dividends, share issues, credit losses, other comprehensive income, valuation movements, acquisitions, foreign exchange, regulatory changes and changes in deductions. A change in the capital ratio can come from either numerator or denominator; do not attribute it to earnings alone.
For a shareholder estimate, use a simple capital roll-forward beside the actual regulatory calculation. The simple version is a planning proxy, not a compliance model. Suppose, purely for illustration, a bank starts with KES 100 billion of eligible capital and KES 500 billion of risk-weighted assets, a 20% ratio. It earns KES 20 billion after tax, plans a KES 10 billion dividend, and risk-weighted assets grow by 12% to KES 560 billion. Ignoring all other changes, closing capital is KES 110 billion and the ratio falls to 19.6%. If management's chosen operating floor were 18%, the simplified headroom would be KES 9.2 billion: KES 110 billion less 18% of KES 560 billion. This is not the bank's statutory distributable amount; real capital deductions, buffers, legal restrictions, supervisory review, risk weights and other adjustments can materially change it.
The calculation shows why profit growth does not guarantee dividend growth. If assets grow quickly, capital may need to be retained. If credit quality worsens, both earnings and capital may fall. If asset risk weights rise or a new regulatory buffer applies, the amount available to distribute can shrink even with unchanged book profit. If a dividend is funded by issuing new shares or selling assets, report that financing source clearly.
ARTICLE SECTION: Capital, asset allocation and dividend capacity at an insurer
Insurance capital supports policyholder promises and bears the risk of adverse claims or asset values. Map eligible own funds, solvency requirements, capital quality, stress results and any restrictions on distributions from regulated subsidiaries. Cummins' work on capital allocation in insurance shows why capital needs vary across lines and risks rather than following one group-wide payout ratio [4]. The analyst should ask which entity holds capital and which entity declares the dividend.
Inspect the investment portfolio by duration, credit quality, currency, liquidity and accounting treatment. Compare asset duration with the expected timing of claims. A bond portfolio can produce recurring income, but selling assets to meet claims or dividends during market stress may crystallize losses. Real estate or private investments may be less liquid than the claims they support. Keep investment gains, recurring coupon income, realized disposals and fair-value movements distinct.
Then compare proposed dividends with after-tax earnings, solvency headroom, cash at the operating entity, debt maturity and the timing of claims. A group can report profit while a regulated subsidiary needs to retain capital. A special dividend may be supported by a one-time disposal or reserve release. Each distribution should be traced to the legal entity and source of cash.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OE-VALUATION-09: Banks and insurers: distributable capital
ARTICLE: https://sokointel.com/read/oe-valuation-09/
RESEARCH SNAPSHOT: 10 September 2026
ACTUAL WORKBOOK CAPTURE
Workbook: C:\Users\Nevo\Downloads\financial material\Owner's Earning\Project 2 - Listed Companies and Valuation\Project 2 - Listed Companies Owner Earnings and Valuation.xlsx
Sheet/range: 'Bank Insurance'!C14:F23
SHA-256: 4ad84af694e804b21c68dfc5e85ca8f5e4211a30b102d31e846890ec6a09827b
Capture method: Microsoft Excel read-only PDF range export. Print headings retained. Source not saved.
Asset: Evidence/Workbooks/OE-VALUATION-09-01-p1.png
SCREEN RECORDING WALKTHROUGH
Read the row and column headings. Identify inputs, follow the dependent row and explain the units. Do not alter the source workbook while recording; use a copy for a new scenario.
Extracted evidence text:
14
15
16
17
18
19
20
21
22
23
C D E F
Simplified bank capital illustration — KES billions, not statutory calculation
Driver Input / result Unit Treatment
Opening eligible capital 100 KES bn Illustrative input
Opening risk-weighted assets 500 KES bn Illustrative input
After-tax earnings 20 KES bn Illustrative input
Dividend 10 KES bn Illustrative input
RWA growth 12.0% % Illustrative input
Operating capital floor 18.0% % Illustrative internal floor
Closing capital ratio 19.6% % Simplified proxy
Headroom above floor 9.2 KES bn Not statutory distributable amount
Relevant article context:
ARTICLE SECTION: A bank analysis that begins with the loan book
A bank model should start with the legal bank and its consolidated group boundary. A listed parent may own banks in multiple countries, a payments business, insurance subsidiaries or asset managers. Dividends received by the parent may be constrained by subsidiary capital, local rules, minority interests, currency controls or upstream approvals. Keep each regulated entity and currency visible before combining them.
For the core bank, build a multi-year schedule with average earning assets, loan yield, securities yield, deposit cost, wholesale funding cost, net interest margin, fee income, operating expenses and credit-loss charges. Use average balances when estimating yields and costs; ending balances can distort a year in which lending or deposits grew quickly. Split business and consumer loans, secured and unsecured exposures, sectors and currencies where disclosures permit. Track restructured and re-aged loans separately from loans that are current under original terms.
A single non-performing-loan ratio is not enough. Follow the amount and direction of Stage 2 and Stage 3 balances, overdue days, collateral valuation, loan-loss provisions, write-offs, recoveries and new lending. Compare the allowance with gross exposures and test collateral realization cost and timing. Loan loss allowances depend on expected future conditions and model judgments; a benign current default rate can coexist with weak underwriting if loans are newly originated or restructured. The question is not just “how many loans are bad today?” but “what losses could emerge from the book as it seasons?”
The Central Bank of Kenya's 2025 supervision report, issued in September 2026, reports sector aggregates including a 20.7% total capital adequacy ratio, 59.3% liquidity ratio and 16% gross NPL ratio at the reported year-end [6]. The August 2026 MPC background data provides a later system snapshot [7]. These figures help frame the operating environment, but they are not an estimate for a named bank and should not be plugged into its model as if they were. Verify each issuer's latest ratios, definitions, legal entity, reporting date and capital rules.
ARTICLE SECTION: Banks: profit is not the same as distributable capital
Start with return on equity, but ask what generated it. Net interest income depends on loan yields and funding costs. Fee income depends on customer activity and fee rules. Credit-loss charges depend on loan quality and future recoveries. The balance sheet should be followed from opening to closing: new lending, repayments, defaults, write-offs, collateral, provisions, securities, deposits, and wholesale funding.
Then examine capital. The bank’s ability to lend and distribute capital depends on the rules for its regulated entity, the quality and risk weights of assets, potential losses, and buffers. The Central Bank of Kenya’s Bank Supervision Annual Report for 2024 reports sector-level capital and liquidity statistics, including a 19.6% total capital adequacy ratio at December 2024 against a minimum ratio of 14.5% for that reported system measure [1]. Those are aggregate, dated figures, not the capital position of every bank or a universal payout limit. For an individual issuer, use the latest company/regulator data and confirm definitions, entity scope, and any newer rule.
A bank dividend is sustainable only if earnings and capital generation can support it after expected losses, growth and regulatory constraints. The analyst should distinguish accounting equity, regulatory capital, retained earnings, capital buffers, and freely distributable cash. A high dividend yield can reflect a distribution that cannot repeat or a risk the market has not priced correctly.
Peer-reviewed accounting research finds that fair-value disclosures and financial-instrument information can matter for bank share valuation [2]. This supports reading the asset and liability notes closely. It does not eliminate credit-risk judgment. For a bank, one must ask which loans may not be repaid and whether allowances and capital adequately reflect that exposure.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OE-VALUATION-09: Banks and insurers: distributable capital
ARTICLE: https://sokointel.com/read/oe-valuation-09/
RESEARCH SNAPSHOT: 10 September 2026
ACTUAL WORKBOOK CAPTURE
Workbook: C:\Users\Nevo\Downloads\financial material\Owner's Earning\Project 2 - Listed Companies and Valuation\Project 2 - Listed Companies Owner Earnings and Valuation.xlsx
Sheet/range: 'Bank Insurance'!C5:H11
SHA-256: 4ad84af694e804b21c68dfc5e85ca8f5e4211a30b102d31e846890ec6a09827b
Capture method: Microsoft Excel read-only PDF range export. Print headings retained. Source not saved.
Asset: Evidence/Workbooks/OE-VALUATION-09-02-p1.png
SCREEN RECORDING WALKTHROUGH
Read the row and column headings. Identify inputs, follow the dependent row and explain the units. Do not alter the source workbook while recording; use a copy for a new scenario.
Extracted evidence text:
5
6
7
8
9
10
11
C D E F G H
Item Value Unit Date / scope Source ID Use and limit
CBK total capital adequacy 20.7% % Sector, FY2025 CBK-2025 Not an individual bank ratio
CBK liquidity ratio 59.3% % Sector, FY2025 CBK-2025 Not a payout limit
CBK gross NPL ratio 16.0% % Sector, FY2025 CBK-2025 System aggregate; issuer credit book differs
Jubilee FY2025 net profit 5.6 KES bn Group, FY2025 JUB-2025 Issuer-reported; distinguish profit from regulated cash
Jubilee FY2025 profit before tax 7.2 KES bn Group, FY2025 JUB-2025 Not interchangeable with net profit
Jubilee gross premiums + deposit contributions 62.4 KES bn Group, FY2025 JUB-2025 Premium cash is linked to future service and claims
Relevant article context:
ARTICLE SECTION: A bank analysis that begins with the loan book
A bank model should start with the legal bank and its consolidated group boundary. A listed parent may own banks in multiple countries, a payments business, insurance subsidiaries or asset managers. Dividends received by the parent may be constrained by subsidiary capital, local rules, minority interests, currency controls or upstream approvals. Keep each regulated entity and currency visible before combining them.
For the core bank, build a multi-year schedule with average earning assets, loan yield, securities yield, deposit cost, wholesale funding cost, net interest margin, fee income, operating expenses and credit-loss charges. Use average balances when estimating yields and costs; ending balances can distort a year in which lending or deposits grew quickly. Split business and consumer loans, secured and unsecured exposures, sectors and currencies where disclosures permit. Track restructured and re-aged loans separately from loans that are current under original terms.
A single non-performing-loan ratio is not enough. Follow the amount and direction of Stage 2 and Stage 3 balances, overdue days, collateral valuation, loan-loss provisions, write-offs, recoveries and new lending. Compare the allowance with gross exposures and test collateral realization cost and timing. Loan loss allowances depend on expected future conditions and model judgments; a benign current default rate can coexist with weak underwriting if loans are newly originated or restructured. The question is not just “how many loans are bad today?” but “what losses could emerge from the book as it seasons?”
The Central Bank of Kenya's 2025 supervision report, issued in September 2026, reports sector aggregates including a 20.7% total capital adequacy ratio, 59.3% liquidity ratio and 16% gross NPL ratio at the reported year-end [6]. The August 2026 MPC background data provides a later system snapshot [7]. These figures help frame the operating environment, but they are not an estimate for a named bank and should not be plugged into its model as if they were. Verify each issuer's latest ratios, definitions, legal entity, reporting date and capital rules.
ARTICLE SECTION: Banks: profit is not the same as distributable capital
Start with return on equity, but ask what generated it. Net interest income depends on loan yields and funding costs. Fee income depends on customer activity and fee rules. Credit-loss charges depend on loan quality and future recoveries. The balance sheet should be followed from opening to closing: new lending, repayments, defaults, write-offs, collateral, provisions, securities, deposits, and wholesale funding.
Then examine capital. The bank’s ability to lend and distribute capital depends on the rules for its regulated entity, the quality and risk weights of assets, potential losses, and buffers. The Central Bank of Kenya’s Bank Supervision Annual Report for 2024 reports sector-level capital and liquidity statistics, including a 19.6% total capital adequacy ratio at December 2024 against a minimum ratio of 14.5% for that reported system measure [1]. Those are aggregate, dated figures, not the capital position of every bank or a universal payout limit. For an individual issuer, use the latest company/regulator data and confirm definitions, entity scope, and any newer rule.
A bank dividend is sustainable only if earnings and capital generation can support it after expected losses, growth and regulatory constraints. The analyst should distinguish accounting equity, regulatory capital, retained earnings, capital buffers, and freely distributable cash. A high dividend yield can reflect a distribution that cannot repeat or a risk the market has not priced correctly.
Peer-reviewed accounting research finds that fair-value disclosures and financial-instrument information can matter for bank share valuation [2]. This supports reading the asset and liability notes closely. It does not eliminate credit-risk judgment. For a bank, one must ask which loans may not be repaid and whether allowances and capital adequately reflect that exposure.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OE-VALUATION-09: Banks and insurers: distributable capital
ARTICLE: https://sokointel.com/read/oe-valuation-09/
RESEARCH SNAPSHOT: 10 September 2026
Explicit fictional extension, not Equity or Jubilee data: 100 + 8 - 10 = 98; 98 / 560 = 0.175; 98 - 0.18 × 560 = -2.8. It neither permits a dividend nor establishes a regulatory breach. The floor is illustrative; actual rules are not modeled. Review payout, growth and funding in a full entity-specific model.
Base: Profit 20bn, planned dividend 10bn -&gt; headroom 9.2bn.
Changed: Illustrative extension: an additional 12bn after-tax credit-loss effect reduces profit to 8bn; RWA remains 560bn.
Consequence: Capital becomes 98bn: 17.5% ratio and a 2.8bn gap to the assumed 18% floor.
ARTICLE SECTION: Banks: profit is not the same as distributable capital
Start with return on equity, but ask what generated it. Net interest income depends on loan yields and funding costs. Fee income depends on customer activity and fee rules. Credit-loss charges depend on loan quality and future recoveries. The balance sheet should be followed from opening to closing: new lending, repayments, defaults, write-offs, collateral, provisions, securities, deposits, and wholesale funding.
Then examine capital. The bank’s ability to lend and distribute capital depends on the rules for its regulated entity, the quality and risk weights of assets, potential losses, and buffers. The Central Bank of Kenya’s Bank Supervision Annual Report for 2024 reports sector-level capital and liquidity statistics, including a 19.6% total capital adequacy ratio at December 2024 against a minimum ratio of 14.5% for that reported system measure [1]. Those are aggregate, dated figures, not the capital position of every bank or a universal payout limit. For an individual issuer, use the latest company/regulator data and confirm definitions, entity scope, and any newer rule.
A bank dividend is sustainable only if earnings and capital generation can support it after expected losses, growth and regulatory constraints. The analyst should distinguish accounting equity, regulatory capital, retained earnings, capital buffers, and freely distributable cash. A high dividend yield can reflect a distribution that cannot repeat or a risk the market has not priced correctly.
Peer-reviewed accounting research finds that fair-value disclosures and financial-instrument information can matter for bank share valuation [2]. This supports reading the asset and liability notes closely. It does not eliminate credit-risk judgment. For a bank, one must ask which loans may not be repaid and whether allowances and capital adequately reflect that exposure.
ARTICLE SECTION: Turn capital into an explicit distribution test
A bank's dividend capacity is a capital-allocation question. Start with reported eligible capital by tier, risk-weighted assets, leverage measure, deductions, buffers, minimum requirements and any supervisory or board limits. Then prepare a bridge from opening capital to closing capital: retained profit, dividends, share issues, credit losses, other comprehensive income, valuation movements, acquisitions, foreign exchange, regulatory changes and changes in deductions. A change in the capital ratio can come from either numerator or denominator; do not attribute it to earnings alone.
For a shareholder estimate, use a simple capital roll-forward beside the actual regulatory calculation. The simple version is a planning proxy, not a compliance model. Suppose, purely for illustration, a bank starts with KES 100 billion of eligible capital and KES 500 billion of risk-weighted assets, a 20% ratio. It earns KES 20 billion after tax, plans a KES 10 billion dividend, and risk-weighted assets grow by 12% to KES 560 billion. Ignoring all other changes, closing capital is KES 110 billion and the ratio falls to 19.6%. If management's chosen operating floor were 18%, the simplified headroom would be KES 9.2 billion: KES 110 billion less 18% of KES 560 billion. This is not the bank's statutory distributable amount; real capital deductions, buffers, legal restrictions, supervisory review, risk weights and other adjustments can materially change it.
The calculation shows why profit growth does not guarantee dividend growth. If assets grow quickly, capital may need to be retained. If credit quality worsens, both earnings and capital may fall. If asset risk weights rise or a new regulatory buffer applies, the amount available to distribute can shrink even with unchanged book profit. If a dividend is funded by issuing new shares or selling assets, report that financing source clearly.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OE-VALUATION-09: Banks and insurers: distributable capital
ARTICLE: https://sokointel.com/read/oe-valuation-09/
RESEARCH SNAPSHOT: 10 September 2026
Answer: For regulated financial companies, sustainable owner cash depends on equity earnings after credit or claims costs and capital retention. Use an equity or distribution-capacity approach with dated entity-specific evidence rather than forcing an industrial FCFF formula onto the balance sheet.
Viewer task: Build a capital roll-forward for the entity paying the dividend and identify the disclosure needed to validate its loss and solvency assumptions.
Return to each opening research question and identify what remains conditional or unknown.
ARTICLE SECTION: A peer review and governance routine
Use a second reviewer to challenge the loan-loss or claims assumptions, not just check formulas. Ask which credit segment or policy line drives the downside, whether the collateral or reinsurance assumption has independent support, and whether the capital calculation uses the same entity as the dividend. A reviewer should be able to trace a result from source page to input, formula, scenario and recommendation.
At each reporting date, update the model only after the filing and official regulatory data are available. Preserve the prior version and write a change log: new fact, affected assumption, result before, result after, and reason. Set triggers such as a material increase in arrears, loss ratio, reserve strengthening, a fall in capital buffer, a change in dividend policy or a large shift in funding cost. The triggers guide investigation; they are not a universal buy or sell rule.
For a bank or insurer, the practical owner-earnings answer is not “cash from operations minus capital expenditure.” It is the sustainable equity earnings that remain after expected credit or claims costs, capital retention, regulatory constraints, liquidity needs and dilution. If a key solvency or credit measure is unavailable, state what cannot be concluded and identify the exact disclosure needed. That is an actionable analysis, not a refusal to analyze the business.
ARTICLE SECTION: A practical source and review checklist
Before sharing a bank or insurance valuation, make sure the reviewer can answer:
 What is the legal entity whose capital supports the dividend?
 Which earnings measure is attributable to ordinary owners, and which is before tax or includes minority interests?
 What balance-sheet risks were newly originated, restructured, revalued or transferred?
 Does the stress change both earnings and capital, or only the valuation multiple?
 How are liquidity, maturities, asset duration and claims timing reflected?
 Which official report or regulatory return would change the model, and when is it due?
This discipline is useful even when a public report omits a crucial detail. Label the missing item, describe its possible direction and size, and avoid replacing it with a convenient average. The actionable output may be “no reliable payout capacity can be estimated until the regulated bank's core capital and asset-quality schedules are available.” It can also be a range that is wide but tied to specific credit-loss assumptions. The investor now knows exactly what evidence to request or monitor.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OE-VALUATION-09: Banks and insurers: distributable capital
ARTICLE: https://sokointel.com/read/oe-valuation-09/
RESEARCH SNAPSHOT: 10 September 2026
SOURCE MATERIAL
[1] Central Bank of Kenya, Bank Supervision Annual Report 2024, https://www.centralbank.go.ke/uploads/banking_sector_annual_reports/1328318827_2024%20Annual%20Report.pdf.
[2] M. E. Barth, “Fair Value Accounting: Evidence from Investment Securities and the Market Valuation of Banks,” The Accounting Review, vol. 69, no. 1, pp. 1–25, 1994.
[3] International Accounting Standards Board, “IFRS 17 Insurance Contracts,” https://www.ifrs.org/issued-standards/list-of-standards/ifrs-17-insurance-contracts/.
[4] J. D. Cummins, “Allocation of Capital in the Insurance Industry,” Risk Management and Insurance Review, vol. 3, no. 1, pp. 7–27, 2000, https://doi.org/10.1111/j.1540-6296.2000.tb00013.x.
[5] J. A. Ohlson, “Earnings, Book Values, and Dividends in Equity Valuation,” Contemporary Accounting Research, vol. 11, no. 2, pp. 661–687, 1995, https://doi.org/10.1111/j.1911-3846.1995.tb00461.x.
[6] Central Bank of Kenya, Bank Supervision Annual Report 2025, issued 23 September 2026, https://www.centralbank.go.ke/uploads/banking_sector_annual_reports/1241268828_ANNUAL%20REPORT%202025.pdf.
[7] Central Bank of Kenya, Monetary Policy Committee Meeting Background Data, August 2026, https://www.centralbank.go.ke/uploads/presentations/2005474214_Monetary%20Policy%20Committee%20Meeting%20Background%20Data%20August%202026.pdf.
[8] Jubilee Holdings Limited, “Jubilee Holdings Declares a Record Dividend Following 18% Increase in Net Profit,” 9 April 2026, https://jubileeinsurance.com/group/newsroom/jubilee-holdings-declares-a-record-dividend-following-18-increase-in-net-profit/.
[9] Jubilee Holdings Limited, “Jubilee Holdings Limited Delivers 30% Growth in H1 Profit Before Tax to KES 4.4 Billion,” 28 August 2026, https://jubileeinsurance.com/group/newsroom/jubilee-holdings-limited-delivers-30-growth-in-h1-profit-before-tax-to-kes-4-4-billion/.
All linked source URLs:
Central Bank of Kenya, Bank Supervision Annual Report 2024: https://www.centralbank.go.ke/uploads/banking_sector_annual_reports/1328318827_2024%20Annual%20Report.pdf
International Accounting Standards Board, “IFRS 17 Insurance Contracts,”: https://www.ifrs.org/issued-standards/list-of-standards/ifrs-17-insurance-contracts/
J. D. Cummins, “Allocation of Capital in the Insurance Industry,” Risk Management and Insurance Review, vol. 3, no. 1, pp. 7–27, 2000: https://doi.org/10.1111/j.1540-6296.2000.tb00013.x
J. A. Ohlson, “Earnings, Book Values, and Dividends in Equity Valuation,” Contemporary Accounting Research, vol. 11, no. 2, pp. 661–687, 1995: https://doi.org/10.1111/j.1911-3846.1995.tb00461.x
Central Bank of Kenya, Bank Supervision Annual Report 2025, issued 23 September 2026: https://www.centralbank.go.ke/uploads/banking_sector_annual_reports/1241268828_ANNUAL%20REPORT%202025.pdf
Central Bank of Kenya, Monetary Policy Committee Meeting Background Data, August 2026: https://www.centralbank.go.ke/uploads/presentations/2005474214_Monetary%20Policy%20Committee%20Meeting%20Background%20Data%20August%202026.pdf
Jubilee Holdings Limited, “Jubilee Holdings Declares a Record Dividend Following 18% Increase in Net Profit,” 9 April 2026: https://jubileeinsurance.com/group/newsroom/jubilee-holdings-declares-a-record-dividend-following-18-increase-in-net-profit/
Jubilee Holdings Limited, “Jubilee Holdings Limited Delivers 30% Growth in H1 Profit Before Tax to KES 4.4 Billion,” 28 August 2026: https://jubileeinsurance.com/group/newsroom/jubilee-holdings-limited-delivers-30-growth-in-h1-profit-before-tax-to-kes-4-4-billion/
Additional content sources:
[
  {
    "title": "SokoIntel Part9: banks and insurers",
    "url": "https://sokointel.com/read/oe-valuation-09/",
    "date": "Research cutoff 2026-09-24"
  },
  {
    "title": "IFRS17 Insurance Contracts",
    "url": "https://www.ifrs.org/issued-standards/list-of-standards/ifrs-17-insurance-contracts/",
    "date": "Standard source; no current regulatory ratio inferred"
  },
  {
    "title": "CBK Bank Supervision Annual Report2025",
    "url": "https://www.centralbank.go.ke/uploads/banking_sector_annual_reports/1241268828_ANNUAL%20REPORT%202025.pdf",
    "date": "FY2025 system context; report issued September2026"
  }
]
Workbook provenance:
C:\Users\Nevo\Downloads\financial material\Owner's Earning\Project 2 - Listed Companies and Valuation\Project 2 - Listed Companies Owner Earnings and Valuation.xlsx
'Bank Insurance'!C14:F23
4ad84af694e804b21c68dfc5e85ca8f5e4211a30b102d31e846890ec6a09827b
C:\Users\Nevo\Downloads\financial material\Owner's Earning\Project 2 - Listed Companies and Valuation\Project 2 - Listed Companies Owner Earnings and Valuation.xlsx
'Bank Insurance'!C5:H11
4ad84af694e804b21c68dfc5e85ca8f5e4211a30b102d31e846890ec6a09827b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oe-valuation-09/" TargetMode="External"/><Relationship Id="rId2" Type="http://schemas.openxmlformats.org/officeDocument/2006/relationships/hyperlink" Target="https://sokointel.com/read/oe-valuation-09/" TargetMode="External"/><Relationship Id="rId3" Type="http://schemas.openxmlformats.org/officeDocument/2006/relationships/hyperlink" Target="https://www.ifrs.org/issued-standards/list-of-standards/ifrs-17-insurance-contracts/" TargetMode="External"/><Relationship Id="rId4" Type="http://schemas.openxmlformats.org/officeDocument/2006/relationships/hyperlink" Target="https://www.centralbank.go.ke/uploads/banking_sector_annual_reports/1241268828_ANNUAL%20REPORT%202025.pdf" TargetMode="Externa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Banks and insurers: distributable capital</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For banks and insurers, the owner claim is constrained by losses, promises, regulated capital and the paying legal entity.</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OE-VALUATION-09   •   The KES-billion bank model is fictional; regulatory and issuer context remains separately dated.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1. How can public filings support a defensible owner-earnings bridge?</a:t>
            </a:r>
            <a:endParaRPr lang="en-US" sz="2000" dirty="0"/>
          </a:p>
        </p:txBody>
      </p:sp>
      <p:sp>
        <p:nvSpPr>
          <p:cNvPr id="9" name="Text 7"/>
          <p:cNvSpPr/>
          <p:nvPr/>
        </p:nvSpPr>
        <p:spPr>
          <a:xfrm>
            <a:off x="594360" y="2880360"/>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2. What must asset-light and asset-heavy businesses reinvest to preserve productive capacity?</a:t>
            </a:r>
            <a:endParaRPr lang="en-US" sz="2000" dirty="0"/>
          </a:p>
        </p:txBody>
      </p:sp>
      <p:sp>
        <p:nvSpPr>
          <p:cNvPr id="10" name="Text 8"/>
          <p:cNvSpPr/>
          <p:nvPr/>
        </p:nvSpPr>
        <p:spPr>
          <a:xfrm>
            <a:off x="594360" y="3913632"/>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3. How do banks and insurers determine distributable capital?</a:t>
            </a:r>
            <a:endParaRPr lang="en-US" sz="2000" dirty="0"/>
          </a:p>
        </p:txBody>
      </p:sp>
      <p:sp>
        <p:nvSpPr>
          <p:cNvPr id="11" name="Text 9"/>
          <p:cNvSpPr/>
          <p:nvPr/>
        </p:nvSpPr>
        <p:spPr>
          <a:xfrm>
            <a:off x="594360" y="4946904"/>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4. Which sector-specific adjustments matter when comparing seven NSE industry profiles?</a:t>
            </a:r>
            <a:endParaRPr lang="en-US" sz="2000" dirty="0"/>
          </a:p>
        </p:txBody>
      </p:sp>
      <p:sp>
        <p:nvSpPr>
          <p:cNvPr id="12" name="Shape 10"/>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3" name="Text 11"/>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4" name="Text 12"/>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Eligible capital - qualifying capital of the selected regulated entity</a:t>
            </a:r>
            <a:endParaRPr lang="en-US" sz="1650" dirty="0"/>
          </a:p>
        </p:txBody>
      </p:sp>
      <p:sp>
        <p:nvSpPr>
          <p:cNvPr id="15" name="Text 13"/>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RWA - risk-weighted assets of that same entity, KES bn</a:t>
            </a:r>
            <a:endParaRPr lang="en-US" sz="1650" dirty="0"/>
          </a:p>
        </p:txBody>
      </p:sp>
      <p:sp>
        <p:nvSpPr>
          <p:cNvPr id="16" name="Text 14"/>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Capital ratio - eligible capital / RWA</a:t>
            </a:r>
            <a:endParaRPr lang="en-US" sz="1650" dirty="0"/>
          </a:p>
        </p:txBody>
      </p:sp>
      <p:sp>
        <p:nvSpPr>
          <p:cNvPr id="17" name="Text 15"/>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CSM - IFRS17 contractual service margin; unearned service profit, not free cash</a:t>
            </a:r>
            <a:endParaRPr lang="en-US" sz="1650" dirty="0"/>
          </a:p>
        </p:txBody>
      </p:sp>
      <p:sp>
        <p:nvSpPr>
          <p:cNvPr id="18" name="Text 16"/>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Headroom - capital above a selected floor; this proxy is not a statutory payout limit</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bank needs an equity-capital bridge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Deposits fund the operating business; they are not an ordinary industrial net-debt deduction.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Follow credit quality, funding cost and risk-weighted-asset growth together.</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Group profit does not reveal each subsidiary's distributable capital.</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The KES-billion bank model is fictional; regulatory and issuer context remains separately dated.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An insurer must fund the promises it has sold</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Premium receipts come with future service and claims obligations.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Separate underwriting, investment results, reserve development and reinsurance.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CSM and group earnings do not equal parent-company cash or solvency headroom.</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The KES-billion bank model is fictional; regulatory and issuer context remains separately dated.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Stress the business before extrapolating dividends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Higher credit losses can reduce earnings while capital retention rises.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Claims stress can coincide with weaker investments or slower reinsurance recovery.</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Trace proposed dividends to capital, liquidity and the legal entity paying them.</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The KES-billion bank model is fictional; regulatory and issuer context remains separately dated.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A capital proxy makes the retention need visible</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Headroom = opening capital + profit - dividend - floor x closing RWA</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KES bn: 100 + 20 - 10 - (18% x 560) = 9.2</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Closing capital is 110bn; 110 / 560 = 19.64%. This is a simplified planning example, not a legal dividend test.</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The KES-billion bank model is fictional; regulatory and issuer context remains separately dated.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Bank Insurance: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VALUATION-09-01-p1.png">    </p:cNvPr>
          <p:cNvPicPr>
            <a:picLocks noChangeAspect="1"/>
          </p:cNvPicPr>
          <p:nvPr/>
        </p:nvPicPr>
        <p:blipFill>
          <a:blip r:embed="rId1"/>
          <a:stretch>
            <a:fillRect/>
          </a:stretch>
        </p:blipFill>
        <p:spPr>
          <a:xfrm>
            <a:off x="612648" y="2518068"/>
            <a:ext cx="10972800" cy="2352215"/>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Bank Insurance!C14:F23</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The KES-billion bank model is fictional; regulatory and issuer context remains separately dated.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Bank Insurance: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VALUATION-09-02-p1.png">    </p:cNvPr>
          <p:cNvPicPr>
            <a:picLocks noChangeAspect="1"/>
          </p:cNvPicPr>
          <p:nvPr/>
        </p:nvPicPr>
        <p:blipFill>
          <a:blip r:embed="rId1"/>
          <a:stretch>
            <a:fillRect/>
          </a:stretch>
        </p:blipFill>
        <p:spPr>
          <a:xfrm>
            <a:off x="612648" y="3080691"/>
            <a:ext cx="10972800" cy="1226970"/>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Bank Insurance!C5:H11</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The KES-billion bank model is fictional; regulatory and issuer context remains separately dated.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Losses can exhaust the apparent payout buffer</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Profit 20bn, planned dividend 10bn -&gt; headroom 9.2bn.</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Illustrative extension: an additional 12bn after-tax credit-loss effect reduces profit to 8bn; RWA remains 560bn.</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Capital becomes 98bn: 17.5% ratio and a 2.8bn gap to the assumed 18% floor.</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For regulated financial companies, sustainable owner cash depends on equity earnings after credit or claims costs and capital retention. Use an equity or distribution-capacity approach with dated entity-specific evidence rather than forcing an industrial FCFF formula onto the balance sheet.</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Build a capital roll-forward for the entity paying the dividend and identify the disclosure needed to validate its loss and solvency assumptions.</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sokointel.com/read/oe-valuation-09/</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SokoIntel Part9: banks and insurers • Research cutoff 2026-09-24</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IFRS17 Insurance Contracts • Standard source; no current regulatory ratio inferred</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CBK Bank Supervision Annual Report2025 • FY2025 system context; report issued September2026</a:t>
            </a:r>
            <a:endParaRPr lang="en-US" sz="1700" dirty="0"/>
          </a:p>
        </p:txBody>
      </p:sp>
      <p:sp>
        <p:nvSpPr>
          <p:cNvPr id="12" name="Text 10"/>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Banks and insurers: distributable capital</dc:title>
  <dc:subject>How can public filings support a defensible owner-earnings bridge? | What must asset-light and asset-heavy businesses reinvest to preserve productive capacity? | How do banks and insurers determine distributable capital? | Which sector-specific adjustments matter when comparing seven NSE industry profiles?</dc:subject>
  <dc:creator>Sokointel</dc:creator>
  <cp:lastModifiedBy>Sokointel</cp:lastModifiedBy>
  <cp:revision>1</cp:revision>
  <dcterms:created xsi:type="dcterms:W3CDTF">2026-09-25T13:55:36Z</dcterms:created>
  <dcterms:modified xsi:type="dcterms:W3CDTF">2026-09-25T13:55:36Z</dcterms:modified>
</cp:coreProperties>
</file>