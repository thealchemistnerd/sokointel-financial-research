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OPENING NARRATION
Reconstruct a filing first; estimate sustainable owner cash only after the evidence bridge ties out.
BAT Kenya FY2025 is the filing anchor; the KES-million bridge is explicitly fictional.
Introduce the decision before defining the technical terms.
ARTICLE SECTION: Opening
Revised practical article; source details and figures are dated to their cited filing or event, with current evidence reviewed through 24 September 2026.
A public company gives us more information than most private businesses, but it does not give us a line called “owner earnings.” We have to build one from the report and keep every analyst judgment visible.
Begin with the filing’s own map. Read the auditor’s opinion, the basis of preparation, the accounting policies and the notes behind profit, working capital, share compensation, leases and capital spending. Record the legal reporting entity, consolidated or parent-only scope, currency, fiscal year, and date the report was published. A group with a Kenyan parent and overseas subsidiaries may report consolidated earnings in a different currency context from the parent’s standalone financial statements.
ARTICLE SECTION: Create a filing model that another analyst can reproduce
Start by recording the issuer’s legal name, fiscal year-end, filing date, currency, units and consolidation scope. A company may present group earnings in one section and parent-only earnings in another. Do not mix them. Each raw input should point to a statement or note and carry a source ID. Preserve the as-filed value; add any reclassification in a separate column with the reason and formula. A reviewer should be able to recreate every output from that source list.
Build the historical model across at least five years where filings allow. The income statement shows revenue, operating costs, taxes, interest, net income and non-controlling interests. The balance sheet supplies opening and closing receivables, inventory, payables, contract balances, cash, debt, leases, fixed assets and equity. The cash-flow statement gives operating cash, tax and interest paid, capital purchases, asset sales, financing and dividends. Notes explain acquisitions, disposals, stock-based compensation, impairments, leases, commitments and policy changes. A five-year trend is not complete if it ignores a major acquisition that changed the perimeter.
Use reconciliation controls, not visual confidence. Revenue should tie to the filed statement. Group profit should reconcile to parent and non-controlling interests. Opening cash plus reported movement should tie to ending cash. Debt balances should tie to current and noncurrent borrowings in the notes. Changes in assets should reconcile to additions, depreciation, disposals and currency effects. If a tie-out fails, show the variance and do not hide it in “other.”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Read the questions naturally and define terms in context.
NI - profit attributable to ordinary owners, KES million/year
D - depreciation and amortisation already expensed, KES million/year
M - maintenance investment supported by asset evidence, KES million/year
Delta W - increase in required operating working capital, KES million/year
SBC - employee stock compensation; choose one consistent dilution treatment
Research question mapping: How can public filings support a defensible owner-earnings bridge?; What must asset-light and asset-heavy businesses reinvest to preserve productive capacity?; How do banks and insurers determine distributable capital?; Which sector-specific adjustments matter when comparing seven NSE industry profiles?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Read Part 6, Create a filing model that another analyst can reproduce, and Reconcile the model to the filed statements. Demonstrate Evidence Vectors, then Assumptions and NVDA Bridge. A changed assumption must not overwrite a reported amount. Preserve publication date separately from fiscal year-end.
Narration: explain each step and its consequence for the opening decision.
ARTICLE SECTION: Reconcile the model to the filed statements before valuing it
A well-built model has three distinct layers. The first is a transcription layer that reproduces the annual report. The second is an analyst layer that adjusts or normalizes filed amounts. The third is a decision layer that converts the estimate into value, expected return and position size. Mixing these layers makes review difficult because an analyst assumption can appear to be a reported fact.
For each statement line, preserve the label used by the issuer and record page or note, reporting entity, unit, period, original currency, exchange rate if converted, and sign convention. Reconcile subtotals to the report. If operating cash flow does not match the audited statement, stop and resolve it before building the valuation. Check parent versus consolidated accounts, continuing operations, restated comparatives, year-end date, and whether amounts are in shillings, thousands or millions. A thousand-fold unit error can make a sophisticated forecast meaningless.
Build a reconciliation from opening cash to closing cash and from opening debt to closing debt. For cash, show operating, investing and financing flows plus foreign-exchange effects. For debt, show new borrowings, repayments, lease additions, foreign exchange, acquisitions, reclassifications and closing balances. Track restricted cash separately. If the annual report's cash definition differs from the analyst's, explain the bridge rather than silently changing the label.
Then use cross-checks that can expose inconsistent assumptions: revenue growth against receivables and inventory growth; margins against product mix and input costs; depreciation against asset additions; cash taxes against the tax note; interest expense against average debt and disclosed rates; dividends and buybacks against the cash-flow statement; and diluted share count against awards, conversions and repurchases. These are not automatic fraud tests. They are prompts to reconcile a surprising result and ask management or source documents for the explanation.
ARTICLE SECTION: Create a filing model that another analyst can reproduce
Start by recording the issuer’s legal name, fiscal year-end, filing date, currency, units and consolidation scope. A company may present group earnings in one section and parent-only earnings in another. Do not mix them. Each raw input should point to a statement or note and carry a source ID. Preserve the as-filed value; add any reclassification in a separate column with the reason and formula. A reviewer should be able to recreate every output from that source list.
Build the historical model across at least five years where filings allow. The income statement shows revenue, operating costs, taxes, interest, net income and non-controlling interests. The balance sheet supplies opening and closing receivables, inventory, payables, contract balances, cash, debt, leases, fixed assets and equity. The cash-flow statement gives operating cash, tax and interest paid, capital purchases, asset sales, financing and dividends. Notes explain acquisitions, disposals, stock-based compensation, impairments, leases, commitments and policy changes. A five-year trend is not complete if it ignores a major acquisition that changed the perimeter.
Use reconciliation controls, not visual confidence. Revenue should tie to the filed statement. Group profit should reconcile to parent and non-controlling interests. Opening cash plus reported movement should tie to ending cash. Debt balances should tie to current and noncurrent borrowings in the notes. Changes in assets should reconcile to additions, depreciation, disposals and currency effects. If a tie-out fails, show the variance and do not hide it in “other.”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Source: Part 6, A dated Kenyan example, reference 3, BAT 2025 annual report. These are dated reported measures from the article, not live prices or an owner-earnings valuation. Exclude operating cash: Part 6 quotes KES 6,633.154 million and Part 10 quotes KES 6,642 million from different documents. Reconcile the source lines before combining them.
Narration: explain each step and its consequence for the opening decision.
ARTICLE SECTION: Maintenance capex: make the uncertainty measurable
Companies rarely report maintenance capex as a clean number. Build three estimates from evidence. First, inspect asset additions and depreciation by class over several years; this is a starting range, not a conclusion. Second, use the company’s stated renewal plans, engineering reports, operating uptime, useful lives and supplier quotes. Third, compare spending with capacity and output: a large increase in capacity or new factory is growth, while repeated replacement of a worn production line may sustain existing volume. State which method drives low, base and high.
If annual D&amp;A is $1 billion and total capex is $1.4 billion, it does not follow that maintenance is exactly $1 billion and growth $400 million. D&amp;A reflects accounting estimates and past cost; replacement prices and useful lives may differ. Conversely, a year with low capex can mean renewal was deferred. The analyst should check backlogs, repair costs, outages, safety compliance and capitalized software. Record the next evidence needed to narrow the range. A chart that assumes a fixed share of D&amp;A each year may be useful as a sensitivity, but it must remain labeled as an assumption.
Normalized earnings should also handle cycles. Commodity prices, utilization, credit losses, foreign exchange, tax rates and customer ordering can distort a single year. Use several years and identify the economic drivers rather than averaging mechanically. A simple average may combine recession, acquisition, impairment and a different business mix. Create a normalized case with a stated mid-cycle input and stress it against a plausible low case. Use management guidance as an attributed source, not a substitute for independent model logic.
ARTICLE SECTION: Reported cash flow first, estimated earning power second
The first output should be reported values as filed. For each of the last several years, record:
 profit attributable to ordinary shareholders;
 depreciation, amortization and other relevant non-cash items;
 cash generated from operating activities;
 movements in receivables, inventory, payables and contract balances;
 cash capital spending and acquisitions;
 debt raised and repaid, dividends, buybacks and share issuance.
Then reconcile the movement in cash. Accounting earnings, operating cash flow, and cash after total capital spending answer different questions. Dechow, Kothari and Watts show why the relation between accrual earnings and operating cash flows varies across firms and periods [1]. A good analyst does not assume that the earnings-to-cash gap is automatically a red flag. They investigate what caused it and whether the cause is likely to reverse, recur, or grow.
Owner earnings is the next and less mechanical step. Buffett’s formulation begins with reported earnings, adds back relevant non-cash charges, then subtracts the average capital expenditures needed to maintain competitive position and unit volume, and incremental working capital needed for that same purpose [2]. It is not “cash from operations minus all capex” by definition, and it is not “net income plus depreciation.” The analyst must distinguish the cash needed to maintain the existing business from investment aimed at expanding it. Public reports often do not provide a neat split. In that case, say so and test an evidenced range.
Avoid double counting. If starting with net income, show the non-cash adjustment and maintenance investment. If starting with cash from operations, it already reflects reported working-capital changes and several noncash adjustments. Do not add those adjustments again unless you are deliberately restating them, and do not subtract the same working-capital movement twice. Keep a separate reconciliation between your estimate and the actual cash-flow statement.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Part 6, Move from accounting earnings to a cash estimate. A CFO-starting model cannot subtract the same recorded working-capital cash use twice. Distinguish outstanding stock awards in diluted shares from the economic treatment of future compensation. Do not count the same cost twice.
Narration: explain each step and its consequence for the opening decision.
ARTICLE SECTION: Move from accounting earnings to a cash estimate
The bridge starts with the claim the analyst wants to value. For equity owners, net income attributable to parent may be a clean starting point, but cash available to equity still reflects capex, working capital, interest and debt repayment. For enterprise value, begin with a pre-financing operating cash measure and later account for debt and lease claims. Keep both approaches consistent. Do not subtract debt from a cash flow after interest and principal were already deducted without explaining the adjustment.
A practical bridge can include reported net income; noncash depreciation and amortization; stock compensation treatment; other material noncash charges; working-capital change; cash capex; tax paid and interest depending on starting point; debt issuance and repayment; acquisitions or disposals; and diluted share count. Then create an analyst owner-earnings estimate that subtracts maintenance spending and additional working capital required to sustain current earning power. Growth investment remains visible but is not mistaken for maintenance. If maintenance cannot be established, show a range and a “not estimable” case.
Noncash charges need different logic. Depreciation is added back to reconcile profit to cash, but replacement spending must be estimated. Impairment is noncash in the period but may indicate weaker future economics. Stock compensation is a real claim on owners. Either leave the expense in earnings and do not add it back, or add it back and model dilution or cash repurchases separately. The model should show both methods side by side if the answer changes materially.
Working capital should be rebuilt from balances, not taken solely from an annual cash-flow line. Calculate year-over-year changes in receivables, inventory, payables, contract assets, accrued expenses and customer advances. Reconcile those movements to cash flow. Acquisitions, foreign exchange, reclassifications and noncash changes can create differences. A rising payable balance can be a temporary source of cash, but if it reflects overdue invoices or supplier distress it is not a durable owner benefit. A customer advance creates cash and a delivery obligation; it is not unrestricted earnings.
ARTICLE SECTION: Reported cash flow first, estimated earning power second
The first output should be reported values as filed. For each of the last several years, record:
 profit attributable to ordinary shareholders;
 depreciation, amortization and other relevant non-cash items;
 cash generated from operating activities;
 movements in receivables, inventory, payables and contract balances;
 cash capital spending and acquisitions;
 debt raised and repaid, dividends, buybacks and share issuance.
Then reconcile the movement in cash. Accounting earnings, operating cash flow, and cash after total capital spending answer different questions. Dechow, Kothari and Watts show why the relation between accrual earnings and operating cash flows varies across firms and periods [1]. A good analyst does not assume that the earnings-to-cash gap is automatically a red flag. They investigate what caused it and whether the cause is likely to reverse, recur, or grow.
Owner earnings is the next and less mechanical step. Buffett’s formulation begins with reported earnings, adds back relevant non-cash charges, then subtracts the average capital expenditures needed to maintain competitive position and unit volume, and incremental working capital needed for that same purpose [2]. It is not “cash from operations minus all capex” by definition, and it is not “net income plus depreciation.” The analyst must distinguish the cash needed to maintain the existing business from investment aimed at expanding it. Public reports often do not provide a neat split. In that case, say so and test an evidenced range.
Avoid double counting. If starting with net income, show the non-cash adjustment and maintenance investment. If starting with cash from operations, it already reflects reported working-capital changes and several noncash adjustments. Do not add those adjustments again unless you are deliberately restating them, and do not subtract the same working-capital movement twice. Keep a separate reconciliation between your estimate and the actual cash-flow statement.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Part 6, Worked bridge: keep the reported year and the normalized year apart. The source table shows 880 when SBC of 80 is added back. This slide uses the discussed alternative of retaining SBC expense, yielding 800. If adding back 80, show 880 only with a separate dilution or replacement-cost model. Scheduled debt principal, distribution restrictions and dated liquidity still need review.
Equation: OE = NI + D - disposal gain - M - Delta W
Substitution: KES million: 1,000 + 180 - 30 - 260 - 90 = 800
Interpretation: The fictional estimate retains SBC expense in net income. It is annual earning power, not an immediate dividend limit.
ARTICLE SECTION: Move from accounting earnings to a cash estimate
The bridge starts with the claim the analyst wants to value. For equity owners, net income attributable to parent may be a clean starting point, but cash available to equity still reflects capex, working capital, interest and debt repayment. For enterprise value, begin with a pre-financing operating cash measure and later account for debt and lease claims. Keep both approaches consistent. Do not subtract debt from a cash flow after interest and principal were already deducted without explaining the adjustment.
A practical bridge can include reported net income; noncash depreciation and amortization; stock compensation treatment; other material noncash charges; working-capital change; cash capex; tax paid and interest depending on starting point; debt issuance and repayment; acquisitions or disposals; and diluted share count. Then create an analyst owner-earnings estimate that subtracts maintenance spending and additional working capital required to sustain current earning power. Growth investment remains visible but is not mistaken for maintenance. If maintenance cannot be established, show a range and a “not estimable” case.
Noncash charges need different logic. Depreciation is added back to reconcile profit to cash, but replacement spending must be estimated. Impairment is noncash in the period but may indicate weaker future economics. Stock compensation is a real claim on owners. Either leave the expense in earnings and do not add it back, or add it back and model dilution or cash repurchases separately. The model should show both methods side by side if the answer changes materially.
Working capital should be rebuilt from balances, not taken solely from an annual cash-flow line. Calculate year-over-year changes in receivables, inventory, payables, contract assets, accrued expenses and customer advances. Reconcile those movements to cash flow. Acquisitions, foreign exchange, reclassifications and noncash changes can create differences. A rising payable balance can be a temporary source of cash, but if it reflects overdue invoices or supplier distress it is not a durable owner benefit. A customer advance creates cash and a delivery obligation; it is not unrestricted earnings.
ARTICLE SECTION: Worked bridge: keep the reported year and the normalized year apart
The following example is illustrative, not a restatement of BAT Kenya or any other issuer. Assume a company reports KES 1,000 million of net income, KES 180 million of depreciation and amortization, KES 80 million of share-based compensation, and KES 30 million of gain from selling an old asset. Assume analyst evidence supports KES 260 million of maintenance investment and KES 90 million of additional working capital to sustain the current activity level. A first-pass equity owner-earnings bridge is:
| Line | KES million | Treatment |
|---|---:|---|
| Net income attributable to ordinary shareholders | 1,000 | Filed starting point |
| Add depreciation and amortization | 180 | Noncash expense; replacement cash is estimated below |
| Add share-based compensation | 80 | Only if dilution or replacement cost is modeled separately |
| Remove gain on asset disposal | (30) | Nonrecurring gain included in reported earnings |
| Subtract maintenance investment | (260) | Analyst estimate, supported by asset evidence |
| Subtract incremental working capital | (90) | Growth in cash tied up to sustain the modeled activity |
| Illustrative owner-earnings estimate | 880 | Before any further financing or valuation judgment |
This is not automatically cash available for a dividend. It assumes net income already reflects interest and cash taxes for the period. A working-capital estimate must be consistent with the chosen period and starting method. If the analyst instead begins with operating cash flow, the filed working-capital changes have already affected that line; subtracting them again would double count. The analyst must also explain what happens to the KES 80 million share-based compensation. Leaving it in expenses lowers the result to KES 800 million before other changes; adding it back requires a separate view of future share dilution or repurchases. The correct treatment is the one that values the same economic claim without counting compensation twice.
Suppose the evidence supports maintenance spending from KES 220 million to KES 340 million. The owner-earnings range is KES 920 million to KES 800 million, before other uncertainties. If diluted shares are 100 million, that is KES 9.20 to KES 8.00 per diluted share, subject to the share-compensation treatment. A precise KES 880 million point estimate hides the fact that maintenance evidence is the largest driver. Report the range and the specific asset records that would narrow 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ACTUAL WORKBOOK CAPTURE
Workbook: C:\Users\Nevo\Downloads\financial material\Owner's Earning\Project 2 - Listed Companies and Valuation\Project 2 - Listed Companies Owner Earnings and Valuation.xlsx
Sheet/range: 'NSE Casebook'!C11:F11
SHA-256: 4ad84af694e804b21c68dfc5e85ca8f5e4211a30b102d31e846890ec6a09827b
Capture method: Microsoft Excel read-only PDF range export. Print headings retained. Source not saved.
Asset: Evidence/Workbooks/OE-VALUATION-06-BAT-p1.png
SCREEN RECORDING WALKTHROUGH
Read the row and column headings. Identify inputs, follow the dependent row and explain the units. Do not alter the source workbook while recording; use a copy for a new scenario.
Extracted evidence text:
11
C D E F
BAT Kenya FY2025 Net revenue 23.2
Relevant article context:
ARTICLE SECTION: Workbook map
The Project 2 workbook includes dated NVIDIA FY2026 filing inputs, a separate owner-earnings bridge, editable assumptions, an asset-heavy issuer screen, bank and insurer context, a seven-issuer NSE evidence matrix, nine profile-specific stress cases, a conditional valuation range, and Sources and Checks. Evidence Vectors carries each populated issuer/regulator measure with its entity, amount/unit, fiscal period, event/year-end date, filing or report date, source ID, retrieval date and workbook locator; scenarios and empty inputs stay separate. Reported facts remain separate from maintenance and working-capital assumptions. The valuation stays unavailable until earnings, growth, discount and terminal rates, diluted shares and a dated price are entered. The detailed cash bridge is NVIDIA-specific; the NSE matrix is a source-led casebook, and Profile Stress uses normalized hypothetical inputs rather than full issuer valuations.
ARTICLE SECTION: Opening
Revised practical article; source details and figures are dated to their cited filing or event, with current evidence reviewed through 24 September 2026.
A public company gives us more information than most private businesses, but it does not give us a line called “owner earnings.” We have to build one from the report and keep every analyst judgment visible.
Begin with the filing’s own map. Read the auditor’s opinion, the basis of preparation, the accounting policies and the notes behind profit, working capital, share compensation, leases and capital spending. Record the legal reporting entity, consolidated or parent-only scope, currency, fiscal year, and date the report was published. A group with a Kenyan parent and overseas subsidiaries may report consolidated earnings in a different currency context from the parent’s standalone financial statements.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ACTUAL WORKBOOK CAPTURE
Workbook: C:\Users\Nevo\Downloads\financial material\Owner's Earning\Project 2 - Listed Companies and Valuation\Project 2 - Listed Companies Owner Earnings and Valuation.xlsx
Sheet/range: 'Valuation'!C5:H13
SHA-256: 4ad84af694e804b21c68dfc5e85ca8f5e4211a30b102d31e846890ec6a09827b
Capture method: Microsoft Excel read-only PDF range export. Print headings retained. Source not saved.
Asset: Evidence/Workbooks/OE-VALUATION-06-02-p1.png
SCREEN RECORDING WALKTHROUGH
Read the row and column headings. Identify inputs, follow the dependent row and explain the units. Do not alter the source workbook while recording; use a copy for a new scenario.
Extracted evidence text:
5
6
7
8
9
10
11
12
13
C D E F G H
Input / output Value Unit Evidence / rule
Starting owner earnings USD bn Linked from NVIDIA bridge
Owner earnings growth 12.0% % Linked active case assumption
Discount rate 10.0% % Linked active case assumption
Terminal growth 4.0% % Must remain below discount rate
Diluted shares bn shares Analyst input supported by filing
Current price USD/share Enter dated price if required
Valuation status Enter supported earnings, shares, price and valid rates Blank output is not zero value
Relevant article context:
ARTICLE SECTION: Link earnings to value carefully
Ohlson’s peer-reviewed model relates value to earnings, book values and dividends under explicit accounting relationships [4]. It is a useful reminder that valuation depends on future earnings and the capital that supports them. A current owner-earnings estimate can anchor scenarios, but it is not the whole value. Growth requires reinvestment. Returns on invested capital can fade. Risks change the required return. The value of a listed share also depends on how much of the business’s cash generation is available to that equity claim after other claims.
The KCA series and its four final workbooks already show the value of separating screening, financial statements and valuation, portfolio construction, and compounding. The new model should follow that traceable design while adding explicit maintenance-capital ranges, a working-capital maintenance/growth distinction, and a source status for each adjustment.
ARTICLE SECTION: Convert the estimate into a per-share claim
Diluted shares matter because owners own per-share cash, not an abstract corporate total. Track weighted average basic shares, diluted shares, shares issued, options and restricted awards, buybacks, acquisition consideration and treasury shares. Match the share count to the period and earnings numerator. If the issuer reports repurchases, compare the quantity and price with the net change in diluted shares. Repurchases may offset employee awards rather than reduce the share count. Model future dilution and capital spent to offset it.
Then value with a method suited to the claim. An equity cash flow or residual-income model can fit businesses where book capital is central. Enterprise DCF can fit nonfinancial operations if cash flows are before financing and debt/leases are consistently treated. An earnings yield or comparable multiple is a cross-check, not a cure for inconsistent accounting. Use a reverse valuation to determine what growth, margins, capital intensity and terminal economics the market price implies. The key question is whether that path is supported by capacity, customers and reinvestment—not whether the spreadsheet can produce a point value.
Sensitivity should show economically related combinations. A slower growth case may reduce supplier commitments but also utilization and gross margin. A lower sales case may increase receivables days if buyers pay later. A high-rate case can change debt interest and discount rate together. A one-variable table can help identify sensitivity, but a scenario should tell a coherent operating story. Show low/base/high value ranges and the inputs that drive most of the spread.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Illustrative scenario using the Part 6 maintenance range and SBC-retained method. A low maintenance estimate of 220 million gives 840 million, or KES 8.40 per share. This differs deliberately from the article table that adds back SBC. State the treatment consistently. None is a market price or fair-value estimate.
Base: Maintenance KES 260m -&gt; annual owner earnings KES 800m.
Changed: Maintenance KES 340m, all other inputs fixed -&gt; KES 720m.
Consequence: An 80m renewal revision reduces owner earnings by 80m; with 100m diluted shares the estimate falls from KES 8.00 to KES 7.20/share.
ARTICLE SECTION: Maintenance capex: make the uncertainty measurable
Companies rarely report maintenance capex as a clean number. Build three estimates from evidence. First, inspect asset additions and depreciation by class over several years; this is a starting range, not a conclusion. Second, use the company’s stated renewal plans, engineering reports, operating uptime, useful lives and supplier quotes. Third, compare spending with capacity and output: a large increase in capacity or new factory is growth, while repeated replacement of a worn production line may sustain existing volume. State which method drives low, base and high.
If annual D&amp;A is $1 billion and total capex is $1.4 billion, it does not follow that maintenance is exactly $1 billion and growth $400 million. D&amp;A reflects accounting estimates and past cost; replacement prices and useful lives may differ. Conversely, a year with low capex can mean renewal was deferred. The analyst should check backlogs, repair costs, outages, safety compliance and capitalized software. Record the next evidence needed to narrow the range. A chart that assumes a fixed share of D&amp;A each year may be useful as a sensitivity, but it must remain labeled as an assumption.
Normalized earnings should also handle cycles. Commodity prices, utilization, credit losses, foreign exchange, tax rates and customer ordering can distort a single year. Use several years and identify the economic drivers rather than averaging mechanically. A simple average may combine recession, acquisition, impairment and a different business mix. Create a normalized case with a stated mid-cycle input and stress it against a plausible low case. Use management guidance as an attributed source, not a substitute for independent model logic.
ARTICLE SECTION: Reported cash flow first, estimated earning power second
The first output should be reported values as filed. For each of the last several years, record:
 profit attributable to ordinary shareholders;
 depreciation, amortization and other relevant non-cash items;
 cash generated from operating activities;
 movements in receivables, inventory, payables and contract balances;
 cash capital spending and acquisitions;
 debt raised and repaid, dividends, buybacks and share issuance.
Then reconcile the movement in cash. Accounting earnings, operating cash flow, and cash after total capital spending answer different questions. Dechow, Kothari and Watts show why the relation between accrual earnings and operating cash flows varies across firms and periods [1]. A good analyst does not assume that the earnings-to-cash gap is automatically a red flag. They investigate what caused it and whether the cause is likely to reverse, recur, or grow.
Owner earnings is the next and less mechanical step. Buffett’s formulation begins with reported earnings, adds back relevant non-cash charges, then subtracts the average capital expenditures needed to maintain competitive position and unit volume, and incremental working capital needed for that same purpose [2]. It is not “cash from operations minus all capex” by definition, and it is not “net income plus depreciation.” The analyst must distinguish the cash needed to maintain the existing business from investment aimed at expanding it. Public reports often do not provide a neat split. In that case, say so and test an evidenced range.
Avoid double counting. If starting with net income, show the non-cash adjustment and maintenance investment. If starting with cash from operations, it already reflects reported working-capital changes and several noncash adjustments. Do not add those adjustments again unless you are deliberately restating them, and do not subtract the same working-capital movement twice. Keep a separate reconciliation between your estimate and the actual cash-flow statement.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REAL WEB CAPTURE
{
  "key": "dcf-value",
  "captured_at": "2026-09-25T13:24:28.600Z",
  "url": "http://127.0.0.1:8765/calculators/dcf-value/",
  "equations": 3,
  "inputs": [
    {
      "name": "free_cash_flow",
      "value": "500000000"
    },
    {
      "name": "forecast_growth",
      "value": "8"
    },
    {
      "name": "required_return",
      "value": "15"
    },
    {
      "name": "terminal_growth",
      "value": "5"
    },
    {
      "name": "net_debt",
      "value": "1000000000"
    },
    {
      "name": "shares_outstanding",
      "value": "1000000000"
    }
  ],
  "mathErrors": 0,
  "title": "DCF value explorer | Sokointel",
  "viewport": {
    "height": 720,
    "width": 1280
  },
  "files": [
    "dcf-value-full.png",
    "dcf-value-results.png",
    "dcf-value-forecast.png",
    "dcf-value-sensitivity.png"
  ],
  "slug": "dcf-value",
  "screenshots": [
    "dcf-value-full.png",
    "dcf-value-results.png",
    "dcf-value-forecast.png",
    "dcf-value-sensitivity.png"
  ],
  "environment": "local preview; not proof of live deployment",
  "base": "Evidence/Web/20260925-formula-rendering"
}
DEMONSTRATION SCOPE
Use five-year FCFF, a matching WACC and terminal growth. Inspect the forecast and terminal dependence before changing the discount rate.
This separate default is not an issuer valuation. After-interest owner earnings is not FCFF.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Answer: A defensible estimate preserves the filed statements, exposes adjustments and reconciles cash before valuing a claim. When maintenance evidence is missing, report a supported range or an unavailable estimate instead of inventing precision.
Viewer task: Build a source-to-adjustment ledger and ask a second reviewer to reproduce the cash, debt and share-count reconciliations.
Return to each opening research question and identify what remains conditional or unknown.
ARTICLE SECTION: Write the decision after reviewing the open items
Before acting, summarize the evidence in plain language: what was reported; what the analyst changed; what cannot be estimated; and what the current price appears to require. If valuation depends on an uncertain maintenance range, say how a 20% higher replacement need changes owner earnings and value. If one customer concentration or debt maturity dominates, show the trigger for refreshing the analysis. A reader should know which filing note or next quarter disclosure could change the conclusion.
For a public-market investor, the decision need not be “buy” or “sell.” It can be to wait for the next filing, maintain a smaller position, demand a higher expected return, or treat the issuer as outside the circle of competence. The workbook’s role is to make those trade-offs visible and repeatable. It cannot remove uncertainty, but it can stop accounting presentation, inconsistent units or a hidden assumption from deciding the answer by accident.
ARTICLE SECTION: Make the workbook reviewable by someone who disagrees
A reviewer should be able to change maintenance capex, working-capital intensity, share dilution, discount rate and terminal assumptions without changing the filed inputs. Add a notes field for every analyst assumption: evidence, owner, date entered, rationale, range and next review trigger. A source row should lead to the annual report, page or note; a calculated output should lead to its formula inputs.
Use explicit checks. Balance-sheet assets should equal liabilities and equity where the source statements permit. Cash roll-forward should equal reported ending cash. Debt roll-forward and share count should reconcile or display an explained residual. Units should be consistent in each calculation. Formula cells should never contain manually typed overrides without a separate override label. A range check can flag implausible negative shares, a maintenance estimate above total capex, or an implied value that changes solely because currency units were switched.
Dechow, Kothari and Watts document that accrual earnings and cash flows relate differently across firms and time [1]. The practical model implication is to preserve both measures and explain the divergence, rather than forcing them to agree through a hidden plug. Ohlson's valuation framework also makes accounting earnings and book values part of a structured valuation relationship, not interchangeable with cash or intrinsic value [4]. The analyst should show how the selected method uses each measure and what assumptions remain decisive.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OE-VALUATION-06: Reconstructing owner earnings from public filings
ARTICLE: https://sokointel.com/read/oe-valuation-06/
RESEARCH SNAPSHOT: 10 September 2026
SOURCE MATERIAL
[1] P. M. Dechow, S. P. Kothari, and R. L. Watts, “The Relation Between Earnings and Cash Flows,” Journal of Accounting and Economics, vol. 25, no. 2, pp. 133–168, 1998, https://doi.org/10.1016/S0165-4101(98)00020-2.
[2] Berkshire Hathaway, “Chairman’s Letter — 1986,” https://www.berkshirehathaway.com/letters/1986.html.
[3] BAT Kenya PLC, Combined Annual and Sustainability Report 2025, https://www.batkenya.com/content/dam/endmarkets/ke/en/download/investors-and-reporting/annual-reports/BATK_Combined_Annual_and_Sustainability_Report_2025.pdf.
[4] J. A. Ohlson, “Earnings, Book Values, and Dividends in Equity Valuation,” Contemporary Accounting Research, vol. 11, no. 2, pp. 661–687, 1995, https://doi.org/10.1111/j.1911-3846.1995.tb00461.x.
All linked source URLs:
P. M. Dechow, S. P. Kothari, and R. L. Watts, “The Relation Between Earnings and Cash Flows,” Journal of Accounting and Economics, vol. 25, no. 2, pp.: https://doi.org/10.1016/S0165-4101(98)00020-2
Berkshire Hathaway, “Chairman’s Letter — 1986,”: https://www.berkshirehathaway.com/letters/1986.html
BAT Kenya PLC, Combined Annual and Sustainability Report 2025: https://www.batkenya.com/content/dam/endmarkets/ke/en/download/investors-and-reporting/annual-reports/BATK_Combined_Annual_and_Sustainability_Report_2025.pdf
J. A. Ohlson, “Earnings, Book Values, and Dividends in Equity Valuation,” Contemporary Accounting Research, vol. 11, no. 2, pp. 661–687, 1995: https://doi.org/10.1111/j.1911-3846.1995.tb00461.x
Additional content sources:
[
  {
    "title": "SokoIntel Part 6: Reconstructing owner earnings from public filings",
    "url": "https://sokointel.com/read/oe-valuation-06/",
    "date": "Research cutoff 2026-09-24"
  },
  {
    "title": "BAT Kenya: Combined Annual and Sustainability Report 2025",
    "url": "https://www.batkenya.com/content/dam/endmarkets/ke/en/download/investors-and-reporting/annual-reports/BATK_Combined_Annual_and_Sustainability_Report_2025.pdf",
    "date": "FY2025; source retained from article"
  },
  {
    "title": "Berkshire Hathaway 1986 letter",
    "url": "https://www.berkshirehathaway.com/letters/1986.html",
    "date": "1986"
  }
]
Workbook provenance:
C:\Users\Nevo\Downloads\financial material\Owner's Earning\Project 2 - Listed Companies and Valuation\Project 2 - Listed Companies Owner Earnings and Valuation.xlsx
'NSE Casebook'!C11:F11
4ad84af694e804b21c68dfc5e85ca8f5e4211a30b102d31e846890ec6a09827b
C:\Users\Nevo\Downloads\financial material\Owner's Earning\Project 2 - Listed Companies and Valuation\Project 2 - Listed Companies Owner Earnings and Valuation.xlsx
'Valuation'!C5:H13
4ad84af694e804b21c68dfc5e85ca8f5e4211a30b102d31e846890ec6a09827b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valuation-06/" TargetMode="External"/><Relationship Id="rId2" Type="http://schemas.openxmlformats.org/officeDocument/2006/relationships/hyperlink" Target="https://sokointel.com/read/oe-valuation-06/" TargetMode="External"/><Relationship Id="rId3" Type="http://schemas.openxmlformats.org/officeDocument/2006/relationships/hyperlink" Target="https://www.batkenya.com/content/dam/endmarkets/ke/en/download/investors-and-reporting/annual-reports/BATK_Combined_Annual_and_Sustainability_Report_2025.pdf" TargetMode="External"/><Relationship Id="rId4" Type="http://schemas.openxmlformats.org/officeDocument/2006/relationships/hyperlink" Target="https://www.berkshirehathaway.com/letters/1986.html" TargetMode="Externa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Reconstructing owner earnings from public filings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Reconstruct a filing first; estimate sustainable owner cash only after the evidence bridge ties out.</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OE-VALUATION-06   •   BAT Kenya FY2025 is the filing anchor; the KES-million bridge is explicitly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How can public filings support a defensible owner-earnings bridge?</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What must asset-light and asset-heavy businesses reinvest to preserve productive capacity?</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How do banks and insurers determine distributable capital?</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Which sector-specific adjustments matter when comparing seven NSE industry profiles?</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NI - profit attributable to ordinary owners, KES million/year</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 - depreciation and amortisation already expensed, KES million/year</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M - maintenance investment supported by asset evidence, KES million/year</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Delta W - increase in required operating working capital, KES million/year</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SBC - employee stock compensation; choose one consistent dilution treatment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three model layers separate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As filed: preserve entity, fiscal period, currency, units and note locator.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Analyst layer: record each normalization and its evidence.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Decision layer: estimate a range, per-share claim and review trigger.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BAT supplies facts; maintenance remains a judgment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FY2025 revenue: KES 23,191.945 million; EBIT: KES 7,474.835 million.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Reported total capex: KES 301.833 million.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Total capex does not identify how much renewed existing earning capacity.</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Two starting points require different bridges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From net income: reconcile noncash charges and cash reinvestment explicitly.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From CFO: reported working-capital changes are already included.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SBC is compensation: retaining the expense differs from adding it back and modelling dilution.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An owner-earnings bridge with SBC retained</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OE = NI + D - disposal gain - M - Delta W</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million: 1,000 + 180 - 30 - 260 - 90 = 800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fictional estimate retains SBC expense in net income. It is annual earning power, not an immediate dividend limit.</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NSE Casebook: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6-BAT-p1.png">    </p:cNvPr>
          <p:cNvPicPr>
            <a:picLocks noChangeAspect="1"/>
          </p:cNvPicPr>
          <p:nvPr/>
        </p:nvPicPr>
        <p:blipFill>
          <a:blip r:embed="rId1"/>
          <a:stretch>
            <a:fillRect/>
          </a:stretch>
        </p:blipFill>
        <p:spPr>
          <a:xfrm>
            <a:off x="612648" y="3281272"/>
            <a:ext cx="10972800" cy="825808"/>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NSE Casebook!C11:F11</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Valuation: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6-02-p1.png">    </p:cNvPr>
          <p:cNvPicPr>
            <a:picLocks noChangeAspect="1"/>
          </p:cNvPicPr>
          <p:nvPr/>
        </p:nvPicPr>
        <p:blipFill>
          <a:blip r:embed="rId1"/>
          <a:stretch>
            <a:fillRect/>
          </a:stretch>
        </p:blipFill>
        <p:spPr>
          <a:xfrm>
            <a:off x="612648" y="2794039"/>
            <a:ext cx="10972800" cy="1800275"/>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Valuation!C5:H13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BAT Kenya FY2025 is the filing anchor; the KES-million bridge is explicitly fictional.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Maintenance evidence changes the range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Maintenance KES 260m -&gt; annual owner earnings KES 800m.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Maintenance KES 340m, all other inputs fixed -&gt; KES 720m.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An 80m renewal revision reduces owner earnings by 80m; with 100m diluted shares the estimate falls from KES 8.00 to KES 7.20/share.</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dcf-value-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five-year FCFF, a matching WACC and terminal growth. Inspect the forecast and terminal dependence before changing the discount rate.</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separate default is not an issuer valuation. After-interest owner earnings is not FCFF.</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/calculators/dcf-value/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defensible estimate preserves the filed statements, exposes adjustments and reconciles cash before valuing a claim. When maintenance evidence is missing, report a supported range or an unavailable estimate instead of inventing precision.</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Build a source-to-adjustment ledger and ask a second reviewer to reproduce the cash, debt and share-count reconciliations.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sokointel.com/read/oe-valuation-06/</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SokoIntel Part 6: Reconstructing owner earnings from public filings • Research cutoff 2026-09-24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BAT Kenya: Combined Annual and Sustainability Report 2025 • FY2025; source retained from article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Berkshire Hathaway 1986 letter • 1986</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Reconstructing owner earnings from public filings</dc:title>
  <dc:subject>How can public filings support a defensible owner-earnings bridge? | What must asset-light and asset-heavy businesses reinvest to preserve productive capacity? | How do banks and insurers determine distributable capital? | Which sector-specific adjustments matter when comparing seven NSE industry profiles?</dc:subject>
  <dc:creator>Sokointel</dc:creator>
  <cp:lastModifiedBy>Sokointel</cp:lastModifiedBy>
  <cp:revision>1</cp:revision>
  <dcterms:created xsi:type="dcterms:W3CDTF">2026-09-25T13:55:35Z</dcterms:created>
  <dcterms:modified xsi:type="dcterms:W3CDTF">2026-09-25T13:55:35Z</dcterms:modified>
</cp:coreProperties>
</file>