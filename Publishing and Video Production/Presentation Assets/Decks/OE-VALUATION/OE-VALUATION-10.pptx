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OPENING NARRATION
Seven NSE companies require seven cash or capital bridges, while sharing one evidence discipline.
Reported issuer measures remain separate from the workbook's fictional normalized stress indices.
Introduce the decision before defining the technical terms.
ARTICLE SECTION: Opening
Revised practical article; source details and figures are dated to their cited filing or event, with current evidence reviewed through 24 September 2026.
An industrial-company formula can be useful for a Kenyan listed business, but only after we know what its assets and liabilities do. A bank’s customer deposits fund lending. An insurer’s premiums come with future claims. A farm may harvest seasonally and carry biological assets. A utility spends before a plant produces electricity. A telecom network needs continuing capital and spectrum. A manufacturer buys inputs and funds inventory. A property developer may have land, unsold units and customer instalments, but cash tied up in a project can remain unavailable for years.
This casebook uses seven NSE research anchors to ask the same first question in different ways: what cash can the owners ultimately claim after the business funds the operating system that earns it?
| Sector | Research anchor | First cash question | What must not be mistaken for owner earnings |
|---|---|---|---|
| Banking | Equity Group Holdings | After expected loan losses, operating costs and capital retention, how much equity can the bank distribute without constraining safe lending? | Deposits are not spare cash; accounting equity is not identical to eligible regulatory capital. |
| Insurance | Jubilee Holdings | How much profit is earned as insurance service is provided, and how much capital must remain to support claims and solvency? | Premium cash received is not fully distributable; an insurance liability or contractual service margin is not free cash. |
| Energy | KenGen | After plant availability, maintenance, fuel or resource costs, debt and project commitments, what cash remains? | EBITDA omits large renewal needs, debt service and collection timing. |
| Agriculture | Kakuzi | What cash arrives across crop cycles after land, trees, irrigation, labour, packing, cold chain and seasonal inventory are funded? | Accounting movements in biological assets are not necessarily cash harvest proceeds. |
| Telecommunications | Safaricom | After network refresh, spectrum, software, towers, customer acquisition and mobile-money risk, what is recurring equity cash? | Subscriber growth or EBITDA alone does not capture network capex, leases or regulated obligations. |
| Manufacturing | BAT Kenya | After inputs, excise and other obligations, receivables, inventory and replacement investment, what cash is repeatable? | A strong margin is not a maintenance-capex estimate or a future dividend promise. |
| Property | Home Afrika | When are land and units converted into collected cash, and what must be spent to finish contracted developments? | Presales, accounting revenue and unsold land are not interchangeable with cash available to shareholders. |
The examples above are chosen because their operating models differ, not because they have similar valuation multiples. Equity’s 2025 Integrated Report, Jubilee’s 2025 Annual Integrated Report, KenGen’s FY2025 Integrated Report, Kakuzi’s 2025 annual report, BAT Kenya’s 2025 report, Home Afrika’s 2025 reporting, and Safaricom’s reporting catalogue provide dated primary starting points [1]–[7]. Each article calculation should preserve the fiscal period, entity and unit in the source.
ARTICLE SECTION: Home Afrika: a signed sale or presale is not yet distributable cash
Read Home Afrika's 2025 integrated report, consolidated statements, project schedule and 2026 half-year publication as dated documents [7, 18, 19]. Build a separate cash bridge for each development: opening land and work in progress; completed units; signed reservations and sales; customer deposits collected; remaining construction and infrastructure spend; borrowing and interest; expected handover; refunds or cancellations; and final collection. Determine which entity owns each parcel, project, receivable and debt. A group-level sales headline can hide cash trapped in a subsidiary or a project with a large completion obligation.
For each unit or phase, compare expected net proceeds with cost to complete and the time until cash is unrestricted. Check land title, approvals, contractor claims, security interests, customer rights, service charges and any presale escrow restrictions. An unsold parcel may be valuable but does not automatically fund payroll or a shareholder dividend. Likewise, customer deposits can be a useful financing source but remain linked to delivery and refund obligations. Use the half-year report to see whether promised completion milestones turned into handovers and collections, not just whether reported revenue increased.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Read the questions naturally and define terms in context.
PAT - profit after tax for a specified entity and fiscal period
Capital investment / PAT - descriptive ratio, not a maintenance estimate
Cost to complete - cash still required to fulfil a property project
Cash-capacity index - hypothetical normalized units, not KES or issuer forecasts
Residual index - capacity less reinvestment/retention and priority claims
Research question mapping: How can public filings support a defensible owner-earnings bridge?; What must asset-light and asset-heavy businesses reinvest to preserve productive capacity?; How do banks and insurers determine distributable capital?; Which sector-specific adjustments matter when comparing seven NSE industry profiles?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Part 10 sector table and seven issuer cards. This is a source-led casebook, not seven completed valuations. Banks and insurers need different models from operating-company DCF. Biological-asset gains do not prove collected harvest cash; mobile-money customer funds are not Safaricom dividend cash.
Narration: explain each step and its consequence for the opening decision.
ARTICLE SECTION: Safaricom: split recurring telecom cash from network and market-entry investment
Start with the FY2026 results booklet and the segment and cash-flow notes [5, 16]. Keep Kenya and Ethiopia separate where disclosure allows. Reconcile service revenue, mobile money and data, voice and other income, operating cost, EBITDA, cash from operations, capex, leases, tax and debt. Customer growth is a volume measure; it is not a cash measure until activity is monetized, service costs and partner shares are paid, and customers or agents settle.
For the mature Kenyan business, estimate network renewal and expansion by radio access, core systems, fibre, towers, spectrum, IT and mobile-money systems. For Ethiopia, separate the rollout and customer-acquisition phase from the established operation; currency translation, network investment and startup losses can dominate group trends. Test capex cuts against coverage, capacity, quality and future traffic. A low-capex year could temporarily lift free cash while delaying replacement. Mobile-money float and customer funds are not company cash available for dividends simply because the platform processes large transaction values.
ARTICLE SECTION: Put the companies on one page without forcing a common formula
A cross-sector table should compare the questions, evidence and unresolved risks—not multiply unlike earnings by one shared ratio.
| Issuer | Core calculation | Cash or capital constraint | Primary refresh trigger |
|---|---|---|---|
| Equity Group | Normalized equity earnings less capital needed for loan growth and stress losses | Eligible capital, funding mix and asset quality | Cost of risk, restructurings, buffers, dividend |
| Jubilee | Insurance service and investment earnings after claims and solvency retention | Regulated capital, reserve quality and reinsurance | Claims development, reserve changes, subsidiary solvency |
| KenGen | Cash from existing generation after renewal, debt and committed projects | Plant availability, off-taker collection and construction spend | Outage, receivable delays, cost overrun or project delay |
| Kakuzi | Crop cash after seasonal operations and orchard renewal | Harvest, grade, shipping, weather and working capital | Yield, quality, export acceptance, shipment route |
| Safaricom | Equity cash after network renewal, lease service and market investment | Spectrum, rollout, power, retention and currency | Service monetization, churn, capex intensity, market ramp |
| BAT Kenya | Cash after regulated taxes, working capital and replacement investment | Volume, illicit competition, input and tax timing | Sales decline, margin, cash conversion, payout funding |
| Home Afrika | Cash collected by project after cost to complete and secured obligations | Construction, title, cancellations, debt and liquidity | Handover, collection, approvals, litigation, refinancing |
The first output is therefore not a league table saying which issuer has the most “owner earnings.” It is seven dated bridges with source links and a clear record of what remains unmeasured. Then the analyst can compare valuation and expected return within the right capital structure. A bank may be best evaluated with a residual-income or dividend-capacity model, a developer with project-level net cash realization, and a utility with operating assets and project funding. Ohlson's framework and the peer-reviewed evidence on working capital, bank valuation and replacement capital support careful method selection rather than a single cross-sector shortcut [8–11].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Part 10, A reporting rule for this casebook, and the Evidence Vectors worksheet. Do not silently compare KenGen June year-end figures with December calendar-year issuers. Parent versus consolidated scope and KES millions versus billions matter. Unavailable Home Afrika project measures are blank, not zero. Reconcile differing BAT operating-cash figures in Parts 6 and 10 before combining them.
Narration: explain each step and its consequence for the opening decision.
ARTICLE SECTION: A repeatable issuer-review workflow
The casebook can be used as a quarterly research process rather than a one-time comparison. For each issuer, follow the same sequence while allowing the economic bridge to differ:
1. Freeze the information set. Save the report and announcement, publication date, fiscal period, entity scope, currency and unit. Do not mix a later press release with an earlier market-price date in a backtest.
2. Transcribe reported facts. Enter statement and note values with the page number and original label. Reconcile the cash, debt, equity, earnings and share-count roll-forwards where possible.
3. Build the sector bridge. Use retained capital for a bank; claims and solvency for an insurer; asset renewal and projects for a utility; crops and harvest cash for agribusiness; network renewal for telecom; taxes and volume for manufacturing; and project cost-to-complete for property.
4. Mark assumptions and gaps. Label each number as filed, calculated, analyst-estimated, or unresolved. Use a range where evidence supports a range; leave a component unavailable when no evidence supports even a range.
5. Run one joined downside. Choose a plausible operating story and connect it to margin, working capital, capex, funding, capital retention and per-share cash.
6. Write a decision note. State valuation method, current price date, required return or margin of safety, key risk, position size or wait condition, and the next filing or event that could change the estimate.
7. Review the prior call. Compare the last forecast with actual cash, capital, projects, claims, volumes and collections. Record what changed and why.
The sequence creates comparability in source quality and review discipline, not in the underlying company formula. A well-prepared research page can show that the greatest uncertainty is disclosed maintenance spending for one company, credit migration for another, and project collection timing for a third. That difference is itself a useful conclusion.
ARTICLE SECTION: Research quality and source hierarchy
Peer-reviewed research helps discipline the method, but it should not substitute for issuer facts. Ohlson's model makes clear that earnings and book value matter within explicit valuation assumptions [8]. Barth's work shows that disclosures on financial instruments can be relevant to bank valuation [9]. Kieschnick, Laplante and Moussawi study the relationship between working capital management and shareholder wealth [10]. Livdan and Nezlobin examine how non-geometric depreciation changes investment and replacement-cost analysis [11]. These studies provide frameworks and empirical results in defined samples; none supplies a universal owner-earnings answer for the seven Kenyan companies.
For each claim, prefer an audited report, statutory filing, regulatory return or court record where available. Use a company announcement for the date and terms of a proposal, then check the final filed statement for recognition and cash movement. Use a media report to locate a development or understand context, but identify when the underlying primary document has not been reviewed. A chart or table copied into a presentation should keep the source and exact reporting period.
The peer review should ask whether the source supports the specific sentence, not only whether the source is reputable. If a source says that revenue rose, it does not prove a positive cash conversion. If a report gives capital investment, it does not prove all spending was growth. If a court judgment summarizes an administrator's report, distinguish the summary from an audited statement.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Part 10, Put the companies on one page without forcing a common formula. Connect to the four Kenyan Equities workbook roles and NSE Dividend Growth. Screening, filing models, valuation and portfolio decisions are distinct. A dividend yield needs a price date, payout status and tax assumption.
Narration: explain each step and its consequence for the opening decision.
ARTICLE SECTION: Opening
Revised practical article; source details and figures are dated to their cited filing or event, with current evidence reviewed through 24 September 2026.
An industrial-company formula can be useful for a Kenyan listed business, but only after we know what its assets and liabilities do. A bank’s customer deposits fund lending. An insurer’s premiums come with future claims. A farm may harvest seasonally and carry biological assets. A utility spends before a plant produces electricity. A telecom network needs continuing capital and spectrum. A manufacturer buys inputs and funds inventory. A property developer may have land, unsold units and customer instalments, but cash tied up in a project can remain unavailable for years.
This casebook uses seven NSE research anchors to ask the same first question in different ways: what cash can the owners ultimately claim after the business funds the operating system that earns it?
| Sector | Research anchor | First cash question | What must not be mistaken for owner earnings |
|---|---|---|---|
| Banking | Equity Group Holdings | After expected loan losses, operating costs and capital retention, how much equity can the bank distribute without constraining safe lending? | Deposits are not spare cash; accounting equity is not identical to eligible regulatory capital. |
| Insurance | Jubilee Holdings | How much profit is earned as insurance service is provided, and how much capital must remain to support claims and solvency? | Premium cash received is not fully distributable; an insurance liability or contractual service margin is not free cash. |
| Energy | KenGen | After plant availability, maintenance, fuel or resource costs, debt and project commitments, what cash remains? | EBITDA omits large renewal needs, debt service and collection timing. |
| Agriculture | Kakuzi | What cash arrives across crop cycles after land, trees, irrigation, labour, packing, cold chain and seasonal inventory are funded? | Accounting movements in biological assets are not necessarily cash harvest proceeds. |
| Telecommunications | Safaricom | After network refresh, spectrum, software, towers, customer acquisition and mobile-money risk, what is recurring equity cash? | Subscriber growth or EBITDA alone does not capture network capex, leases or regulated obligations. |
| Manufacturing | BAT Kenya | After inputs, excise and other obligations, receivables, inventory and replacement investment, what cash is repeatable? | A strong margin is not a maintenance-capex estimate or a future dividend promise. |
| Property | Home Afrika | When are land and units converted into collected cash, and what must be spent to finish contracted developments? | Presales, accounting revenue and unsold land are not interchangeable with cash available to shareholders. |
The examples above are chosen because their operating models differ, not because they have similar valuation multiples. Equity’s 2025 Integrated Report, Jubilee’s 2025 Annual Integrated Report, KenGen’s FY2025 Integrated Report, Kakuzi’s 2025 annual report, BAT Kenya’s 2025 report, Home Afrika’s 2025 reporting, and Safaricom’s reporting catalogue provide dated primary starting points [1]–[7]. Each article calculation should preserve the fiscal period, entity and unit in the source.
ARTICLE SECTION: Put the companies on one page without forcing a common formula
A cross-sector table should compare the questions, evidence and unresolved risks—not multiply unlike earnings by one shared ratio.
| Issuer | Core calculation | Cash or capital constraint | Primary refresh trigger |
|---|---|---|---|
| Equity Group | Normalized equity earnings less capital needed for loan growth and stress losses | Eligible capital, funding mix and asset quality | Cost of risk, restructurings, buffers, dividend |
| Jubilee | Insurance service and investment earnings after claims and solvency retention | Regulated capital, reserve quality and reinsurance | Claims development, reserve changes, subsidiary solvency |
| KenGen | Cash from existing generation after renewal, debt and committed projects | Plant availability, off-taker collection and construction spend | Outage, receivable delays, cost overrun or project delay |
| Kakuzi | Crop cash after seasonal operations and orchard renewal | Harvest, grade, shipping, weather and working capital | Yield, quality, export acceptance, shipment route |
| Safaricom | Equity cash after network renewal, lease service and market investment | Spectrum, rollout, power, retention and currency | Service monetization, churn, capex intensity, market ramp |
| BAT Kenya | Cash after regulated taxes, working capital and replacement investment | Volume, illicit competition, input and tax timing | Sales decline, margin, cash conversion, payout funding |
| Home Afrika | Cash collected by project after cost to complete and secured obligations | Construction, title, cancellations, debt and liquidity | Handover, collection, approvals, litigation, refinancing |
The first output is therefore not a league table saying which issuer has the most “owner earnings.” It is seven dated bridges with source links and a clear record of what remains unmeasured. Then the analyst can compare valuation and expected return within the right capital structure. A bank may be best evaluated with a residual-income or dividend-capacity model, a developer with project-level net cash realization, and a utility with operating assets and project funding. Ohlson's framework and the peer-reviewed evidence on working capital, bank valuation and replacement capital support careful method selection rather than a single cross-sector shortcut [8–11].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Part 10 KenGen issuer card; Project 2 NSE Casebook reported-input rows and Evidence Vectors. Source: KenGen FY2025 Integrated Annual Report, year ended June 2025. Keep cash balances and project commitments separate. Cash on the balance sheet is not automatically an uncommitted owner reserve.
Equation: Capital investment / PAT = 17.733 / 10.481
Substitution: FY2025 reported amounts, KES bn: approximately 1.69 times.
Interpretation: Investment exceeds one year's accounting profit. The ratio does not separate renewal from expansion or prove a dividend funding gap.
ARTICLE SECTION: KenGen: profit competes with long-lived plant spending
KenGen's FY2025 integrated report records KES 10.481 billion of profit after tax, KES 17.733 billion of capital investment and KES 30.124 billion of cash and cash equivalents, all in the report's KES-million presentation [3, 14]. Capital investment was about 1.69 times reported profit after tax. This does not mean all investment is maintenance or that none can be deferred; it shows why the dividend cannot be assessed from profit alone.
Trace generation, availability, tariffs, fuel and geothermal costs, receivables from the off-taker, project capex, debt, interest and project commissioning. Separate refurbishment of existing plants from new generation and transmission-related projects. Model delayed payments and project overruns beside generation and debt service. Cash held today may support capital commitments already signed and should not be counted again as an uncommitted shareholder reserve.
ARTICLE SECTION: Make the next research action visible
Every workbook row marked unresolved should have a named next action and an estimated decision impact. For example: “Request project-by-project maintenance capex; current base estimate is 20% of total capex and value changes materially if replacement spending is higher”; or “Obtain statutory capital by insurance subsidiary; parent payout model is incomplete without it.” The team should set a due date or an event trigger, not leave the cell as a vague open question.
A comparison across sectors becomes more useful when it reveals where better evidence would change a decision. It should show the owner where cash is earned, where it must stay, when it may become available, and what could prevent it from arriving. The casebook is a guide to those questions, not a contest to rank seven unlike businesses on an artificial common metric.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ACTUAL WORKBOOK CAPTURE
Workbook: C:\Users\Nevo\Downloads\financial material\Owner's Earning\Project 2 - Listed Companies and Valuation\Project 2 - Listed Companies Owner Earnings and Valuation.xlsx
Sheet/range: 'NSE Casebook'!C5:H12
SHA-256: 4ad84af694e804b21c68dfc5e85ca8f5e4211a30b102d31e846890ec6a09827b
Capture method: Microsoft Excel read-only PDF range export. Print headings retained. Source not saved.
Asset: Evidence/Workbooks/OE-VALUATION-10-01-p1.png
SCREEN RECORDING WALKTHROUGH
Read the row and column headings. Identify inputs, follow the dependent row and explain the units. Do not alter the source workbook while recording; use a copy for a new scenario.
Extracted evidence text:
5
6
7
8
9
10
11
12
C D E F G H
Issuer Period Measure 1 Value 1 Measure 2 Value 2
Equity Group FY2025 Profit after tax 75.5 Net loans 882.5
Jubilee Holdings FY2025 Net profit 5.6 Profit before tax 7.2
KenGen FY2025 Profit after tax 10.5 Capital investment 17.7
Kakuzi FY2025 Revenue 5.4 Profit before tax 0.6
Safaricom FY2026 Service revenue 414.1 Cash / capex
BAT Kenya FY2025 Net revenue 23.2 Operating cash 6.6
Home Afrika FY2025 / H1 2026 Project-level owner cash Cost to complete
Relevant article context:
ARTICLE SECTION: A reporting rule for this casebook
A useful NSE comparison table records the report period, publication date, currency and unit; source-file name and page; consolidated or parent scope; reported earnings; cash from operations; capital expenditure; debt and lease claims; shares; dividend declaration and payment date; and unresolved items. Market prices need a separate dated market-source observation. A return calculation should not pair a price from one date with an earnings period from another without labeling the mismatch.
The previous Kenyan Equities and Company Analysis project already has four final workbook roles: screening, statements and valuation, portfolio construction, and compounding. The NSE Dividend Growth workbook separates contributions and income scenarios. Those are helpful companion products, but this casebook’s central task is to make each owner-earnings bridge traceable to its issuer-specific sources and investment needs.
ARTICLE SECTION: How to use this casebook in an investment meeting
For each company, one participant should present filed facts, a second should challenge the cash bridge, and a third should test the downside scenario. End with a short decision record: what is repeatable, what must be reinvested or retained, which claim ranks ahead of ordinary shareholders, what the share price implies, and which new evidence would change the view.
An analyst should be willing to say “not yet estimable” for a specific component while still completing the rest of the work. For example, Home Afrika's public numbers may support a project cash schedule but not a reliable collection date; Kakuzi's crop cycle may be visible while orchard renewal cost is still poorly split; Safaricom's total capex may be reported while a clean maintenance allocation is not. Name the missing source and its likely impact. The workbook can then preserve a useful range and a research task rather than inventing precision.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ACTUAL WORKBOOK CAPTURE
Workbook: C:\Users\Nevo\Downloads\financial material\Owner's Earning\Project 2 - Listed Companies and Valuation\Project 2 - Listed Companies Owner Earnings and Valuation.xlsx
Sheet/range: 'Profile Stress'!C5:H15
SHA-256: 4ad84af694e804b21c68dfc5e85ca8f5e4211a30b102d31e846890ec6a09827b
Capture method: Microsoft Excel read-only PDF range export. Print headings retained. Source not saved.
Asset: Evidence/Workbooks/OE-VALUATION-10-02-p1.png
SCREEN RECORDING WALKTHROUGH
Read the row and column headings. Identify inputs, follow the dependent row and explain the units. Do not alter the source workbook while recording; use a copy for a new scenario.
Extracted evidence text:
5
6
7
8
9
10
11
12
13
14
15
C D E F G H
Market Issuer / asset and industry profile Base cash-capacity 
index Cash shock % Base reinvestment / 
retention index
Reinvestment / retention 
shock %
US NVIDIA — semiconductor / inventory and supply commitments 100.0 (20.0%) 35.0 10.0%
US Equinix — data-centre infrastructure / power and renewal 100.0 (10.0%) 45.0 20.0%
NSE Equity Group — bank / credit losses and regulatory capital 100.0 (15.0%) 30.0 20.0%
NSE Jubilee — insurer / claims, reserves and solvency 100.0 (20.0%) 20.0 15.0%
NSE KenGen — power generation / plant renewal and construction 100.0 (20.0%) 45.0 35.0%
NSE Kakuzi — agribusiness / crop yield and seasonal working capital 100.0 (25.0%) 25.0 20.0%
NSE Safaricom — telecom / network renewal and expansion 100.0 (15.0%) 40.0 15.0%
NSE BAT Kenya — manufacturing / volume, tax and replacement 100.0 (15.0%) 20.0 10.0%
NSE Home Afrika — property / completion costs and collections 100.0 (25.0%) 45.0 25.0%
Relevant article context:
ARTICLE SECTION: Workbook map
The Project 2 workbook contains a dated evidence matrix for Equity Group, Jubilee, KenGen, Kakuzi, Safaricom, BAT Kenya and Home Afrika. Each row retains its own period, units, measures and source ID; the KenGen capital-investment-to-PAT ratio is calculated from its reported inputs. Evidence Vectors expands populated figures into observation-level records, separates fiscal year-end from publication date (including KenGen's June year-end), fills the missing Equity Group source ID, and leaves Home Afrika's project metrics unpopulated rather than zero. The Profile Stress sheet adds a separate normalized scenario for each of these seven NSE profiles and for NVIDIA and Equinix in the US cases. For example, a crop-yield shock increases seasonal working-capital pressure for Kakuzi, while a customer-collection delay and completion-cost overrun create a funding gap in the fictional Home Afrika profile. Those indices are teaching scenarios, not issuer estimates or a cross-sector ranking. Appendix 04 reproduces all nine assumptions and outputs. The matrix and stress sheet support source selection and issuer-specific questions; neither pretends every issuer already has a complete owner-earnings bridge.
ARTICLE SECTION: Technical appendix
- Appendix 04 — Listed-company profile stress cases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Project 2, Profile Stress, row 15, E:L. The index teaches a mechanism using sector-specific definitions. Do not compare it as a return or valuation with Kakuzi or Equity indices. Require project legal entity, restricted deposits, contractor claims, cost to complete and collection timing before estimating an actual issuer result.
Base: Fictional index: 100 capacity - 45 completion/reinvestment - 25 priority claims = 30.
Changed: Collections/capacity -25%; completion/reinvestment +25%; priority claims +20%.
Consequence: 75 - 56.25 - 30 = -11.25: an illustrative funding gap, not Home Afrika's reported cash position.
ARTICLE SECTION: Property: deposits can arrive before an earnings story is complete
A developer might receive deposits before construction is complete, yet still need cash for contractors, approvals, infrastructure, marketing, debt interest, and handover. A buyer’s instalment is both a receipt and evidence that the seller owes a completed unit or other contractual performance. The model needs project-by-project completion estimates, customer refund rights, and the timing of remaining costs. Home Afrika publishes annual reports and financial publications by reporting year, which supports a dated record rather than reliance on a project headline [7].
ARTICLE SECTION: Home Afrika: a signed sale or presale is not yet distributable cash
Read Home Afrika's 2025 integrated report, consolidated statements, project schedule and 2026 half-year publication as dated documents [7, 18, 19]. Build a separate cash bridge for each development: opening land and work in progress; completed units; signed reservations and sales; customer deposits collected; remaining construction and infrastructure spend; borrowing and interest; expected handover; refunds or cancellations; and final collection. Determine which entity owns each parcel, project, receivable and debt. A group-level sales headline can hide cash trapped in a subsidiary or a project with a large completion obligation.
For each unit or phase, compare expected net proceeds with cost to complete and the time until cash is unrestricted. Check land title, approvals, contractor claims, security interests, customer rights, service charges and any presale escrow restrictions. An unsold parcel may be valuable but does not automatically fund payroll or a shareholder dividend. Likewise, customer deposits can be a useful financing source but remain linked to delivery and refund obligations. Use the half-year report to see whether promised completion milestones turned into handovers and collections, not just whether reported revenue increased.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Answer: Use common evidence rules, but let the cash bridge follow the sector. The useful comparison shows where cash is earned, what must be reinvested or retained, which claims come first and what evidence still limits the conclusion.
Viewer task: Choose one issuer and produce a dated one-page cash/capital bridge with a joined downside and a named next evidence request.
Return to each opening research question and identify what remains conditional or unknown.
ARTICLE SECTION: A repeatable issuer-review workflow
The casebook can be used as a quarterly research process rather than a one-time comparison. For each issuer, follow the same sequence while allowing the economic bridge to differ:
1. Freeze the information set. Save the report and announcement, publication date, fiscal period, entity scope, currency and unit. Do not mix a later press release with an earlier market-price date in a backtest.
2. Transcribe reported facts. Enter statement and note values with the page number and original label. Reconcile the cash, debt, equity, earnings and share-count roll-forwards where possible.
3. Build the sector bridge. Use retained capital for a bank; claims and solvency for an insurer; asset renewal and projects for a utility; crops and harvest cash for agribusiness; network renewal for telecom; taxes and volume for manufacturing; and project cost-to-complete for property.
4. Mark assumptions and gaps. Label each number as filed, calculated, analyst-estimated, or unresolved. Use a range where evidence supports a range; leave a component unavailable when no evidence supports even a range.
5. Run one joined downside. Choose a plausible operating story and connect it to margin, working capital, capex, funding, capital retention and per-share cash.
6. Write a decision note. State valuation method, current price date, required return or margin of safety, key risk, position size or wait condition, and the next filing or event that could change the estimate.
7. Review the prior call. Compare the last forecast with actual cash, capital, projects, claims, volumes and collections. Record what changed and why.
The sequence creates comparability in source quality and review discipline, not in the underlying company formula. A well-prepared research page can show that the greatest uncertainty is disclosed maintenance spending for one company, credit migration for another, and project collection timing for a third. That difference is itself a useful conclusion.
ARTICLE SECTION: Opening
Revised practical article; source details and figures are dated to their cited filing or event, with current evidence reviewed through 24 September 2026.
An industrial-company formula can be useful for a Kenyan listed business, but only after we know what its assets and liabilities do. A bank’s customer deposits fund lending. An insurer’s premiums come with future claims. A farm may harvest seasonally and carry biological assets. A utility spends before a plant produces electricity. A telecom network needs continuing capital and spectrum. A manufacturer buys inputs and funds inventory. A property developer may have land, unsold units and customer instalments, but cash tied up in a project can remain unavailable for years.
This casebook uses seven NSE research anchors to ask the same first question in different ways: what cash can the owners ultimately claim after the business funds the operating system that earns it?
| Sector | Research anchor | First cash question | What must not be mistaken for owner earnings |
|---|---|---|---|
| Banking | Equity Group Holdings | After expected loan losses, operating costs and capital retention, how much equity can the bank distribute without constraining safe lending? | Deposits are not spare cash; accounting equity is not identical to eligible regulatory capital. |
| Insurance | Jubilee Holdings | How much profit is earned as insurance service is provided, and how much capital must remain to support claims and solvency? | Premium cash received is not fully distributable; an insurance liability or contractual service margin is not free cash. |
| Energy | KenGen | After plant availability, maintenance, fuel or resource costs, debt and project commitments, what cash remains? | EBITDA omits large renewal needs, debt service and collection timing. |
| Agriculture | Kakuzi | What cash arrives across crop cycles after land, trees, irrigation, labour, packing, cold chain and seasonal inventory are funded? | Accounting movements in biological assets are not necessarily cash harvest proceeds. |
| Telecommunications | Safaricom | After network refresh, spectrum, software, towers, customer acquisition and mobile-money risk, what is recurring equity cash? | Subscriber growth or EBITDA alone does not capture network capex, leases or regulated obligations. |
| Manufacturing | BAT Kenya | After inputs, excise and other obligations, receivables, inventory and replacement investment, what cash is repeatable? | A strong margin is not a maintenance-capex estimate or a future dividend promise. |
| Property | Home Afrika | When are land and units converted into collected cash, and what must be spent to finish contracted developments? | Presales, accounting revenue and unsold land are not interchangeable with cash available to shareholders. |
The examples above are chosen because their operating models differ, not because they have similar valuation multiples. Equity’s 2025 Integrated Report, Jubilee’s 2025 Annual Integrated Report, KenGen’s FY2025 Integrated Report, Kakuzi’s 2025 annual report, BAT Kenya’s 2025 report, Home Afrika’s 2025 reporting, and Safaricom’s reporting catalogue provide dated primary starting points [1]–[7]. Each article calculation should preserve the fiscal period, entity and unit in the source.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OE-VALUATION-10: NSE cross-sector casebook: seven businesses, seven cash questions
ARTICLE: https://sokointel.com/read/oe-valuation-10/
RESEARCH SNAPSHOT: 10 September 2026
SOURCE MATERIAL
[1] Equity Group Holdings PLC, 2025 Integrated Report and Financial Statements, https://equitygroupholdings.com/wp-content/uploads/2026/06/Equity-Group-Holdings-PLC-2025-Integrated-Report-and-Financial-Statements.pdf.
[2] Jubilee Holdings Limited, “Annual Reports,” including 2025 Annual Integrated Report, https://jubileeinsurance.com/group/investor-relations/annual-reports/.
[3] KenGen PLC, Integrated Annual Report and Financial Statements 2025, https://www.kengen.co.ke/images/2025/KenGen_Integrated_Annual_Report__Financial_Statement_2025.pdf.
[4] Kakuzi PLC, “Company Reports,” including the Annual Report and Financial Statements 2025, https://www.kakuzi.co.ke/company-reports.
[5] Safaricom PLC, “Financial Reporting,” https://www.safaricom.co.ke/investor-relations-landing/reports/financial-report/financial-results.
[6] BAT Kenya PLC, Combined Annual and Sustainability Report 2025, https://www.batkenya.com/content/dam/endmarkets/ke/en/download/investors-and-reporting/annual-reports/BATK_Combined_Annual_and_Sustainability_Report_2025.pdf.
[7] Home Afrika Limited, “Annual Reports,” https://homeafrika.com/investor-info/annual-reports.
[8] J. A. Ohlson, “Earnings, Book Values, and Dividends in Equity Valuation,” Contemporary Accounting Research, vol. 11, no. 2, pp. 661–687, 1995, https://doi.org/10.1111/j.1911-3846.1995.tb00461.x.
[9] M. E. Barth, “Fair Value Accounting: Evidence from Investment Securities and the Market Valuation of Banks,” The Accounting Review, vol. 69, no. 1, pp. 1–25, 1994.
[10] R. Kieschnick, M. Laplante, and R. Moussawi, “Working Capital Management and Shareholders’ Wealth,” Review of Finance, vol. 17, no. 5, pp. 1827–1852, 2013, https://doi.org/10.1093/rof/rfs043.
[11] D. Livdan and A. Nezlobin, “Investment, Capital Stock, and Replacement Cost of Assets When Economic Depreciation Is Non-Geometric,” Journal of Financial Economics, vol. 142, no. 3, pp. 1444–1469, 2021, https://doi.org/10.1016/j.jfineco.2021.05.021.
[12] Equity Group Holdings PLC, “FY2025 Results,” 18 March 2026, https://equitygroupholdings.com/equity-group-records-historic-results-reporting-a-55-growth-in-profit-after-tax-of-kshs-75-5-billion-underscoring-the-success-of-its-strategic-transformation/.
[13] Jubilee Holdings Limited, FY2025 results and H1 2026 results, 9 April 2026 and 28 August 2026, https://jubileeinsurance.com/group/newsroom/jubilee-holdings-declares-a-record-dividend-following-18-increase-in-net-profit/ and https://jubileeinsurance.com/group/newsroom/jubilee-holdings-limited-delivers-30-growth-in-h1-profit-before-tax-to-kes-4-4-billion/.
[14] KenGen PLC, Integrated Annual Report and Financial Statements 2025 and official FY2025 results, https://www.kengen.co.ke/investor-relations/financial-information/.
[15] Kakuzi PLC, “Five Year Record,” FY2021–FY2025, https://www.kakuzi.co.ke/five-year-record.
[16] Safaricom PLC, FY2026 Results Booklet, audited results for year ended 31 March 2026, https://www.safaricom.co.ke/images/Downloads/FY26-Earnings-Booklet-2026-7th-May-2026.pdf.
[17] British American Tobacco Kenya PLC, Audited Results for the Year Ended 31 December 2025, https://www.batkenya.com/content/dam/endmarkets/ke/en/download/investors-and-reporting/financial-statements/bat_kenya-2025_full_year_results.pdf.
[18] Home Afrika Limited, Integrated Annual Report and Financial Statements 2025, https://www.homeafrika.com/static/uploads/media/integrated-annual-report-financial-statements-2025-1782322991.pdf.
[19] Home Afrika Limited, Half Year Financial Publication 2026, https://www.homeafrika.com/static/uploads/media/home-afrika-half-the-year-financial-publication-2026-1787922272.pdf.
All linked source URLs:
Equity Group Holdings PLC, 2025 Integrated Report and Financial Statements: https://equitygroupholdings.com/wp-content/uploads/2026/06/Equity-Group-Holdings-PLC-2025-Integrated-Report-and-Financial-Statements.pdf
Jubilee Holdings Limited, “Annual Reports,” including 2025 Annual Integrated Report: https://jubileeinsurance.com/group/investor-relations/annual-reports/
KenGen PLC, Integrated Annual Report and Financial Statements 2025: https://www.kengen.co.ke/images/2025/KenGen_Integrated_Annual_Report__Financial_Statement_2025.pdf
Kakuzi PLC, “Company Reports,” including the Annual Report and Financial Statements 2025: https://www.kakuzi.co.ke/company-reports
Safaricom PLC, “Financial Reporting,”: https://www.safaricom.co.ke/investor-relations-landing/reports/financial-report/financial-results
BAT Kenya PLC, Combined Annual and Sustainability Report 2025: https://www.batkenya.com/content/dam/endmarkets/ke/en/download/investors-and-reporting/annual-reports/BATK_Combined_Annual_and_Sustainability_Report_2025.pdf
Home Afrika Limited, “Annual Reports,”: https://homeafrika.com/investor-info/annual-reports
J. A. Ohlson, “Earnings, Book Values, and Dividends in Equity Valuation,” Contemporary Accounting Research, vol. 11, no. 2, pp. 661–687, 1995: https://doi.org/10.1111/j.1911-3846.1995.tb00461.x
R. Kieschnick, M. Laplante, and R. Moussawi, “Working Capital Management and Shareholders’ Wealth,” Review of Finance, vol. 17, no. 5, pp. 1827–1852, : https://doi.org/10.1093/rof/rfs043
D. Livdan and A. Nezlobin, “Investment, Capital Stock, and Replacement Cost of Assets When Economic Depreciation Is Non-Geometric,” Journal of Financi: https://doi.org/10.1016/j.jfineco.2021.05.021
Equity Group Holdings PLC, “FY2025 Results,” 18 March 2026: https://equitygroupholdings.com/equity-group-records-historic-results-reporting-a-55-growth-in-profit-after-tax-of-kshs-75-5-billion-underscoring-the-success-of-its-strategic-transformation/
Jubilee Holdings Limited, FY2025 results and H1 2026 results, 9 April 2026 and 28 August 2026: https://jubileeinsurance.com/group/newsroom/jubilee-holdings-declares-a-record-dividend-following-18-increase-in-net-profit/
KenGen PLC, Integrated Annual Report and Financial Statements 2025 and official FY2025 results: https://www.kengen.co.ke/investor-relations/financial-information/
Kakuzi PLC, “Five Year Record,” FY2021–FY2025: https://www.kakuzi.co.ke/five-year-record
Safaricom PLC, FY2026 Results Booklet, audited results for year ended 31 March 2026: https://www.safaricom.co.ke/images/Downloads/FY26-Earnings-Booklet-2026-7th-May-2026.pdf
British American Tobacco Kenya PLC, Audited Results for the Year Ended 31 December 2025: https://www.batkenya.com/content/dam/endmarkets/ke/en/download/investors-and-reporting/financial-statements/bat_kenya-2025_full_year_results.pdf
Home Afrika Limited, Integrated Annual Report and Financial Statements 2025: https://www.homeafrika.com/static/uploads/media/integrated-annual-report-financial-statements-2025-1782322991.pdf
Home Afrika Limited, Half Year Financial Publication 2026: https://www.homeafrika.com/static/uploads/media/home-afrika-half-the-year-financial-publication-2026-1787922272.pdf
Additional content sources:
[
  {
    "title": "SokoIntel Part10: seven NSE cash questions",
    "url": "https://sokointel.com/read/oe-valuation-10/",
    "date": "Research cutoff 2026-09-24"
  },
  {
    "title": "KenGen FY2025 Integrated Annual Report",
    "url": "https://www.kengen.co.ke/images/2025/KenGen_Integrated_Annual_Report__Financial_Statement_2025.pdf",
    "date": "FY2025"
  },
  {
    "title": "Home Afrika2025 annual report",
    "url": "https://www.homeafrika.com/static/uploads/media/integrated-annual-report-financial-statements-2025-1782322991.pdf",
    "date": "FY2025; scenarios are not issuer data"
  }
]
Workbook provenance:
C:\Users\Nevo\Downloads\financial material\Owner's Earning\Project 2 - Listed Companies and Valuation\Project 2 - Listed Companies Owner Earnings and Valuation.xlsx
'NSE Casebook'!C5:H12
4ad84af694e804b21c68dfc5e85ca8f5e4211a30b102d31e846890ec6a09827b
C:\Users\Nevo\Downloads\financial material\Owner's Earning\Project 2 - Listed Companies and Valuation\Project 2 - Listed Companies Owner Earnings and Valuation.xlsx
'Profile Stress'!C5:H15
4ad84af694e804b21c68dfc5e85ca8f5e4211a30b102d31e846890ec6a09827b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oe-valuation-10/" TargetMode="External"/><Relationship Id="rId2" Type="http://schemas.openxmlformats.org/officeDocument/2006/relationships/hyperlink" Target="https://sokointel.com/read/oe-valuation-10/" TargetMode="External"/><Relationship Id="rId3" Type="http://schemas.openxmlformats.org/officeDocument/2006/relationships/hyperlink" Target="https://www.kengen.co.ke/images/2025/KenGen_Integrated_Annual_Report__Financial_Statement_2025.pdf" TargetMode="External"/><Relationship Id="rId4" Type="http://schemas.openxmlformats.org/officeDocument/2006/relationships/hyperlink" Target="https://www.homeafrika.com/static/uploads/media/integrated-annual-report-financial-statements-2025-1782322991.pdf" TargetMode="Externa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NSE cross-sector casebook: seven businesses, seven cash questions</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Seven NSE companies require seven cash or capital bridges, while sharing one evidence discipline.</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OE-VALUATION-10   •   Reported issuer measures remain separate from the workbook's fictional normalized stress indices.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How can public filings support a defensible owner-earnings bridge?</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What must asset-light and asset-heavy businesses reinvest to preserve productive capacity?</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How do banks and insurers determine distributable capital?</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Which sector-specific adjustments matter when comparing seven NSE industry profiles?</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PAT - profit after tax for a specified entity and fiscal period</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Capital investment / PAT - descriptive ratio, not a maintenance estimate</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Cost to complete - cash still required to fulfil a property project</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Cash-capacity index - hypothetical normalized units, not KES or issuer forecasts</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Residual index - capacity less reinvestment/retention and priority claims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Choose the model by the economic claim</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Equity Group: expected losses and eligible-capital retention. Jubilee: claims and solvency.</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KenGen: plant renewal, off-taker collections and project obligations. Kakuzi: crop-cycle cash and orchard renewal.</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Safaricom: network/market investment. BAT: volume, tax and replacement. Home Afrika: collections and cost to complete.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Reported issuer measures remain separate from the workbook's fictional normalized stress indices.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Freeze dates, scope and units before comparing</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Keep fiscal year-end, publication date and market-price date separate.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Label filed facts, calculations, assumptions and unresolved gaps.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Use each issuer's source documents; system averages are not substitute inputs.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Reported issuer measures remain separate from the workbook's fictional normalized stress indices.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Compare questions and evidence, not one universal multiple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Deposits, premiums and presales bring different obligations.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Plant, orchard and network renewal have different timing.</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negative scenario identifies an evidence or funding question; it does not rank the shares.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Reported issuer measures remain separate from the workbook's fictional normalized stress indices.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KenGen: a ratio that opens the next question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Capital investment / PAT = 17.733 / 10.481</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FY2025 reported amounts, KES bn: approximately 1.69 times.</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Investment exceeds one year's accounting profit. The ratio does not separate renewal from expansion or prove a dividend funding gap.</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Reported issuer measures remain separate from the workbook's fictional normalized stress indices.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NSE Casebook: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10-01-p1.png">    </p:cNvPr>
          <p:cNvPicPr>
            <a:picLocks noChangeAspect="1"/>
          </p:cNvPicPr>
          <p:nvPr/>
        </p:nvPicPr>
        <p:blipFill>
          <a:blip r:embed="rId1"/>
          <a:stretch>
            <a:fillRect/>
          </a:stretch>
        </p:blipFill>
        <p:spPr>
          <a:xfrm>
            <a:off x="612648" y="2639099"/>
            <a:ext cx="10972800" cy="2110154"/>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NSE Casebook!C5:H12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Reported issuer measures remain separate from the workbook's fictional normalized stress indices.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Profile Stress: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10-02-p1.png">    </p:cNvPr>
          <p:cNvPicPr>
            <a:picLocks noChangeAspect="1"/>
          </p:cNvPicPr>
          <p:nvPr/>
        </p:nvPicPr>
        <p:blipFill>
          <a:blip r:embed="rId1"/>
          <a:stretch>
            <a:fillRect/>
          </a:stretch>
        </p:blipFill>
        <p:spPr>
          <a:xfrm>
            <a:off x="612648" y="1889690"/>
            <a:ext cx="10972800" cy="3608973"/>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Profile Stress!C5:H15</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Reported issuer measures remain separate from the workbook's fictional normalized stress indices.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Property: slower collections plus completion overruns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Fictional index: 100 capacity - 45 completion/reinvestment - 25 priority claims = 30.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Collections/capacity -25%; completion/reinvestment +25%; priority claims +20%.</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75 - 56.25 - 30 = -11.25: an illustrative funding gap, not Home Afrika's reported cash position.</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Use common evidence rules, but let the cash bridge follow the sector. The useful comparison shows where cash is earned, what must be reinvested or retained, which claims come first and what evidence still limits the conclusion.</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Choose one issuer and produce a dated one-page cash/capital bridge with a joined downside and a named next evidence request.</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OE-VALUATION-10</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sokointel.com/read/oe-valuation-10/</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SokoIntel Part10: seven NSE cash questions • Research cutoff 2026-09-24</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KenGen FY2025 Integrated Annual Report • FY2025</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Home Afrika2025 annual report • FY2025; scenarios are not issuer data</a:t>
            </a:r>
            <a:endParaRPr lang="en-US" sz="1700" dirty="0"/>
          </a:p>
        </p:txBody>
      </p:sp>
      <p:sp>
        <p:nvSpPr>
          <p:cNvPr id="12" name="Text 10"/>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NSE cross-sector casebook: seven businesses, seven cash questions</dc:title>
  <dc:subject>How can public filings support a defensible owner-earnings bridge? | What must asset-light and asset-heavy businesses reinvest to preserve productive capacity? | How do banks and insurers determine distributable capital? | Which sector-specific adjustments matter when comparing seven NSE industry profiles?</dc:subject>
  <dc:creator>Sokointel</dc:creator>
  <cp:lastModifiedBy>Sokointel</cp:lastModifiedBy>
  <cp:revision>1</cp:revision>
  <dcterms:created xsi:type="dcterms:W3CDTF">2026-09-25T13:55:36Z</dcterms:created>
  <dcterms:modified xsi:type="dcterms:W3CDTF">2026-09-25T13:55:36Z</dcterms:modified>
</cp:coreProperties>
</file>